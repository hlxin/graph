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eb765852-b09e-701b-7574-f6a53a09c051}">
          <p14:sldIdLst>
            <p14:sldId id="256"/>
            <p14:sldId id="257"/>
            <p14:sldId id="258"/>
          </p14:sldIdLst>
        </p14:section>
        <p14:section name="Architecture" id="{ee482746-c665-bbf4-41f9-f58b2262cf6b}">
          <p14:sldIdLst>
            <p14:sldId id="259"/>
            <p14:sldId id="260"/>
            <p14:sldId id="261"/>
          </p14:sldIdLst>
        </p14:section>
        <p14:section name="Operations" id="{eda7769b-e01a-3f06-d650-e652786bfee0}">
          <p14:sldIdLst>
            <p14:sldId id="262"/>
            <p14:sldId id="263"/>
            <p14:sldId id="264"/>
            <p14:sldId id="265"/>
            <p14:sldId id="266"/>
            <p14:sldId id="267"/>
            <p14:sldId id="268"/>
            <p14:sldId id="269"/>
            <p14:sldId id="270"/>
            <p14:sldId id="271"/>
            <p14:sldId id="272"/>
            <p14:sldId id="273"/>
            <p14:sldId id="274"/>
          </p14:sldIdLst>
        </p14:section>
        <p14:section name="Trust and results" id="{3db919a6-ded4-7f64-23e4-3890fb8df1b9}">
          <p14:sldIdLst>
            <p14:sldId id="275"/>
            <p14:sldId id="276"/>
            <p14:sldId id="277"/>
            <p14:sldId id="278"/>
            <p14:sldId id="279"/>
          </p14:sldIdLst>
        </p14:section>
        <p14:section name="Development" id="{c63d0c71-1a65-45db-563e-ec3981ac1ba6}">
          <p14:sldIdLst>
            <p14:sldId id="280"/>
          </p14:sldIdLst>
        </p14:section>
        <p14:section name="Roadmap" id="{cf264555-edaf-1a20-e247-1e8aab5427a9}">
          <p14:sldIdLst>
            <p14:sldId id="281"/>
            <p14:sldId id="282"/>
          </p14:sldIdLst>
        </p14:section>
        <p14:section name="Close" id="{e04d3239-5a22-e5b4-6479-2bf96502f265}">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Strong components</c:v>
                  </c:pt>
                  <c:pt idx="1">
                    <c:v>Articulation points</c:v>
                  </c:pt>
                  <c:pt idx="2">
                    <c:v>Max flow</c:v>
                  </c:pt>
                  <c:pt idx="3">
                    <c:v>Matching</c:v>
                  </c:pt>
                  <c:pt idx="4">
                    <c:v>Weighted matching</c:v>
                  </c:pt>
                  <c:pt idx="5">
                    <c:v>Dominators</c:v>
                  </c:pt>
                  <c:pt idx="6">
                    <c:v>Critical path</c:v>
                  </c:pt>
                  <c:pt idx="7">
                    <c:v>Negative costs</c:v>
                  </c:pt>
                  <c:pt idx="8">
                    <c:v>Hexagon search</c:v>
                  </c:pt>
                  <c:pt idx="9">
                    <c:v>Spanning forest</c:v>
                  </c:pt>
                  <c:pt idx="10">
                    <c:v>k shortest paths</c:v>
                  </c:pt>
                </c:lvl>
              </c:multiLvlStrCache>
            </c:multiLvlStrRef>
          </c:cat>
          <c:val>
            <c:numRef>
              <c:f>Sheet1!$B$2:$B$12</c:f>
              <c:numCache>
                <c:formatCode>General</c:formatCode>
                <c:ptCount val="11"/>
                <c:pt idx="0">
                  <c:v>0.38</c:v>
                </c:pt>
                <c:pt idx="1">
                  <c:v>0.57</c:v>
                </c:pt>
                <c:pt idx="2">
                  <c:v>4.5</c:v>
                </c:pt>
                <c:pt idx="3">
                  <c:v>2.5</c:v>
                </c:pt>
                <c:pt idx="4">
                  <c:v>0.25</c:v>
                </c:pt>
                <c:pt idx="5">
                  <c:v>0.65</c:v>
                </c:pt>
                <c:pt idx="6">
                  <c:v>0.67</c:v>
                </c:pt>
                <c:pt idx="7">
                  <c:v>0.1</c:v>
                </c:pt>
                <c:pt idx="8">
                  <c:v>0.05</c:v>
                </c:pt>
                <c:pt idx="9">
                  <c:v>0.89</c:v>
                </c:pt>
                <c:pt idx="10">
                  <c:v>3.07</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Strong components</c:v>
                  </c:pt>
                  <c:pt idx="1">
                    <c:v>Articulation points</c:v>
                  </c:pt>
                  <c:pt idx="2">
                    <c:v>Max flow</c:v>
                  </c:pt>
                  <c:pt idx="3">
                    <c:v>Matching</c:v>
                  </c:pt>
                  <c:pt idx="4">
                    <c:v>Weighted matching</c:v>
                  </c:pt>
                  <c:pt idx="5">
                    <c:v>Dominators</c:v>
                  </c:pt>
                  <c:pt idx="6">
                    <c:v>Critical path</c:v>
                  </c:pt>
                  <c:pt idx="7">
                    <c:v>Negative costs</c:v>
                  </c:pt>
                  <c:pt idx="8">
                    <c:v>Hexagon search</c:v>
                  </c:pt>
                  <c:pt idx="9">
                    <c:v>Spanning forest</c:v>
                  </c:pt>
                  <c:pt idx="10">
                    <c:v>k shortest paths</c:v>
                  </c:pt>
                </c:lvl>
              </c:multiLvlStrCache>
            </c:multiLvlStrRef>
          </c:cat>
          <c:val>
            <c:numRef>
              <c:f>Sheet1!$C$2:$C$12</c:f>
              <c:numCache>
                <c:formatCode>General</c:formatCode>
                <c:ptCount val="11"/>
                <c:pt idx="0">
                  <c:v>0.34</c:v>
                </c:pt>
                <c:pt idx="1">
                  <c:v>0.36</c:v>
                </c:pt>
                <c:pt idx="2">
                  <c:v>6.4</c:v>
                </c:pt>
                <c:pt idx="3">
                  <c:v>2.1</c:v>
                </c:pt>
                <c:pt idx="4">
                  <c:v>0.81</c:v>
                </c:pt>
                <c:pt idx="5">
                  <c:v>0.93</c:v>
                </c:pt>
                <c:pt idx="6">
                  <c:v>0.26</c:v>
                </c:pt>
                <c:pt idx="7">
                  <c:v>0.13</c:v>
                </c:pt>
                <c:pt idx="8">
                  <c:v>0.54</c:v>
                </c:pt>
                <c:pt idx="9">
                  <c:v>0.92</c:v>
                </c:pt>
                <c:pt idx="10">
                  <c:v>0.3</c:v>
                </c:pt>
              </c:numCache>
            </c:numRef>
          </c:val>
        </c:ser>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Sheet1!$A$2:$A$26</c:f>
              <c:multiLvlStrCache>
                <c:ptCount val="25"/>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pt idx="19">
                    <c:v>neg. costs</c:v>
                  </c:pt>
                  <c:pt idx="20">
                    <c:v>injective</c:v>
                  </c:pt>
                  <c:pt idx="21">
                    <c:v>forest</c:v>
                  </c:pt>
                  <c:pt idx="22">
                    <c:v>rings</c:v>
                  </c:pt>
                  <c:pt idx="23">
                    <c:v>wt. match.</c:v>
                  </c:pt>
                  <c:pt idx="24">
                    <c:v>k paths</c:v>
                  </c:pt>
                </c:lvl>
              </c:multiLvlStrCache>
            </c:multiLvlStrRef>
          </c:cat>
          <c:val>
            <c:numRef>
              <c:f>Sheet1!$B$2:$B$26</c:f>
              <c:numCache>
                <c:formatCode>General</c:formatCode>
                <c:ptCount val="25"/>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pt idx="19">
                  <c:v>173</c:v>
                </c:pt>
                <c:pt idx="20">
                  <c:v>176</c:v>
                </c:pt>
                <c:pt idx="21">
                  <c:v>180</c:v>
                </c:pt>
                <c:pt idx="22">
                  <c:v>182</c:v>
                </c:pt>
                <c:pt idx="23">
                  <c:v>183</c:v>
                </c:pt>
                <c:pt idx="24">
                  <c:v>185</c:v>
                </c:pt>
              </c:numCache>
            </c:numRef>
          </c:val>
          <c:smooth val="0"/>
        </c:ser>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000" b="0" i="0" u="none" strike="noStrike">
                <a:solidFill>
                  <a:srgbClr val="1A2421"/>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22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(and its Negative costs paragraph); §6; src/graph_runtime/engine.py (_search_signed, _answer_signed); tests/test_negative_costs.py; git log 97723bb.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least-cost walk from a source to a target, costs of any sign (signed energies). A negative cycle on the way leaves no optimum. Algorithm: Dijkstra if no cost is negative; else Bellman-Ford-Moore with Tarjan's subtree disassembly, over the nodes between sources and targets. Certificate proves: Potentials prove an optimum (with the dead ends if a cost is negative); three walks, a negative cycle; a closure, no path. Costs are exact: integers, or rationals held as scaled integers. Non-negative requests are answered exactly as before, by Dijkstra's algorithm; its potentials also prove an interrupted search's lower bound. With any negative cost (docs/API_CONTRACT.md §4, Negative costs; engine.py _search_signed and _answer_signed): Bellman-Ford-Moore, first in first out, with Tarjan's subtree disassembly (Tarjan, 1981; Cherkassky and Goldberg, 1999), run only over the live nodes, those reachable from a source that can reach a target, so a negative cycle among the dead ends changes nothing. Outcomes: an optimum whose witness is the fewest-hop least-cost walk (breadth-first over the hops tight under the least costs, so it does not depend on the order of the search); or a negative cycle on a walk from a source to a target, reported as three walks (lead_in, the cycle with its negative cost, lead_out) that the verifier checks; a complete negative keeps its closure certificate; an interrupted search claims no lower bound. Certificate feasible_potentials: the least costs of the live nodes and the dead ends; every hop from a listed node goes to a dead end or to a listed node at most its cost above, dead ends are closed, sources sit at or below 0 and targets at or above the bound. Typical use: exergonic steps and signed energies in reaction networks. Tests: tests/test_negative_costs.py (1,500 random graphs against an independent fixpoint oracle, forged proofs rejected, revalidation against fresh runs); 5 hand-worked conformance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K shortest paths; §6; tests/test_k_shortest_paths.py; git log ae48035, f65497b, ffd474a.
bottleneck_path: Fastest rate-limiting step, lowest barrier. Theory: The path whose weakest edge is strongest (max_min: rates) or highest edge lowest (min_max: barriers); fewest hops among those. Algorithm: Settle nodes best value first, as Dijkstra settles costs; then a breadth-first search over hops as good finds the fewest hops. Certificate proves: Threshold: what the sources reach by strictly better hops is closed and holds no target. A closure proves a negative. max_min, e.g. rates: the fastest rate-limiting step; min_max, e.g. barriers: the lowest highest barrier. Weights are compared, never added. The breadth-first search runs over the hops at least as good as the value. Certificate: what the sources reach by hops strictly better than the value is closed and holds no target, so no path is better.
regular_path: Walks matching a regular expression. Theory: Regular path queries (Mendelzon and Wood, 1995), as SPARQL property paths and GQL write them: DERIVED_FROM*/SUPPORTED_BY Algorithm: Breadth-first search over the graph times the expression's Glushkov automaton: one fewest-hop walk, or every node reached. Certificate proves: Closed product states below a bound prove the fewest hops, a negative or a reached set. The verifier builds its own automaton. A fuller expression: DERIVED_FROM*/SUPPORTED_BY[Measurement]/IN. The search runs over the product of the graph and the expression's Glushkov automaton. Closed product states below a bound prove the fewest hops, a negative or a complete reached set.
k_shortest_paths: Alternatives: the first k simple paths. Theory: Alternative pathways, backup routes: k simple paths ranked by cost, hops, then IDs, so ties have one order and parallel edges differ. Algorithm: Yen (1971) with Lawler's rule: spur only from where a path left its parent; each least path a Dijkstra search on the full order. Checked by: Each path is a witness a checker confirms. The ranking is Yen's theorem, tested on 700 random cases: not certified or revalidated. docs/API_CONTRACT.md §4, K shortest paths: a path visits no node twice; other sources and targets may lie on it, and a source that is a target is a path of no hops. Costs as for shortest paths, non-negative and exact; without costs every hop costs 1. The order: cost, then hops, then the start node's ID and the sequence of edge IDs. Yen's algorithm: for each accepted path and each of its nodes, the least path that keeps the hops before that spur node, avoids the nodes before it, and leaves it neither by a hop nor by stopping that an accepted path with the same root took is a candidate; stopping is one more way to leave a spur node, so paths that end at a target on the way, or go on past one, are found. A virtual start before the sources makes several sources one problem. Lawler's rule spurs only from where a path left its parent, and searches stop at the key of the last candidate that could still be listed. Each least path is Dijkstra's search on the full key, which extending a path preserves. exhausted is true when fewer than k simple paths exist, false when k are listed, null when interrupted; an interrupted search lists a prefix of the order. The ranking is not certified, so revalidation answers unknown (not_certified). A Codex adversarial review found that settled keys kept every edge-ID prefix, quadratic on a long path (248 MiB on an 8,000-node chain), and that the contract reader accepted a misordered or repeated list; settled labels are now released and the contract checks the order, with regressions. Tests (tests/test_k_shortest_paths.py): 700 random cases (several sources and targets, ties, zero costs, both scope directions) list exactly the brute force's first k; networkx's shortest_simple_paths agrees on costs; forgeries are refused; interruptions list a prefix of the order; 2 hand-worked conformance cases. Benchmark (git log ffd474a): 2,000 nodes and 10,000 edges, k = 50, 0.32 s (networkx 0.18 s); 20,000 nodes and 100,000 edges, k = 20, 3.07 s (networkx 0.30 s, with bidirectional searches that the strict tie order does not allow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Injective patterns; §6; tests/test_injective_pattern.py; git log 8b79971, 7b39f7d, b7e4f12.
pattern · trees: Tree patterns without dead ends. Theory: Variables bound by types (through the hierarchy) or IDs, then steps, each one hop from an earlier variable; optional steps keep their row. Algorithm: Yannakakis' semi-join reduction: discover down, prune up, prune down. Totals are counted exactly without listing the rows. Checked by: verify_result checks every row; rows and totals match a brute-force enumerator (400 random patterns) and SCALE's own engine. Rows come in canonical order; counting without listing handles 60⁴ rows in well under a second (git log 8b79971).
pattern · cycles: Corroboration and contradiction motifs. Theory: A step may close a cycle between bound variables: two supports of a claim from one dataset, a triangle of citations. Algorithm: Worst-case optimal join (Ngo, Porat, Ré and Rudra; Leapfrog Triejoin): candidates meet what every closing step allows. Checked by: Row for row against a brute-force enumerator (300 random cyclic patterns). An interruption keeps a prefix of the rows, never denies. The join intersects a variable's candidates with what every closing step allows, iterating the smallest set first (Veldhuizen's Leapfrog Triejoin).
pattern · injective: Substructure search. Theory: injective: true: distinct variables bind distinct nodes, distinct steps distinct edges. Motifs, catalytic sites, rings. No optional steps yet. Algorithm: Over the same Yannakakis-pruned candidates, skipping held nodes and used edges. NP-complete: budget-bounded; exact totals when done. Checked by: Brute force filtered for distinctness, row for row (400 random patterns); networkx's monomorphisms. Interrupted: no absence claimed. Subgraph monomorphism (docs/API_CONTRACT.md §4, Injective patterns): it counts every binding, so a pattern with automorphisms matches one subgraph several times (a hexagon twelve times). The rows are those of the same pattern without injective that use no node or edge twice, in the same canonical order. Distinctness is global, so no count along the kept hops respects it: an injective pattern, tree or cycle, is enumerated as a cycle's is, over the same semi-join-reduced candidates (a match with distinct nodes is a match). Totals are exact when the enumeration ends; an interruption leaves total null and claims no absence. No optional steps yet (unsupported, unsupported_mode): which node an optional step would bind among those left is not yet defined. The verifier and the contract checks reject a row that repeats a node or an edge. Every pattern request now states injective, so earlier pattern requests have new request and result IDs with the same answers (the golden workload's 160 pattern results regenerated). Row enumeration (cycles, injective patterns, tree rows) runs on an explicit stack: a Codex adversarial review found a 1,100-step chain hit Python's recursion limit. Tests (tests/test_injective_pattern.py): 400 random patterns row for row against the brute-force oracle filtered for distinctness; five shapes (a path, a star, a triangle, a square with a chord, a two-cycle) agree with networkx's subgraph monomorphisms (DiGraphMatcher); 3 hand-worked conformance cases. Benchmark (git log b7e4f12): 7,200 hexagon matches (600 rings × 12 symmetries) in a 1,300-atom graphene-like sheet in 0.05 s; networkx's GraphMatcher 0.54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Spanning forest, Cycle basis; §6; §7; tests/test_spanning_forest.py, tests/test_cycle_basis.py; git log 741c2dd, a482dbf.
spanning_forest: Backbones, single-linkage clusters. Theory: The minimum (or maximum) spanning forest: one tree per connected piece, each link read either way. Weights are any finite numbers, exact; ties go to the smaller edge ID. Algorithm: Kruskal (1956) with a union-find, taking the links in the order of (weight, edge ID): the forest is unique in that order. Proves itself by: Tarjan's cycle property: no cycle, every piece spanned, and each link left out after every edge of its tree path (path maxima by binary lifting). Revalidation re-checks it. docs/API_CONTRACT.md §4, Spanning forest: each edge in scope is a link between its ends, whichever way the scope follows it; a loop never joins anything; a node with no link is a tree of its own. Weights are compared exactly (floats as exact rationals, negatives allowed); without weights every link weighs 1 and the forest is the first in edge ID order. objective max takes weights descending, then edge ID. Reading each node's links is one expansion; an interrupted search claims nothing (every field null). Answer: the forest's edges in ascending ID, their count, the number of trees and the exact total weight. No certificate is needed: links in scope with no cycle, spanning every piece, and every link left out after every edge of its tree path in that order, are the forest Kruskal's algorithm keeps; the verifier finds those path maxima by binary lifting in O((n + m) log n). Revalidation (§7) re-verifies these claims on the new records, so a lighter or earlier new link refutes a cached forest. A Codex adversarial review found that the verifier skipped a forest given as a tuple (a Result's frozen answer), which let a stale forest revalidate as holding; fixed, with regression tests (a Result, a plain dict, a frozen answer). Tests (tests/test_spanning_forest.py): 800 random cases agree with an independent Kruskal; weights and trees agree with networkx's minimum and maximum spanning edges; forged forests are refused (ties, gaps, cycles, loops, weights, objective); revalidation agrees with fresh runs on 400 random edits; 4 hand-worked conformance cases. Benchmark (git log 741c2dd): 100,000 nodes and 300,000 edges in 0.89 s (networkx minimum_spanning_edges: 0.92 s); the verifier proves the forest in 3.05 s.
cycle_basis: Ring perception: a minimum cycle basis. Theory: Rank (links − nodes + pieces) independent simple cycles of least total weight. With every link 1: chemistry's smallest set of smallest rings: naphthalene has two six-rings, cubane five four-rings. Algorithm: De Pina (1995; Kavitha et al., 2004): cycle i is a lightest cycle meeting witness S_i oddly, a shortest path in the parity graph; each later witness odd on it takes S_i in. Certificate proves: The witnesses: cycle i is odd on witness i and every earlier cycle even, so the cycles are independent; a checker finds no lighter odd cycle, so the basis is minimum. docs/API_CONTRACT.md §4, Cycle basis: each edge in scope is a link, read undirected; a loop is a cycle of one link and two parallel links a cycle of two. The cycle space over GF(2) has dimension rank = links less nodes plus connected pieces. With every link 1 the basis is chemistry's smallest set of smallest rings (SSSR), one minimum basis among possibly several; weights are as costs, non-negative and exact. De Pina's algorithm runs from a spanning forest by edge ID, whose rank links outside it give the first witnesses. A lightest S-odd cycle is a shortest path from (v, 0) to (v, 1) in the parity graph (two copies of the links, those in S crossing between the copies), from each end v of a link of S, read mod 2 and split into simple cycles. Witnesses are sparse sets with an edge index, so an exhausted budget allocates nothing quadratic. Each cycle is final once found, so an interrupted search lists a proven prefix of the basis. With certificate: true the witnesses prove the basis minimum (de Pina's theorem); the verifier also checks each cycle against the records, independence by GF(2) elimination, and the rank from the records. Revalidated by certificate (§7). A Codex adversarial review found three problems, all fixed with regressions: a witness naming a link twice let a non-minimum basis pass (parity counted two ways; repeated links are now refused by the verifier, the contract and the schema); an exhausted budget still allocated every witness as a bitset; a total beyond the floats was rejected instead of written as null beside its exact value. It also noted that forged-answer tests stopped at the result_id check: the forgeries in the negative-cost, injective, forest and basis tests are now resealed, so they test the semantic checks. Tests (tests/test_cycle_basis.py): 500 random multigraphs agree with a brute-force oracle (every simple cycle, then the matroid greedy) on rank and least weight; networkx agrees on simple graphs; naphthalene gives two 6-rings and cubane five 4-rings; 2 hand-traced conformance cases. Benchmark (git log a482dbf): a 1,300-atom graphene-like sheet (networkx hexagonal_lattice_graph(20, 30)), 600 six-rings in 0.16 s, proven in 0.07 s; networkx minimum_cycle_basis needs 0.59 s for a 124-atom sheet (6 × 8 hexagons).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Matching (and its Costs); §6; tests/test_weighted_matching.py; git log 573ce2b, 066dbab.
max_flow: Throughput, and the cut that limits it. Theory: As much as the capacities let through from the sources to the targets (Ford and Fulkerson, 1956). Unit capacities count edge- or node-disjoint paths (Menger, 1927). Algorithm: Dinic's algorithm (1970) in exact integers: breadth-first levels in the residual graph, then a blocking flow; the residual graph is built only where the search reads it. Certificate proves: The cut's source side: a checker confirms the flow and recomputes a cut of the same value from the records, so both are optimal (max-flow min-cut theorem).
matching: As many distinct pairings as possible, at least cost. Theory: A maximum matching of a left set to partners outside it, no node in two pairs: samples to instruments, claims to reviewers. With costs, the cheapest of the largest: the assignment problem. Algorithm: Hopcroft and Karp (1973): breadth-first phases along shortest alternating paths. With costs, successive shortest paths: the Hungarian method, Dijkstra on costs reduced by potentials. Certificate proves: König's vertex cover (1931): as many nodes as pairs, touching every candidate hop, so none is larger. With costs, potentials leave no residual arc negative: none is cheaper. Without costs: phases of a breadth-first search from the unpaired left nodes along alternating paths, then augmentation along the shortest ones. When pairs fall short, Hall's condition shows why: the uncovered left nodes and their candidates, all in the cover, have fewer candidates than nodes. Costs (docs/API_CONTRACT.md §4, Matching, Costs; git log 066dbab): any finite numbers, by relation or by edge (for a heaviest matching, negate the weights); a left node's candidate for a partner is its cheapest hop to it. The search is Kuhn and Munkres's Hungarian method with Dijkstra's searches on reduced costs (after Edmonds and Karp and Tomizawa) in the network source -&gt; left node -&gt; partner -&gt; sink, with potentials kept non-negative on every residual arc. Certificate cover_and_potentials: König's cover proves the size, and the potentials of every left node and partner, the source and the sink leave no residual arc negative once reduced, so no matching of that size is cheaper. Unweighted matching is unchanged, but every matching request now states costs, so its request_id differs. A Codex adversarial review found that an integer-cost certificate could carry floats (1e100 potentials swallowed a negative reduced cost); every potential, the source and the sink must now be exact, with a regression. Tests (tests/test_weighted_matching.py): 600 random cases agree with brute force over every matching on size and least cost; networkx's maximum-cardinality weighted matching agrees on 30 × 25 assignments; forged matchings and certificates are refused; 1 hand-traced conformance case. Benchmark (git log 066dbab): 300 + 300 nodes and 6,000 hops in 0.25 s (networkx max_weight_matching with maxcardinality: 0.81 s), proven in 0.02 s; 2,000 + 2,000 nodes and 40,000 hops in 13.9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741c2dd; README.md (Revalidation); docs/API_CONTRACT.md §7 (a spanning forest holds while its links, the cycle property and the pieces it spans still check, as verify_result checks them; an edit that breaks any of these refutes it. Cycle bases and matchings with costs are revalidated by their certificates; k shortest paths are not certified, so they are unknown, not_certified)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(606 pass), src/graph_runtime/conformance/cases.json (185 cases), SCALE parity (16 tests) and STATES parity (6 tests) in their environments; 73 / 73 real consumer requests answer the same with both engines (git log f144c48). Oracles: tests/oracle.py; regular paths against Brzozowski derivatives on 1,500 random graphs (git log f65497b); PageRank against the exact linear system over fractions on 500 graphs (git log 0d4d2b3); negative costs against an independent fixpoint on 1,500 random graphs (tests/test_negative_costs.py). Parity: docs/SCALE_INTEGRATION.md, docs/STATES_INTEGRATION.md. Reviews: git log 8917563, 7ff04db; Codex adversarial reviews before commit: 99fb868 (a request field named kind was overwritten by the digest's record kind, now connectivity; unlisted groups and stray trees in the components certificate), 573ce2b (an interrupted max flow's upper bound was not verified), 1e8678d, 05d3ea5, 1d6dbbf, 04532ba, 107dc68, 297ca1e; 97723bb and 260d7b2 (negative costs and the faster projection identity, reviewed together: no soundness or identity counterexample, 12,000 larger random graphs all matching an independent oracle; one medium issue, diff-based revalidation reading the whole certificate even for an unrelated edit, fixed, and a regression test now forbids it); b7e4f12 (injective patterns: a 1,100-step chain hit Python's recursion limit, so row enumeration for cycles, injective patterns and tree rows now runs on an explicit stack, with a regression test covering rows, count and exists); 741c2dd (spanning forests: the verifier skipped a forest given as a tuple, a Result's frozen answer, which let a stale forest revalidate as holding; it now checks tuples and refuses a missing edge list, and so do three other list-only checks; regression tests cover a Result, a plain dict and a frozen answer); a482dbf (cycle bases: a witness naming a link twice let a non-minimum basis pass, because parity was counted two ways, now refused by the verifier, the contract and the schema; an exhausted budget still allocated every witness as a bitset; a total beyond the floats was rejected instead of written as null beside its exact value; and forged-answer tests stopped at the result_id check, so the forgeries in the negative-cost, injective, forest and basis tests are now resealed to test the semantic checks); 066dbab (weighted matching: an integer-cost certificate could carry floats, 1e100 potentials swallowing a negative reduced cost; every potential, the source and the sink must now be exact); ffd474a (k shortest paths: settled keys kept every edge-ID prefix, quadratic on a long path, 248 MiB on an 8,000-node chain, now released; the contract reader accepted a misordered or repeated list, now checked). Earlier findings shown on previous builds of this slide: a stale nearest cut held and contradicted answers left unknown (incidence, 05d3ea5); exact fields beside false values and unpolled controls (critical path, 1d6dbbf); a nonuniform PageRank start and a quadratic cyclic join (107dc68, the review of 26 October's increments together); the negative-cost review was otherwise sound on 12,000 random graphs against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Also: weak components 0.45 s, unit-capacity max flow 3.8 s. Negative costs (git log 97723bb; measured on an Apple M4): 20,000 nodes and 100,000 edges, 31% negative, no negative cycle; GRAPH 0.10 s with its feasible-potentials certificate, networkx bellman_ford 0.13 s and goldberg_radzik 0.39 s, the same cost. With a negative cycle planted near the source, networkx find_negative_cycle takes 0.002 s and GRAPH 0.042 s: GRAPH first computes the corridor between the sources and the targets (one linear pass), so that a cycle that cannot reach a target is ignored. Hexagon search (git log b7e4f12): an injective six-ring pattern counted in a graphene-like sheet of 1,300 atoms (networkx hexagonal_lattice_graph(20, 30)), 7,200 matches, 600 rings × 12 symmetries, GRAPH 0.05 s, networkx GraphMatcher's subgraph monomorphisms 0.54 s. Spanning forest (git log 741c2dd): 100,000 nodes and 300,000 random edges with integer weights, GRAPH 0.89 s, networkx minimum_spanning_edges (Kruskal) 0.92 s on the same multigraph; GRAPH's verifier proves the forest in 3.05 s. Weighted matching (git log 066dbab): 300 + 300 nodes and 6,000 random hops with integer costs, GRAPH 0.25 s with its cover-and-potentials certificate (proven in 0.02 s), networkx max_weight_matching (maxcardinality, costs turned into weights) 0.81 s; 2,000 + 2,000 nodes and 40,000 hops: GRAPH 13.9 s. k shortest paths (git log ffd474a): 20,000 nodes and 100,000 edges, k = 20, GRAPH 3.07 s, networkx shortest_simple_paths 0.30 s, the same costs; on 2,000 nodes and 10,000 edges, k = 50, GRAPH 0.32 s, networkx 0.18 s. networkx's spur searches are bidirectional, which GRAPH's strict order of ties (cost, hops, start node and edge IDs) does not allow here. Cycle basis (git log a482dbf), not charted because the sizes differ: GRAPH 0.16 s for 600 six-rings of a 1,300-atom graphene-like sheet, proven in 0.07 s; networkx minimum_cycle_basis 0.59 s for a 124-atom sheet. Machine load for the last five was not recorded in the commits.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benchmark run on 26 October 2026, kept outside the repository: scale.pgraph_query.run against GRAPH's pattern operation through the SCALE adapter (integrations/scale/scale_graph_adapter.py) on SCALE's documents, row-for-row parity asserted on every query. Times are each query's best of several runs; machine load was not recorded, so compare ratios. Competency questions: the 39 question-document pairs with a plan, medians per query. Methanol synthesis (SCALE's public example, 2,851 nodes, 9,335 links): every generated one- and two-step plan (1,052), totals 5.6 s against 0.61 s listing rows (9.2×) and 0.34 s counting (16×); its largest answer, 10,470 rows, 475 ms against 21 ms (23×, rounded), 0.6 ms counting. Three steps: the plan with the most intermediate rows per answer among 4,673 three-step candidates. 16 copies of the document: 17.1 s against 1.14 s (15×; 33× counting). 1,131 queries = 39 + 1,052 + 40 three-step plans. SCALE without per-row evidence and the deep copy of its answer (pgraph_query._run): methanol 2.27 s, still 3.7× GRAPH's time; 16 copies 7.2 s, 6.3×. SCALE's index (pgraph_query.Graph) 2.2 ms; GRAPH's projection 20 ms with the document's binding digests computed once. Retraction workflows: benchmarks/consumers.py scale (SCALE lifecycle.resting 0.04 ms; GRAPH 0.36 ms for resting on retractions, 0.32 ms for support) and docs/SCALE_INTEGRATION.md (Cost). Why: docs/API_CONTRACT.md §4, Pattern (Yannakakis' semi-join reduction; evaluation never meets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550c362 (25 October, 17:17) to ffd474a (26 October, 23:40): 44 commits, slide commits included; some rows group neighbouring commits (17:17 is v0 with the independent review's fixes at 17:36, 8917563, and the Codex review behind contract v0.1 at 20:46, 7ff04db; 11:16 is incidence, 05d3ea5, with critical paths at 11:32, 1d6dbbf, and d-separation at 11:44, 83f9ffe; 17:45 is the fixes from a review of the day's increments, 107dc68, with support certificates at 18:23, 297ca1e; 22:38 is injective patterns, b7e4f12, with spanning forests at 22:55, 741c2dd; 23:11 is cycle bases, a482dbf, with weighted matching at 23:25, 066dbab; 23:40 is k shortest paths, ffd474a), and 22:11 is two (260d7b2, the projection identity hashed with each node ID, relation and type encoded once: 61 to 34 ms, the build 245 to 206 ms on 50,000 nodes and 150,000 edges, identity bytes unchanged on 400 random projections; 97723bb, negative costs). Conformance case counts are from the commit messages (34 at v0, then 49, 54, 62, 70, 74, 78, 91, 100, 112, 116, 121, 133, 143, 148, 153, 158, 165, 168, 173, 176, 180, 182, 183) and cases.json now (185). Tests: 178 → 606.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Codex literature survey of 26 October 2026, kept outside the repository; its recommended order weighs scientific usefulness, implementation effort and the cost of independently proving each answer. Six of its items have shipped: negative-cost shortest paths (97723bb); injective patterns (b7e4f12: the survey suggested VF2++-style backtracking with Glasgow-style filtering and refutation trees for negatives; GRAPH enumerates over its Yannakakis-pruned candidates, budget-bounded, and an interrupted search claims no absence); the minimum spanning forest (741c2dd: Kruskal, the forest its own certificate by the cycle property); the minimum cycle basis (a482dbf: de Pina's algorithm, minimality proven by its witnesses; relevant cycles, after Vismara, not yet); weighted matching (066dbab: successive shortest paths, the survey's first slice of item 5, proven by König's cover and residual potentials); and k shortest simple paths (ffd474a: Yen with Lawler's rule; the survey's certificate, a Lawler partition tree proving the ranking, is not built: each path is a checked witness and the ranking is tested against an oracle). Being built: min-cost flow, the rest of item 5. Survey notes per row: min-cost flow (successive shortest augmenting paths from a pseudoflow that saturates negative arcs, with feasible potentials; for every residual arc, the reduced cost is non-negative; an infeasible supply has a cut as its certificate; Király and Kovács 2012); cyclic pattern counting (variable elimination, FAQ InsideOut; a decomposition and dynamic-programming transcript); reachability index (strong components condensed, then pruned landmark 2-hop labels; Cohen, Halperin, Kaplan and Zwick 2003; Akiba, Iwata and Yoshida 2013; a positive expands hub routing pointers into ordinary hops, checked in the walk's length; disjoint labels alone do not prove a negative, which needs a closed set); positive Datalog (range-restricted, function-free, semi-naive evaluation; a derivation tree or DAG with strictly increasing ranks, checked in the proof's size; Abiteboul, Hull and Vianu 1995; Green, Karvounarakis and Tannen 2007, provenance semirings); isomorphism and canonical labeling (individualization-refinement; a vertex and edge bijection proves isomorphism in linear time; non-isomorphism and canonical forms need an independently checked individualization-refinement trace, possibly exponential; McKay and Piperno 2014; useful for scientific deduplication); elementary flux modes (exact double description over the incidence operation's stoichiometric matrix, small networks first; each mode's exact balance, and rank(S_J) = |J| - 1 shown by a nonsingular minor, prove its support minimal; completeness needs a full transcript; Gagneur and Klamt 2004; Terzer and Stelling 2008). Each increment is planned to ship with code, docs/API_CONTRACT.md, the schema, hand-worked conformance cases, tests against an independent oracle, verification and revalidation, and a Codex adversarial review of its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3.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22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Twenty-two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74676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 · k_shortest_paths</a:t>
            </a:r>
            <a:endParaRPr lang="en-US" sz="1200" dirty="0"/>
          </a:p>
        </p:txBody>
      </p:sp>
      <p:sp>
        <p:nvSpPr>
          <p:cNvPr id="9" name="Text 6"/>
          <p:cNvSpPr txBox="1"/>
          <p:nvPr/>
        </p:nvSpPr>
        <p:spPr>
          <a:xfrm>
            <a:off x="749808" y="3371088"/>
            <a:ext cx="3112922" cy="309372"/>
          </a:xfrm>
          <a:prstGeom prst="rect">
            <a:avLst/>
          </a:prstGeom>
          <a:noFill/>
          <a:ln/>
        </p:spPr>
        <p:txBody>
          <a:bodyPr wrap="square" lIns="0" tIns="0" rIns="0" bIns="0" rtlCol="0" anchor="t"/>
          <a:lstStyle/>
          <a:p>
            <a:pPr indent="0" marL="0">
              <a:buNone/>
            </a:pPr>
            <a:r>
              <a:rPr lang="en-US" sz="1400" dirty="0">
                <a:solidFill>
                  <a:schemeClr val="tx1"/>
                </a:solidFill>
              </a:rPr>
              <a:t>What connects, and the best ways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critical_path · d_separation</a:t>
            </a:r>
            <a:endParaRPr lang="en-US" sz="1200" dirty="0"/>
          </a:p>
        </p:txBody>
      </p:sp>
      <p:sp>
        <p:nvSpPr>
          <p:cNvPr id="15" name="Text 11"/>
          <p:cNvSpPr txBox="1"/>
          <p:nvPr/>
        </p:nvSpPr>
        <p:spPr>
          <a:xfrm>
            <a:off x="4539386" y="3020568"/>
            <a:ext cx="3112922" cy="659892"/>
          </a:xfrm>
          <a:prstGeom prst="rect">
            <a:avLst/>
          </a:prstGeom>
          <a:noFill/>
          <a:ln/>
        </p:spPr>
        <p:txBody>
          <a:bodyPr wrap="square" lIns="0" tIns="0" rIns="0" bIns="0" rtlCol="0" anchor="t"/>
          <a:lstStyle/>
          <a:p>
            <a:pPr indent="0" marL="0">
              <a:buNone/>
            </a:pPr>
            <a:r>
              <a:rPr lang="en-US" sz="1400" dirty="0">
                <a:solidFill>
                  <a:schemeClr val="tx1"/>
                </a:solidFill>
              </a:rPr>
              <a:t>AND/OR rules, schedules and slack, causal independence.</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counted exactly, cycles by a worst-case optimal join, injective substructure search.</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Periodic"/>
          <p:cNvSpPr/>
          <p:nvPr/>
        </p:nvSpPr>
        <p:spPr>
          <a:xfrm>
            <a:off x="4338218" y="4091940"/>
            <a:ext cx="3515258" cy="2125980"/>
          </a:xfrm>
          <a:prstGeom prst="roundRect">
            <a:avLst>
              <a:gd name="adj" fmla="val 4301"/>
            </a:avLst>
          </a:prstGeom>
          <a:solidFill>
            <a:schemeClr val="bg2"/>
          </a:solidFill>
          <a:ln/>
        </p:spPr>
      </p:sp>
      <p:sp>
        <p:nvSpPr>
          <p:cNvPr id="29" name="icon Periodic"/>
          <p:cNvSpPr/>
          <p:nvPr/>
        </p:nvSpPr>
        <p:spPr>
          <a:xfrm>
            <a:off x="4539386" y="4293108"/>
            <a:ext cx="502920" cy="502920"/>
          </a:xfrm>
          <a:prstGeom prst="ellipse">
            <a:avLst/>
          </a:prstGeom>
          <a:solidFill>
            <a:schemeClr val="accent1"/>
          </a:solidFill>
          <a:ln/>
        </p:spPr>
      </p:sp>
      <p:pic>
        <p:nvPicPr>
          <p:cNvPr id="30" name="Image 4" descr="Periodic">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Periodic</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Periodic projections: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spanning_forest · cycle_basis · max_flow · matching · dominators</a:t>
            </a:r>
            <a:endParaRPr lang="en-US" sz="1200" dirty="0"/>
          </a:p>
        </p:txBody>
      </p:sp>
      <p:sp>
        <p:nvSpPr>
          <p:cNvPr id="39" name="Text 31"/>
          <p:cNvSpPr txBox="1"/>
          <p:nvPr/>
        </p:nvSpPr>
        <p:spPr>
          <a:xfrm>
            <a:off x="8328965" y="5596128"/>
            <a:ext cx="3112922" cy="484632"/>
          </a:xfrm>
          <a:prstGeom prst="rect">
            <a:avLst/>
          </a:prstGeom>
          <a:noFill/>
          <a:ln/>
        </p:spPr>
        <p:txBody>
          <a:bodyPr wrap="square" lIns="0" tIns="0" rIns="0" bIns="0" rtlCol="0" anchor="t"/>
          <a:lstStyle/>
          <a:p>
            <a:pPr indent="0" marL="0">
              <a:buNone/>
            </a:pPr>
            <a:r>
              <a:rPr lang="en-US" sz="1400" dirty="0">
                <a:solidFill>
                  <a:schemeClr val="tx1"/>
                </a:solidFill>
              </a:rPr>
              <a:t>Pieces, weak points, backbones, rings, flows, pairings, unavoidable nodes.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Dijkstra and Bellman-Ford-Moore searches in canonical order: one request, always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Every node within the scope and depth, at its least hop count;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dependency_impact</a:t>
            </a:r>
            <a:pPr indent="0" marL="0">
              <a:spcAft>
                <a:spcPts val="840"/>
              </a:spcAft>
              <a:buNone/>
            </a:pPr>
            <a:r>
              <a:rPr lang="en-US" sz="1400" dirty="0">
                <a:solidFill>
                  <a:schemeClr val="tx1"/>
                </a:solidFill>
              </a:rPr>
              <a:t> runs the same search from changed nodes.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in canonical order; each node's first hop builds a witness tree.</a:t>
            </a:r>
            <a:endParaRPr lang="en-US" sz="1400" dirty="0"/>
          </a:p>
        </p:txBody>
      </p:sp>
      <p:sp>
        <p:nvSpPr>
          <p:cNvPr id="9" name="proof reachability"/>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Every hop from an expanded node leads to a listed node at most one hop deeper: complete, and depths least.</a:t>
            </a:r>
            <a:endParaRPr lang="en-US" sz="14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One walk matching a finite sequence of relations, with optional node types at each position.</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(node, position) states.</a:t>
            </a:r>
            <a:endParaRPr lang="en-US" sz="1400" dirty="0"/>
          </a:p>
        </p:txBody>
      </p:sp>
      <p:sp>
        <p:nvSpPr>
          <p:cNvPr id="18" name="proof typed_path"/>
          <p:cNvSpPr/>
          <p:nvPr/>
        </p:nvSpPr>
        <p:spPr>
          <a:xfrm>
            <a:off x="4484522" y="4853940"/>
            <a:ext cx="322265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945380"/>
            <a:ext cx="246888" cy="246888"/>
          </a:xfrm>
          <a:prstGeom prst="rect">
            <a:avLst/>
          </a:prstGeom>
        </p:spPr>
      </p:pic>
      <p:sp>
        <p:nvSpPr>
          <p:cNvPr id="20" name="Text 14"/>
          <p:cNvSpPr txBox="1"/>
          <p:nvPr/>
        </p:nvSpPr>
        <p:spPr>
          <a:xfrm>
            <a:off x="4923434"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Closed states: all states the sources reach, closed under the pattern's hops, none ending at a target.</a:t>
            </a:r>
            <a:endParaRPr lang="en-US" sz="14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least-cost walk from a source to a target, costs of any sign (signed energies). A negative cycle on the way leaves no optimum.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Dijkstra if no cost is negative; else Bellman-Ford-Moore with Tarjan's subtree disassembly, over the nodes between sources and targets.</a:t>
            </a:r>
            <a:endParaRPr lang="en-US" sz="1400" dirty="0"/>
          </a:p>
        </p:txBody>
      </p:sp>
      <p:sp>
        <p:nvSpPr>
          <p:cNvPr id="27" name="proof shortest_path"/>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prove an optimum (with the dead ends if a cost is negative); three walks, a negative cycle; a closure, no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expressions, alternatives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one shortest path cannot answer: the best weakest link, walks shaped by an expression, the next k paths.</a:t>
            </a:r>
            <a:endParaRPr lang="en-US" sz="1600" dirty="0"/>
          </a:p>
        </p:txBody>
      </p:sp>
      <p:sp>
        <p:nvSpPr>
          <p:cNvPr id="4" name="operation bottleneck_path"/>
          <p:cNvSpPr/>
          <p:nvPr/>
        </p:nvSpPr>
        <p:spPr>
          <a:xfrm>
            <a:off x="548640" y="1691640"/>
            <a:ext cx="3515258" cy="4526280"/>
          </a:xfrm>
          <a:prstGeom prst="roundRect">
            <a:avLst>
              <a:gd name="adj" fmla="val 2601"/>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Fastest rate-limiting step, lowest barrier</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path whose weakest edge is strongest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max_min</a:t>
            </a:r>
            <a:pPr indent="0" marL="0">
              <a:spcAft>
                <a:spcPts val="840"/>
              </a:spcAft>
              <a:buNone/>
            </a:pPr>
            <a:r>
              <a:rPr lang="en-US" sz="1400" dirty="0">
                <a:solidFill>
                  <a:schemeClr val="tx1"/>
                </a:solidFill>
              </a:rPr>
              <a:t>: rates) or highest edge lowest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min_max</a:t>
            </a:r>
            <a:pPr indent="0" marL="0">
              <a:spcAft>
                <a:spcPts val="840"/>
              </a:spcAft>
              <a:buNone/>
            </a:pPr>
            <a:r>
              <a:rPr lang="en-US" sz="1400" dirty="0">
                <a:solidFill>
                  <a:schemeClr val="tx1"/>
                </a:solidFill>
              </a:rPr>
              <a:t>: barriers); fewest hops among those.</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Settle nodes best value first, as Dijkstra settles costs; then a breadth-first search over hops as good finds the fewest hops.</a:t>
            </a:r>
            <a:endParaRPr lang="en-US" sz="1400" dirty="0"/>
          </a:p>
        </p:txBody>
      </p:sp>
      <p:sp>
        <p:nvSpPr>
          <p:cNvPr id="9" name="proof bottleneck_path"/>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Threshold: what the sources reach by strictly better hops is closed and holds no target. A closure proves a negative.</a:t>
            </a:r>
            <a:endParaRPr lang="en-US" sz="1400" dirty="0"/>
          </a:p>
        </p:txBody>
      </p:sp>
      <p:sp>
        <p:nvSpPr>
          <p:cNvPr id="13" name="operation regular_path"/>
          <p:cNvSpPr/>
          <p:nvPr/>
        </p:nvSpPr>
        <p:spPr>
          <a:xfrm>
            <a:off x="4338218" y="1691640"/>
            <a:ext cx="3515258" cy="4526280"/>
          </a:xfrm>
          <a:prstGeom prst="roundRect">
            <a:avLst>
              <a:gd name="adj" fmla="val 2601"/>
            </a:avLst>
          </a:prstGeom>
          <a:solidFill>
            <a:schemeClr val="bg2"/>
          </a:solidFill>
          <a:ln/>
        </p:spPr>
      </p:sp>
      <p:sp>
        <p:nvSpPr>
          <p:cNvPr id="14" name="icon regular_path"/>
          <p:cNvSpPr/>
          <p:nvPr/>
        </p:nvSpPr>
        <p:spPr>
          <a:xfrm>
            <a:off x="453938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matching a regular expression</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Regular path queries (Mendelzon and Wood, 1995), as SPARQL property paths and GQL write them: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DERIVED_FROM*/SUPPORTED_BY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the graph times the expression's Glushkov automaton: one fewest-hop walk, or every node reached.</a:t>
            </a:r>
            <a:endParaRPr lang="en-US" sz="1400" dirty="0"/>
          </a:p>
        </p:txBody>
      </p:sp>
      <p:sp>
        <p:nvSpPr>
          <p:cNvPr id="18" name="proof regular_path"/>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Closed product states below a bound prove the fewest hops, a negative or a reached set. The verifier builds its own automaton.</a:t>
            </a:r>
            <a:endParaRPr lang="en-US" sz="1400" dirty="0"/>
          </a:p>
        </p:txBody>
      </p:sp>
      <p:sp>
        <p:nvSpPr>
          <p:cNvPr id="22" name="operation k_shortest_paths"/>
          <p:cNvSpPr/>
          <p:nvPr/>
        </p:nvSpPr>
        <p:spPr>
          <a:xfrm>
            <a:off x="8127797" y="1691640"/>
            <a:ext cx="3515258" cy="4526280"/>
          </a:xfrm>
          <a:prstGeom prst="roundRect">
            <a:avLst>
              <a:gd name="adj" fmla="val 2601"/>
            </a:avLst>
          </a:prstGeom>
          <a:solidFill>
            <a:schemeClr val="bg2"/>
          </a:solidFill>
          <a:ln/>
        </p:spPr>
      </p:sp>
      <p:sp>
        <p:nvSpPr>
          <p:cNvPr id="23" name="icon k_shortest_paths"/>
          <p:cNvSpPr/>
          <p:nvPr/>
        </p:nvSpPr>
        <p:spPr>
          <a:xfrm>
            <a:off x="8328965" y="1892808"/>
            <a:ext cx="512064" cy="512064"/>
          </a:xfrm>
          <a:prstGeom prst="ellipse">
            <a:avLst/>
          </a:prstGeom>
          <a:solidFill>
            <a:schemeClr val="accent1"/>
          </a:solidFill>
          <a:ln/>
        </p:spPr>
      </p:sp>
      <p:pic>
        <p:nvPicPr>
          <p:cNvPr id="24" name="Image 4" descr="k_shortest_paths">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k_shortest_paths</a:t>
            </a:r>
            <a:endParaRPr lang="en-US" sz="1500" dirty="0"/>
          </a:p>
          <a:p>
            <a:pPr indent="0" marL="0">
              <a:buNone/>
            </a:pPr>
            <a:r>
              <a:rPr lang="en-US" sz="1500" b="1" dirty="0">
                <a:solidFill>
                  <a:schemeClr val="tx1"/>
                </a:solidFill>
              </a:rPr>
              <a:t>Alternatives: the first k simple paths</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Alternative pathways, backup routes: k simple paths ranked by cost, hops, then IDs, so ties have one order and parallel edges differ.</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Yen (1971) with Lawler's rule: spur only from where a path left its parent; each least path a Dijkstra search on the full order.</a:t>
            </a:r>
            <a:endParaRPr lang="en-US" sz="1400" dirty="0"/>
          </a:p>
        </p:txBody>
      </p:sp>
      <p:sp>
        <p:nvSpPr>
          <p:cNvPr id="27" name="proof k_shortest_paths"/>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Each path is a witness a checker confirms. The ranking is Yen's theorem, tested on 700 random cases: not certified or revalidated.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 substructures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cycles and injective matches.</a:t>
            </a:r>
            <a:endParaRPr lang="en-US" sz="1600" dirty="0"/>
          </a:p>
        </p:txBody>
      </p:sp>
      <p:sp>
        <p:nvSpPr>
          <p:cNvPr id="4" name="operation pattern · trees"/>
          <p:cNvSpPr/>
          <p:nvPr/>
        </p:nvSpPr>
        <p:spPr>
          <a:xfrm>
            <a:off x="548640" y="1691640"/>
            <a:ext cx="3515258" cy="4526280"/>
          </a:xfrm>
          <a:prstGeom prst="roundRect">
            <a:avLst>
              <a:gd name="adj" fmla="val 2601"/>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Variables bound by types (through the hierarchy) or IDs, then steps, each one hop from an earlier variable; optional steps keep their row.</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Yannakakis' semi-join reduction: discover down, prune up, prune down. Totals are counted exactly without listing the rows.</a:t>
            </a:r>
            <a:endParaRPr lang="en-US" sz="1400" dirty="0"/>
          </a:p>
        </p:txBody>
      </p:sp>
      <p:sp>
        <p:nvSpPr>
          <p:cNvPr id="9" name="proof pattern · trees"/>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checks every row; rows and totals match a brute-force enumerator (400 random patterns) and SCALE's own engine.</a:t>
            </a:r>
            <a:endParaRPr lang="en-US" sz="1300" dirty="0"/>
          </a:p>
        </p:txBody>
      </p:sp>
      <p:sp>
        <p:nvSpPr>
          <p:cNvPr id="13" name="operation pattern · cycles"/>
          <p:cNvSpPr/>
          <p:nvPr/>
        </p:nvSpPr>
        <p:spPr>
          <a:xfrm>
            <a:off x="4338218" y="1691640"/>
            <a:ext cx="3515258" cy="4526280"/>
          </a:xfrm>
          <a:prstGeom prst="roundRect">
            <a:avLst>
              <a:gd name="adj" fmla="val 2601"/>
            </a:avLst>
          </a:prstGeom>
          <a:solidFill>
            <a:schemeClr val="bg2"/>
          </a:solidFill>
          <a:ln/>
        </p:spPr>
      </p:sp>
      <p:sp>
        <p:nvSpPr>
          <p:cNvPr id="14" name="icon pattern · cycles"/>
          <p:cNvSpPr/>
          <p:nvPr/>
        </p:nvSpPr>
        <p:spPr>
          <a:xfrm>
            <a:off x="453938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step may close a cycle between bound variables: two supports of a claim from one dataset, a triangle of citations.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Worst-case optimal join (Ngo, Porat, Ré and Rudra; Leapfrog Triejoin): candidates meet what every closing step allows.</a:t>
            </a:r>
            <a:endParaRPr lang="en-US" sz="1400" dirty="0"/>
          </a:p>
        </p:txBody>
      </p:sp>
      <p:sp>
        <p:nvSpPr>
          <p:cNvPr id="18" name="proof pattern · cycles"/>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Row for row against a brute-force enumerator (300 random cyclic patterns). An interruption keeps a prefix of the rows, never denies.</a:t>
            </a:r>
            <a:endParaRPr lang="en-US" sz="1400" dirty="0"/>
          </a:p>
        </p:txBody>
      </p:sp>
      <p:sp>
        <p:nvSpPr>
          <p:cNvPr id="22" name="operation pattern · injective"/>
          <p:cNvSpPr/>
          <p:nvPr/>
        </p:nvSpPr>
        <p:spPr>
          <a:xfrm>
            <a:off x="8127797" y="1691640"/>
            <a:ext cx="3515258" cy="4526280"/>
          </a:xfrm>
          <a:prstGeom prst="roundRect">
            <a:avLst>
              <a:gd name="adj" fmla="val 2601"/>
            </a:avLst>
          </a:prstGeom>
          <a:solidFill>
            <a:schemeClr val="bg2"/>
          </a:solidFill>
          <a:ln/>
        </p:spPr>
      </p:sp>
      <p:sp>
        <p:nvSpPr>
          <p:cNvPr id="23" name="icon pattern · injective"/>
          <p:cNvSpPr/>
          <p:nvPr/>
        </p:nvSpPr>
        <p:spPr>
          <a:xfrm>
            <a:off x="8328965" y="1892808"/>
            <a:ext cx="512064" cy="512064"/>
          </a:xfrm>
          <a:prstGeom prst="ellipse">
            <a:avLst/>
          </a:prstGeom>
          <a:solidFill>
            <a:schemeClr val="accent1"/>
          </a:solidFill>
          <a:ln/>
        </p:spPr>
      </p:sp>
      <p:pic>
        <p:nvPicPr>
          <p:cNvPr id="24" name="Image 4" descr="pattern · injective">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injective</a:t>
            </a:r>
            <a:endParaRPr lang="en-US" sz="1500" dirty="0"/>
          </a:p>
          <a:p>
            <a:pPr indent="0" marL="0">
              <a:buNone/>
            </a:pPr>
            <a:r>
              <a:rPr lang="en-US" sz="1500" b="1" dirty="0">
                <a:solidFill>
                  <a:schemeClr val="tx1"/>
                </a:solidFill>
              </a:rPr>
              <a:t>Substructure search</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injective: true</a:t>
            </a:r>
            <a:pPr indent="0" marL="0">
              <a:spcAft>
                <a:spcPts val="840"/>
              </a:spcAft>
              <a:buNone/>
            </a:pPr>
            <a:r>
              <a:rPr lang="en-US" sz="1400" dirty="0">
                <a:solidFill>
                  <a:schemeClr val="tx1"/>
                </a:solidFill>
              </a:rPr>
              <a:t>: distinct variables bind distinct nodes, distinct steps distinct edges. Motifs, catalytic sites, rings. No optional steps yet.</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Over the same Yannakakis-pruned candidates, skipping held nodes and used edges. NP-complete: budget-bounded; exact totals when done.</a:t>
            </a:r>
            <a:endParaRPr lang="en-US" sz="1400" dirty="0"/>
          </a:p>
        </p:txBody>
      </p:sp>
      <p:sp>
        <p:nvSpPr>
          <p:cNvPr id="27" name="proof pattern · injective"/>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Brute force filtered for distinctness, row for row (400 random patterns); networkx's monomorphisms. Interrupted: no absence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backbones and 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Links read undirected: the lightest forest that connects every piece, and the lightest rings that generate every cycle.</a:t>
            </a:r>
            <a:endParaRPr lang="en-US" sz="1600" dirty="0"/>
          </a:p>
        </p:txBody>
      </p:sp>
      <p:sp>
        <p:nvSpPr>
          <p:cNvPr id="4" name="operation spanning_forest"/>
          <p:cNvSpPr/>
          <p:nvPr/>
        </p:nvSpPr>
        <p:spPr>
          <a:xfrm>
            <a:off x="548640" y="1691640"/>
            <a:ext cx="5410048" cy="4526280"/>
          </a:xfrm>
          <a:prstGeom prst="roundRect">
            <a:avLst>
              <a:gd name="adj" fmla="val 2020"/>
            </a:avLst>
          </a:prstGeom>
          <a:solidFill>
            <a:schemeClr val="bg2"/>
          </a:solidFill>
          <a:ln/>
        </p:spPr>
      </p:sp>
      <p:sp>
        <p:nvSpPr>
          <p:cNvPr id="5" name="icon spanning_forest"/>
          <p:cNvSpPr/>
          <p:nvPr/>
        </p:nvSpPr>
        <p:spPr>
          <a:xfrm>
            <a:off x="749808" y="1892808"/>
            <a:ext cx="512064" cy="512064"/>
          </a:xfrm>
          <a:prstGeom prst="ellipse">
            <a:avLst/>
          </a:prstGeom>
          <a:solidFill>
            <a:schemeClr val="accent1"/>
          </a:solidFill>
          <a:ln/>
        </p:spPr>
      </p:sp>
      <p:pic>
        <p:nvPicPr>
          <p:cNvPr id="6" name="Image 0" descr="spanning_fores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spanning_forest</a:t>
            </a:r>
            <a:endParaRPr lang="en-US" sz="1500" dirty="0"/>
          </a:p>
          <a:p>
            <a:pPr indent="0" marL="0">
              <a:buNone/>
            </a:pPr>
            <a:r>
              <a:rPr lang="en-US" sz="1500" b="1" dirty="0">
                <a:solidFill>
                  <a:schemeClr val="tx1"/>
                </a:solidFill>
              </a:rPr>
              <a:t>Backbones, single-linkage clusters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minimum (or maximum) spanning forest: one tree per connected piece, each link read either way. Weights are any finite numbers, exact; ties go to the smaller edge ID.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Kruskal (1956) with a union-find, taking the links in the order of (weight, edge ID): the forest is unique in that order.</a:t>
            </a:r>
            <a:endParaRPr lang="en-US" sz="1500" dirty="0"/>
          </a:p>
        </p:txBody>
      </p:sp>
      <p:sp>
        <p:nvSpPr>
          <p:cNvPr id="9" name="proof spanning_fores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PROVES ITSELF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Tarjan's cycle property: no cycle, every piece spanned, and each link left out after every edge of its tree path (path maxima by binary lifting). Revalidation re-checks it.</a:t>
            </a:r>
            <a:endParaRPr lang="en-US" sz="1500" dirty="0"/>
          </a:p>
        </p:txBody>
      </p:sp>
      <p:sp>
        <p:nvSpPr>
          <p:cNvPr id="13" name="operation cycle_basis"/>
          <p:cNvSpPr/>
          <p:nvPr/>
        </p:nvSpPr>
        <p:spPr>
          <a:xfrm>
            <a:off x="6233008" y="1691640"/>
            <a:ext cx="5410048" cy="4526280"/>
          </a:xfrm>
          <a:prstGeom prst="roundRect">
            <a:avLst>
              <a:gd name="adj" fmla="val 2020"/>
            </a:avLst>
          </a:prstGeom>
          <a:solidFill>
            <a:schemeClr val="bg2"/>
          </a:solidFill>
          <a:ln/>
        </p:spPr>
      </p:sp>
      <p:sp>
        <p:nvSpPr>
          <p:cNvPr id="14" name="icon cycle_basis"/>
          <p:cNvSpPr/>
          <p:nvPr/>
        </p:nvSpPr>
        <p:spPr>
          <a:xfrm>
            <a:off x="6434176" y="1892808"/>
            <a:ext cx="512064" cy="512064"/>
          </a:xfrm>
          <a:prstGeom prst="ellipse">
            <a:avLst/>
          </a:prstGeom>
          <a:solidFill>
            <a:schemeClr val="accent1"/>
          </a:solidFill>
          <a:ln/>
        </p:spPr>
      </p:sp>
      <p:pic>
        <p:nvPicPr>
          <p:cNvPr id="15" name="Image 2" descr="cycle_basi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cycle_basis</a:t>
            </a:r>
            <a:endParaRPr lang="en-US" sz="1500" dirty="0"/>
          </a:p>
          <a:p>
            <a:pPr indent="0" marL="0">
              <a:buNone/>
            </a:pPr>
            <a:r>
              <a:rPr lang="en-US" sz="1500" b="1" dirty="0">
                <a:solidFill>
                  <a:schemeClr val="tx1"/>
                </a:solidFill>
              </a:rPr>
              <a:t>Ring perception: a minimum cycle basis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Rank (links − nodes + pieces) independent simple cycles of least total weight. With every link 1: chemistry's smallest set of smallest rings: naphthalene has two six-rings, cubane five four-rings.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De Pina (1995; Kavitha et al., 2004): cycle i is a lightest cycle meeting witness S_i oddly, a shortest path in the parity graph; each later witness odd on it takes S_i in.</a:t>
            </a:r>
            <a:endParaRPr lang="en-US" sz="1500" dirty="0"/>
          </a:p>
        </p:txBody>
      </p:sp>
      <p:sp>
        <p:nvSpPr>
          <p:cNvPr id="18" name="proof cycle_basis"/>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witnesses: cycle i is odd on witness i and every earlier cycle even, so the cycles are independent; a checker finds no lighter odd cycle, so the basis is minimum.</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cuts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a cover and potentials for a matching.</a:t>
            </a:r>
            <a:endParaRPr lang="en-US" sz="1600" dirty="0"/>
          </a:p>
        </p:txBody>
      </p:sp>
      <p:sp>
        <p:nvSpPr>
          <p:cNvPr id="4" name="operation max_flow"/>
          <p:cNvSpPr/>
          <p:nvPr/>
        </p:nvSpPr>
        <p:spPr>
          <a:xfrm>
            <a:off x="548640" y="1691640"/>
            <a:ext cx="5410048" cy="4526280"/>
          </a:xfrm>
          <a:prstGeom prst="roundRect">
            <a:avLst>
              <a:gd name="adj" fmla="val 2020"/>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As much as the capacities let through from the sources to the targets (Ford and Fulkerson, 1956). Unit capacities count edge- or node-disjoint paths (Menger, 1927).</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Dinic's algorithm (1970) in exact integers: breadth-first levels in the residual graph, then a blocking flow; the residual graph is built only where the search reads it.</a:t>
            </a:r>
            <a:endParaRPr lang="en-US" sz="1400" dirty="0"/>
          </a:p>
        </p:txBody>
      </p:sp>
      <p:sp>
        <p:nvSpPr>
          <p:cNvPr id="9" name="proof max_flow"/>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cut's source side: a checker confirms the flow and recomputes a cut of the same value from the records, so both are optimal (max-flow min-cut theorem).</a:t>
            </a:r>
            <a:endParaRPr lang="en-US" sz="1400" dirty="0"/>
          </a:p>
        </p:txBody>
      </p:sp>
      <p:sp>
        <p:nvSpPr>
          <p:cNvPr id="13" name="operation matching"/>
          <p:cNvSpPr/>
          <p:nvPr/>
        </p:nvSpPr>
        <p:spPr>
          <a:xfrm>
            <a:off x="6233008" y="1691640"/>
            <a:ext cx="5410048" cy="4526280"/>
          </a:xfrm>
          <a:prstGeom prst="roundRect">
            <a:avLst>
              <a:gd name="adj" fmla="val 2020"/>
            </a:avLst>
          </a:prstGeom>
          <a:solidFill>
            <a:schemeClr val="bg2"/>
          </a:solidFill>
          <a:ln/>
        </p:spPr>
      </p:sp>
      <p:sp>
        <p:nvSpPr>
          <p:cNvPr id="14" name="icon matching"/>
          <p:cNvSpPr/>
          <p:nvPr/>
        </p:nvSpPr>
        <p:spPr>
          <a:xfrm>
            <a:off x="6434176" y="1892808"/>
            <a:ext cx="512064" cy="512064"/>
          </a:xfrm>
          <a:prstGeom prst="ellipse">
            <a:avLst/>
          </a:prstGeom>
          <a:solidFill>
            <a:schemeClr val="accent1"/>
          </a:solidFill>
          <a:ln/>
        </p:spPr>
      </p:sp>
      <p:pic>
        <p:nvPicPr>
          <p:cNvPr id="15" name="Image 2" descr="matching">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As many distinct pairings as possible, at least cost</a:t>
            </a:r>
            <a:endParaRPr lang="en-US" sz="1500" dirty="0"/>
          </a:p>
        </p:txBody>
      </p:sp>
      <p:sp>
        <p:nvSpPr>
          <p:cNvPr id="17" name="Text 12"/>
          <p:cNvSpPr txBox="1"/>
          <p:nvPr/>
        </p:nvSpPr>
        <p:spPr>
          <a:xfrm>
            <a:off x="6434176" y="2714625"/>
            <a:ext cx="500771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maximum matching of a left set to partners outside it, no node in two pairs: samples to instruments, claims to reviewers. With costs, the cheapest of the largest: the assignment problem.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Hopcroft and Karp (1973): breadth-first phases along shortest alternating paths. With costs, successive shortest paths: the Hungarian method, Dijkstra on costs reduced by potentials.</a:t>
            </a:r>
            <a:endParaRPr lang="en-US" sz="1400" dirty="0"/>
          </a:p>
        </p:txBody>
      </p:sp>
      <p:sp>
        <p:nvSpPr>
          <p:cNvPr id="18" name="proof matching"/>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König's vertex cover (1931): as many nodes as pairs, touching every candidate hop, so none is larger. With costs, potentials leave no residual arc negative: none is cheaper.</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forest when it verifies; a cycle or active trail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606</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185</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every finding is fixed with a regression. Among them: a request_id collision and certificate holes (structure); an unverified interrupted bound (flows); quadratic checks (dominators, support) and memory (k shortest paths); a float that let a false rank verify (incidence) and float potentials in integer certificates (weighted matching); a path from outside the sources' region (critical path); a lenient ranking revalidation (PageRank); a whole certificate read for an unrelated edit (negative costs); the recursion limit on a 1,100-step chain (injective patterns); frozen answers the verifier skipped (forests); a repeated witness link that passed a non-minimum basis (cycle bases); a misordered path list accepted (k shortest paths). d-separation: no findings.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583432"/>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366512"/>
            <a:ext cx="5364328" cy="851408"/>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583432"/>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5366512"/>
            <a:ext cx="5364328" cy="851408"/>
          </a:xfrm>
          <a:prstGeom prst="rect">
            <a:avLst/>
          </a:prstGeom>
          <a:noFill/>
          <a:ln/>
        </p:spPr>
        <p:txBody>
          <a:bodyPr wrap="square" lIns="0" tIns="0" rIns="0" bIns="0" rtlCol="0" anchor="t"/>
          <a:lstStyle/>
          <a:p>
            <a:pPr indent="0" marL="0">
              <a:buNone/>
            </a:pPr>
            <a:r>
              <a:rPr lang="en-US" sz="1300" dirty="0">
                <a:solidFill>
                  <a:schemeClr val="tx1"/>
                </a:solidFill>
              </a:rPr>
              <a:t>100k nodes, 500k edges; matching 50k + 50k; dominators and forest 300k edges; critical path 400k (networkx: no order certificate). Negative costs 20k nodes, 100k edges; weighted 300 + 300; hexagons in 1,300 atoms; 20 shortest paths in 20k nodes (networkx searches both ways).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SCALE's query engine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own engine on SCALE's documents; the largest, methanol synthesis, has 2,851 nodes and 9,335 links.</a:t>
            </a:r>
            <a:endParaRPr lang="en-US" sz="1600" dirty="0"/>
          </a:p>
        </p:txBody>
      </p:sp>
      <p:graphicFrame>
        <p:nvGraphicFramePr>
          <p:cNvPr id="25" name="SCALE 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6172200" cy="914400"/>
        </p:xfrm>
        <a:graphic>
          <a:graphicData uri="http://schemas.openxmlformats.org/drawingml/2006/table">
            <a:tbl>
              <a:tblPr/>
              <a:tblGrid>
                <a:gridCol w="3291840"/>
                <a:gridCol w="914400"/>
                <a:gridCol w="914400"/>
                <a:gridCol w="1051560"/>
              </a:tblGrid>
              <a:tr h="329184">
                <a:tc>
                  <a:txBody>
                    <a:bodyPr/>
                    <a:lstStyle/>
                    <a:p>
                      <a:pPr algn="l" indent="0" marL="0">
                        <a:buNone/>
                      </a:pPr>
                      <a:r>
                        <a:rPr lang="en-US" sz="1100" b="1" spc="100" kern="0" dirty="0">
                          <a:solidFill>
                            <a:schemeClr val="accent6"/>
                          </a:solidFill>
                        </a:rPr>
                        <a:t>WORKLOAD</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SCALE</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GRAPH</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FASTER</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r>
              <a:tr h="598424">
                <a:tc>
                  <a:txBody>
                    <a:bodyPr/>
                    <a:lstStyle/>
                    <a:p>
                      <a:pPr indent="0" marL="0">
                        <a:buNone/>
                      </a:pPr>
                      <a:r>
                        <a:rPr lang="en-US" sz="1400" dirty="0">
                          <a:solidFill>
                            <a:schemeClr val="tx1"/>
                          </a:solidFill>
                        </a:rPr>
                        <a:t>Competency questions: 39 question–document pairs, median</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0.56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0.087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6.4×</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Methanol synthesis: all 1,052 one- and two-step plans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5.6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0.61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9.2×</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81508">
                <a:tc>
                  <a:txBody>
                    <a:bodyPr/>
                    <a:lstStyle/>
                    <a:p>
                      <a:pPr indent="0" marL="0">
                        <a:buNone/>
                      </a:pPr>
                      <a:r>
                        <a:rPr lang="en-US" sz="1400" dirty="0">
                          <a:solidFill>
                            <a:schemeClr val="tx1"/>
                          </a:solidFill>
                        </a:rPr>
                        <a:t>Its largest answer: 10,470 rows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475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21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Three steps, dead ends: 9,459 intermediate rows, 6 answers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18.9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0.76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598424">
                <a:tc>
                  <a:txBody>
                    <a:bodyPr/>
                    <a:lstStyle/>
                    <a:p>
                      <a:pPr indent="0" marL="0">
                        <a:buNone/>
                      </a:pPr>
                      <a:r>
                        <a:rPr lang="en-US" sz="1400" dirty="0">
                          <a:solidFill>
                            <a:schemeClr val="tx1"/>
                          </a:solidFill>
                        </a:rPr>
                        <a:t>Methanol, 16 copies: 45,616 nodes, 149,360 links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17.1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1.14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15×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4997196"/>
            <a:ext cx="6172200" cy="1220724"/>
          </a:xfrm>
          <a:prstGeom prst="rect">
            <a:avLst/>
          </a:prstGeom>
          <a:noFill/>
          <a:ln/>
        </p:spPr>
        <p:txBody>
          <a:bodyPr wrap="square" lIns="0" tIns="0" rIns="0" bIns="0" rtlCol="0" anchor="t"/>
          <a:lstStyle/>
          <a:p>
            <a:pPr indent="0" marL="0">
              <a:buNone/>
            </a:pPr>
            <a:r>
              <a:rPr lang="en-US" sz="1400" dirty="0">
                <a:solidFill>
                  <a:schemeClr val="tx1"/>
                </a:solidFill>
              </a:rPr>
              <a:t>The same rows in the same order on every query, asserted row for row; GRAPH was never slower on 1,131 queries. Counting without listing: 16× faster on methanol's plans, 33× on 16 copies; its largest answer counted in 0.6 ms. Both engines scale linearly with the copies.</a:t>
            </a:r>
            <a:endParaRPr lang="en-US" sz="1400" dirty="0"/>
          </a:p>
        </p:txBody>
      </p:sp>
      <p:sp>
        <p:nvSpPr>
          <p:cNvPr id="6" name="What SCALE's time includes"/>
          <p:cNvSpPr/>
          <p:nvPr/>
        </p:nvSpPr>
        <p:spPr>
          <a:xfrm>
            <a:off x="7040880" y="1691640"/>
            <a:ext cx="4602175" cy="1386840"/>
          </a:xfrm>
          <a:prstGeom prst="roundRect">
            <a:avLst>
              <a:gd name="adj" fmla="val 6593"/>
            </a:avLst>
          </a:prstGeom>
          <a:solidFill>
            <a:schemeClr val="bg2"/>
          </a:solidFill>
          <a:ln/>
        </p:spPr>
      </p:sp>
      <p:sp>
        <p:nvSpPr>
          <p:cNvPr id="7" name="icon What SCALE's time includes"/>
          <p:cNvSpPr/>
          <p:nvPr/>
        </p:nvSpPr>
        <p:spPr>
          <a:xfrm>
            <a:off x="7223760" y="1837944"/>
            <a:ext cx="384048" cy="384048"/>
          </a:xfrm>
          <a:prstGeom prst="ellipse">
            <a:avLst/>
          </a:prstGeom>
          <a:solidFill>
            <a:schemeClr val="accent1"/>
          </a:solidFill>
          <a:ln/>
        </p:spPr>
      </p:sp>
      <p:pic>
        <p:nvPicPr>
          <p:cNvPr id="8" name="Image 0" descr="What SCALE's time includes">    </p:cNvPr>
          <p:cNvPicPr>
            <a:picLocks noChangeAspect="1"/>
          </p:cNvPicPr>
          <p:nvPr/>
        </p:nvPicPr>
        <p:blipFill>
          <a:blip r:embed="rId1"/>
          <a:stretch>
            <a:fillRect/>
          </a:stretch>
        </p:blipFill>
        <p:spPr>
          <a:xfrm>
            <a:off x="7308251" y="1922435"/>
            <a:ext cx="215067" cy="215067"/>
          </a:xfrm>
          <a:prstGeom prst="rect">
            <a:avLst/>
          </a:prstGeom>
        </p:spPr>
      </p:pic>
      <p:sp>
        <p:nvSpPr>
          <p:cNvPr id="9" name="Text 5"/>
          <p:cNvSpPr txBox="1"/>
          <p:nvPr/>
        </p:nvSpPr>
        <p:spPr>
          <a:xfrm>
            <a:off x="7726680" y="183794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What SCALE's time includes</a:t>
            </a:r>
            <a:endParaRPr lang="en-US" sz="1600" dirty="0"/>
          </a:p>
        </p:txBody>
      </p:sp>
      <p:sp>
        <p:nvSpPr>
          <p:cNvPr id="10" name="Text 6"/>
          <p:cNvSpPr txBox="1"/>
          <p:nvPr/>
        </p:nvSpPr>
        <p:spPr>
          <a:xfrm>
            <a:off x="7223760" y="2313432"/>
            <a:ext cx="4236415" cy="710184"/>
          </a:xfrm>
          <a:prstGeom prst="rect">
            <a:avLst/>
          </a:prstGeom>
          <a:noFill/>
          <a:ln/>
        </p:spPr>
        <p:txBody>
          <a:bodyPr wrap="square" lIns="0" tIns="0" rIns="0" bIns="0" rtlCol="0" anchor="t"/>
          <a:lstStyle/>
          <a:p>
            <a:pPr indent="0" marL="0">
              <a:buNone/>
            </a:pPr>
            <a:r>
              <a:rPr lang="en-US" sz="1400" dirty="0">
                <a:solidFill>
                  <a:schemeClr val="tx1"/>
                </a:solidFill>
              </a:rPr>
              <a:t>Per-row evidence and a deep copy of the answer, about half its time. Without them GRAPH is still 3.7× faster on methanol, 6.3× on 16 copies.</a:t>
            </a:r>
            <a:endParaRPr lang="en-US" sz="1400" dirty="0"/>
          </a:p>
        </p:txBody>
      </p:sp>
      <p:sp>
        <p:nvSpPr>
          <p:cNvPr id="11" name="Where SCALE is faster"/>
          <p:cNvSpPr/>
          <p:nvPr/>
        </p:nvSpPr>
        <p:spPr>
          <a:xfrm>
            <a:off x="7040880" y="3261360"/>
            <a:ext cx="4602175" cy="1386840"/>
          </a:xfrm>
          <a:prstGeom prst="roundRect">
            <a:avLst>
              <a:gd name="adj" fmla="val 6593"/>
            </a:avLst>
          </a:prstGeom>
          <a:solidFill>
            <a:schemeClr val="bg2"/>
          </a:solidFill>
          <a:ln/>
        </p:spPr>
      </p:sp>
      <p:sp>
        <p:nvSpPr>
          <p:cNvPr id="12" name="icon Where SCALE is faster"/>
          <p:cNvSpPr/>
          <p:nvPr/>
        </p:nvSpPr>
        <p:spPr>
          <a:xfrm>
            <a:off x="7223760" y="3407664"/>
            <a:ext cx="384048" cy="384048"/>
          </a:xfrm>
          <a:prstGeom prst="ellipse">
            <a:avLst/>
          </a:prstGeom>
          <a:solidFill>
            <a:schemeClr val="accent1"/>
          </a:solidFill>
          <a:ln/>
        </p:spPr>
      </p:sp>
      <p:pic>
        <p:nvPicPr>
          <p:cNvPr id="13" name="Image 1" descr="Where SCALE is faster">    </p:cNvPr>
          <p:cNvPicPr>
            <a:picLocks noChangeAspect="1"/>
          </p:cNvPicPr>
          <p:nvPr/>
        </p:nvPicPr>
        <p:blipFill>
          <a:blip r:embed="rId2"/>
          <a:stretch>
            <a:fillRect/>
          </a:stretch>
        </p:blipFill>
        <p:spPr>
          <a:xfrm>
            <a:off x="7308251" y="3492155"/>
            <a:ext cx="215067" cy="215067"/>
          </a:xfrm>
          <a:prstGeom prst="rect">
            <a:avLst/>
          </a:prstGeom>
        </p:spPr>
      </p:pic>
      <p:sp>
        <p:nvSpPr>
          <p:cNvPr id="14" name="Text 9"/>
          <p:cNvSpPr txBox="1"/>
          <p:nvPr/>
        </p:nvSpPr>
        <p:spPr>
          <a:xfrm>
            <a:off x="7726680" y="340766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Where SCALE is faster</a:t>
            </a:r>
            <a:endParaRPr lang="en-US" sz="1600" dirty="0"/>
          </a:p>
        </p:txBody>
      </p:sp>
      <p:sp>
        <p:nvSpPr>
          <p:cNvPr id="15" name="Text 10"/>
          <p:cNvSpPr txBox="1"/>
          <p:nvPr/>
        </p:nvSpPr>
        <p:spPr>
          <a:xfrm>
            <a:off x="7223760" y="3883152"/>
            <a:ext cx="4236415" cy="710184"/>
          </a:xfrm>
          <a:prstGeom prst="rect">
            <a:avLst/>
          </a:prstGeom>
          <a:noFill/>
          <a:ln/>
        </p:spPr>
        <p:txBody>
          <a:bodyPr wrap="square" lIns="0" tIns="0" rIns="0" bIns="0" rtlCol="0" anchor="t"/>
          <a:lstStyle/>
          <a:p>
            <a:pPr indent="0" marL="0">
              <a:buNone/>
            </a:pPr>
            <a:r>
              <a:rPr lang="en-US" sz="1400" dirty="0">
                <a:solidFill>
                  <a:schemeClr val="tx1"/>
                </a:solidFill>
              </a:rPr>
              <a:t>Building its index: 2.2 ms, against 20 ms for GRAPH's projection of methanol. The small retraction workflows: 0.04 ms against 0.32–0.36 ms.</a:t>
            </a:r>
            <a:endParaRPr lang="en-US" sz="1400" dirty="0"/>
          </a:p>
        </p:txBody>
      </p:sp>
      <p:sp>
        <p:nvSpPr>
          <p:cNvPr id="16" name="Why"/>
          <p:cNvSpPr/>
          <p:nvPr/>
        </p:nvSpPr>
        <p:spPr>
          <a:xfrm>
            <a:off x="7040880" y="4831080"/>
            <a:ext cx="4602175" cy="1386840"/>
          </a:xfrm>
          <a:prstGeom prst="roundRect">
            <a:avLst>
              <a:gd name="adj" fmla="val 6593"/>
            </a:avLst>
          </a:prstGeom>
          <a:solidFill>
            <a:schemeClr val="bg2"/>
          </a:solidFill>
          <a:ln/>
        </p:spPr>
      </p:sp>
      <p:sp>
        <p:nvSpPr>
          <p:cNvPr id="17" name="icon Why"/>
          <p:cNvSpPr/>
          <p:nvPr/>
        </p:nvSpPr>
        <p:spPr>
          <a:xfrm>
            <a:off x="7223760" y="4977384"/>
            <a:ext cx="384048" cy="384048"/>
          </a:xfrm>
          <a:prstGeom prst="ellipse">
            <a:avLst/>
          </a:prstGeom>
          <a:solidFill>
            <a:schemeClr val="accent1"/>
          </a:solidFill>
          <a:ln/>
        </p:spPr>
      </p:sp>
      <p:pic>
        <p:nvPicPr>
          <p:cNvPr id="18" name="Image 2" descr="Why">    </p:cNvPr>
          <p:cNvPicPr>
            <a:picLocks noChangeAspect="1"/>
          </p:cNvPicPr>
          <p:nvPr/>
        </p:nvPicPr>
        <p:blipFill>
          <a:blip r:embed="rId3"/>
          <a:stretch>
            <a:fillRect/>
          </a:stretch>
        </p:blipFill>
        <p:spPr>
          <a:xfrm>
            <a:off x="7308251" y="5061875"/>
            <a:ext cx="215067" cy="215067"/>
          </a:xfrm>
          <a:prstGeom prst="rect">
            <a:avLst/>
          </a:prstGeom>
        </p:spPr>
      </p:pic>
      <p:sp>
        <p:nvSpPr>
          <p:cNvPr id="19" name="Text 13"/>
          <p:cNvSpPr txBox="1"/>
          <p:nvPr/>
        </p:nvSpPr>
        <p:spPr>
          <a:xfrm>
            <a:off x="7726680" y="497738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20" name="Text 14"/>
          <p:cNvSpPr txBox="1"/>
          <p:nvPr/>
        </p:nvSpPr>
        <p:spPr>
          <a:xfrm>
            <a:off x="7223760" y="5452872"/>
            <a:ext cx="4236415" cy="710184"/>
          </a:xfrm>
          <a:prstGeom prst="rect">
            <a:avLst/>
          </a:prstGeom>
          <a:noFill/>
          <a:ln/>
        </p:spPr>
        <p:txBody>
          <a:bodyPr wrap="square" lIns="0" tIns="0" rIns="0" bIns="0" rtlCol="0" anchor="t"/>
          <a:lstStyle/>
          <a:p>
            <a:pPr indent="0" marL="0">
              <a:buNone/>
            </a:pPr>
            <a:r>
              <a:rPr lang="en-US" sz="1400" dirty="0">
                <a:solidFill>
                  <a:schemeClr val="tx1"/>
                </a:solidFill>
              </a:rPr>
              <a:t>SCALE expands rows step by step. GRAPH's semi-join reduction (Yannakakis) never meets a dead end, and counts without listing the rows.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Forty-four commits on 25–26 October 2026: from four operations to twenty-two.</a:t>
            </a:r>
            <a:endParaRPr lang="en-US" sz="1600" dirty="0"/>
          </a:p>
        </p:txBody>
      </p:sp>
      <p:sp>
        <p:nvSpPr>
          <p:cNvPr id="4" name="Shape 2"/>
          <p:cNvSpPr/>
          <p:nvPr/>
        </p:nvSpPr>
        <p:spPr>
          <a:xfrm>
            <a:off x="1508760" y="1824766"/>
            <a:ext cx="0" cy="4260028"/>
          </a:xfrm>
          <a:prstGeom prst="line">
            <a:avLst/>
          </a:prstGeom>
          <a:noFill/>
          <a:ln w="25400">
            <a:solidFill>
              <a:schemeClr val="accent5"/>
            </a:solidFill>
            <a:prstDash val="solid"/>
          </a:ln>
        </p:spPr>
      </p:sp>
      <p:sp>
        <p:nvSpPr>
          <p:cNvPr id="5" name="Text 3"/>
          <p:cNvSpPr txBox="1"/>
          <p:nvPr/>
        </p:nvSpPr>
        <p:spPr>
          <a:xfrm>
            <a:off x="1783080" y="1691640"/>
            <a:ext cx="4389120" cy="266252"/>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201786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57892"/>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57892"/>
            <a:ext cx="4434840" cy="266252"/>
          </a:xfrm>
          <a:prstGeom prst="rect">
            <a:avLst/>
          </a:prstGeom>
          <a:noFill/>
          <a:ln/>
        </p:spPr>
        <p:txBody>
          <a:bodyPr wrap="square" lIns="0" tIns="0" rIns="0" bIns="0" rtlCol="0" anchor="ctr"/>
          <a:lstStyle/>
          <a:p>
            <a:pPr indent="0" marL="0">
              <a:buNone/>
            </a:pPr>
            <a:r>
              <a:rPr lang="en-US" sz="1400" dirty="0">
                <a:solidFill>
                  <a:schemeClr val="tx1"/>
                </a:solidFill>
              </a:rPr>
              <a:t>v0: 4 operations, SCALE parity; reviews → contract v0.1</a:t>
            </a:r>
            <a:endParaRPr lang="en-US" sz="1400" dirty="0"/>
          </a:p>
        </p:txBody>
      </p:sp>
      <p:sp>
        <p:nvSpPr>
          <p:cNvPr id="9" name="milestone 20:55"/>
          <p:cNvSpPr/>
          <p:nvPr/>
        </p:nvSpPr>
        <p:spPr>
          <a:xfrm>
            <a:off x="1435608" y="2284117"/>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224144"/>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1" name="Text 9"/>
          <p:cNvSpPr txBox="1"/>
          <p:nvPr/>
        </p:nvSpPr>
        <p:spPr>
          <a:xfrm>
            <a:off x="1783080" y="2224144"/>
            <a:ext cx="4434840" cy="266252"/>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2" name="milestone 23:08"/>
          <p:cNvSpPr/>
          <p:nvPr/>
        </p:nvSpPr>
        <p:spPr>
          <a:xfrm>
            <a:off x="1435608" y="2550369"/>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90395"/>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4" name="Text 12"/>
          <p:cNvSpPr txBox="1"/>
          <p:nvPr/>
        </p:nvSpPr>
        <p:spPr>
          <a:xfrm>
            <a:off x="1783080" y="2490395"/>
            <a:ext cx="4434840" cy="266252"/>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5" name="Text 13"/>
          <p:cNvSpPr txBox="1"/>
          <p:nvPr/>
        </p:nvSpPr>
        <p:spPr>
          <a:xfrm>
            <a:off x="1783080" y="2756647"/>
            <a:ext cx="4389120" cy="266252"/>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6" name="milestone 00:14"/>
          <p:cNvSpPr/>
          <p:nvPr/>
        </p:nvSpPr>
        <p:spPr>
          <a:xfrm>
            <a:off x="1435608" y="3082873"/>
            <a:ext cx="146304" cy="146304"/>
          </a:xfrm>
          <a:prstGeom prst="ellipse">
            <a:avLst/>
          </a:prstGeom>
          <a:solidFill>
            <a:schemeClr val="accent1"/>
          </a:solidFill>
          <a:ln w="19050">
            <a:solidFill>
              <a:schemeClr val="bg1"/>
            </a:solidFill>
            <a:prstDash val="solid"/>
          </a:ln>
        </p:spPr>
      </p:sp>
      <p:sp>
        <p:nvSpPr>
          <p:cNvPr id="17" name="Text 15"/>
          <p:cNvSpPr txBox="1"/>
          <p:nvPr/>
        </p:nvSpPr>
        <p:spPr>
          <a:xfrm>
            <a:off x="548640" y="3022899"/>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18" name="Text 16"/>
          <p:cNvSpPr txBox="1"/>
          <p:nvPr/>
        </p:nvSpPr>
        <p:spPr>
          <a:xfrm>
            <a:off x="1783080" y="3022899"/>
            <a:ext cx="4434840" cy="266252"/>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19" name="milestone 04:25"/>
          <p:cNvSpPr/>
          <p:nvPr/>
        </p:nvSpPr>
        <p:spPr>
          <a:xfrm>
            <a:off x="1435608" y="3349124"/>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289151"/>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1" name="Text 19"/>
          <p:cNvSpPr txBox="1"/>
          <p:nvPr/>
        </p:nvSpPr>
        <p:spPr>
          <a:xfrm>
            <a:off x="1783080" y="3289151"/>
            <a:ext cx="4434840" cy="266252"/>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2" name="milestone 05:12"/>
          <p:cNvSpPr/>
          <p:nvPr/>
        </p:nvSpPr>
        <p:spPr>
          <a:xfrm>
            <a:off x="1435608" y="3615376"/>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555402"/>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4" name="Text 22"/>
          <p:cNvSpPr txBox="1"/>
          <p:nvPr/>
        </p:nvSpPr>
        <p:spPr>
          <a:xfrm>
            <a:off x="1783080" y="3555402"/>
            <a:ext cx="443484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5" name="milestone 10:09"/>
          <p:cNvSpPr/>
          <p:nvPr/>
        </p:nvSpPr>
        <p:spPr>
          <a:xfrm>
            <a:off x="1435608" y="3881628"/>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821654"/>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27" name="Text 25"/>
          <p:cNvSpPr txBox="1"/>
          <p:nvPr/>
        </p:nvSpPr>
        <p:spPr>
          <a:xfrm>
            <a:off x="1783080" y="3821654"/>
            <a:ext cx="443484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28" name="milestone 10:29"/>
          <p:cNvSpPr/>
          <p:nvPr/>
        </p:nvSpPr>
        <p:spPr>
          <a:xfrm>
            <a:off x="1435608" y="4147880"/>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4087906"/>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0" name="Text 28"/>
          <p:cNvSpPr txBox="1"/>
          <p:nvPr/>
        </p:nvSpPr>
        <p:spPr>
          <a:xfrm>
            <a:off x="1783080" y="4087906"/>
            <a:ext cx="443484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endParaRPr lang="en-US" sz="1300" dirty="0"/>
          </a:p>
        </p:txBody>
      </p:sp>
      <p:sp>
        <p:nvSpPr>
          <p:cNvPr id="31" name="milestone 10:43"/>
          <p:cNvSpPr/>
          <p:nvPr/>
        </p:nvSpPr>
        <p:spPr>
          <a:xfrm>
            <a:off x="1435608" y="4414132"/>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354158"/>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10:43</a:t>
            </a:r>
            <a:endParaRPr lang="en-US" sz="1300" dirty="0"/>
          </a:p>
        </p:txBody>
      </p:sp>
      <p:sp>
        <p:nvSpPr>
          <p:cNvPr id="33" name="Text 31"/>
          <p:cNvSpPr txBox="1"/>
          <p:nvPr/>
        </p:nvSpPr>
        <p:spPr>
          <a:xfrm>
            <a:off x="1783080" y="4354158"/>
            <a:ext cx="443484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 by certificate</a:t>
            </a:r>
            <a:endParaRPr lang="en-US" sz="1300" dirty="0"/>
          </a:p>
        </p:txBody>
      </p:sp>
      <p:sp>
        <p:nvSpPr>
          <p:cNvPr id="34" name="milestone 11:16"/>
          <p:cNvSpPr/>
          <p:nvPr/>
        </p:nvSpPr>
        <p:spPr>
          <a:xfrm>
            <a:off x="1435608" y="4680383"/>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620409"/>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6" name="Text 34"/>
          <p:cNvSpPr txBox="1"/>
          <p:nvPr/>
        </p:nvSpPr>
        <p:spPr>
          <a:xfrm>
            <a:off x="1783080" y="4620409"/>
            <a:ext cx="443484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d_separation</a:t>
            </a:r>
            <a:endParaRPr lang="en-US" sz="1300" dirty="0"/>
          </a:p>
        </p:txBody>
      </p:sp>
      <p:sp>
        <p:nvSpPr>
          <p:cNvPr id="37" name="milestone 17:45"/>
          <p:cNvSpPr/>
          <p:nvPr/>
        </p:nvSpPr>
        <p:spPr>
          <a:xfrm>
            <a:off x="1435608" y="4946635"/>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886661"/>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39" name="Text 37"/>
          <p:cNvSpPr txBox="1"/>
          <p:nvPr/>
        </p:nvSpPr>
        <p:spPr>
          <a:xfrm>
            <a:off x="1783080" y="4886661"/>
            <a:ext cx="4434840" cy="266252"/>
          </a:xfrm>
          <a:prstGeom prst="rect">
            <a:avLst/>
          </a:prstGeom>
          <a:noFill/>
          <a:ln/>
        </p:spPr>
        <p:txBody>
          <a:bodyPr wrap="square" lIns="0" tIns="0" rIns="0" bIns="0" rtlCol="0" anchor="ctr"/>
          <a:lstStyle/>
          <a:p>
            <a:pPr indent="0" marL="0">
              <a:buNone/>
            </a:pPr>
            <a:r>
              <a:rPr lang="en-US" sz="1400" dirty="0">
                <a:solidFill>
                  <a:schemeClr val="tx1"/>
                </a:solidFill>
              </a:rPr>
              <a:t>Review fixes · support certificates, revalidated</a:t>
            </a:r>
            <a:endParaRPr lang="en-US" sz="1400" dirty="0"/>
          </a:p>
        </p:txBody>
      </p:sp>
      <p:sp>
        <p:nvSpPr>
          <p:cNvPr id="40" name="milestone 22:11"/>
          <p:cNvSpPr/>
          <p:nvPr/>
        </p:nvSpPr>
        <p:spPr>
          <a:xfrm>
            <a:off x="1435608" y="5212887"/>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5152913"/>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22:11</a:t>
            </a:r>
            <a:endParaRPr lang="en-US" sz="1300" dirty="0"/>
          </a:p>
        </p:txBody>
      </p:sp>
      <p:sp>
        <p:nvSpPr>
          <p:cNvPr id="42" name="Text 40"/>
          <p:cNvSpPr txBox="1"/>
          <p:nvPr/>
        </p:nvSpPr>
        <p:spPr>
          <a:xfrm>
            <a:off x="1783080" y="5152913"/>
            <a:ext cx="4434840" cy="266252"/>
          </a:xfrm>
          <a:prstGeom prst="rect">
            <a:avLst/>
          </a:prstGeom>
          <a:noFill/>
          <a:ln/>
        </p:spPr>
        <p:txBody>
          <a:bodyPr wrap="square" lIns="0" tIns="0" rIns="0" bIns="0" rtlCol="0" anchor="ctr"/>
          <a:lstStyle/>
          <a:p>
            <a:pPr indent="0" marL="0">
              <a:buNone/>
            </a:pPr>
            <a:r>
              <a:rPr lang="en-US" sz="1400" dirty="0">
                <a:solidFill>
                  <a:schemeClr val="tx1"/>
                </a:solidFill>
              </a:rPr>
              <a:t>Negative costs · faster projection identity</a:t>
            </a:r>
            <a:endParaRPr lang="en-US" sz="1400" dirty="0"/>
          </a:p>
        </p:txBody>
      </p:sp>
      <p:sp>
        <p:nvSpPr>
          <p:cNvPr id="43" name="milestone 22:38"/>
          <p:cNvSpPr/>
          <p:nvPr/>
        </p:nvSpPr>
        <p:spPr>
          <a:xfrm>
            <a:off x="1435608" y="5479139"/>
            <a:ext cx="146304" cy="146304"/>
          </a:xfrm>
          <a:prstGeom prst="ellipse">
            <a:avLst/>
          </a:prstGeom>
          <a:solidFill>
            <a:schemeClr val="accent1"/>
          </a:solidFill>
          <a:ln w="19050">
            <a:solidFill>
              <a:schemeClr val="bg1"/>
            </a:solidFill>
            <a:prstDash val="solid"/>
          </a:ln>
        </p:spPr>
      </p:sp>
      <p:sp>
        <p:nvSpPr>
          <p:cNvPr id="44" name="Text 42"/>
          <p:cNvSpPr txBox="1"/>
          <p:nvPr/>
        </p:nvSpPr>
        <p:spPr>
          <a:xfrm>
            <a:off x="548640" y="5419165"/>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22:38</a:t>
            </a:r>
            <a:endParaRPr lang="en-US" sz="1300" dirty="0"/>
          </a:p>
        </p:txBody>
      </p:sp>
      <p:sp>
        <p:nvSpPr>
          <p:cNvPr id="45" name="Text 43"/>
          <p:cNvSpPr txBox="1"/>
          <p:nvPr/>
        </p:nvSpPr>
        <p:spPr>
          <a:xfrm>
            <a:off x="1783080" y="5419165"/>
            <a:ext cx="4434840" cy="266252"/>
          </a:xfrm>
          <a:prstGeom prst="rect">
            <a:avLst/>
          </a:prstGeom>
          <a:noFill/>
          <a:ln/>
        </p:spPr>
        <p:txBody>
          <a:bodyPr wrap="square" lIns="0" tIns="0" rIns="0" bIns="0" rtlCol="0" anchor="ctr"/>
          <a:lstStyle/>
          <a:p>
            <a:pPr indent="0" marL="0">
              <a:buNone/>
            </a:pPr>
            <a:r>
              <a:rPr lang="en-US" sz="1400" dirty="0">
                <a:solidFill>
                  <a:schemeClr val="tx1"/>
                </a:solidFill>
              </a:rPr>
              <a:t>Injective patterns · </a:t>
            </a:r>
            <a:pPr indent="0" marL="0">
              <a:buNone/>
            </a:pPr>
            <a:r>
              <a:rPr lang="en-US" sz="1300" dirty="0">
                <a:solidFill>
                  <a:schemeClr val="tx1"/>
                </a:solidFill>
                <a:latin typeface="Courier New" pitchFamily="34" charset="0"/>
                <a:ea typeface="Courier New" pitchFamily="34" charset="-122"/>
                <a:cs typeface="Courier New" pitchFamily="34" charset="-120"/>
              </a:rPr>
              <a:t>spanning_forest</a:t>
            </a:r>
            <a:endParaRPr lang="en-US" sz="1400" dirty="0"/>
          </a:p>
        </p:txBody>
      </p:sp>
      <p:sp>
        <p:nvSpPr>
          <p:cNvPr id="46" name="milestone 23:11"/>
          <p:cNvSpPr/>
          <p:nvPr/>
        </p:nvSpPr>
        <p:spPr>
          <a:xfrm>
            <a:off x="1435608" y="5745390"/>
            <a:ext cx="146304" cy="146304"/>
          </a:xfrm>
          <a:prstGeom prst="ellipse">
            <a:avLst/>
          </a:prstGeom>
          <a:solidFill>
            <a:schemeClr val="accent1"/>
          </a:solidFill>
          <a:ln w="19050">
            <a:solidFill>
              <a:schemeClr val="bg1"/>
            </a:solidFill>
            <a:prstDash val="solid"/>
          </a:ln>
        </p:spPr>
      </p:sp>
      <p:sp>
        <p:nvSpPr>
          <p:cNvPr id="47" name="Text 45"/>
          <p:cNvSpPr txBox="1"/>
          <p:nvPr/>
        </p:nvSpPr>
        <p:spPr>
          <a:xfrm>
            <a:off x="548640" y="5685416"/>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23:11</a:t>
            </a:r>
            <a:endParaRPr lang="en-US" sz="1300" dirty="0"/>
          </a:p>
        </p:txBody>
      </p:sp>
      <p:sp>
        <p:nvSpPr>
          <p:cNvPr id="48" name="Text 46"/>
          <p:cNvSpPr txBox="1"/>
          <p:nvPr/>
        </p:nvSpPr>
        <p:spPr>
          <a:xfrm>
            <a:off x="1783080" y="5685416"/>
            <a:ext cx="443484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cycle_basis</a:t>
            </a:r>
            <a:pPr indent="0" marL="0">
              <a:buNone/>
            </a:pPr>
            <a:r>
              <a:rPr lang="en-US" sz="1400" dirty="0">
                <a:solidFill>
                  <a:schemeClr val="tx1"/>
                </a:solidFill>
              </a:rPr>
              <a:t> (ring perception) · weighted matching</a:t>
            </a:r>
            <a:endParaRPr lang="en-US" sz="1300" dirty="0"/>
          </a:p>
        </p:txBody>
      </p:sp>
      <p:sp>
        <p:nvSpPr>
          <p:cNvPr id="49" name="milestone 23:40"/>
          <p:cNvSpPr/>
          <p:nvPr/>
        </p:nvSpPr>
        <p:spPr>
          <a:xfrm>
            <a:off x="1417320" y="5993354"/>
            <a:ext cx="182880" cy="182880"/>
          </a:xfrm>
          <a:prstGeom prst="ellipse">
            <a:avLst/>
          </a:prstGeom>
          <a:solidFill>
            <a:schemeClr val="accent2"/>
          </a:solidFill>
          <a:ln w="19050">
            <a:solidFill>
              <a:schemeClr val="bg1"/>
            </a:solidFill>
            <a:prstDash val="solid"/>
          </a:ln>
        </p:spPr>
      </p:sp>
      <p:sp>
        <p:nvSpPr>
          <p:cNvPr id="50" name="Text 48"/>
          <p:cNvSpPr txBox="1"/>
          <p:nvPr/>
        </p:nvSpPr>
        <p:spPr>
          <a:xfrm>
            <a:off x="548640" y="5951668"/>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23:40</a:t>
            </a:r>
            <a:endParaRPr lang="en-US" sz="1300" dirty="0"/>
          </a:p>
        </p:txBody>
      </p:sp>
      <p:sp>
        <p:nvSpPr>
          <p:cNvPr id="51" name="Text 49"/>
          <p:cNvSpPr txBox="1"/>
          <p:nvPr/>
        </p:nvSpPr>
        <p:spPr>
          <a:xfrm>
            <a:off x="1783080" y="5951668"/>
            <a:ext cx="443484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k_shortest_paths</a:t>
            </a:r>
            <a:pPr indent="0" marL="0">
              <a:buNone/>
            </a:pPr>
            <a:r>
              <a:rPr lang="en-US" sz="1400" dirty="0">
                <a:solidFill>
                  <a:schemeClr val="tx1"/>
                </a:solidFill>
              </a:rPr>
              <a:t> (Yen with Lawler's rule)</a:t>
            </a:r>
            <a:endParaRPr lang="en-US" sz="1300" dirty="0"/>
          </a:p>
        </p:txBody>
      </p:sp>
      <p:sp>
        <p:nvSpPr>
          <p:cNvPr id="52" name="growth operations"/>
          <p:cNvSpPr/>
          <p:nvPr/>
        </p:nvSpPr>
        <p:spPr>
          <a:xfrm>
            <a:off x="6537960" y="1691640"/>
            <a:ext cx="2438248" cy="1005840"/>
          </a:xfrm>
          <a:prstGeom prst="roundRect">
            <a:avLst>
              <a:gd name="adj" fmla="val 9091"/>
            </a:avLst>
          </a:prstGeom>
          <a:solidFill>
            <a:schemeClr val="tx2"/>
          </a:solidFill>
          <a:ln/>
        </p:spPr>
      </p:sp>
      <p:sp>
        <p:nvSpPr>
          <p:cNvPr id="53" name="Text 51"/>
          <p:cNvSpPr txBox="1"/>
          <p:nvPr/>
        </p:nvSpPr>
        <p:spPr>
          <a:xfrm>
            <a:off x="6720840"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22</a:t>
            </a:r>
            <a:endParaRPr lang="en-US" sz="2800" dirty="0"/>
          </a:p>
          <a:p>
            <a:pPr indent="0" marL="0">
              <a:buNone/>
            </a:pPr>
            <a:r>
              <a:rPr lang="en-US" sz="1300" dirty="0">
                <a:solidFill>
                  <a:schemeClr val="accent5"/>
                </a:solidFill>
              </a:rPr>
              <a:t>operations</a:t>
            </a:r>
            <a:endParaRPr lang="en-US" sz="2800" dirty="0"/>
          </a:p>
        </p:txBody>
      </p:sp>
      <p:sp>
        <p:nvSpPr>
          <p:cNvPr id="54" name="growth runtime tests"/>
          <p:cNvSpPr/>
          <p:nvPr/>
        </p:nvSpPr>
        <p:spPr>
          <a:xfrm>
            <a:off x="9204808" y="1691640"/>
            <a:ext cx="2438248" cy="1005840"/>
          </a:xfrm>
          <a:prstGeom prst="roundRect">
            <a:avLst>
              <a:gd name="adj" fmla="val 9091"/>
            </a:avLst>
          </a:prstGeom>
          <a:solidFill>
            <a:schemeClr val="tx2"/>
          </a:solidFill>
          <a:ln/>
        </p:spPr>
      </p:sp>
      <p:sp>
        <p:nvSpPr>
          <p:cNvPr id="55" name="Text 53"/>
          <p:cNvSpPr txBox="1"/>
          <p:nvPr/>
        </p:nvSpPr>
        <p:spPr>
          <a:xfrm>
            <a:off x="9387688"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606</a:t>
            </a:r>
            <a:endParaRPr lang="en-US" sz="2800" dirty="0"/>
          </a:p>
          <a:p>
            <a:pPr indent="0" marL="0">
              <a:buNone/>
            </a:pPr>
            <a:r>
              <a:rPr lang="en-US" sz="1300" dirty="0">
                <a:solidFill>
                  <a:schemeClr val="accent5"/>
                </a:solidFill>
              </a:rPr>
              <a:t>runtime tests</a:t>
            </a:r>
            <a:endParaRPr lang="en-US" sz="2800" dirty="0"/>
          </a:p>
        </p:txBody>
      </p:sp>
      <p:graphicFrame>
        <p:nvGraphicFramePr>
          <p:cNvPr id="56" name="conformance growth chart" descr=""/>
          <p:cNvGraphicFramePr/>
          <p:nvPr/>
        </p:nvGraphicFramePr>
        <p:xfrm>
          <a:off x="6537960" y="2926080"/>
          <a:ext cx="510509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Ranked by value against effort in a Codex literature survey. Being built now: min-cost flow.</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Min-cost flow"/>
          <p:cNvSpPr/>
          <p:nvPr/>
        </p:nvSpPr>
        <p:spPr>
          <a:xfrm>
            <a:off x="548640" y="1911096"/>
            <a:ext cx="11094415" cy="587163"/>
          </a:xfrm>
          <a:prstGeom prst="roundRect">
            <a:avLst>
              <a:gd name="adj" fmla="val 15573"/>
            </a:avLst>
          </a:prstGeom>
          <a:solidFill>
            <a:schemeClr val="bg2"/>
          </a:solidFill>
          <a:ln/>
        </p:spPr>
      </p:sp>
      <p:sp>
        <p:nvSpPr>
          <p:cNvPr id="9" name="icon Min-cost flow"/>
          <p:cNvSpPr/>
          <p:nvPr/>
        </p:nvSpPr>
        <p:spPr>
          <a:xfrm>
            <a:off x="713232" y="1985222"/>
            <a:ext cx="438912" cy="438912"/>
          </a:xfrm>
          <a:prstGeom prst="ellipse">
            <a:avLst/>
          </a:prstGeom>
          <a:solidFill>
            <a:schemeClr val="accent1"/>
          </a:solidFill>
          <a:ln/>
        </p:spPr>
      </p:sp>
      <p:pic>
        <p:nvPicPr>
          <p:cNvPr id="10" name="Image 0" descr="Min-cost flow">    </p:cNvPr>
          <p:cNvPicPr>
            <a:picLocks noChangeAspect="1"/>
          </p:cNvPicPr>
          <p:nvPr/>
        </p:nvPicPr>
        <p:blipFill>
          <a:blip r:embed="rId1"/>
          <a:stretch>
            <a:fillRect/>
          </a:stretch>
        </p:blipFill>
        <p:spPr>
          <a:xfrm>
            <a:off x="809793" y="2081782"/>
            <a:ext cx="245791" cy="245791"/>
          </a:xfrm>
          <a:prstGeom prst="rect">
            <a:avLst/>
          </a:prstGeom>
        </p:spPr>
      </p:pic>
      <p:sp>
        <p:nvSpPr>
          <p:cNvPr id="11" name="Text 8"/>
          <p:cNvSpPr txBox="1"/>
          <p:nvPr/>
        </p:nvSpPr>
        <p:spPr>
          <a:xfrm>
            <a:off x="1325880" y="1911096"/>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Min-cost flow</a:t>
            </a:r>
            <a:endParaRPr lang="en-US" sz="1500" dirty="0"/>
          </a:p>
        </p:txBody>
      </p:sp>
      <p:sp>
        <p:nvSpPr>
          <p:cNvPr id="12" name="Text 9"/>
          <p:cNvSpPr txBox="1"/>
          <p:nvPr/>
        </p:nvSpPr>
        <p:spPr>
          <a:xfrm>
            <a:off x="3383280" y="1911096"/>
            <a:ext cx="3017520" cy="587163"/>
          </a:xfrm>
          <a:prstGeom prst="rect">
            <a:avLst/>
          </a:prstGeom>
          <a:noFill/>
          <a:ln/>
        </p:spPr>
        <p:txBody>
          <a:bodyPr wrap="square" lIns="0" tIns="0" rIns="0" bIns="0" rtlCol="0" anchor="ctr"/>
          <a:lstStyle/>
          <a:p>
            <a:pPr indent="0" marL="0">
              <a:buNone/>
            </a:pPr>
            <a:r>
              <a:rPr lang="en-US" sz="1400" dirty="0">
                <a:solidFill>
                  <a:schemeClr val="tx1"/>
                </a:solidFill>
              </a:rPr>
              <a:t>Transport and allocation at least cost, with capacities and supplies.</a:t>
            </a:r>
            <a:endParaRPr lang="en-US" sz="1400" dirty="0"/>
          </a:p>
        </p:txBody>
      </p:sp>
      <p:sp>
        <p:nvSpPr>
          <p:cNvPr id="13" name="Text 10"/>
          <p:cNvSpPr txBox="1"/>
          <p:nvPr/>
        </p:nvSpPr>
        <p:spPr>
          <a:xfrm>
            <a:off x="6629400" y="1911096"/>
            <a:ext cx="3017520" cy="587163"/>
          </a:xfrm>
          <a:prstGeom prst="rect">
            <a:avLst/>
          </a:prstGeom>
          <a:noFill/>
          <a:ln/>
        </p:spPr>
        <p:txBody>
          <a:bodyPr wrap="square" lIns="0" tIns="0" rIns="0" bIns="0" rtlCol="0" anchor="ctr"/>
          <a:lstStyle/>
          <a:p>
            <a:pPr indent="0" marL="0">
              <a:buNone/>
            </a:pPr>
            <a:r>
              <a:rPr lang="en-US" sz="1400" dirty="0">
                <a:solidFill>
                  <a:schemeClr val="tx1"/>
                </a:solidFill>
              </a:rPr>
              <a:t>Feasible potentials: no residual arc has a negative reduced cost.</a:t>
            </a:r>
            <a:endParaRPr lang="en-US" sz="1400" dirty="0"/>
          </a:p>
        </p:txBody>
      </p:sp>
      <p:sp>
        <p:nvSpPr>
          <p:cNvPr id="14" name="Text 11"/>
          <p:cNvSpPr txBox="1"/>
          <p:nvPr/>
        </p:nvSpPr>
        <p:spPr>
          <a:xfrm>
            <a:off x="9875520" y="1911096"/>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Király and Kovács 2012</a:t>
            </a:r>
            <a:endParaRPr lang="en-US" sz="1200" dirty="0"/>
          </a:p>
        </p:txBody>
      </p:sp>
      <p:sp>
        <p:nvSpPr>
          <p:cNvPr id="15" name="roadmap Counting cyclic patterns"/>
          <p:cNvSpPr/>
          <p:nvPr/>
        </p:nvSpPr>
        <p:spPr>
          <a:xfrm>
            <a:off x="548640" y="2589699"/>
            <a:ext cx="11094415" cy="587163"/>
          </a:xfrm>
          <a:prstGeom prst="roundRect">
            <a:avLst>
              <a:gd name="adj" fmla="val 15573"/>
            </a:avLst>
          </a:prstGeom>
          <a:solidFill>
            <a:schemeClr val="bg2"/>
          </a:solidFill>
          <a:ln/>
        </p:spPr>
      </p:sp>
      <p:sp>
        <p:nvSpPr>
          <p:cNvPr id="16" name="icon Counting cyclic patterns"/>
          <p:cNvSpPr/>
          <p:nvPr/>
        </p:nvSpPr>
        <p:spPr>
          <a:xfrm>
            <a:off x="713232" y="2663825"/>
            <a:ext cx="438912" cy="438912"/>
          </a:xfrm>
          <a:prstGeom prst="ellipse">
            <a:avLst/>
          </a:prstGeom>
          <a:solidFill>
            <a:schemeClr val="accent1"/>
          </a:solidFill>
          <a:ln/>
        </p:spPr>
      </p:sp>
      <p:pic>
        <p:nvPicPr>
          <p:cNvPr id="17" name="Image 1" descr="Counting cyclic patterns">    </p:cNvPr>
          <p:cNvPicPr>
            <a:picLocks noChangeAspect="1"/>
          </p:cNvPicPr>
          <p:nvPr/>
        </p:nvPicPr>
        <p:blipFill>
          <a:blip r:embed="rId2"/>
          <a:stretch>
            <a:fillRect/>
          </a:stretch>
        </p:blipFill>
        <p:spPr>
          <a:xfrm>
            <a:off x="809793" y="2760386"/>
            <a:ext cx="245791" cy="245791"/>
          </a:xfrm>
          <a:prstGeom prst="rect">
            <a:avLst/>
          </a:prstGeom>
        </p:spPr>
      </p:pic>
      <p:sp>
        <p:nvSpPr>
          <p:cNvPr id="18" name="Text 14"/>
          <p:cNvSpPr txBox="1"/>
          <p:nvPr/>
        </p:nvSpPr>
        <p:spPr>
          <a:xfrm>
            <a:off x="1325880" y="2589699"/>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Counting cyclic patterns</a:t>
            </a:r>
            <a:endParaRPr lang="en-US" sz="1500" dirty="0"/>
          </a:p>
        </p:txBody>
      </p:sp>
      <p:sp>
        <p:nvSpPr>
          <p:cNvPr id="19" name="Text 15"/>
          <p:cNvSpPr txBox="1"/>
          <p:nvPr/>
        </p:nvSpPr>
        <p:spPr>
          <a:xfrm>
            <a:off x="3383280" y="2589699"/>
            <a:ext cx="3017520" cy="587163"/>
          </a:xfrm>
          <a:prstGeom prst="rect">
            <a:avLst/>
          </a:prstGeom>
          <a:noFill/>
          <a:ln/>
        </p:spPr>
        <p:txBody>
          <a:bodyPr wrap="square" lIns="0" tIns="0" rIns="0" bIns="0" rtlCol="0" anchor="ctr"/>
          <a:lstStyle/>
          <a:p>
            <a:pPr indent="0" marL="0">
              <a:buNone/>
            </a:pPr>
            <a:r>
              <a:rPr lang="en-US" sz="1400" dirty="0">
                <a:solidFill>
                  <a:schemeClr val="tx1"/>
                </a:solidFill>
              </a:rPr>
              <a:t>Exact motif counts without listing rows, over a tree decomposition.</a:t>
            </a:r>
            <a:endParaRPr lang="en-US" sz="1400" dirty="0"/>
          </a:p>
        </p:txBody>
      </p:sp>
      <p:sp>
        <p:nvSpPr>
          <p:cNvPr id="20" name="Text 16"/>
          <p:cNvSpPr txBox="1"/>
          <p:nvPr/>
        </p:nvSpPr>
        <p:spPr>
          <a:xfrm>
            <a:off x="6629400" y="2589699"/>
            <a:ext cx="3017520" cy="587163"/>
          </a:xfrm>
          <a:prstGeom prst="rect">
            <a:avLst/>
          </a:prstGeom>
          <a:noFill/>
          <a:ln/>
        </p:spPr>
        <p:txBody>
          <a:bodyPr wrap="square" lIns="0" tIns="0" rIns="0" bIns="0" rtlCol="0" anchor="ctr"/>
          <a:lstStyle/>
          <a:p>
            <a:pPr indent="0" marL="0">
              <a:buNone/>
            </a:pPr>
            <a:r>
              <a:rPr lang="en-US" sz="1400" dirty="0">
                <a:solidFill>
                  <a:schemeClr val="tx1"/>
                </a:solidFill>
              </a:rPr>
              <a:t>The decomposition's messages, each recomputed by a checker.</a:t>
            </a:r>
            <a:endParaRPr lang="en-US" sz="1400" dirty="0"/>
          </a:p>
        </p:txBody>
      </p:sp>
      <p:sp>
        <p:nvSpPr>
          <p:cNvPr id="21" name="Text 17"/>
          <p:cNvSpPr txBox="1"/>
          <p:nvPr/>
        </p:nvSpPr>
        <p:spPr>
          <a:xfrm>
            <a:off x="9875520" y="2589699"/>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Abo Khamis, Ngo and Rudra 2016 (FAQ)</a:t>
            </a:r>
            <a:endParaRPr lang="en-US" sz="1200" dirty="0"/>
          </a:p>
        </p:txBody>
      </p:sp>
      <p:sp>
        <p:nvSpPr>
          <p:cNvPr id="22" name="roadmap Reachability index"/>
          <p:cNvSpPr/>
          <p:nvPr/>
        </p:nvSpPr>
        <p:spPr>
          <a:xfrm>
            <a:off x="548640" y="3268303"/>
            <a:ext cx="11094415" cy="587163"/>
          </a:xfrm>
          <a:prstGeom prst="roundRect">
            <a:avLst>
              <a:gd name="adj" fmla="val 15573"/>
            </a:avLst>
          </a:prstGeom>
          <a:solidFill>
            <a:schemeClr val="bg2"/>
          </a:solidFill>
          <a:ln/>
        </p:spPr>
      </p:sp>
      <p:sp>
        <p:nvSpPr>
          <p:cNvPr id="23" name="icon Reachability index"/>
          <p:cNvSpPr/>
          <p:nvPr/>
        </p:nvSpPr>
        <p:spPr>
          <a:xfrm>
            <a:off x="713232" y="3342428"/>
            <a:ext cx="438912" cy="438912"/>
          </a:xfrm>
          <a:prstGeom prst="ellipse">
            <a:avLst/>
          </a:prstGeom>
          <a:solidFill>
            <a:schemeClr val="accent1"/>
          </a:solidFill>
          <a:ln/>
        </p:spPr>
      </p:sp>
      <p:pic>
        <p:nvPicPr>
          <p:cNvPr id="24" name="Image 2" descr="Reachability index">    </p:cNvPr>
          <p:cNvPicPr>
            <a:picLocks noChangeAspect="1"/>
          </p:cNvPicPr>
          <p:nvPr/>
        </p:nvPicPr>
        <p:blipFill>
          <a:blip r:embed="rId3"/>
          <a:stretch>
            <a:fillRect/>
          </a:stretch>
        </p:blipFill>
        <p:spPr>
          <a:xfrm>
            <a:off x="809793" y="3438989"/>
            <a:ext cx="245791" cy="245791"/>
          </a:xfrm>
          <a:prstGeom prst="rect">
            <a:avLst/>
          </a:prstGeom>
        </p:spPr>
      </p:pic>
      <p:sp>
        <p:nvSpPr>
          <p:cNvPr id="25" name="Text 20"/>
          <p:cNvSpPr txBox="1"/>
          <p:nvPr/>
        </p:nvSpPr>
        <p:spPr>
          <a:xfrm>
            <a:off x="1325880" y="3268303"/>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Reachability index</a:t>
            </a:r>
            <a:endParaRPr lang="en-US" sz="1500" dirty="0"/>
          </a:p>
        </p:txBody>
      </p:sp>
      <p:sp>
        <p:nvSpPr>
          <p:cNvPr id="26" name="Text 21"/>
          <p:cNvSpPr txBox="1"/>
          <p:nvPr/>
        </p:nvSpPr>
        <p:spPr>
          <a:xfrm>
            <a:off x="3383280" y="3268303"/>
            <a:ext cx="3017520" cy="587163"/>
          </a:xfrm>
          <a:prstGeom prst="rect">
            <a:avLst/>
          </a:prstGeom>
          <a:noFill/>
          <a:ln/>
        </p:spPr>
        <p:txBody>
          <a:bodyPr wrap="square" lIns="0" tIns="0" rIns="0" bIns="0" rtlCol="0" anchor="ctr"/>
          <a:lstStyle/>
          <a:p>
            <a:pPr indent="0" marL="0">
              <a:buNone/>
            </a:pPr>
            <a:r>
              <a:rPr lang="en-US" sz="1400" dirty="0">
                <a:solidFill>
                  <a:schemeClr val="tx1"/>
                </a:solidFill>
              </a:rPr>
              <a:t>Many reachability queries on one large, fixed projection: 2-hop labels.</a:t>
            </a:r>
            <a:endParaRPr lang="en-US" sz="1400" dirty="0"/>
          </a:p>
        </p:txBody>
      </p:sp>
      <p:sp>
        <p:nvSpPr>
          <p:cNvPr id="27" name="Text 22"/>
          <p:cNvSpPr txBox="1"/>
          <p:nvPr/>
        </p:nvSpPr>
        <p:spPr>
          <a:xfrm>
            <a:off x="6629400" y="3268303"/>
            <a:ext cx="3017520" cy="587163"/>
          </a:xfrm>
          <a:prstGeom prst="rect">
            <a:avLst/>
          </a:prstGeom>
          <a:noFill/>
          <a:ln/>
        </p:spPr>
        <p:txBody>
          <a:bodyPr wrap="square" lIns="0" tIns="0" rIns="0" bIns="0" rtlCol="0" anchor="ctr"/>
          <a:lstStyle/>
          <a:p>
            <a:pPr indent="0" marL="0">
              <a:buNone/>
            </a:pPr>
            <a:r>
              <a:rPr lang="en-US" sz="1400" dirty="0">
                <a:solidFill>
                  <a:schemeClr val="tx1"/>
                </a:solidFill>
              </a:rPr>
              <a:t>A positive expands hub pointers into hops; a negative needs a closure.</a:t>
            </a:r>
            <a:endParaRPr lang="en-US" sz="1400" dirty="0"/>
          </a:p>
        </p:txBody>
      </p:sp>
      <p:sp>
        <p:nvSpPr>
          <p:cNvPr id="28" name="Text 23"/>
          <p:cNvSpPr txBox="1"/>
          <p:nvPr/>
        </p:nvSpPr>
        <p:spPr>
          <a:xfrm>
            <a:off x="9875520" y="3268303"/>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Cohen, Halperin, Kaplan and Zwick 2003</a:t>
            </a:r>
            <a:endParaRPr lang="en-US" sz="1200" dirty="0"/>
          </a:p>
        </p:txBody>
      </p:sp>
      <p:sp>
        <p:nvSpPr>
          <p:cNvPr id="29" name="roadmap Positive Datalog"/>
          <p:cNvSpPr/>
          <p:nvPr/>
        </p:nvSpPr>
        <p:spPr>
          <a:xfrm>
            <a:off x="548640" y="3946906"/>
            <a:ext cx="11094415" cy="587163"/>
          </a:xfrm>
          <a:prstGeom prst="roundRect">
            <a:avLst>
              <a:gd name="adj" fmla="val 15573"/>
            </a:avLst>
          </a:prstGeom>
          <a:solidFill>
            <a:schemeClr val="bg2"/>
          </a:solidFill>
          <a:ln/>
        </p:spPr>
      </p:sp>
      <p:sp>
        <p:nvSpPr>
          <p:cNvPr id="30" name="icon Positive Datalog"/>
          <p:cNvSpPr/>
          <p:nvPr/>
        </p:nvSpPr>
        <p:spPr>
          <a:xfrm>
            <a:off x="713232" y="4021032"/>
            <a:ext cx="438912" cy="438912"/>
          </a:xfrm>
          <a:prstGeom prst="ellipse">
            <a:avLst/>
          </a:prstGeom>
          <a:solidFill>
            <a:schemeClr val="accent1"/>
          </a:solidFill>
          <a:ln/>
        </p:spPr>
      </p:sp>
      <p:pic>
        <p:nvPicPr>
          <p:cNvPr id="31" name="Image 3" descr="Positive Datalog">    </p:cNvPr>
          <p:cNvPicPr>
            <a:picLocks noChangeAspect="1"/>
          </p:cNvPicPr>
          <p:nvPr/>
        </p:nvPicPr>
        <p:blipFill>
          <a:blip r:embed="rId4"/>
          <a:stretch>
            <a:fillRect/>
          </a:stretch>
        </p:blipFill>
        <p:spPr>
          <a:xfrm>
            <a:off x="809793" y="4117592"/>
            <a:ext cx="245791" cy="245791"/>
          </a:xfrm>
          <a:prstGeom prst="rect">
            <a:avLst/>
          </a:prstGeom>
        </p:spPr>
      </p:pic>
      <p:sp>
        <p:nvSpPr>
          <p:cNvPr id="32" name="Text 26"/>
          <p:cNvSpPr txBox="1"/>
          <p:nvPr/>
        </p:nvSpPr>
        <p:spPr>
          <a:xfrm>
            <a:off x="1325880" y="3946906"/>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Positive Datalog</a:t>
            </a:r>
            <a:endParaRPr lang="en-US" sz="1500" dirty="0"/>
          </a:p>
        </p:txBody>
      </p:sp>
      <p:sp>
        <p:nvSpPr>
          <p:cNvPr id="33" name="Text 27"/>
          <p:cNvSpPr txBox="1"/>
          <p:nvPr/>
        </p:nvSpPr>
        <p:spPr>
          <a:xfrm>
            <a:off x="3383280" y="3946906"/>
            <a:ext cx="3017520" cy="587163"/>
          </a:xfrm>
          <a:prstGeom prst="rect">
            <a:avLst/>
          </a:prstGeom>
          <a:noFill/>
          <a:ln/>
        </p:spPr>
        <p:txBody>
          <a:bodyPr wrap="square" lIns="0" tIns="0" rIns="0" bIns="0" rtlCol="0" anchor="ctr"/>
          <a:lstStyle/>
          <a:p>
            <a:pPr indent="0" marL="0">
              <a:buNone/>
            </a:pPr>
            <a:r>
              <a:rPr lang="en-US" sz="1400" dirty="0">
                <a:solidFill>
                  <a:schemeClr val="tx1"/>
                </a:solidFill>
              </a:rPr>
              <a:t>Rules over the records: provenance questions in a small language.</a:t>
            </a:r>
            <a:endParaRPr lang="en-US" sz="1400" dirty="0"/>
          </a:p>
        </p:txBody>
      </p:sp>
      <p:sp>
        <p:nvSpPr>
          <p:cNvPr id="34" name="Text 28"/>
          <p:cNvSpPr txBox="1"/>
          <p:nvPr/>
        </p:nvSpPr>
        <p:spPr>
          <a:xfrm>
            <a:off x="6629400" y="3946906"/>
            <a:ext cx="3017520" cy="587163"/>
          </a:xfrm>
          <a:prstGeom prst="rect">
            <a:avLst/>
          </a:prstGeom>
          <a:noFill/>
          <a:ln/>
        </p:spPr>
        <p:txBody>
          <a:bodyPr wrap="square" lIns="0" tIns="0" rIns="0" bIns="0" rtlCol="0" anchor="ctr"/>
          <a:lstStyle/>
          <a:p>
            <a:pPr indent="0" marL="0">
              <a:buNone/>
            </a:pPr>
            <a:r>
              <a:rPr lang="en-US" sz="1400" dirty="0">
                <a:solidFill>
                  <a:schemeClr val="tx1"/>
                </a:solidFill>
              </a:rPr>
              <a:t>Derivation trees, ranks strictly increasing, checked in their size.</a:t>
            </a:r>
            <a:endParaRPr lang="en-US" sz="1400" dirty="0"/>
          </a:p>
        </p:txBody>
      </p:sp>
      <p:sp>
        <p:nvSpPr>
          <p:cNvPr id="35" name="Text 29"/>
          <p:cNvSpPr txBox="1"/>
          <p:nvPr/>
        </p:nvSpPr>
        <p:spPr>
          <a:xfrm>
            <a:off x="9875520" y="3946906"/>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Abiteboul, Hull and Vianu 1995; Green et al. 2007</a:t>
            </a:r>
            <a:endParaRPr lang="en-US" sz="1200" dirty="0"/>
          </a:p>
        </p:txBody>
      </p:sp>
      <p:sp>
        <p:nvSpPr>
          <p:cNvPr id="36" name="roadmap Isomorphism, canonical labeling"/>
          <p:cNvSpPr/>
          <p:nvPr/>
        </p:nvSpPr>
        <p:spPr>
          <a:xfrm>
            <a:off x="548640" y="4625509"/>
            <a:ext cx="11094415" cy="587163"/>
          </a:xfrm>
          <a:prstGeom prst="roundRect">
            <a:avLst>
              <a:gd name="adj" fmla="val 15573"/>
            </a:avLst>
          </a:prstGeom>
          <a:solidFill>
            <a:schemeClr val="bg2"/>
          </a:solidFill>
          <a:ln/>
        </p:spPr>
      </p:sp>
      <p:sp>
        <p:nvSpPr>
          <p:cNvPr id="37" name="icon Isomorphism, canonical labeling"/>
          <p:cNvSpPr/>
          <p:nvPr/>
        </p:nvSpPr>
        <p:spPr>
          <a:xfrm>
            <a:off x="713232" y="4699635"/>
            <a:ext cx="438912" cy="438912"/>
          </a:xfrm>
          <a:prstGeom prst="ellipse">
            <a:avLst/>
          </a:prstGeom>
          <a:solidFill>
            <a:schemeClr val="accent1"/>
          </a:solidFill>
          <a:ln/>
        </p:spPr>
      </p:sp>
      <p:pic>
        <p:nvPicPr>
          <p:cNvPr id="38" name="Image 4" descr="Isomorphism, canonical labeling">    </p:cNvPr>
          <p:cNvPicPr>
            <a:picLocks noChangeAspect="1"/>
          </p:cNvPicPr>
          <p:nvPr/>
        </p:nvPicPr>
        <p:blipFill>
          <a:blip r:embed="rId5"/>
          <a:stretch>
            <a:fillRect/>
          </a:stretch>
        </p:blipFill>
        <p:spPr>
          <a:xfrm>
            <a:off x="809793" y="4796196"/>
            <a:ext cx="245791" cy="245791"/>
          </a:xfrm>
          <a:prstGeom prst="rect">
            <a:avLst/>
          </a:prstGeom>
        </p:spPr>
      </p:pic>
      <p:sp>
        <p:nvSpPr>
          <p:cNvPr id="39" name="Text 32"/>
          <p:cNvSpPr txBox="1"/>
          <p:nvPr/>
        </p:nvSpPr>
        <p:spPr>
          <a:xfrm>
            <a:off x="1325880" y="4625509"/>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Isomorphism, canonical labeling</a:t>
            </a:r>
            <a:endParaRPr lang="en-US" sz="1500" dirty="0"/>
          </a:p>
        </p:txBody>
      </p:sp>
      <p:sp>
        <p:nvSpPr>
          <p:cNvPr id="40" name="Text 33"/>
          <p:cNvSpPr txBox="1"/>
          <p:nvPr/>
        </p:nvSpPr>
        <p:spPr>
          <a:xfrm>
            <a:off x="3383280" y="4625509"/>
            <a:ext cx="3017520" cy="587163"/>
          </a:xfrm>
          <a:prstGeom prst="rect">
            <a:avLst/>
          </a:prstGeom>
          <a:noFill/>
          <a:ln/>
        </p:spPr>
        <p:txBody>
          <a:bodyPr wrap="square" lIns="0" tIns="0" rIns="0" bIns="0" rtlCol="0" anchor="ctr"/>
          <a:lstStyle/>
          <a:p>
            <a:pPr indent="0" marL="0">
              <a:buNone/>
            </a:pPr>
            <a:r>
              <a:rPr lang="en-US" sz="1400" dirty="0">
                <a:solidFill>
                  <a:schemeClr val="tx1"/>
                </a:solidFill>
              </a:rPr>
              <a:t>Whether two structures are the same; canonical forms for deduplication.</a:t>
            </a:r>
            <a:endParaRPr lang="en-US" sz="1400" dirty="0"/>
          </a:p>
        </p:txBody>
      </p:sp>
      <p:sp>
        <p:nvSpPr>
          <p:cNvPr id="41" name="Text 34"/>
          <p:cNvSpPr txBox="1"/>
          <p:nvPr/>
        </p:nvSpPr>
        <p:spPr>
          <a:xfrm>
            <a:off x="6629400" y="4625509"/>
            <a:ext cx="3017520" cy="587163"/>
          </a:xfrm>
          <a:prstGeom prst="rect">
            <a:avLst/>
          </a:prstGeom>
          <a:noFill/>
          <a:ln/>
        </p:spPr>
        <p:txBody>
          <a:bodyPr wrap="square" lIns="0" tIns="0" rIns="0" bIns="0" rtlCol="0" anchor="ctr"/>
          <a:lstStyle/>
          <a:p>
            <a:pPr indent="0" marL="0">
              <a:buNone/>
            </a:pPr>
            <a:r>
              <a:rPr lang="en-US" sz="1400" dirty="0">
                <a:solidFill>
                  <a:schemeClr val="tx1"/>
                </a:solidFill>
              </a:rPr>
              <a:t>A node and edge bijection proves a match; a refinement trace, a mismatch.</a:t>
            </a:r>
            <a:endParaRPr lang="en-US" sz="1400" dirty="0"/>
          </a:p>
        </p:txBody>
      </p:sp>
      <p:sp>
        <p:nvSpPr>
          <p:cNvPr id="42" name="Text 35"/>
          <p:cNvSpPr txBox="1"/>
          <p:nvPr/>
        </p:nvSpPr>
        <p:spPr>
          <a:xfrm>
            <a:off x="9875520" y="4625509"/>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McKay and Piperno 2014</a:t>
            </a:r>
            <a:endParaRPr lang="en-US" sz="1200" dirty="0"/>
          </a:p>
        </p:txBody>
      </p:sp>
      <p:sp>
        <p:nvSpPr>
          <p:cNvPr id="43" name="roadmap Elementary flux modes"/>
          <p:cNvSpPr/>
          <p:nvPr/>
        </p:nvSpPr>
        <p:spPr>
          <a:xfrm>
            <a:off x="548640" y="5304113"/>
            <a:ext cx="11094415" cy="587163"/>
          </a:xfrm>
          <a:prstGeom prst="roundRect">
            <a:avLst>
              <a:gd name="adj" fmla="val 15573"/>
            </a:avLst>
          </a:prstGeom>
          <a:solidFill>
            <a:schemeClr val="bg2"/>
          </a:solidFill>
          <a:ln/>
        </p:spPr>
      </p:sp>
      <p:sp>
        <p:nvSpPr>
          <p:cNvPr id="44" name="icon Elementary flux modes"/>
          <p:cNvSpPr/>
          <p:nvPr/>
        </p:nvSpPr>
        <p:spPr>
          <a:xfrm>
            <a:off x="713232" y="5378238"/>
            <a:ext cx="438912" cy="438912"/>
          </a:xfrm>
          <a:prstGeom prst="ellipse">
            <a:avLst/>
          </a:prstGeom>
          <a:solidFill>
            <a:schemeClr val="accent1"/>
          </a:solidFill>
          <a:ln/>
        </p:spPr>
      </p:sp>
      <p:pic>
        <p:nvPicPr>
          <p:cNvPr id="45" name="Image 5" descr="Elementary flux modes">    </p:cNvPr>
          <p:cNvPicPr>
            <a:picLocks noChangeAspect="1"/>
          </p:cNvPicPr>
          <p:nvPr/>
        </p:nvPicPr>
        <p:blipFill>
          <a:blip r:embed="rId6"/>
          <a:stretch>
            <a:fillRect/>
          </a:stretch>
        </p:blipFill>
        <p:spPr>
          <a:xfrm>
            <a:off x="809793" y="5474799"/>
            <a:ext cx="245791" cy="245791"/>
          </a:xfrm>
          <a:prstGeom prst="rect">
            <a:avLst/>
          </a:prstGeom>
        </p:spPr>
      </p:pic>
      <p:sp>
        <p:nvSpPr>
          <p:cNvPr id="46" name="Text 38"/>
          <p:cNvSpPr txBox="1"/>
          <p:nvPr/>
        </p:nvSpPr>
        <p:spPr>
          <a:xfrm>
            <a:off x="1325880" y="5304113"/>
            <a:ext cx="1828800" cy="587163"/>
          </a:xfrm>
          <a:prstGeom prst="rect">
            <a:avLst/>
          </a:prstGeom>
          <a:noFill/>
          <a:ln/>
        </p:spPr>
        <p:txBody>
          <a:bodyPr wrap="square" lIns="0" tIns="0" rIns="0" bIns="0" rtlCol="0" anchor="ctr"/>
          <a:lstStyle/>
          <a:p>
            <a:pPr indent="0" marL="0">
              <a:buNone/>
            </a:pPr>
            <a:r>
              <a:rPr lang="en-US" sz="1500" b="1" dirty="0">
                <a:solidFill>
                  <a:schemeClr val="tx1"/>
                </a:solidFill>
              </a:rPr>
              <a:t>Elementary flux modes</a:t>
            </a:r>
            <a:endParaRPr lang="en-US" sz="1500" dirty="0"/>
          </a:p>
        </p:txBody>
      </p:sp>
      <p:sp>
        <p:nvSpPr>
          <p:cNvPr id="47" name="Text 39"/>
          <p:cNvSpPr txBox="1"/>
          <p:nvPr/>
        </p:nvSpPr>
        <p:spPr>
          <a:xfrm>
            <a:off x="3383280" y="5304113"/>
            <a:ext cx="3017520" cy="587163"/>
          </a:xfrm>
          <a:prstGeom prst="rect">
            <a:avLst/>
          </a:prstGeom>
          <a:noFill/>
          <a:ln/>
        </p:spPr>
        <p:txBody>
          <a:bodyPr wrap="square" lIns="0" tIns="0" rIns="0" bIns="0" rtlCol="0" anchor="ctr"/>
          <a:lstStyle/>
          <a:p>
            <a:pPr indent="0" marL="0">
              <a:buNone/>
            </a:pPr>
            <a:r>
              <a:rPr lang="en-US" sz="1400" dirty="0">
                <a:solidFill>
                  <a:schemeClr val="tx1"/>
                </a:solidFill>
              </a:rPr>
              <a:t>A reaction network's minimal steady pathways, small networks first.</a:t>
            </a:r>
            <a:endParaRPr lang="en-US" sz="1400" dirty="0"/>
          </a:p>
        </p:txBody>
      </p:sp>
      <p:sp>
        <p:nvSpPr>
          <p:cNvPr id="48" name="Text 40"/>
          <p:cNvSpPr txBox="1"/>
          <p:nvPr/>
        </p:nvSpPr>
        <p:spPr>
          <a:xfrm>
            <a:off x="6629400" y="5304113"/>
            <a:ext cx="3017520" cy="587163"/>
          </a:xfrm>
          <a:prstGeom prst="rect">
            <a:avLst/>
          </a:prstGeom>
          <a:noFill/>
          <a:ln/>
        </p:spPr>
        <p:txBody>
          <a:bodyPr wrap="square" lIns="0" tIns="0" rIns="0" bIns="0" rtlCol="0" anchor="ctr"/>
          <a:lstStyle/>
          <a:p>
            <a:pPr indent="0" marL="0">
              <a:buNone/>
            </a:pPr>
            <a:r>
              <a:rPr lang="en-US" sz="1400" dirty="0">
                <a:solidFill>
                  <a:schemeClr val="tx1"/>
                </a:solidFill>
              </a:rPr>
              <a:t>A mode balances exactly; a nonsingular minor proves its support minimal.</a:t>
            </a:r>
            <a:endParaRPr lang="en-US" sz="1400" dirty="0"/>
          </a:p>
        </p:txBody>
      </p:sp>
      <p:sp>
        <p:nvSpPr>
          <p:cNvPr id="49" name="Text 41"/>
          <p:cNvSpPr txBox="1"/>
          <p:nvPr/>
        </p:nvSpPr>
        <p:spPr>
          <a:xfrm>
            <a:off x="9875520" y="5304113"/>
            <a:ext cx="1676095" cy="587163"/>
          </a:xfrm>
          <a:prstGeom prst="rect">
            <a:avLst/>
          </a:prstGeom>
          <a:noFill/>
          <a:ln/>
        </p:spPr>
        <p:txBody>
          <a:bodyPr wrap="square" lIns="0" tIns="0" rIns="0" bIns="0" rtlCol="0" anchor="ctr"/>
          <a:lstStyle/>
          <a:p>
            <a:pPr indent="0" marL="0">
              <a:buNone/>
            </a:pPr>
            <a:r>
              <a:rPr lang="en-US" sz="1200" i="1" dirty="0">
                <a:solidFill>
                  <a:schemeClr val="accent6"/>
                </a:solidFill>
              </a:rPr>
              <a:t>Gagneur and Klamt 2004; Terzer and Stelling 2008</a:t>
            </a:r>
            <a:endParaRPr lang="en-US" sz="1200" dirty="0"/>
          </a:p>
        </p:txBody>
      </p:sp>
      <p:sp>
        <p:nvSpPr>
          <p:cNvPr id="50" name="roadmap later"/>
          <p:cNvSpPr txBox="1"/>
          <p:nvPr/>
        </p:nvSpPr>
        <p:spPr>
          <a:xfrm>
            <a:off x="685800" y="6001004"/>
            <a:ext cx="10820095" cy="216916"/>
          </a:xfrm>
          <a:prstGeom prst="rect">
            <a:avLst/>
          </a:prstGeom>
          <a:noFill/>
          <a:ln/>
        </p:spPr>
        <p:txBody>
          <a:bodyPr wrap="square" lIns="0" tIns="0" rIns="0" bIns="0" rtlCol="0" anchor="ctr"/>
          <a:lstStyle/>
          <a:p>
            <a:pPr indent="0" marL="0">
              <a:buNone/>
            </a:pPr>
            <a:r>
              <a:rPr lang="en-US" sz="1400" b="1" dirty="0">
                <a:solidFill>
                  <a:schemeClr val="tx1"/>
                </a:solidFill>
              </a:rPr>
              <a:t>Done from the survey:</a:t>
            </a:r>
            <a:pPr indent="0" marL="0">
              <a:buNone/>
            </a:pPr>
            <a:r>
              <a:rPr lang="en-US" sz="1400" dirty="0">
                <a:solidFill>
                  <a:schemeClr val="tx1"/>
                </a:solidFill>
              </a:rPr>
              <a:t> negative costs · injective patterns · spanning forests · cycle bases · weighted matching · k shortest paths.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earlier: Katz intervals, bidirectional search, factorized pattern answers. Critical paths and d-separation, from the same list, are done.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Twenty-two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2026-10-27T03:48:50Z</dcterms:created>
  <dcterms:modified xsi:type="dcterms:W3CDTF">2026-10-27T03:48:50Z</dcterms:modified>
</cp:coreProperties>
</file>