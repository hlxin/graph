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c2b2d9c3-b435-d215-b461-89a284f61615}">
          <p14:sldIdLst>
            <p14:sldId id="256"/>
            <p14:sldId id="257"/>
            <p14:sldId id="258"/>
          </p14:sldIdLst>
        </p14:section>
        <p14:section name="Architecture" id="{fa2108c0-661b-fcf4-cde0-a4cb827c0497}">
          <p14:sldIdLst>
            <p14:sldId id="259"/>
            <p14:sldId id="260"/>
            <p14:sldId id="261"/>
          </p14:sldIdLst>
        </p14:section>
        <p14:section name="Operations" id="{02975f07-7211-93d6-e6de-03ab14204200}">
          <p14:sldIdLst>
            <p14:sldId id="262"/>
            <p14:sldId id="263"/>
            <p14:sldId id="264"/>
            <p14:sldId id="265"/>
            <p14:sldId id="266"/>
            <p14:sldId id="267"/>
            <p14:sldId id="268"/>
            <p14:sldId id="269"/>
            <p14:sldId id="270"/>
            <p14:sldId id="271"/>
            <p14:sldId id="272"/>
            <p14:sldId id="273"/>
          </p14:sldIdLst>
        </p14:section>
        <p14:section name="Trust and results" id="{b0b7b96d-ef84-e475-48cf-981d5d64bb4c}">
          <p14:sldIdLst>
            <p14:sldId id="274"/>
            <p14:sldId id="275"/>
            <p14:sldId id="276"/>
            <p14:sldId id="277"/>
          </p14:sldIdLst>
        </p14:section>
        <p14:section name="Development" id="{459e5e19-2dfb-d571-c657-f47877b0dced}">
          <p14:sldIdLst>
            <p14:sldId id="278"/>
          </p14:sldIdLst>
        </p14:section>
        <p14:section name="Roadmap" id="{03498892-ed1e-9321-c50f-16ddfc050df3}">
          <p14:sldIdLst>
            <p14:sldId id="279"/>
            <p14:sldId id="280"/>
          </p14:sldIdLst>
        </p14:section>
        <p14:section name="Close" id="{45c9677f-a975-c23f-4985-422e3adb8027}">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Strong components</c:v>
                  </c:pt>
                  <c:pt idx="1">
                    <c:v>Articulation points</c:v>
                  </c:pt>
                  <c:pt idx="2">
                    <c:v>Max flow</c:v>
                  </c:pt>
                  <c:pt idx="3">
                    <c:v>Matching</c:v>
                  </c:pt>
                  <c:pt idx="4">
                    <c:v>Dominators</c:v>
                  </c:pt>
                  <c:pt idx="5">
                    <c:v>Critical path</c:v>
                  </c:pt>
                </c:lvl>
              </c:multiLvlStrCache>
            </c:multiLvlStrRef>
          </c:cat>
          <c:val>
            <c:numRef>
              <c:f>Sheet1!$B$2:$B$7</c:f>
              <c:numCache>
                <c:formatCode>General</c:formatCode>
                <c:ptCount val="6"/>
                <c:pt idx="0">
                  <c:v>0.38</c:v>
                </c:pt>
                <c:pt idx="1">
                  <c:v>0.57</c:v>
                </c:pt>
                <c:pt idx="2">
                  <c:v>4.5</c:v>
                </c:pt>
                <c:pt idx="3">
                  <c:v>2.5</c:v>
                </c:pt>
                <c:pt idx="4">
                  <c:v>0.65</c:v>
                </c:pt>
                <c:pt idx="5">
                  <c:v>0.67</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Strong components</c:v>
                  </c:pt>
                  <c:pt idx="1">
                    <c:v>Articulation points</c:v>
                  </c:pt>
                  <c:pt idx="2">
                    <c:v>Max flow</c:v>
                  </c:pt>
                  <c:pt idx="3">
                    <c:v>Matching</c:v>
                  </c:pt>
                  <c:pt idx="4">
                    <c:v>Dominators</c:v>
                  </c:pt>
                  <c:pt idx="5">
                    <c:v>Critical path</c:v>
                  </c:pt>
                </c:lvl>
              </c:multiLvlStrCache>
            </c:multiLvlStrRef>
          </c:cat>
          <c:val>
            <c:numRef>
              <c:f>Sheet1!$C$2:$C$7</c:f>
              <c:numCache>
                <c:formatCode>General</c:formatCode>
                <c:ptCount val="6"/>
                <c:pt idx="0">
                  <c:v>0.34</c:v>
                </c:pt>
                <c:pt idx="1">
                  <c:v>0.36</c:v>
                </c:pt>
                <c:pt idx="2">
                  <c:v>6.4</c:v>
                </c:pt>
                <c:pt idx="3">
                  <c:v>2.1</c:v>
                </c:pt>
                <c:pt idx="4">
                  <c:v>0.93</c:v>
                </c:pt>
                <c:pt idx="5">
                  <c:v>0.26</c:v>
                </c:pt>
              </c:numCache>
            </c:numRef>
          </c:val>
        </c:ser>
        <c:dLbls>
          <c:numFmt formatCode="0.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Sheet1!$A$2:$A$19</c:f>
              <c:multiLvlStrCache>
                <c:ptCount val="18"/>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lvl>
              </c:multiLvlStrCache>
            </c:multiLvlStrRef>
          </c:cat>
          <c:val>
            <c:numRef>
              <c:f>Sheet1!$B$2:$B$19</c:f>
              <c:numCache>
                <c:formatCode>General</c:formatCode>
                <c:ptCount val="18"/>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numCache>
            </c:numRef>
          </c:val>
          <c:smooth val="0"/>
        </c:ser>
        <c:dLbls>
          <c:numFmt formatCode="#,##0" sourceLinked="0"/>
          <c:txPr>
            <a:bodyPr/>
            <a:lstStyle/>
            <a:p>
              <a:pPr>
                <a:defRPr b="0" i="0" strike="noStrike" sz="11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1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19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§6.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minimum-cost path from any source to any target, with explicit non-negative costs. Algorithm: Dijkstra's algorithm in exact arithmetic: integers, or rationals held as scaled integers. Certificate proves: Potentials prove the optimum, or an interrupted search's lower bound; a closure proves there is no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git log ae48035, f65497b.
bottleneck_path: The fastest rate-limiting step, the lowest highest barrier. Theory: The path whose weakest edge is strongest (max_min, e.g. rates) or whose highest edge is lowest (min_max, e.g. barriers), fewest hops among those. Weights are compared, never added. Algorithm: Settle nodes best value first, as Dijkstra settles costs; then a breadth-first search over the hops at least as good finds the fewest hops. Certificate proves: Threshold: what the sources reach by hops strictly better than the value is closed and holds no target, so no path is better. A closure proves a negative.
regular_path: Walks that match a regular expression of steps. Theory: Regular path queries (Mendelzon and Wood, 1995), as SPARQL property paths and GQL write them: DERIVED_FROM*/SUPPORTED_BY[Measurement]/IN Algorithm: Breadth-first search over the product of the graph and the expression's Glushkov automaton: one walk with the fewest hops, or every node reached. Certificate proves: Closed product states below a bound prove the fewest hops, a negative or a complete reached set. The verifier builds its own automaton.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Checked by: verify_result recomputes what stands from the records by re-evaluating every rule. Generalizes SCALE's "rests on a retraction, all or in part".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§6; git log 8b79971, 7b39f7d.
pattern · trees: Tree patterns without dead ends. Theory: Variables bound by types (through the hierarchy) or explicit IDs, then steps, each one hop from an earlier variable; optional steps keep their row. Algorithm: Yannakakis' semi-join reduction: discover down, prune up, prune down. Rows in canonical order; the exact total is counted without listing (60⁴ rows in well under a second). Checked by: verify_result checks every row against the records; rows and totals match a brute-force enumerator (400 random patterns) and SCALE's own engine.
pattern · cycles: Corroboration and contradiction motifs. Theory: A step may close a cycle between bound variables: two supports of a claim from one dataset, a triangle of citations. Algorithm: Worst-case optimal join (Ngo, Porat, Ré and Rudra; Veldhuizen's Leapfrog Triejoin): intersect candidates with what every closing step allows, smallest set first. Checked by: Row for row against a brute-force enumerator (300 random cyclic patterns). An interruption keeps a prefix of the rows and never denies.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Matching; §6; git log 573ce2b.
max_flow: Throughput, and the cut that limits it. Theory: As much as the capacities let through from the sources to the targets (Ford and Fulkerson, 1956). Unit capacities count edge- or node-disjoint paths (Menger, 1927). Algorithm: Dinic's algorithm (1970) in exact integers: breadth-first levels in the residual graph, then a blocking flow; the residual graph is built only where the search reads it. Certificate proves: The cut's source side: a checker confirms the flow and recomputes a cut of the same value from the records, so both are optimal (max-flow min-cut theorem).
matching: As many distinct pairings as possible. Theory: A maximum matching of a left set to partners outside it, no node in two pairs: samples to instruments, claims to reviewers. Algorithm: Hopcroft and Karp (1973): breadth-first phases along alternating paths from the unpaired left nodes, then augmentation along the shortest ones. Certificate proves: König's vertex cover (1931): as many nodes as pairs, touching every candidate hop, so no matching is larger. When pairs fall short, Hall's condition shows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README.md (Revalidation); docs/API_CONTRACT.md §7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(514 pass), src/graph_runtime/conformance/cases.json (143 cases), SCALE parity (16 tests) and STATES parity (6 tests) in their environments; 73 of 73 real consumer requests answer the same with both engines (git log f144c48). Oracles: tests/oracle.py; regular paths against Brzozowski derivatives on 1,500 random graphs (git log f65497b); PageRank against the exact linear system over fractions on 500 graphs (git log 0d4d2b3). Parity: docs/SCALE_INTEGRATION.md, docs/STATES_INTEGRATION.md. Reviews: git log 8917563, 7ff04db; Codex adversarial reviews before commit: git log 99fb868 (a request field named kind was overwritten by the digest's record kind, now connectivity; unlisted groups and stray trees in the components certificate) and 573ce2b (an interrupted max flow's upper bound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(23 commits, 550c362 to 573ce2b; some rows group neighbouring commits). Conformance case counts are from the commit messages (34 at v0, then 49, 54, 62, 70, 74, 78, 91, 100, 112, 116, 121, 133) and cases.json now (165). Tests: 178 → 543.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plan.md and the two Codex surveys (codex_literature.md, codex_domains.md), 26 October 2026, kept outside the repository. Each increment is planned to ship with code, docs/API_CONTRACT.md, the schema, hand-worked conformance cases, tests with a networkx oracle, verification and revalidation, golden result_ids unchanged, and a Codex adversarial review of its diff. Further candidates: DAG critical path, d-separation, minimum spanning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19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Nineteen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a:t>
            </a:r>
            <a:endParaRPr lang="en-US" sz="1200" dirty="0"/>
          </a:p>
        </p:txBody>
      </p:sp>
      <p:sp>
        <p:nvSpPr>
          <p:cNvPr id="9" name="Text 6"/>
          <p:cNvSpPr txBox="1"/>
          <p:nvPr/>
        </p:nvSpPr>
        <p:spPr>
          <a:xfrm>
            <a:off x="749808"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What connects to what, and the best way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critical_path · d_separation</a:t>
            </a:r>
            <a:endParaRPr lang="en-US" sz="1200" dirty="0"/>
          </a:p>
        </p:txBody>
      </p:sp>
      <p:sp>
        <p:nvSpPr>
          <p:cNvPr id="15" name="Text 11"/>
          <p:cNvSpPr txBox="1"/>
          <p:nvPr/>
        </p:nvSpPr>
        <p:spPr>
          <a:xfrm>
            <a:off x="4539386" y="3020568"/>
            <a:ext cx="3112922" cy="659892"/>
          </a:xfrm>
          <a:prstGeom prst="rect">
            <a:avLst/>
          </a:prstGeom>
          <a:noFill/>
          <a:ln/>
        </p:spPr>
        <p:txBody>
          <a:bodyPr wrap="square" lIns="0" tIns="0" rIns="0" bIns="0" rtlCol="0" anchor="t"/>
          <a:lstStyle/>
          <a:p>
            <a:pPr indent="0" marL="0">
              <a:buNone/>
            </a:pPr>
            <a:r>
              <a:rPr lang="en-US" sz="1400" dirty="0">
                <a:solidFill>
                  <a:schemeClr val="tx1"/>
                </a:solidFill>
              </a:rPr>
              <a:t>AND/OR rules, schedules and slack, causal independence.</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trees counted exactly, cycles by a worst-case optimal join.</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Periodic"/>
          <p:cNvSpPr/>
          <p:nvPr/>
        </p:nvSpPr>
        <p:spPr>
          <a:xfrm>
            <a:off x="4338218" y="4091940"/>
            <a:ext cx="3515258" cy="2125980"/>
          </a:xfrm>
          <a:prstGeom prst="roundRect">
            <a:avLst>
              <a:gd name="adj" fmla="val 4301"/>
            </a:avLst>
          </a:prstGeom>
          <a:solidFill>
            <a:schemeClr val="bg2"/>
          </a:solidFill>
          <a:ln/>
        </p:spPr>
      </p:sp>
      <p:sp>
        <p:nvSpPr>
          <p:cNvPr id="29" name="icon Periodic"/>
          <p:cNvSpPr/>
          <p:nvPr/>
        </p:nvSpPr>
        <p:spPr>
          <a:xfrm>
            <a:off x="4539386" y="4293108"/>
            <a:ext cx="502920" cy="502920"/>
          </a:xfrm>
          <a:prstGeom prst="ellipse">
            <a:avLst/>
          </a:prstGeom>
          <a:solidFill>
            <a:schemeClr val="accent1"/>
          </a:solidFill>
          <a:ln/>
        </p:spPr>
      </p:sp>
      <p:pic>
        <p:nvPicPr>
          <p:cNvPr id="30" name="Image 4" descr="Periodic">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Periodic</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Periodic projections: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max_flow · matching · dominators</a:t>
            </a:r>
            <a:endParaRPr lang="en-US" sz="1200" dirty="0"/>
          </a:p>
        </p:txBody>
      </p:sp>
      <p:sp>
        <p:nvSpPr>
          <p:cNvPr id="39" name="Text 31"/>
          <p:cNvSpPr txBox="1"/>
          <p:nvPr/>
        </p:nvSpPr>
        <p:spPr>
          <a:xfrm>
            <a:off x="8328965" y="5420868"/>
            <a:ext cx="3112922" cy="659892"/>
          </a:xfrm>
          <a:prstGeom prst="rect">
            <a:avLst/>
          </a:prstGeom>
          <a:noFill/>
          <a:ln/>
        </p:spPr>
        <p:txBody>
          <a:bodyPr wrap="square" lIns="0" tIns="0" rIns="0" bIns="0" rtlCol="0" anchor="t"/>
          <a:lstStyle/>
          <a:p>
            <a:pPr indent="0" marL="0">
              <a:buNone/>
            </a:pPr>
            <a:r>
              <a:rPr lang="en-US" sz="1400" dirty="0">
                <a:solidFill>
                  <a:schemeClr val="tx1"/>
                </a:solidFill>
              </a:rPr>
              <a:t>Pieces, weak points, throughput, pairings and unavoidable nodes.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and Dijkstra searches in a fixed canonical order, so the same request always picks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Every node within the scope and depth, at its least hop count;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dependency_impact</a:t>
            </a:r>
            <a:pPr indent="0" marL="0">
              <a:spcAft>
                <a:spcPts val="900"/>
              </a:spcAft>
              <a:buNone/>
            </a:pPr>
            <a:r>
              <a:rPr lang="en-US" sz="1500" dirty="0">
                <a:solidFill>
                  <a:schemeClr val="tx1"/>
                </a:solidFill>
              </a:rPr>
              <a:t> runs the same search from changed nodes.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in canonical order; each node's first hop builds a witness tree.</a:t>
            </a:r>
            <a:endParaRPr lang="en-US" sz="1500" dirty="0"/>
          </a:p>
        </p:txBody>
      </p:sp>
      <p:sp>
        <p:nvSpPr>
          <p:cNvPr id="9" name="proof reachability"/>
          <p:cNvSpPr/>
          <p:nvPr/>
        </p:nvSpPr>
        <p:spPr>
          <a:xfrm>
            <a:off x="694944" y="4807458"/>
            <a:ext cx="322265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Every hop from an expanded node leads to a listed node at most one hop deeper: complete, and depths least.</a:t>
            </a:r>
            <a:endParaRPr lang="en-US" sz="15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178727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walk matching a finite sequence of relations, with optional node types at each position.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(node, position) states.</a:t>
            </a:r>
            <a:endParaRPr lang="en-US" sz="1500" dirty="0"/>
          </a:p>
        </p:txBody>
      </p:sp>
      <p:sp>
        <p:nvSpPr>
          <p:cNvPr id="18" name="proof typed_path"/>
          <p:cNvSpPr/>
          <p:nvPr/>
        </p:nvSpPr>
        <p:spPr>
          <a:xfrm>
            <a:off x="4484522" y="4575048"/>
            <a:ext cx="3222650" cy="1441704"/>
          </a:xfrm>
          <a:prstGeom prst="roundRect">
            <a:avLst>
              <a:gd name="adj" fmla="val 5074"/>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666488"/>
            <a:ext cx="246888" cy="246888"/>
          </a:xfrm>
          <a:prstGeom prst="rect">
            <a:avLst/>
          </a:prstGeom>
        </p:spPr>
      </p:pic>
      <p:sp>
        <p:nvSpPr>
          <p:cNvPr id="20" name="Text 14"/>
          <p:cNvSpPr txBox="1"/>
          <p:nvPr/>
        </p:nvSpPr>
        <p:spPr>
          <a:xfrm>
            <a:off x="4923434" y="466648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4959096"/>
            <a:ext cx="3003194" cy="984504"/>
          </a:xfrm>
          <a:prstGeom prst="rect">
            <a:avLst/>
          </a:prstGeom>
          <a:noFill/>
          <a:ln/>
        </p:spPr>
        <p:txBody>
          <a:bodyPr wrap="square" lIns="0" tIns="0" rIns="0" bIns="0" rtlCol="0" anchor="t"/>
          <a:lstStyle/>
          <a:p>
            <a:pPr indent="0" marL="0">
              <a:buNone/>
            </a:pPr>
            <a:r>
              <a:rPr lang="en-US" sz="1500" dirty="0">
                <a:solidFill>
                  <a:schemeClr val="tx1"/>
                </a:solidFill>
              </a:rPr>
              <a:t>Closed states: all states the sources reach, closed under the pattern's hops, none ending at a target.</a:t>
            </a:r>
            <a:endParaRPr lang="en-US" sz="15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minimum-cost path from any source to any target, with explicit non-negative costs.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Dijkstra's algorithm in exact arithmetic: integers, or rationals held as scaled integers.</a:t>
            </a:r>
            <a:endParaRPr lang="en-US" sz="1500" dirty="0"/>
          </a:p>
        </p:txBody>
      </p:sp>
      <p:sp>
        <p:nvSpPr>
          <p:cNvPr id="27" name="proof shortest_path"/>
          <p:cNvSpPr/>
          <p:nvPr/>
        </p:nvSpPr>
        <p:spPr>
          <a:xfrm>
            <a:off x="8274101" y="4807458"/>
            <a:ext cx="3222650" cy="1209294"/>
          </a:xfrm>
          <a:prstGeom prst="roundRect">
            <a:avLst>
              <a:gd name="adj" fmla="val 6049"/>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898898"/>
            <a:ext cx="246888" cy="246888"/>
          </a:xfrm>
          <a:prstGeom prst="rect">
            <a:avLst/>
          </a:prstGeom>
        </p:spPr>
      </p:pic>
      <p:sp>
        <p:nvSpPr>
          <p:cNvPr id="29" name="Text 21"/>
          <p:cNvSpPr txBox="1"/>
          <p:nvPr/>
        </p:nvSpPr>
        <p:spPr>
          <a:xfrm>
            <a:off x="8713013" y="4898898"/>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191506"/>
            <a:ext cx="3003194" cy="752094"/>
          </a:xfrm>
          <a:prstGeom prst="rect">
            <a:avLst/>
          </a:prstGeom>
          <a:noFill/>
          <a:ln/>
        </p:spPr>
        <p:txBody>
          <a:bodyPr wrap="square" lIns="0" tIns="0" rIns="0" bIns="0" rtlCol="0" anchor="t"/>
          <a:lstStyle/>
          <a:p>
            <a:pPr indent="0" marL="0">
              <a:buNone/>
            </a:pPr>
            <a:r>
              <a:rPr lang="en-US" sz="1500" dirty="0">
                <a:solidFill>
                  <a:schemeClr val="tx1"/>
                </a:solidFill>
              </a:rPr>
              <a:t>Potentials prove the optimum, or an interrupted search's lower bound; a closure proves there is no path.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and path expressions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questions a plain shortest path cannot ask: the best weakest link, and walks shaped by a regular expression.</a:t>
            </a:r>
            <a:endParaRPr lang="en-US" sz="1600" dirty="0"/>
          </a:p>
        </p:txBody>
      </p:sp>
      <p:sp>
        <p:nvSpPr>
          <p:cNvPr id="4" name="operation bottleneck_path"/>
          <p:cNvSpPr/>
          <p:nvPr/>
        </p:nvSpPr>
        <p:spPr>
          <a:xfrm>
            <a:off x="548640" y="1691640"/>
            <a:ext cx="5410048" cy="4526280"/>
          </a:xfrm>
          <a:prstGeom prst="roundRect">
            <a:avLst>
              <a:gd name="adj" fmla="val 2020"/>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The fastest rate-limiting step, the lowest highest barrier</a:t>
            </a:r>
            <a:endParaRPr lang="en-US" sz="1500" dirty="0"/>
          </a:p>
        </p:txBody>
      </p:sp>
      <p:sp>
        <p:nvSpPr>
          <p:cNvPr id="8" name="Text 5"/>
          <p:cNvSpPr txBox="1"/>
          <p:nvPr/>
        </p:nvSpPr>
        <p:spPr>
          <a:xfrm>
            <a:off x="749808" y="2714625"/>
            <a:ext cx="5007712" cy="2019681"/>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path whose weakest edge is strongest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 e.g. rates) or whose highest edge is lowest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e.g. barriers), fewest hops among those. Weights are compared, never added.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Settle nodes best value first, as Dijkstra settles costs; then a breadth-first search over the hops at least as good finds the fewest hops.</a:t>
            </a:r>
            <a:endParaRPr lang="en-US" sz="1500" dirty="0"/>
          </a:p>
        </p:txBody>
      </p:sp>
      <p:sp>
        <p:nvSpPr>
          <p:cNvPr id="9" name="proof bottleneck_path"/>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Threshold: what the sources reach by hops strictly better than the value is closed and holds no target, so no path is better. A closure proves a negative.</a:t>
            </a:r>
            <a:endParaRPr lang="en-US" sz="1500" dirty="0"/>
          </a:p>
        </p:txBody>
      </p:sp>
      <p:sp>
        <p:nvSpPr>
          <p:cNvPr id="13" name="operation regular_path"/>
          <p:cNvSpPr/>
          <p:nvPr/>
        </p:nvSpPr>
        <p:spPr>
          <a:xfrm>
            <a:off x="6233008" y="1691640"/>
            <a:ext cx="5410048" cy="4526280"/>
          </a:xfrm>
          <a:prstGeom prst="roundRect">
            <a:avLst>
              <a:gd name="adj" fmla="val 2020"/>
            </a:avLst>
          </a:prstGeom>
          <a:solidFill>
            <a:schemeClr val="bg2"/>
          </a:solidFill>
          <a:ln/>
        </p:spPr>
      </p:sp>
      <p:sp>
        <p:nvSpPr>
          <p:cNvPr id="14" name="icon regular_path"/>
          <p:cNvSpPr/>
          <p:nvPr/>
        </p:nvSpPr>
        <p:spPr>
          <a:xfrm>
            <a:off x="643417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that match a regular expression of steps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Regular path queries (Mendelzon and Wood, 1995), as SPARQL property paths and GQL write them: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DERIVED_FROM*/SUPPORTED_BY[Measurement]/IN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over the product of the graph and the expression's Glushkov automaton: one walk with the fewest hops, or every node reached.</a:t>
            </a:r>
            <a:endParaRPr lang="en-US" sz="1500" dirty="0"/>
          </a:p>
        </p:txBody>
      </p:sp>
      <p:sp>
        <p:nvSpPr>
          <p:cNvPr id="18" name="proof regular_path"/>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Closed product states below a bound prove the fewest hops, a negative or a complete reached set. The verifier builds its own automaton.</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recomputes what stands from the records by re-evaluating every rule. Generalizes SCALE's "rests on a retraction, all or in part".</a:t>
            </a:r>
            <a:endParaRPr lang="en-US" sz="14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and cycles.</a:t>
            </a:r>
            <a:endParaRPr lang="en-US" sz="1600" dirty="0"/>
          </a:p>
        </p:txBody>
      </p:sp>
      <p:sp>
        <p:nvSpPr>
          <p:cNvPr id="4" name="operation pattern · trees"/>
          <p:cNvSpPr/>
          <p:nvPr/>
        </p:nvSpPr>
        <p:spPr>
          <a:xfrm>
            <a:off x="548640" y="1691640"/>
            <a:ext cx="5410048" cy="4526280"/>
          </a:xfrm>
          <a:prstGeom prst="roundRect">
            <a:avLst>
              <a:gd name="adj" fmla="val 2020"/>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Variables bound by types (through the hierarchy) or explicit IDs, then steps, each one hop from an earlier variable; optional steps keep their row.</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Yannakakis' semi-join reduction: discover down, prune up, prune down. Rows in canonical order; the exact total is counted without listing (60⁴ rows in well under a second).</a:t>
            </a:r>
            <a:endParaRPr lang="en-US" sz="1600" dirty="0"/>
          </a:p>
        </p:txBody>
      </p:sp>
      <p:sp>
        <p:nvSpPr>
          <p:cNvPr id="9" name="proof pattern · trees"/>
          <p:cNvSpPr/>
          <p:nvPr/>
        </p:nvSpPr>
        <p:spPr>
          <a:xfrm>
            <a:off x="694944" y="4760976"/>
            <a:ext cx="5117440" cy="1255776"/>
          </a:xfrm>
          <a:prstGeom prst="roundRect">
            <a:avLst>
              <a:gd name="adj" fmla="val 5825"/>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52416"/>
            <a:ext cx="246888" cy="246888"/>
          </a:xfrm>
          <a:prstGeom prst="rect">
            <a:avLst/>
          </a:prstGeom>
        </p:spPr>
      </p:pic>
      <p:sp>
        <p:nvSpPr>
          <p:cNvPr id="11" name="Text 7"/>
          <p:cNvSpPr txBox="1"/>
          <p:nvPr/>
        </p:nvSpPr>
        <p:spPr>
          <a:xfrm>
            <a:off x="1133856"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145024"/>
            <a:ext cx="4897984" cy="798576"/>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verify_result</a:t>
            </a:r>
            <a:pPr indent="0" marL="0">
              <a:buNone/>
            </a:pPr>
            <a:r>
              <a:rPr lang="en-US" sz="1600" dirty="0">
                <a:solidFill>
                  <a:schemeClr val="tx1"/>
                </a:solidFill>
              </a:rPr>
              <a:t> checks every row against the records; rows and totals match a brute-force enumerator (400 random patterns) and SCALE's own engine.</a:t>
            </a:r>
            <a:endParaRPr lang="en-US" sz="1500" dirty="0"/>
          </a:p>
        </p:txBody>
      </p:sp>
      <p:sp>
        <p:nvSpPr>
          <p:cNvPr id="13" name="operation pattern · cycles"/>
          <p:cNvSpPr/>
          <p:nvPr/>
        </p:nvSpPr>
        <p:spPr>
          <a:xfrm>
            <a:off x="6233008" y="1691640"/>
            <a:ext cx="5410048" cy="4526280"/>
          </a:xfrm>
          <a:prstGeom prst="roundRect">
            <a:avLst>
              <a:gd name="adj" fmla="val 2020"/>
            </a:avLst>
          </a:prstGeom>
          <a:solidFill>
            <a:schemeClr val="bg2"/>
          </a:solidFill>
          <a:ln/>
        </p:spPr>
      </p:sp>
      <p:sp>
        <p:nvSpPr>
          <p:cNvPr id="14" name="icon pattern · cycles"/>
          <p:cNvSpPr/>
          <p:nvPr/>
        </p:nvSpPr>
        <p:spPr>
          <a:xfrm>
            <a:off x="643417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6434176" y="2569464"/>
            <a:ext cx="5007712" cy="2118360"/>
          </a:xfrm>
          <a:prstGeom prst="rect">
            <a:avLst/>
          </a:prstGeom>
          <a:noFill/>
          <a:ln/>
        </p:spPr>
        <p:txBody>
          <a:bodyPr wrap="square" lIns="0" tIns="0" rIns="0" bIns="0" rtlCol="0" anchor="t"/>
          <a:lstStyle/>
          <a:p>
            <a:pPr indent="0" marL="0">
              <a:spcAft>
                <a:spcPts val="960"/>
              </a:spcAft>
              <a:buNone/>
            </a:pPr>
            <a:r>
              <a:rPr lang="en-US" sz="1600" b="1" dirty="0">
                <a:solidFill>
                  <a:schemeClr val="accent1"/>
                </a:solidFill>
              </a:rPr>
              <a:t>Theory. </a:t>
            </a:r>
            <a:pPr indent="0" marL="0">
              <a:spcAft>
                <a:spcPts val="960"/>
              </a:spcAft>
              <a:buNone/>
            </a:pPr>
            <a:r>
              <a:rPr lang="en-US" sz="1600" dirty="0">
                <a:solidFill>
                  <a:schemeClr val="tx1"/>
                </a:solidFill>
              </a:rPr>
              <a:t>A step may close a cycle between bound variables: two supports of a claim from one dataset, a triangle of citations.</a:t>
            </a:r>
            <a:endParaRPr lang="en-US" sz="1600" dirty="0"/>
          </a:p>
          <a:p>
            <a:pPr indent="0" marL="0">
              <a:buNone/>
            </a:pPr>
            <a:r>
              <a:rPr lang="en-US" sz="1600" b="1" dirty="0">
                <a:solidFill>
                  <a:schemeClr val="accent1"/>
                </a:solidFill>
              </a:rPr>
              <a:t>Algorithm. </a:t>
            </a:r>
            <a:pPr indent="0" marL="0">
              <a:buNone/>
            </a:pPr>
            <a:r>
              <a:rPr lang="en-US" sz="1600" dirty="0">
                <a:solidFill>
                  <a:schemeClr val="tx1"/>
                </a:solidFill>
              </a:rPr>
              <a:t>Worst-case optimal join (Ngo, Porat, Ré and Rudra; Veldhuizen's Leapfrog Triejoin): intersect candidates with what every closing step allows, smallest set first.</a:t>
            </a:r>
            <a:endParaRPr lang="en-US" sz="1600" dirty="0"/>
          </a:p>
        </p:txBody>
      </p:sp>
      <p:sp>
        <p:nvSpPr>
          <p:cNvPr id="18" name="proof pattern · cycles"/>
          <p:cNvSpPr/>
          <p:nvPr/>
        </p:nvSpPr>
        <p:spPr>
          <a:xfrm>
            <a:off x="6379312" y="4760976"/>
            <a:ext cx="5117440" cy="1255776"/>
          </a:xfrm>
          <a:prstGeom prst="roundRect">
            <a:avLst>
              <a:gd name="adj" fmla="val 5825"/>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52416"/>
            <a:ext cx="246888" cy="246888"/>
          </a:xfrm>
          <a:prstGeom prst="rect">
            <a:avLst/>
          </a:prstGeom>
        </p:spPr>
      </p:pic>
      <p:sp>
        <p:nvSpPr>
          <p:cNvPr id="20" name="Text 14"/>
          <p:cNvSpPr txBox="1"/>
          <p:nvPr/>
        </p:nvSpPr>
        <p:spPr>
          <a:xfrm>
            <a:off x="6818224" y="4852416"/>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6489040" y="5145024"/>
            <a:ext cx="4897984" cy="798576"/>
          </a:xfrm>
          <a:prstGeom prst="rect">
            <a:avLst/>
          </a:prstGeom>
          <a:noFill/>
          <a:ln/>
        </p:spPr>
        <p:txBody>
          <a:bodyPr wrap="square" lIns="0" tIns="0" rIns="0" bIns="0" rtlCol="0" anchor="t"/>
          <a:lstStyle/>
          <a:p>
            <a:pPr indent="0" marL="0">
              <a:buNone/>
            </a:pPr>
            <a:r>
              <a:rPr lang="en-US" sz="1600" dirty="0">
                <a:solidFill>
                  <a:schemeClr val="tx1"/>
                </a:solidFill>
              </a:rPr>
              <a:t>Row for row against a brute-force enumerator (300 random cyclic patterns). An interruption keeps a prefix of the rows and never denies.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cuts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a vertex cover for a matching.</a:t>
            </a:r>
            <a:endParaRPr lang="en-US" sz="1600" dirty="0"/>
          </a:p>
        </p:txBody>
      </p:sp>
      <p:sp>
        <p:nvSpPr>
          <p:cNvPr id="4" name="operation max_flow"/>
          <p:cNvSpPr/>
          <p:nvPr/>
        </p:nvSpPr>
        <p:spPr>
          <a:xfrm>
            <a:off x="548640" y="1691640"/>
            <a:ext cx="5410048" cy="4526280"/>
          </a:xfrm>
          <a:prstGeom prst="roundRect">
            <a:avLst>
              <a:gd name="adj" fmla="val 2020"/>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As much as the capacities let through from the sources to the targets (Ford and Fulkerson, 1956). Unit capacities count edge- or node-disjoint paths (Menger, 1927).</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Dinic's algorithm (1970) in exact integers: breadth-first levels in the residual graph, then a blocking flow; the residual graph is built only where the search reads it.</a:t>
            </a:r>
            <a:endParaRPr lang="en-US" sz="1500" dirty="0"/>
          </a:p>
        </p:txBody>
      </p:sp>
      <p:sp>
        <p:nvSpPr>
          <p:cNvPr id="9" name="proof max_flow"/>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cut's source side: a checker confirms the flow and recomputes a cut of the same value from the records, so both are optimal (max-flow min-cut theorem).</a:t>
            </a:r>
            <a:endParaRPr lang="en-US" sz="1500" dirty="0"/>
          </a:p>
        </p:txBody>
      </p:sp>
      <p:sp>
        <p:nvSpPr>
          <p:cNvPr id="13" name="operation matching"/>
          <p:cNvSpPr/>
          <p:nvPr/>
        </p:nvSpPr>
        <p:spPr>
          <a:xfrm>
            <a:off x="6233008" y="1691640"/>
            <a:ext cx="5410048" cy="4526280"/>
          </a:xfrm>
          <a:prstGeom prst="roundRect">
            <a:avLst>
              <a:gd name="adj" fmla="val 2020"/>
            </a:avLst>
          </a:prstGeom>
          <a:solidFill>
            <a:schemeClr val="bg2"/>
          </a:solidFill>
          <a:ln/>
        </p:spPr>
      </p:sp>
      <p:sp>
        <p:nvSpPr>
          <p:cNvPr id="14" name="icon matching"/>
          <p:cNvSpPr/>
          <p:nvPr/>
        </p:nvSpPr>
        <p:spPr>
          <a:xfrm>
            <a:off x="6434176" y="1892808"/>
            <a:ext cx="512064" cy="512064"/>
          </a:xfrm>
          <a:prstGeom prst="ellipse">
            <a:avLst/>
          </a:prstGeom>
          <a:solidFill>
            <a:schemeClr val="accent1"/>
          </a:solidFill>
          <a:ln/>
        </p:spPr>
      </p:sp>
      <p:pic>
        <p:nvPicPr>
          <p:cNvPr id="15" name="Image 2" descr="matching">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As many distinct pairings as possible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maximum matching of a left set to partners outside it, no node in two pairs: samples to instruments, claims to reviewers.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Hopcroft and Karp (1973): breadth-first phases along alternating paths from the unpaired left nodes, then augmentation along the shortest ones.</a:t>
            </a:r>
            <a:endParaRPr lang="en-US" sz="1500" dirty="0"/>
          </a:p>
        </p:txBody>
      </p:sp>
      <p:sp>
        <p:nvSpPr>
          <p:cNvPr id="18" name="proof matching"/>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König's vertex cover (1931): as many nodes as pairs, touching every candidate hop, so no matching is larger. When pairs fall short, Hall's condition shows why.</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cycle or active trail holds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543</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165</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2176272"/>
          </a:xfrm>
          <a:prstGeom prst="roundRect">
            <a:avLst>
              <a:gd name="adj" fmla="val 4202"/>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26187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2176272"/>
          </a:xfrm>
          <a:prstGeom prst="roundRect">
            <a:avLst>
              <a:gd name="adj" fmla="val 4202"/>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26187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2176272"/>
          </a:xfrm>
          <a:prstGeom prst="roundRect">
            <a:avLst>
              <a:gd name="adj" fmla="val 4202"/>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26187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2176272"/>
          </a:xfrm>
          <a:prstGeom prst="roundRect">
            <a:avLst>
              <a:gd name="adj" fmla="val 4202"/>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26187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230368"/>
            <a:ext cx="11094415" cy="98755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Found and fixed with regressions: a request_id collision and two certificate holes (structure); an unverified interrupted bound (flows); a quadratic cycle check (dominators); a float entry that let a false rank verify, a stale nearest cut revalidated as holding, contradicted answers left unknown (incidence); exact fields beside false values, a path from outside the sources' region, controls never polled (critical path). d-separation: approved with no findings after 10,000 oracle comparisons and 5,000 revalidation checks.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583432"/>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366512"/>
            <a:ext cx="5364328" cy="851408"/>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583432"/>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5366512"/>
            <a:ext cx="5364328" cy="851408"/>
          </a:xfrm>
          <a:prstGeom prst="rect">
            <a:avLst/>
          </a:prstGeom>
          <a:noFill/>
          <a:ln/>
        </p:spPr>
        <p:txBody>
          <a:bodyPr wrap="square" lIns="0" tIns="0" rIns="0" bIns="0" rtlCol="0" anchor="t"/>
          <a:lstStyle/>
          <a:p>
            <a:pPr indent="0" marL="0">
              <a:buNone/>
            </a:pPr>
            <a:r>
              <a:rPr lang="en-US" sz="1300" dirty="0">
                <a:solidFill>
                  <a:schemeClr val="tx1"/>
                </a:solidFill>
              </a:rPr>
              <a:t>100k nodes, 500k edges; matching 50k + 50k, 250k edges; dominators 300k edges (94k reached; 1.37 s with its certificate); critical path 400k edges (networkx gives no order certificate). Also: weak components 0.45 s, unit-capacity max flow 3.8 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Thirty-one commits on 25–26 October 2026: from four operations to nineteen.</a:t>
            </a:r>
            <a:endParaRPr lang="en-US" sz="1600" dirty="0"/>
          </a:p>
        </p:txBody>
      </p:sp>
      <p:sp>
        <p:nvSpPr>
          <p:cNvPr id="4" name="Shape 2"/>
          <p:cNvSpPr/>
          <p:nvPr/>
        </p:nvSpPr>
        <p:spPr>
          <a:xfrm>
            <a:off x="1508760" y="1842516"/>
            <a:ext cx="0" cy="4224528"/>
          </a:xfrm>
          <a:prstGeom prst="line">
            <a:avLst/>
          </a:prstGeom>
          <a:noFill/>
          <a:ln w="25400">
            <a:solidFill>
              <a:schemeClr val="accent5"/>
            </a:solidFill>
            <a:prstDash val="solid"/>
          </a:ln>
        </p:spPr>
      </p:sp>
      <p:sp>
        <p:nvSpPr>
          <p:cNvPr id="5" name="Text 3"/>
          <p:cNvSpPr txBox="1"/>
          <p:nvPr/>
        </p:nvSpPr>
        <p:spPr>
          <a:xfrm>
            <a:off x="1783080" y="1691640"/>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207111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9339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93392"/>
            <a:ext cx="4800600" cy="301752"/>
          </a:xfrm>
          <a:prstGeom prst="rect">
            <a:avLst/>
          </a:prstGeom>
          <a:noFill/>
          <a:ln/>
        </p:spPr>
        <p:txBody>
          <a:bodyPr wrap="square" lIns="0" tIns="0" rIns="0" bIns="0" rtlCol="0" anchor="ctr"/>
          <a:lstStyle/>
          <a:p>
            <a:pPr indent="0" marL="0">
              <a:buNone/>
            </a:pPr>
            <a:r>
              <a:rPr lang="en-US" sz="1400" dirty="0">
                <a:solidFill>
                  <a:schemeClr val="tx1"/>
                </a:solidFill>
              </a:rPr>
              <a:t>v0: projections, 4 operations, results; SCALE parity</a:t>
            </a:r>
            <a:endParaRPr lang="en-US" sz="1400" dirty="0"/>
          </a:p>
        </p:txBody>
      </p:sp>
      <p:sp>
        <p:nvSpPr>
          <p:cNvPr id="9" name="milestone 17:36"/>
          <p:cNvSpPr/>
          <p:nvPr/>
        </p:nvSpPr>
        <p:spPr>
          <a:xfrm>
            <a:off x="1435608" y="2372868"/>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29514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17:36</a:t>
            </a:r>
            <a:endParaRPr lang="en-US" sz="1300" dirty="0"/>
          </a:p>
        </p:txBody>
      </p:sp>
      <p:sp>
        <p:nvSpPr>
          <p:cNvPr id="11" name="Text 9"/>
          <p:cNvSpPr txBox="1"/>
          <p:nvPr/>
        </p:nvSpPr>
        <p:spPr>
          <a:xfrm>
            <a:off x="1783080" y="2295144"/>
            <a:ext cx="4800600" cy="301752"/>
          </a:xfrm>
          <a:prstGeom prst="rect">
            <a:avLst/>
          </a:prstGeom>
          <a:noFill/>
          <a:ln/>
        </p:spPr>
        <p:txBody>
          <a:bodyPr wrap="square" lIns="0" tIns="0" rIns="0" bIns="0" rtlCol="0" anchor="ctr"/>
          <a:lstStyle/>
          <a:p>
            <a:pPr indent="0" marL="0">
              <a:buNone/>
            </a:pPr>
            <a:r>
              <a:rPr lang="en-US" sz="1400" dirty="0">
                <a:solidFill>
                  <a:schemeClr val="tx1"/>
                </a:solidFill>
              </a:rPr>
              <a:t>Independent and Codex reviews → contract v0.1</a:t>
            </a:r>
            <a:endParaRPr lang="en-US" sz="1400" dirty="0"/>
          </a:p>
        </p:txBody>
      </p:sp>
      <p:sp>
        <p:nvSpPr>
          <p:cNvPr id="12" name="milestone 20:55"/>
          <p:cNvSpPr/>
          <p:nvPr/>
        </p:nvSpPr>
        <p:spPr>
          <a:xfrm>
            <a:off x="1435608" y="2674620"/>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59689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4" name="Text 12"/>
          <p:cNvSpPr txBox="1"/>
          <p:nvPr/>
        </p:nvSpPr>
        <p:spPr>
          <a:xfrm>
            <a:off x="1783080" y="2596896"/>
            <a:ext cx="4800600" cy="301752"/>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5" name="milestone 23:08"/>
          <p:cNvSpPr/>
          <p:nvPr/>
        </p:nvSpPr>
        <p:spPr>
          <a:xfrm>
            <a:off x="1435608" y="2976372"/>
            <a:ext cx="146304" cy="146304"/>
          </a:xfrm>
          <a:prstGeom prst="ellipse">
            <a:avLst/>
          </a:prstGeom>
          <a:solidFill>
            <a:schemeClr val="accent1"/>
          </a:solidFill>
          <a:ln w="19050">
            <a:solidFill>
              <a:schemeClr val="bg1"/>
            </a:solidFill>
            <a:prstDash val="solid"/>
          </a:ln>
        </p:spPr>
      </p:sp>
      <p:sp>
        <p:nvSpPr>
          <p:cNvPr id="16" name="Text 14"/>
          <p:cNvSpPr txBox="1"/>
          <p:nvPr/>
        </p:nvSpPr>
        <p:spPr>
          <a:xfrm>
            <a:off x="548640" y="289864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7" name="Text 15"/>
          <p:cNvSpPr txBox="1"/>
          <p:nvPr/>
        </p:nvSpPr>
        <p:spPr>
          <a:xfrm>
            <a:off x="1783080" y="2898648"/>
            <a:ext cx="4800600" cy="301752"/>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8" name="Text 16"/>
          <p:cNvSpPr txBox="1"/>
          <p:nvPr/>
        </p:nvSpPr>
        <p:spPr>
          <a:xfrm>
            <a:off x="1783080" y="3200400"/>
            <a:ext cx="4754880" cy="301752"/>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9" name="milestone 00:14"/>
          <p:cNvSpPr/>
          <p:nvPr/>
        </p:nvSpPr>
        <p:spPr>
          <a:xfrm>
            <a:off x="1435608" y="3579876"/>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50215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21" name="Text 19"/>
          <p:cNvSpPr txBox="1"/>
          <p:nvPr/>
        </p:nvSpPr>
        <p:spPr>
          <a:xfrm>
            <a:off x="1783080" y="3502152"/>
            <a:ext cx="4800600" cy="301752"/>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22" name="milestone 04:25"/>
          <p:cNvSpPr/>
          <p:nvPr/>
        </p:nvSpPr>
        <p:spPr>
          <a:xfrm>
            <a:off x="1435608" y="3881628"/>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80390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4" name="Text 22"/>
          <p:cNvSpPr txBox="1"/>
          <p:nvPr/>
        </p:nvSpPr>
        <p:spPr>
          <a:xfrm>
            <a:off x="1783080" y="3803904"/>
            <a:ext cx="4800600" cy="301752"/>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5" name="milestone 05:12"/>
          <p:cNvSpPr/>
          <p:nvPr/>
        </p:nvSpPr>
        <p:spPr>
          <a:xfrm>
            <a:off x="1435608" y="4183380"/>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410565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7" name="Text 25"/>
          <p:cNvSpPr txBox="1"/>
          <p:nvPr/>
        </p:nvSpPr>
        <p:spPr>
          <a:xfrm>
            <a:off x="1783080" y="4105656"/>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8" name="milestone 10:09"/>
          <p:cNvSpPr/>
          <p:nvPr/>
        </p:nvSpPr>
        <p:spPr>
          <a:xfrm>
            <a:off x="1435608" y="4485132"/>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440740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30" name="Text 28"/>
          <p:cNvSpPr txBox="1"/>
          <p:nvPr/>
        </p:nvSpPr>
        <p:spPr>
          <a:xfrm>
            <a:off x="1783080" y="4407408"/>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31" name="milestone 10:29"/>
          <p:cNvSpPr/>
          <p:nvPr/>
        </p:nvSpPr>
        <p:spPr>
          <a:xfrm>
            <a:off x="1435608" y="4786884"/>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709160"/>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3" name="Text 31"/>
          <p:cNvSpPr txBox="1"/>
          <p:nvPr/>
        </p:nvSpPr>
        <p:spPr>
          <a:xfrm>
            <a:off x="1783080" y="4709160"/>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endParaRPr lang="en-US" sz="1300" dirty="0"/>
          </a:p>
        </p:txBody>
      </p:sp>
      <p:sp>
        <p:nvSpPr>
          <p:cNvPr id="34" name="milestone 10:43"/>
          <p:cNvSpPr/>
          <p:nvPr/>
        </p:nvSpPr>
        <p:spPr>
          <a:xfrm>
            <a:off x="1435608" y="5088636"/>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5010912"/>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10:43</a:t>
            </a:r>
            <a:endParaRPr lang="en-US" sz="1300" dirty="0"/>
          </a:p>
        </p:txBody>
      </p:sp>
      <p:sp>
        <p:nvSpPr>
          <p:cNvPr id="36" name="Text 34"/>
          <p:cNvSpPr txBox="1"/>
          <p:nvPr/>
        </p:nvSpPr>
        <p:spPr>
          <a:xfrm>
            <a:off x="1783080" y="5010912"/>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 by certificate</a:t>
            </a:r>
            <a:endParaRPr lang="en-US" sz="1300" dirty="0"/>
          </a:p>
        </p:txBody>
      </p:sp>
      <p:sp>
        <p:nvSpPr>
          <p:cNvPr id="37" name="milestone 11:16"/>
          <p:cNvSpPr/>
          <p:nvPr/>
        </p:nvSpPr>
        <p:spPr>
          <a:xfrm>
            <a:off x="1435608" y="5390388"/>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5312664"/>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9" name="Text 37"/>
          <p:cNvSpPr txBox="1"/>
          <p:nvPr/>
        </p:nvSpPr>
        <p:spPr>
          <a:xfrm>
            <a:off x="1783080" y="5312664"/>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(conservation laws)</a:t>
            </a:r>
            <a:endParaRPr lang="en-US" sz="1300" dirty="0"/>
          </a:p>
        </p:txBody>
      </p:sp>
      <p:sp>
        <p:nvSpPr>
          <p:cNvPr id="40" name="milestone 11:32"/>
          <p:cNvSpPr/>
          <p:nvPr/>
        </p:nvSpPr>
        <p:spPr>
          <a:xfrm>
            <a:off x="1435608" y="5692140"/>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5614416"/>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11:32</a:t>
            </a:r>
            <a:endParaRPr lang="en-US" sz="1300" dirty="0"/>
          </a:p>
        </p:txBody>
      </p:sp>
      <p:sp>
        <p:nvSpPr>
          <p:cNvPr id="42" name="Text 40"/>
          <p:cNvSpPr txBox="1"/>
          <p:nvPr/>
        </p:nvSpPr>
        <p:spPr>
          <a:xfrm>
            <a:off x="1783080" y="5614416"/>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(schedules, slack)</a:t>
            </a:r>
            <a:endParaRPr lang="en-US" sz="1300" dirty="0"/>
          </a:p>
        </p:txBody>
      </p:sp>
      <p:sp>
        <p:nvSpPr>
          <p:cNvPr id="43" name="milestone 11:44"/>
          <p:cNvSpPr/>
          <p:nvPr/>
        </p:nvSpPr>
        <p:spPr>
          <a:xfrm>
            <a:off x="1417320" y="5975604"/>
            <a:ext cx="182880" cy="182880"/>
          </a:xfrm>
          <a:prstGeom prst="ellipse">
            <a:avLst/>
          </a:prstGeom>
          <a:solidFill>
            <a:schemeClr val="accent2"/>
          </a:solidFill>
          <a:ln w="19050">
            <a:solidFill>
              <a:schemeClr val="bg1"/>
            </a:solidFill>
            <a:prstDash val="solid"/>
          </a:ln>
        </p:spPr>
      </p:sp>
      <p:sp>
        <p:nvSpPr>
          <p:cNvPr id="44" name="Text 42"/>
          <p:cNvSpPr txBox="1"/>
          <p:nvPr/>
        </p:nvSpPr>
        <p:spPr>
          <a:xfrm>
            <a:off x="548640" y="5916168"/>
            <a:ext cx="777240" cy="301752"/>
          </a:xfrm>
          <a:prstGeom prst="rect">
            <a:avLst/>
          </a:prstGeom>
          <a:noFill/>
          <a:ln/>
        </p:spPr>
        <p:txBody>
          <a:bodyPr wrap="square" lIns="0" tIns="0" rIns="0" bIns="0" rtlCol="0" anchor="ctr"/>
          <a:lstStyle/>
          <a:p>
            <a:pPr algn="r" indent="0" marL="0">
              <a:buNone/>
            </a:pPr>
            <a:r>
              <a:rPr lang="en-US" sz="1300" dirty="0">
                <a:solidFill>
                  <a:schemeClr val="accent6"/>
                </a:solidFill>
              </a:rPr>
              <a:t>11:44</a:t>
            </a:r>
            <a:endParaRPr lang="en-US" sz="1300" dirty="0"/>
          </a:p>
        </p:txBody>
      </p:sp>
      <p:sp>
        <p:nvSpPr>
          <p:cNvPr id="45" name="Text 43"/>
          <p:cNvSpPr txBox="1"/>
          <p:nvPr/>
        </p:nvSpPr>
        <p:spPr>
          <a:xfrm>
            <a:off x="1783080" y="5916168"/>
            <a:ext cx="4800600" cy="301752"/>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d_separation</a:t>
            </a:r>
            <a:pPr indent="0" marL="0">
              <a:buNone/>
            </a:pPr>
            <a:r>
              <a:rPr lang="en-US" sz="1400" dirty="0">
                <a:solidFill>
                  <a:schemeClr val="tx1"/>
                </a:solidFill>
              </a:rPr>
              <a:t> (causal independence)</a:t>
            </a:r>
            <a:endParaRPr lang="en-US" sz="1300" dirty="0"/>
          </a:p>
        </p:txBody>
      </p:sp>
      <p:sp>
        <p:nvSpPr>
          <p:cNvPr id="46" name="growth operations"/>
          <p:cNvSpPr/>
          <p:nvPr/>
        </p:nvSpPr>
        <p:spPr>
          <a:xfrm>
            <a:off x="6903720" y="1691640"/>
            <a:ext cx="2255368" cy="1005840"/>
          </a:xfrm>
          <a:prstGeom prst="roundRect">
            <a:avLst>
              <a:gd name="adj" fmla="val 9091"/>
            </a:avLst>
          </a:prstGeom>
          <a:solidFill>
            <a:schemeClr val="tx2"/>
          </a:solidFill>
          <a:ln/>
        </p:spPr>
      </p:sp>
      <p:sp>
        <p:nvSpPr>
          <p:cNvPr id="47" name="Text 45"/>
          <p:cNvSpPr txBox="1"/>
          <p:nvPr/>
        </p:nvSpPr>
        <p:spPr>
          <a:xfrm>
            <a:off x="7086600"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19</a:t>
            </a:r>
            <a:endParaRPr lang="en-US" sz="2800" dirty="0"/>
          </a:p>
          <a:p>
            <a:pPr indent="0" marL="0">
              <a:buNone/>
            </a:pPr>
            <a:r>
              <a:rPr lang="en-US" sz="1300" dirty="0">
                <a:solidFill>
                  <a:schemeClr val="accent5"/>
                </a:solidFill>
              </a:rPr>
              <a:t>operations</a:t>
            </a:r>
            <a:endParaRPr lang="en-US" sz="2800" dirty="0"/>
          </a:p>
        </p:txBody>
      </p:sp>
      <p:sp>
        <p:nvSpPr>
          <p:cNvPr id="48" name="growth runtime tests"/>
          <p:cNvSpPr/>
          <p:nvPr/>
        </p:nvSpPr>
        <p:spPr>
          <a:xfrm>
            <a:off x="9387688" y="1691640"/>
            <a:ext cx="2255368" cy="1005840"/>
          </a:xfrm>
          <a:prstGeom prst="roundRect">
            <a:avLst>
              <a:gd name="adj" fmla="val 9091"/>
            </a:avLst>
          </a:prstGeom>
          <a:solidFill>
            <a:schemeClr val="tx2"/>
          </a:solidFill>
          <a:ln/>
        </p:spPr>
      </p:sp>
      <p:sp>
        <p:nvSpPr>
          <p:cNvPr id="49" name="Text 47"/>
          <p:cNvSpPr txBox="1"/>
          <p:nvPr/>
        </p:nvSpPr>
        <p:spPr>
          <a:xfrm>
            <a:off x="9570568" y="1783080"/>
            <a:ext cx="188960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543</a:t>
            </a:r>
            <a:endParaRPr lang="en-US" sz="2800" dirty="0"/>
          </a:p>
          <a:p>
            <a:pPr indent="0" marL="0">
              <a:buNone/>
            </a:pPr>
            <a:r>
              <a:rPr lang="en-US" sz="1300" dirty="0">
                <a:solidFill>
                  <a:schemeClr val="accent5"/>
                </a:solidFill>
              </a:rPr>
              <a:t>runtime tests</a:t>
            </a:r>
            <a:endParaRPr lang="en-US" sz="2800" dirty="0"/>
          </a:p>
        </p:txBody>
      </p:sp>
      <p:graphicFrame>
        <p:nvGraphicFramePr>
          <p:cNvPr id="50" name="conformance growth chart" descr=""/>
          <p:cNvGraphicFramePr/>
          <p:nvPr/>
        </p:nvGraphicFramePr>
        <p:xfrm>
          <a:off x="6903720" y="2926080"/>
          <a:ext cx="473933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From two Codex literature surveys, most of whose list is now done. What remains:</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Support certificates"/>
          <p:cNvSpPr/>
          <p:nvPr/>
        </p:nvSpPr>
        <p:spPr>
          <a:xfrm>
            <a:off x="548640" y="1911096"/>
            <a:ext cx="11094415" cy="1008126"/>
          </a:xfrm>
          <a:prstGeom prst="roundRect">
            <a:avLst>
              <a:gd name="adj" fmla="val 9070"/>
            </a:avLst>
          </a:prstGeom>
          <a:solidFill>
            <a:schemeClr val="bg2"/>
          </a:solidFill>
          <a:ln/>
        </p:spPr>
      </p:sp>
      <p:sp>
        <p:nvSpPr>
          <p:cNvPr id="9" name="icon Support certificates"/>
          <p:cNvSpPr/>
          <p:nvPr/>
        </p:nvSpPr>
        <p:spPr>
          <a:xfrm>
            <a:off x="713232" y="2195703"/>
            <a:ext cx="438912" cy="438912"/>
          </a:xfrm>
          <a:prstGeom prst="ellipse">
            <a:avLst/>
          </a:prstGeom>
          <a:solidFill>
            <a:schemeClr val="accent1"/>
          </a:solidFill>
          <a:ln/>
        </p:spPr>
      </p:sp>
      <p:pic>
        <p:nvPicPr>
          <p:cNvPr id="10" name="Image 0" descr="Support certificates">    </p:cNvPr>
          <p:cNvPicPr>
            <a:picLocks noChangeAspect="1"/>
          </p:cNvPicPr>
          <p:nvPr/>
        </p:nvPicPr>
        <p:blipFill>
          <a:blip r:embed="rId1"/>
          <a:stretch>
            <a:fillRect/>
          </a:stretch>
        </p:blipFill>
        <p:spPr>
          <a:xfrm>
            <a:off x="809793" y="2292264"/>
            <a:ext cx="245791" cy="245791"/>
          </a:xfrm>
          <a:prstGeom prst="rect">
            <a:avLst/>
          </a:prstGeom>
        </p:spPr>
      </p:pic>
      <p:sp>
        <p:nvSpPr>
          <p:cNvPr id="11" name="Text 8"/>
          <p:cNvSpPr txBox="1"/>
          <p:nvPr/>
        </p:nvSpPr>
        <p:spPr>
          <a:xfrm>
            <a:off x="1325880" y="1911096"/>
            <a:ext cx="1828800" cy="1008126"/>
          </a:xfrm>
          <a:prstGeom prst="rect">
            <a:avLst/>
          </a:prstGeom>
          <a:noFill/>
          <a:ln/>
        </p:spPr>
        <p:txBody>
          <a:bodyPr wrap="square" lIns="0" tIns="0" rIns="0" bIns="0" rtlCol="0" anchor="ctr"/>
          <a:lstStyle/>
          <a:p>
            <a:pPr indent="0" marL="0">
              <a:buNone/>
            </a:pPr>
            <a:r>
              <a:rPr lang="en-US" sz="1500" b="1" dirty="0">
                <a:solidFill>
                  <a:schemeClr val="tx1"/>
                </a:solidFill>
              </a:rPr>
              <a:t>Support certificates</a:t>
            </a:r>
            <a:endParaRPr lang="en-US" sz="1500" dirty="0"/>
          </a:p>
        </p:txBody>
      </p:sp>
      <p:sp>
        <p:nvSpPr>
          <p:cNvPr id="12" name="Text 9"/>
          <p:cNvSpPr txBox="1"/>
          <p:nvPr/>
        </p:nvSpPr>
        <p:spPr>
          <a:xfrm>
            <a:off x="3383280" y="1911096"/>
            <a:ext cx="3017520" cy="1008126"/>
          </a:xfrm>
          <a:prstGeom prst="rect">
            <a:avLst/>
          </a:prstGeom>
          <a:noFill/>
          <a:ln/>
        </p:spPr>
        <p:txBody>
          <a:bodyPr wrap="square" lIns="0" tIns="0" rIns="0" bIns="0" rtlCol="0" anchor="ctr"/>
          <a:lstStyle/>
          <a:p>
            <a:pPr indent="0" marL="0">
              <a:buNone/>
            </a:pPr>
            <a:r>
              <a:rPr lang="en-US" sz="1400" dirty="0">
                <a:solidFill>
                  <a:schemeClr val="tx1"/>
                </a:solidFill>
              </a:rPr>
              <a:t>Support answers checked and revalidated without recomputing.</a:t>
            </a:r>
            <a:endParaRPr lang="en-US" sz="1400" dirty="0"/>
          </a:p>
        </p:txBody>
      </p:sp>
      <p:sp>
        <p:nvSpPr>
          <p:cNvPr id="13" name="Text 10"/>
          <p:cNvSpPr txBox="1"/>
          <p:nvPr/>
        </p:nvSpPr>
        <p:spPr>
          <a:xfrm>
            <a:off x="6629400" y="1911096"/>
            <a:ext cx="3017520" cy="1008126"/>
          </a:xfrm>
          <a:prstGeom prst="rect">
            <a:avLst/>
          </a:prstGeom>
          <a:noFill/>
          <a:ln/>
        </p:spPr>
        <p:txBody>
          <a:bodyPr wrap="square" lIns="0" tIns="0" rIns="0" bIns="0" rtlCol="0" anchor="ctr"/>
          <a:lstStyle/>
          <a:p>
            <a:pPr indent="0" marL="0">
              <a:buNone/>
            </a:pPr>
            <a:r>
              <a:rPr lang="en-US" sz="1400" dirty="0">
                <a:solidFill>
                  <a:schemeClr val="tx1"/>
                </a:solidFill>
              </a:rPr>
              <a:t>Derivation ranks and closure under every rule prove the least fixpoint.</a:t>
            </a:r>
            <a:endParaRPr lang="en-US" sz="1400" dirty="0"/>
          </a:p>
        </p:txBody>
      </p:sp>
      <p:sp>
        <p:nvSpPr>
          <p:cNvPr id="14" name="Text 11"/>
          <p:cNvSpPr txBox="1"/>
          <p:nvPr/>
        </p:nvSpPr>
        <p:spPr>
          <a:xfrm>
            <a:off x="9875520" y="1911096"/>
            <a:ext cx="1676095" cy="1008126"/>
          </a:xfrm>
          <a:prstGeom prst="rect">
            <a:avLst/>
          </a:prstGeom>
          <a:noFill/>
          <a:ln/>
        </p:spPr>
        <p:txBody>
          <a:bodyPr wrap="square" lIns="0" tIns="0" rIns="0" bIns="0" rtlCol="0" anchor="ctr"/>
          <a:lstStyle/>
          <a:p>
            <a:pPr indent="0" marL="0">
              <a:buNone/>
            </a:pPr>
            <a:r>
              <a:rPr lang="en-US" sz="1200" i="1" dirty="0">
                <a:solidFill>
                  <a:schemeClr val="accent6"/>
                </a:solidFill>
              </a:rPr>
              <a:t>Dowling–Gallier 1984; McConnell et al. 2011</a:t>
            </a:r>
            <a:endParaRPr lang="en-US" sz="1200" dirty="0"/>
          </a:p>
        </p:txBody>
      </p:sp>
      <p:sp>
        <p:nvSpPr>
          <p:cNvPr id="15" name="roadmap k-best paths"/>
          <p:cNvSpPr/>
          <p:nvPr/>
        </p:nvSpPr>
        <p:spPr>
          <a:xfrm>
            <a:off x="548640" y="3010662"/>
            <a:ext cx="11094415" cy="1008126"/>
          </a:xfrm>
          <a:prstGeom prst="roundRect">
            <a:avLst>
              <a:gd name="adj" fmla="val 9070"/>
            </a:avLst>
          </a:prstGeom>
          <a:solidFill>
            <a:schemeClr val="bg2"/>
          </a:solidFill>
          <a:ln/>
        </p:spPr>
      </p:sp>
      <p:sp>
        <p:nvSpPr>
          <p:cNvPr id="16" name="icon k-best paths"/>
          <p:cNvSpPr/>
          <p:nvPr/>
        </p:nvSpPr>
        <p:spPr>
          <a:xfrm>
            <a:off x="713232" y="3295269"/>
            <a:ext cx="438912" cy="438912"/>
          </a:xfrm>
          <a:prstGeom prst="ellipse">
            <a:avLst/>
          </a:prstGeom>
          <a:solidFill>
            <a:schemeClr val="accent1"/>
          </a:solidFill>
          <a:ln/>
        </p:spPr>
      </p:sp>
      <p:pic>
        <p:nvPicPr>
          <p:cNvPr id="17" name="Image 1" descr="k-best paths">    </p:cNvPr>
          <p:cNvPicPr>
            <a:picLocks noChangeAspect="1"/>
          </p:cNvPicPr>
          <p:nvPr/>
        </p:nvPicPr>
        <p:blipFill>
          <a:blip r:embed="rId2"/>
          <a:stretch>
            <a:fillRect/>
          </a:stretch>
        </p:blipFill>
        <p:spPr>
          <a:xfrm>
            <a:off x="809793" y="3391830"/>
            <a:ext cx="245791" cy="245791"/>
          </a:xfrm>
          <a:prstGeom prst="rect">
            <a:avLst/>
          </a:prstGeom>
        </p:spPr>
      </p:pic>
      <p:sp>
        <p:nvSpPr>
          <p:cNvPr id="18" name="Text 14"/>
          <p:cNvSpPr txBox="1"/>
          <p:nvPr/>
        </p:nvSpPr>
        <p:spPr>
          <a:xfrm>
            <a:off x="1325880" y="3010662"/>
            <a:ext cx="1828800" cy="1008126"/>
          </a:xfrm>
          <a:prstGeom prst="rect">
            <a:avLst/>
          </a:prstGeom>
          <a:noFill/>
          <a:ln/>
        </p:spPr>
        <p:txBody>
          <a:bodyPr wrap="square" lIns="0" tIns="0" rIns="0" bIns="0" rtlCol="0" anchor="ctr"/>
          <a:lstStyle/>
          <a:p>
            <a:pPr indent="0" marL="0">
              <a:buNone/>
            </a:pPr>
            <a:r>
              <a:rPr lang="en-US" sz="1500" b="1" dirty="0">
                <a:solidFill>
                  <a:schemeClr val="tx1"/>
                </a:solidFill>
              </a:rPr>
              <a:t>k-best paths</a:t>
            </a:r>
            <a:endParaRPr lang="en-US" sz="1500" dirty="0"/>
          </a:p>
        </p:txBody>
      </p:sp>
      <p:sp>
        <p:nvSpPr>
          <p:cNvPr id="19" name="Text 15"/>
          <p:cNvSpPr txBox="1"/>
          <p:nvPr/>
        </p:nvSpPr>
        <p:spPr>
          <a:xfrm>
            <a:off x="3383280" y="3010662"/>
            <a:ext cx="3017520" cy="1008126"/>
          </a:xfrm>
          <a:prstGeom prst="rect">
            <a:avLst/>
          </a:prstGeom>
          <a:noFill/>
          <a:ln/>
        </p:spPr>
        <p:txBody>
          <a:bodyPr wrap="square" lIns="0" tIns="0" rIns="0" bIns="0" rtlCol="0" anchor="ctr"/>
          <a:lstStyle/>
          <a:p>
            <a:pPr indent="0" marL="0">
              <a:buNone/>
            </a:pPr>
            <a:r>
              <a:rPr lang="en-US" sz="1400" dirty="0">
                <a:solidFill>
                  <a:schemeClr val="tx1"/>
                </a:solidFill>
              </a:rPr>
              <a:t>Alternative routes and explanations, not only one optimum.</a:t>
            </a:r>
            <a:endParaRPr lang="en-US" sz="1400" dirty="0"/>
          </a:p>
        </p:txBody>
      </p:sp>
      <p:sp>
        <p:nvSpPr>
          <p:cNvPr id="20" name="Text 16"/>
          <p:cNvSpPr txBox="1"/>
          <p:nvPr/>
        </p:nvSpPr>
        <p:spPr>
          <a:xfrm>
            <a:off x="6629400" y="3010662"/>
            <a:ext cx="3017520" cy="1008126"/>
          </a:xfrm>
          <a:prstGeom prst="rect">
            <a:avLst/>
          </a:prstGeom>
          <a:noFill/>
          <a:ln/>
        </p:spPr>
        <p:txBody>
          <a:bodyPr wrap="square" lIns="0" tIns="0" rIns="0" bIns="0" rtlCol="0" anchor="ctr"/>
          <a:lstStyle/>
          <a:p>
            <a:pPr indent="0" marL="0">
              <a:buNone/>
            </a:pPr>
            <a:r>
              <a:rPr lang="en-US" sz="1400" dirty="0">
                <a:solidFill>
                  <a:schemeClr val="tx1"/>
                </a:solidFill>
              </a:rPr>
              <a:t>Path witnesses; a deviation partition with potentials proves the first k.</a:t>
            </a:r>
            <a:endParaRPr lang="en-US" sz="1400" dirty="0"/>
          </a:p>
        </p:txBody>
      </p:sp>
      <p:sp>
        <p:nvSpPr>
          <p:cNvPr id="21" name="Text 17"/>
          <p:cNvSpPr txBox="1"/>
          <p:nvPr/>
        </p:nvSpPr>
        <p:spPr>
          <a:xfrm>
            <a:off x="9875520" y="3010662"/>
            <a:ext cx="1676095" cy="1008126"/>
          </a:xfrm>
          <a:prstGeom prst="rect">
            <a:avLst/>
          </a:prstGeom>
          <a:noFill/>
          <a:ln/>
        </p:spPr>
        <p:txBody>
          <a:bodyPr wrap="square" lIns="0" tIns="0" rIns="0" bIns="0" rtlCol="0" anchor="ctr"/>
          <a:lstStyle/>
          <a:p>
            <a:pPr indent="0" marL="0">
              <a:buNone/>
            </a:pPr>
            <a:r>
              <a:rPr lang="en-US" sz="1200" i="1" dirty="0">
                <a:solidFill>
                  <a:schemeClr val="accent6"/>
                </a:solidFill>
              </a:rPr>
              <a:t>Yen 1971 (k shortest simple paths)</a:t>
            </a:r>
            <a:endParaRPr lang="en-US" sz="1200" dirty="0"/>
          </a:p>
        </p:txBody>
      </p:sp>
      <p:sp>
        <p:nvSpPr>
          <p:cNvPr id="22" name="roadmap Pattern query planning"/>
          <p:cNvSpPr/>
          <p:nvPr/>
        </p:nvSpPr>
        <p:spPr>
          <a:xfrm>
            <a:off x="548640" y="4110228"/>
            <a:ext cx="11094415" cy="1008126"/>
          </a:xfrm>
          <a:prstGeom prst="roundRect">
            <a:avLst>
              <a:gd name="adj" fmla="val 9070"/>
            </a:avLst>
          </a:prstGeom>
          <a:solidFill>
            <a:schemeClr val="bg2"/>
          </a:solidFill>
          <a:ln/>
        </p:spPr>
      </p:sp>
      <p:sp>
        <p:nvSpPr>
          <p:cNvPr id="23" name="icon Pattern query planning"/>
          <p:cNvSpPr/>
          <p:nvPr/>
        </p:nvSpPr>
        <p:spPr>
          <a:xfrm>
            <a:off x="713232" y="4394835"/>
            <a:ext cx="438912" cy="438912"/>
          </a:xfrm>
          <a:prstGeom prst="ellipse">
            <a:avLst/>
          </a:prstGeom>
          <a:solidFill>
            <a:schemeClr val="accent1"/>
          </a:solidFill>
          <a:ln/>
        </p:spPr>
      </p:sp>
      <p:pic>
        <p:nvPicPr>
          <p:cNvPr id="24" name="Image 2" descr="Pattern query planning">    </p:cNvPr>
          <p:cNvPicPr>
            <a:picLocks noChangeAspect="1"/>
          </p:cNvPicPr>
          <p:nvPr/>
        </p:nvPicPr>
        <p:blipFill>
          <a:blip r:embed="rId3"/>
          <a:stretch>
            <a:fillRect/>
          </a:stretch>
        </p:blipFill>
        <p:spPr>
          <a:xfrm>
            <a:off x="809793" y="4491396"/>
            <a:ext cx="245791" cy="245791"/>
          </a:xfrm>
          <a:prstGeom prst="rect">
            <a:avLst/>
          </a:prstGeom>
        </p:spPr>
      </p:pic>
      <p:sp>
        <p:nvSpPr>
          <p:cNvPr id="25" name="Text 20"/>
          <p:cNvSpPr txBox="1"/>
          <p:nvPr/>
        </p:nvSpPr>
        <p:spPr>
          <a:xfrm>
            <a:off x="1325880" y="4110228"/>
            <a:ext cx="1828800" cy="1008126"/>
          </a:xfrm>
          <a:prstGeom prst="rect">
            <a:avLst/>
          </a:prstGeom>
          <a:noFill/>
          <a:ln/>
        </p:spPr>
        <p:txBody>
          <a:bodyPr wrap="square" lIns="0" tIns="0" rIns="0" bIns="0" rtlCol="0" anchor="ctr"/>
          <a:lstStyle/>
          <a:p>
            <a:pPr indent="0" marL="0">
              <a:buNone/>
            </a:pPr>
            <a:r>
              <a:rPr lang="en-US" sz="1500" b="1" dirty="0">
                <a:solidFill>
                  <a:schemeClr val="tx1"/>
                </a:solidFill>
              </a:rPr>
              <a:t>Pattern query planning</a:t>
            </a:r>
            <a:endParaRPr lang="en-US" sz="1500" dirty="0"/>
          </a:p>
        </p:txBody>
      </p:sp>
      <p:sp>
        <p:nvSpPr>
          <p:cNvPr id="26" name="Text 21"/>
          <p:cNvSpPr txBox="1"/>
          <p:nvPr/>
        </p:nvSpPr>
        <p:spPr>
          <a:xfrm>
            <a:off x="3383280" y="4110228"/>
            <a:ext cx="3017520" cy="1008126"/>
          </a:xfrm>
          <a:prstGeom prst="rect">
            <a:avLst/>
          </a:prstGeom>
          <a:noFill/>
          <a:ln/>
        </p:spPr>
        <p:txBody>
          <a:bodyPr wrap="square" lIns="0" tIns="0" rIns="0" bIns="0" rtlCol="0" anchor="ctr"/>
          <a:lstStyle/>
          <a:p>
            <a:pPr indent="0" marL="0">
              <a:buNone/>
            </a:pPr>
            <a:r>
              <a:rPr lang="en-US" sz="1400" dirty="0">
                <a:solidFill>
                  <a:schemeClr val="tx1"/>
                </a:solidFill>
              </a:rPr>
              <a:t>Start the semi-join reduction from the most selective variable.</a:t>
            </a:r>
            <a:endParaRPr lang="en-US" sz="1400" dirty="0"/>
          </a:p>
        </p:txBody>
      </p:sp>
      <p:sp>
        <p:nvSpPr>
          <p:cNvPr id="27" name="Text 22"/>
          <p:cNvSpPr txBox="1"/>
          <p:nvPr/>
        </p:nvSpPr>
        <p:spPr>
          <a:xfrm>
            <a:off x="6629400" y="4110228"/>
            <a:ext cx="3017520" cy="1008126"/>
          </a:xfrm>
          <a:prstGeom prst="rect">
            <a:avLst/>
          </a:prstGeom>
          <a:noFill/>
          <a:ln/>
        </p:spPr>
        <p:txBody>
          <a:bodyPr wrap="square" lIns="0" tIns="0" rIns="0" bIns="0" rtlCol="0" anchor="ctr"/>
          <a:lstStyle/>
          <a:p>
            <a:pPr indent="0" marL="0">
              <a:buNone/>
            </a:pPr>
            <a:r>
              <a:rPr lang="en-US" sz="1400" dirty="0">
                <a:solidFill>
                  <a:schemeClr val="tx1"/>
                </a:solidFill>
              </a:rPr>
              <a:t>The same answers; the work statistics, part of result_id, change.</a:t>
            </a:r>
            <a:endParaRPr lang="en-US" sz="1400" dirty="0"/>
          </a:p>
        </p:txBody>
      </p:sp>
      <p:sp>
        <p:nvSpPr>
          <p:cNvPr id="28" name="Text 23"/>
          <p:cNvSpPr txBox="1"/>
          <p:nvPr/>
        </p:nvSpPr>
        <p:spPr>
          <a:xfrm>
            <a:off x="9875520" y="4110228"/>
            <a:ext cx="1676095" cy="1008126"/>
          </a:xfrm>
          <a:prstGeom prst="rect">
            <a:avLst/>
          </a:prstGeom>
          <a:noFill/>
          <a:ln/>
        </p:spPr>
        <p:txBody>
          <a:bodyPr wrap="square" lIns="0" tIns="0" rIns="0" bIns="0" rtlCol="0" anchor="ctr"/>
          <a:lstStyle/>
          <a:p>
            <a:pPr indent="0" marL="0">
              <a:buNone/>
            </a:pPr>
            <a:r>
              <a:rPr lang="en-US" sz="1200" i="1" dirty="0">
                <a:solidFill>
                  <a:schemeClr val="accent6"/>
                </a:solidFill>
              </a:rPr>
              <a:t>Selinger et al. 1979 (access paths)</a:t>
            </a:r>
            <a:endParaRPr lang="en-US" sz="1200" dirty="0"/>
          </a:p>
        </p:txBody>
      </p:sp>
      <p:sp>
        <p:nvSpPr>
          <p:cNvPr id="29" name="roadmap Incremental repair"/>
          <p:cNvSpPr/>
          <p:nvPr/>
        </p:nvSpPr>
        <p:spPr>
          <a:xfrm>
            <a:off x="548640" y="5209794"/>
            <a:ext cx="11094415" cy="1008126"/>
          </a:xfrm>
          <a:prstGeom prst="roundRect">
            <a:avLst>
              <a:gd name="adj" fmla="val 9070"/>
            </a:avLst>
          </a:prstGeom>
          <a:solidFill>
            <a:schemeClr val="bg2"/>
          </a:solidFill>
          <a:ln/>
        </p:spPr>
      </p:sp>
      <p:sp>
        <p:nvSpPr>
          <p:cNvPr id="30" name="icon Incremental repair"/>
          <p:cNvSpPr/>
          <p:nvPr/>
        </p:nvSpPr>
        <p:spPr>
          <a:xfrm>
            <a:off x="713232" y="5494401"/>
            <a:ext cx="438912" cy="438912"/>
          </a:xfrm>
          <a:prstGeom prst="ellipse">
            <a:avLst/>
          </a:prstGeom>
          <a:solidFill>
            <a:schemeClr val="accent1"/>
          </a:solidFill>
          <a:ln/>
        </p:spPr>
      </p:sp>
      <p:pic>
        <p:nvPicPr>
          <p:cNvPr id="31" name="Image 3" descr="Incremental repair">    </p:cNvPr>
          <p:cNvPicPr>
            <a:picLocks noChangeAspect="1"/>
          </p:cNvPicPr>
          <p:nvPr/>
        </p:nvPicPr>
        <p:blipFill>
          <a:blip r:embed="rId4"/>
          <a:stretch>
            <a:fillRect/>
          </a:stretch>
        </p:blipFill>
        <p:spPr>
          <a:xfrm>
            <a:off x="809793" y="5590962"/>
            <a:ext cx="245791" cy="245791"/>
          </a:xfrm>
          <a:prstGeom prst="rect">
            <a:avLst/>
          </a:prstGeom>
        </p:spPr>
      </p:pic>
      <p:sp>
        <p:nvSpPr>
          <p:cNvPr id="32" name="Text 26"/>
          <p:cNvSpPr txBox="1"/>
          <p:nvPr/>
        </p:nvSpPr>
        <p:spPr>
          <a:xfrm>
            <a:off x="1325880" y="5209794"/>
            <a:ext cx="1828800" cy="1008126"/>
          </a:xfrm>
          <a:prstGeom prst="rect">
            <a:avLst/>
          </a:prstGeom>
          <a:noFill/>
          <a:ln/>
        </p:spPr>
        <p:txBody>
          <a:bodyPr wrap="square" lIns="0" tIns="0" rIns="0" bIns="0" rtlCol="0" anchor="ctr"/>
          <a:lstStyle/>
          <a:p>
            <a:pPr indent="0" marL="0">
              <a:buNone/>
            </a:pPr>
            <a:r>
              <a:rPr lang="en-US" sz="1500" b="1" dirty="0">
                <a:solidFill>
                  <a:schemeClr val="tx1"/>
                </a:solidFill>
              </a:rPr>
              <a:t>Incremental repair</a:t>
            </a:r>
            <a:endParaRPr lang="en-US" sz="1500" dirty="0"/>
          </a:p>
        </p:txBody>
      </p:sp>
      <p:sp>
        <p:nvSpPr>
          <p:cNvPr id="33" name="Text 27"/>
          <p:cNvSpPr txBox="1"/>
          <p:nvPr/>
        </p:nvSpPr>
        <p:spPr>
          <a:xfrm>
            <a:off x="3383280" y="5209794"/>
            <a:ext cx="3017520" cy="1008126"/>
          </a:xfrm>
          <a:prstGeom prst="rect">
            <a:avLst/>
          </a:prstGeom>
          <a:noFill/>
          <a:ln/>
        </p:spPr>
        <p:txBody>
          <a:bodyPr wrap="square" lIns="0" tIns="0" rIns="0" bIns="0" rtlCol="0" anchor="ctr"/>
          <a:lstStyle/>
          <a:p>
            <a:pPr indent="0" marL="0">
              <a:buNone/>
            </a:pPr>
            <a:r>
              <a:rPr lang="en-US" sz="1400" dirty="0">
                <a:solidFill>
                  <a:schemeClr val="tx1"/>
                </a:solidFill>
              </a:rPr>
              <a:t>Repair cached answers that revalidation finds broken.</a:t>
            </a:r>
            <a:endParaRPr lang="en-US" sz="1400" dirty="0"/>
          </a:p>
        </p:txBody>
      </p:sp>
      <p:sp>
        <p:nvSpPr>
          <p:cNvPr id="34" name="Text 28"/>
          <p:cNvSpPr txBox="1"/>
          <p:nvPr/>
        </p:nvSpPr>
        <p:spPr>
          <a:xfrm>
            <a:off x="6629400" y="5209794"/>
            <a:ext cx="3017520" cy="1008126"/>
          </a:xfrm>
          <a:prstGeom prst="rect">
            <a:avLst/>
          </a:prstGeom>
          <a:noFill/>
          <a:ln/>
        </p:spPr>
        <p:txBody>
          <a:bodyPr wrap="square" lIns="0" tIns="0" rIns="0" bIns="0" rtlCol="0" anchor="ctr"/>
          <a:lstStyle/>
          <a:p>
            <a:pPr indent="0" marL="0">
              <a:buNone/>
            </a:pPr>
            <a:r>
              <a:rPr lang="en-US" sz="1400" dirty="0">
                <a:solidFill>
                  <a:schemeClr val="tx1"/>
                </a:solidFill>
              </a:rPr>
              <a:t>A fresh answer with an ordinary certificate on the new projection.</a:t>
            </a:r>
            <a:endParaRPr lang="en-US" sz="1400" dirty="0"/>
          </a:p>
        </p:txBody>
      </p:sp>
      <p:sp>
        <p:nvSpPr>
          <p:cNvPr id="35" name="Text 29"/>
          <p:cNvSpPr txBox="1"/>
          <p:nvPr/>
        </p:nvSpPr>
        <p:spPr>
          <a:xfrm>
            <a:off x="9875520" y="5209794"/>
            <a:ext cx="1676095" cy="1008126"/>
          </a:xfrm>
          <a:prstGeom prst="rect">
            <a:avLst/>
          </a:prstGeom>
          <a:noFill/>
          <a:ln/>
        </p:spPr>
        <p:txBody>
          <a:bodyPr wrap="square" lIns="0" tIns="0" rIns="0" bIns="0" rtlCol="0" anchor="ctr"/>
          <a:lstStyle/>
          <a:p>
            <a:pPr indent="0" marL="0">
              <a:buNone/>
            </a:pPr>
            <a:r>
              <a:rPr lang="en-US" sz="1200" i="1" dirty="0">
                <a:solidFill>
                  <a:schemeClr val="accent6"/>
                </a:solidFill>
              </a:rPr>
              <a:t>Gupta et al. 1993; Ramalingam–Reps 1996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DAG critical paths, d-separation, minimum spanning forests, cycle bases, Datalog, Katz intervals, bidirectional search, factorized pattern answers.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Nineteen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2026-10-26T15:46:32Z</dcterms:created>
  <dcterms:modified xsi:type="dcterms:W3CDTF">2026-10-26T15:46:32Z</dcterms:modified>
</cp:coreProperties>
</file>