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0099c091-0a84-b4c6-2f33-f4d90bbef99a}">
          <p14:sldIdLst>
            <p14:sldId id="256"/>
            <p14:sldId id="257"/>
            <p14:sldId id="258"/>
          </p14:sldIdLst>
        </p14:section>
        <p14:section name="Architecture" id="{487ef9f8-6ad3-7994-5f92-178f8dc7b55e}">
          <p14:sldIdLst>
            <p14:sldId id="259"/>
            <p14:sldId id="260"/>
            <p14:sldId id="261"/>
          </p14:sldIdLst>
        </p14:section>
        <p14:section name="Operations" id="{6f2ce8d7-f5e6-1ed1-f59b-8c5f897d3c2a}">
          <p14:sldIdLst>
            <p14:sldId id="262"/>
            <p14:sldId id="263"/>
            <p14:sldId id="264"/>
            <p14:sldId id="265"/>
            <p14:sldId id="266"/>
            <p14:sldId id="267"/>
            <p14:sldId id="268"/>
            <p14:sldId id="269"/>
            <p14:sldId id="270"/>
            <p14:sldId id="271"/>
            <p14:sldId id="272"/>
            <p14:sldId id="273"/>
            <p14:sldId id="274"/>
            <p14:sldId id="275"/>
            <p14:sldId id="276"/>
            <p14:sldId id="277"/>
          </p14:sldIdLst>
        </p14:section>
        <p14:section name="Trust and results" id="{4ddf571b-df22-e72d-f38f-9197978ecb93}">
          <p14:sldIdLst>
            <p14:sldId id="278"/>
            <p14:sldId id="279"/>
            <p14:sldId id="280"/>
            <p14:sldId id="281"/>
            <p14:sldId id="282"/>
          </p14:sldIdLst>
        </p14:section>
        <p14:section name="Development" id="{394e5d1a-b996-0b0c-fc5a-f6f4af024b3c}">
          <p14:sldIdLst>
            <p14:sldId id="283"/>
          </p14:sldIdLst>
        </p14:section>
        <p14:section name="Roadmap" id="{a28e149e-5606-a829-115b-eb0b8baa0da5}">
          <p14:sldIdLst>
            <p14:sldId id="284"/>
            <p14:sldId id="285"/>
          </p14:sldIdLst>
        </p14:section>
        <p14:section name="Close" id="{0359bf8d-f165-d08c-caa6-929c1236a2d0}">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Sheet1!$A$2:$A$16</c:f>
              <c:multiLvlStrCache>
                <c:ptCount val="15"/>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pt idx="13">
                    <c:v>Transitive closure</c:v>
                  </c:pt>
                  <c:pt idx="14">
                    <c:v>Isomorphism</c:v>
                  </c:pt>
                </c:lvl>
              </c:multiLvlStrCache>
            </c:multiLvlStrRef>
          </c:cat>
          <c:val>
            <c:numRef>
              <c:f>Sheet1!$B$2:$B$16</c:f>
              <c:numCache>
                <c:formatCode>General</c:formatCode>
                <c:ptCount val="15"/>
                <c:pt idx="0">
                  <c:v>0.38</c:v>
                </c:pt>
                <c:pt idx="1">
                  <c:v>0.57</c:v>
                </c:pt>
                <c:pt idx="2">
                  <c:v>4.5</c:v>
                </c:pt>
                <c:pt idx="3">
                  <c:v>0.61</c:v>
                </c:pt>
                <c:pt idx="4">
                  <c:v>2.5</c:v>
                </c:pt>
                <c:pt idx="5">
                  <c:v>0.25</c:v>
                </c:pt>
                <c:pt idx="6">
                  <c:v>0.65</c:v>
                </c:pt>
                <c:pt idx="7">
                  <c:v>0.67</c:v>
                </c:pt>
                <c:pt idx="8">
                  <c:v>0.1</c:v>
                </c:pt>
                <c:pt idx="9">
                  <c:v>0.05</c:v>
                </c:pt>
                <c:pt idx="10">
                  <c:v>0.89</c:v>
                </c:pt>
                <c:pt idx="11">
                  <c:v>3.07</c:v>
                </c:pt>
                <c:pt idx="12">
                  <c:v>1.2</c:v>
                </c:pt>
                <c:pt idx="13">
                  <c:v>1.6</c:v>
                </c:pt>
                <c:pt idx="14">
                  <c:v>0.05</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Sheet1!$A$2:$A$16</c:f>
              <c:multiLvlStrCache>
                <c:ptCount val="15"/>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pt idx="13">
                    <c:v>Transitive closure</c:v>
                  </c:pt>
                  <c:pt idx="14">
                    <c:v>Isomorphism</c:v>
                  </c:pt>
                </c:lvl>
              </c:multiLvlStrCache>
            </c:multiLvlStrRef>
          </c:cat>
          <c:val>
            <c:numRef>
              <c:f>Sheet1!$C$2:$C$16</c:f>
              <c:numCache>
                <c:formatCode>General</c:formatCode>
                <c:ptCount val="15"/>
                <c:pt idx="0">
                  <c:v>0.34</c:v>
                </c:pt>
                <c:pt idx="1">
                  <c:v>0.36</c:v>
                </c:pt>
                <c:pt idx="2">
                  <c:v>6.4</c:v>
                </c:pt>
                <c:pt idx="3">
                  <c:v>4.25</c:v>
                </c:pt>
                <c:pt idx="4">
                  <c:v>2.1</c:v>
                </c:pt>
                <c:pt idx="5">
                  <c:v>0.81</c:v>
                </c:pt>
                <c:pt idx="6">
                  <c:v>0.93</c:v>
                </c:pt>
                <c:pt idx="7">
                  <c:v>0.26</c:v>
                </c:pt>
                <c:pt idx="8">
                  <c:v>0.13</c:v>
                </c:pt>
                <c:pt idx="9">
                  <c:v>0.54</c:v>
                </c:pt>
                <c:pt idx="10">
                  <c:v>0.92</c:v>
                </c:pt>
                <c:pt idx="11">
                  <c:v>0.3</c:v>
                </c:pt>
                <c:pt idx="12">
                  <c:v>1.6</c:v>
                </c:pt>
                <c:pt idx="13">
                  <c:v>0.46</c:v>
                </c:pt>
                <c:pt idx="14">
                  <c:v>0.76</c:v>
                </c:pt>
              </c:numCache>
            </c:numRef>
          </c:val>
        </c:ser>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gapWidth val="2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Sheet1!$A$2:$A$31</c:f>
              <c:multiLvlStrCache>
                <c:ptCount val="30"/>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pt idx="19">
                    <c:v>neg. costs</c:v>
                  </c:pt>
                  <c:pt idx="20">
                    <c:v>injective</c:v>
                  </c:pt>
                  <c:pt idx="21">
                    <c:v>forest</c:v>
                  </c:pt>
                  <c:pt idx="22">
                    <c:v>rings</c:v>
                  </c:pt>
                  <c:pt idx="23">
                    <c:v>wt. match.</c:v>
                  </c:pt>
                  <c:pt idx="24">
                    <c:v>k paths</c:v>
                  </c:pt>
                  <c:pt idx="25">
                    <c:v>min-cost</c:v>
                  </c:pt>
                  <c:pt idx="26">
                    <c:v>cyc. count</c:v>
                  </c:pt>
                  <c:pt idx="27">
                    <c:v>pairs</c:v>
                  </c:pt>
                  <c:pt idx="28">
                    <c:v>datalog</c:v>
                  </c:pt>
                  <c:pt idx="29">
                    <c:v>isomorph.</c:v>
                  </c:pt>
                </c:lvl>
              </c:multiLvlStrCache>
            </c:multiLvlStrRef>
          </c:cat>
          <c:val>
            <c:numRef>
              <c:f>Sheet1!$B$2:$B$31</c:f>
              <c:numCache>
                <c:formatCode>General</c:formatCode>
                <c:ptCount val="30"/>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pt idx="19">
                  <c:v>173</c:v>
                </c:pt>
                <c:pt idx="20">
                  <c:v>176</c:v>
                </c:pt>
                <c:pt idx="21">
                  <c:v>180</c:v>
                </c:pt>
                <c:pt idx="22">
                  <c:v>182</c:v>
                </c:pt>
                <c:pt idx="23">
                  <c:v>183</c:v>
                </c:pt>
                <c:pt idx="24">
                  <c:v>185</c:v>
                </c:pt>
                <c:pt idx="25">
                  <c:v>188</c:v>
                </c:pt>
                <c:pt idx="26">
                  <c:v>195</c:v>
                </c:pt>
                <c:pt idx="27">
                  <c:v>199</c:v>
                </c:pt>
                <c:pt idx="28">
                  <c:v>204</c:v>
                </c:pt>
                <c:pt idx="29">
                  <c:v>209</c:v>
                </c:pt>
              </c:numCache>
            </c:numRef>
          </c:val>
          <c:smooth val="0"/>
        </c:ser>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5400000"/>
          <a:lstStyle/>
          <a:p>
            <a:pPr>
              <a:defRPr sz="1000" b="0" i="0" u="none" strike="noStrike">
                <a:solidFill>
                  <a:srgbClr val="1A2421"/>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27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(and its Negative costs paragraph); §6; src/graph_runtime/engine.py (_search_signed, _answer_signed); tests/test_negative_costs.py; git log 97723bb.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least-cost walk from a source to a target, costs of any sign (signed energies). A negative cycle on the way leaves no optimum. Algorithm: Dijkstra if no cost is negative; else Bellman-Ford-Moore with Tarjan's subtree disassembly, over the nodes between sources and targets. Certificate proves: Potentials prove an optimum (with the dead ends if a cost is negative); three walks, a negative cycle; a closure, no path. Costs are exact: integers, or rationals held as scaled integers. Non-negative requests are answered exactly as before, by Dijkstra's algorithm; its potentials also prove an interrupted search's lower bound. With any negative cost (docs/API_CONTRACT.md §4, Negative costs; engine.py _search_signed and _answer_signed): Bellman-Ford-Moore, first in first out, with Tarjan's subtree disassembly (Tarjan, 1981; Cherkassky and Goldberg, 1999), run only over the live nodes, those reachable from a source that can reach a target, so a negative cycle among the dead ends changes nothing. Outcomes: an optimum whose witness is the fewest-hop least-cost walk (breadth-first over the hops tight under the least costs, so it does not depend on the order of the search); or a negative cycle on a walk from a source to a target, reported as three walks (lead_in, the cycle with its negative cost, lead_out) that the verifier checks; a complete negative keeps its closure certificate; an interrupted search claims no lower bound. Certificate feasible_potentials: the least costs of the live nodes and the dead ends; every hop from a listed node goes to a dead end or to a listed node at most its cost above, dead ends are closed, sources sit at or below 0 and targets at or above the bound. Typical use: exergonic steps and signed energies in reaction networks. Tests: tests/test_negative_costs.py (1,500 random graphs against an independent fixpoint oracle, forged proofs rejected, revalidation against fresh runs); 5 hand-worked conformance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K shortest paths; §6; tests/test_k_shortest_paths.py; git log ae48035, f65497b, ffd474a.
bottleneck_path: Fastest rate-limiting step, lowest barrier. Theory: The path whose weakest edge is strongest (max_min: rates) or highest edge lowest (min_max: barriers); fewest hops among those. Algorithm: Settle nodes best value first, as Dijkstra settles costs; then a breadth-first search over hops as good finds the fewest hops. Certificate proves: Threshold: what the sources reach by strictly better hops is closed and holds no target. A closure proves a negative. max_min, e.g. rates: the fastest rate-limiting step; min_max, e.g. barriers: the lowest highest barrier. Weights are compared, never added. The breadth-first search runs over the hops at least as good as the value. Certificate: what the sources reach by hops strictly better than the value is closed and holds no target, so no path is better.
regular_path: Walks matching a regular expression. Theory: Regular path queries (Mendelzon and Wood, 1995), as SPARQL property paths and GQL write them: DERIVED_FROM*/SUPPORTED_BY Algorithm: Breadth-first search over the graph times the expression's Glushkov automaton: one fewest-hop walk, or every node reached. Certificate proves: Closed product states below a bound prove the fewest hops, a negative or a reached set. The verifier builds its own automaton. A fuller expression: DERIVED_FROM*/SUPPORTED_BY[Measurement]/IN. The search runs over the product of the graph and the expression's Glushkov automaton. Closed product states below a bound prove the fewest hops, a negative or a complete reached set.
k_shortest_paths: Alternatives: the first k simple paths. Theory: Alternative pathways, backup routes: k simple paths ranked by cost, hops, then IDs, so ties have one order and parallel edges differ. Algorithm: Yen (1971) with Lawler's rule: spur only from where a path left its parent; each least path a Dijkstra search on the full order. Checked by: Each path is a witness a checker confirms. The ranking is Yen's theorem, tested on 700 random cases: not certified or revalidated. docs/API_CONTRACT.md §4, K shortest paths: a path visits no node twice; other sources and targets may lie on it, and a source that is a target is a path of no hops. Costs as for shortest paths, non-negative and exact; without costs every hop costs 1. The order: cost, then hops, then the start node's ID and the sequence of edge IDs. Yen's algorithm: for each accepted path and each of its nodes, the least path that keeps the hops before that spur node, avoids the nodes before it, and leaves it neither by a hop nor by stopping that an accepted path with the same root took is a candidate; stopping is one more way to leave a spur node, so paths that end at a target on the way, or go on past one, are found. A virtual start before the sources makes several sources one problem. Lawler's rule spurs only from where a path left its parent, and searches stop at the key of the last candidate that could still be listed. Each least path is Dijkstra's search on the full key, which extending a path preserves. exhausted is true when fewer than k simple paths exist, false when k are listed, null when interrupted; an interrupted search lists a prefix of the order. The ranking is not certified, so revalidation answers unknown (not_certified). A Codex adversarial review found that settled keys kept every edge-ID prefix, quadratic on a long path (248 MiB on an 8,000-node chain), and that the contract reader accepted a misordered or repeated list; settled labels are now released and the contract checks the order, with regressions. Tests (tests/test_k_shortest_paths.py): 700 random cases (several sources and targets, ties, zero costs, both scope directions) list exactly the brute force's first k; networkx's shortest_simple_paths agrees on costs; forgeries are refused; interruptions list a prefix of the order; 2 hand-worked conformance cases. Benchmark (git log ffd474a): 2,000 nodes and 10,000 edges, k = 50, 0.32 s (networkx 0.18 s); 20,000 nodes and 100,000 edges, k = 20, 3.07 s (networkx 0.30 s, with bidirectional searches that the strict tie order does not allow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between pairs; §6; §7; src/graph_runtime/reachindex.py; tests/test_reachability_pairs.py; git log 61dff27; the increment's benchmark run on the owner's machine, other processes running.
reachability_pairs: Whether each source reaches its target. Theory: A 2-hop index (Cohen, Halperin, Kaplan and Zwick, 2003), for checks asked again and again of one projection: each node keeps the hubs it reaches and the hubs that reach it; a source reaches a target exactly when the two labels share a hub. Algorithm: Pruned landmark labelling (Akiba, Iwata and Yoshida; Yano et al., 2013), hubs by (in-degree + 1)(out-degree + 1); a pair reads the smaller of its two labels. Kept on the projection, yet every request pays its full cost: a kept index changes only the time. Proven by: A simple path per reachable pair: label pointers through the first common hub, loops cut, every hop charged. On request, each unreachable pair's source carries its closure, checked from the records. docs/API_CONTRACT.md §4, Reachability between pairs: many (source, target) questions at once, as provenance checks and dependency questions asked again and again of one projection; a node reaches itself by the empty walk. The index is a function of the projection and the scope: built once, kept on the projection (in memory, the last four scopes), and every request is charged its full cost, one expansion per node whose hops it reads and one per label entry, cold or warm, so a kept index changes nothing but the time: the same result_id, stats and status for every budget, and a budget smaller than the index is exhausted the same way both times. A deadline or cancellation that stops the building keeps nothing. Each pair then costs one expansion plus one per entry of the smaller label, and, for a witness, one per hop of the walk through the hub, charged before each hop is followed. An interruption keeps a prefix of the pairs, each decided. With certificate: true, each source of an unreachable pair gets its closure (every node it reaches: holds the source, not the target, and no hop in scope leaves it), which the verifier checks from the records. Revalidation (§7) needs both proofs: a closure proves only negatives, so a reachable pair asked for without its witness leaves the answer unknown (no_certificate). A Codex adversarial review (three passes; the third approved with no findings) found, each fixed with a regression: revalidation holding witness-free positives on a closure certificate; hop lists read before the first budget check; unbounded per-scope index caching; quadratic closure verification (twice); witness walks charged only after the fact. Tests (tests/test_reachability_pairs.py): 600 random graphs against networkx descendants, each answer verified; 12 larger graphs; a kept index gives the same result as a new one (150 cases); interrupted answers list decided pairs in order (300); forgeries refused; revalidation agrees with fresh runs (300); 4 hand-worked conformance cases on G24. Benchmarks (owner's machine, other processes running; git log 61dff27): a random graph of 100,000 nodes and 300,000 edges, 10,000 pairs, 1.2 s with the build, 0.33 s with the index kept, networkx has_path 1.6 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but networkx 0.1 s, since random pairs there are almost never reachable and reach sets are small. The index pays when it is reused, or when reach sets are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Datalog; §6; §7; src/graph_runtime/datalog.py; tests/test_datalog.py; the conformance case datalog-transitive-closure on G24, run on the runtime at 61cabb1; git log 61cabb1, its benchmark run on the owner's machine.
datalog: Recursive rules over the records, each fact proven. Theory: A positive, function-free, range-restricted program over the records: node(N), type(N, T) with the type hierarchy, edge(E, S, T, R) with every relation above R. Its meaning is the least model, the smallest set of facts closed under every rule (Abiteboul, Hull and Vianu, 1995). Algorithm: Semi-naive evaluation (Bancilhon, 1986), predicate components in dependency order: each round joins at least one fact the last round found. Joins run most-bound-first on indexes; facts and derivations do not depend on the hash seed. Certificate proves: Each fact keeps one derivation, its rule and premises, at a rank above theirs: a well-founded proof checked in its size. On request, the whole least model, which the verifier proves closed under every rule. docs/API_CONTRACT.md §4, Datalog: rules that derive facts from the records, recursively: provenance closures, lineage, "supported through a dataset", any question that is a fixpoint of joins. A program is a list of rules, head :- body, each atom a predicate over terms: a variable "?x", or a constant. It is positive (no negation), function-free and range-restricted (every variable of a head occurs in its body; a rule without a body states a ground fact), so its meaning is its least model (Abiteboul, Hull and Vianu, 1995). The inputs are the records: node(N) for every node; type(N, T) for every type a node has, its declared types' ancestors included; edge(E, S, T, R) for every edge E from S to T, for its relation and every relation above it. A rule may not define an input; every predicate has one arity, at most 32; rules are sorted by id, so their order in the request does not matter. Evaluation is semi-naive (Bancilhon, 1986), the derived predicates in the order of their dependencies (strongly connected components of the predicate graph, dependencies first); a round's facts join the model when it ends, in sorted order. A rule's atoms are joined in a fixed order: the new-fact atom first, then always the atom with the most arguments bound, its candidates looked up in an index on its bound arguments. Every fact read, every index built, every join order and every premise kept is charged to the expansion budget. Each derived fact keeps the first derivation found in that order: its rule and, for each body atom, the fact it matched; its rank is the round that found it, and every premise's rank is lower, so a checker confirms a derivation in the size of the proof. Answer: rows, the query's matches in ascending order (or answer count or exists), each naming its derivation in facts; with certificate: true, a complete answer lists the whole least model, and the verifier proves it closed under every rule, so the rows are all of the query's matches (a closure check that would read more than five million facts stops and reports the certificate not checked). An output_limit interruption keeps the exact total but not the certificate; any other interruption keeps the facts of the rounds completed, every row derived, but total and model null and absence unknown. Results do not depend on Python's hash seed, interrupted runs included. Revalidated by certificate (§7). The worked example beside the card is the conformance case datalog-transitive-closure on G24 (a to b to c to a, c to d, x to d, all R; e to x by S), run on the runtime: 13 facts in three rounds, reach(a, ?y) gives a, b, c and d, and reach(a, d)'s derivation is shown with its ranks. A Codex adversarial review (six passes, the sixth approving) found, each fixed with a regression: verifier joins materializing every substitution (twice); uncharged index builds, join plans, premise copies, ancestor walks and type decoding; a certificate left on an output-limited answer; rows naming facts when derivations were off; rounds committed in hash order when interrupted; unbounded predicate arity (now at most 32); an unbounded closure check. Tests (tests/test_datalog.py): 400 random programs against an independent naive fixpoint; transitive closure against networkx; the relation hierarchy; forged derivations and models refused; 300 interrupted runs claim only what they derived; the same result under any hash seed, interrupted runs included; revalidation agrees with fresh runs (300); results validate against the schema; 5 hand-worked conformance cases on G24 and G12. Benchmarks (owner's machine; git log 61cabb1): transitive closure on 2,000 nodes and 2,600 edges, 583,630 facts in 60 rounds, 1.6 s, 4.3 s with the certificate, 8.6 s to check it; networkx transitive_closure 0.46 s, a special-purpose routine that proves nothing and is not a rule language. A naive fixpoint (the test oracle) needs 34 s for the 14,528 facts of 300 nodes, where semi-naive evaluation takes 0.04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(with counting without listing), Injective patterns; §6; tests/test_injective_pattern.py, tests/test_cyclic_count.py; git log 8b79971, 7b39f7d, b7e4f12, b7bbe3a.
pattern · trees: Tree patterns without dead ends. Theory: Variables bound by types (through the hierarchy) or IDs, then steps, each one hop from an earlier variable; optional steps keep their row. Algorithm: Yannakakis' semi-join reduction: discover down, prune up, prune down. Totals are counted exactly without listing the rows. Checked by: verify_result checks every row; rows and totals match a brute-force enumerator (400 random patterns) and SCALE's own engine. Rows come in canonical order; counting without listing handles 60⁴ rows in well under a second (git log 8b79971).
pattern · cycles: Corroboration and contradiction motifs. Theory: A step may close a cycle: two supports of a claim from one dataset, a triangle of citations. Algorithm: Listed by a worst-case optimal join (Ngo, Porat, Ré and Rudra); counted without listing by variable elimination over a tree decomposition (FAQ). Checked by: Rows against brute force (300 random patterns); totals against brute force and numpy einsum (850 more). Not certified; never denies. Listing: the join intersects a variable's candidates with what every closing step allows, iterating the smallest set first (Veldhuizen's Leapfrog Triejoin); an interruption keeps a prefix of the rows and never denies. Counting without listing (docs/API_CONTRACT.md §4, Pattern; git log b7bbe3a): answer count and exists compute the total as a sum of products over the required variables (FAQ's InsideOut; Abo Khamis, Ngo and Rudra, 2016). Each required step is a factor of hop counts between its variables' nodes, optional branches fold in as the number of ways they continue, variables are eliminated in a weighted min-fill order planned from the pattern alone (a tree decomposition), and each bag is joined by a generic join and summed out. answer rows lists rows only up to max_results, then counts the rest. A hub (more than 16 neighbours) is ordered last without its fill; an order needing a bag of more than 32 neighbours counts by listing instead. Every part of the work is charged to the expansion budget before it is done, and a batch of k expansions checks the deadline and cancellation exactly as k single ones would. Totals and rows are unchanged; expansions, and so cyclic pattern result_ids, changed. No certificate: a pattern's total is left to oracles, as for tree patterns (the survey's dynamic-programming transcript is not built). Tests (tests/test_cyclic_count.py): 250 random patterns against numpy einsum over hop-count matrices, 300 with optional branches and 300 under max_results against brute force, triangle counts against networkx, trace(A^4) on K(n, n); 7 hand-worked conformance cases on G23 and G13, two pinning the exact budget boundary. Benchmarks (owner's machine, heavily loaded; against the previous commit's listing, the same totals): closed 4-walks on K(30, 30), 1,620,000 rows, 0.04 s against 3.7 s (116k against 3.3 million expansions); closed 5-walks on a random graph of 1,000 nodes and 5,000 edges 1.1 s against 6.1 s; a provenance diamond 0.14 s against 1.05 s; triangles on par. On K(60, 60), 25.9 million closed 4-walks are counted with 894k expansions; listing them would need about 53 million.
pattern · injective: Substructure search. Theory: injective: true: distinct variables bind distinct nodes, distinct steps distinct edges. Motifs, catalytic sites, rings. No optional steps yet. Algorithm: Over the same Yannakakis-pruned candidates, skipping held nodes and used edges. NP-complete: budget-bounded; exact totals when done. Checked by: Brute force filtered for distinctness, row for row (400 random patterns); networkx's monomorphisms. Interrupted: no absence claimed. Subgraph monomorphism (docs/API_CONTRACT.md §4, Injective patterns): it counts every binding, so a pattern with automorphisms matches one subgraph several times (a hexagon twelve times). The rows are those of the same pattern without injective that use no node or edge twice, in the same canonical order. Distinctness is global, so no count along the kept hops respects it: an injective pattern, tree or cycle, is enumerated as a cycle's is, over the same semi-join-reduced candidates (a match with distinct nodes is a match). Totals are exact when the enumeration ends; an interruption leaves total null and claims no absence. No optional steps yet (unsupported, unsupported_mode): which node an optional step would bind among those left is not yet defined. The verifier and the contract checks reject a row that repeats a node or an edge. Every pattern request now states injective, so earlier pattern requests have new request and result IDs with the same answers (the golden workload's 160 pattern results regenerated). Row enumeration (cycles, injective patterns, tree rows) runs on an explicit stack: a Codex adversarial review found a 1,100-step chain hit Python's recursion limit. Tests (tests/test_injective_pattern.py): 400 random patterns row for row against the brute-force oracle filtered for distinctness; five shapes (a path, a star, a triangle, a square with a chord, a two-cycle) agree with networkx's subgraph monomorphisms (DiGraphMatcher); 3 hand-worked conformance cases. Benchmark (git log b7e4f12): 7,200 hexagon matches (600 rings × 12 symmetries) in a 1,300-atom graphene-like sheet in 0.05 s; networkx's GraphMatcher 0.54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Canonical form and isomorphism; §6; §7 (its opening sentences, the trust model); src/graph_runtime/canon.py; tests/test_canonical.py; git log 32507b6; the worked example run on the runtime at 32507b6; the increment's benchmark run on the owner's machine.
canonical_form: One name for every copy. Theory: A node set's induced subgraph, with its types and relations, in canonical order; its digest names every copy. Algorithm: Color refinement (1-WL, never IDs), then individualization and refinement with orbit pruning (McKay and Piperno, 2014). Checked by: The encoding is the graph relabeled, so equal ids prove isomorphism. That it is the least is not certified. docs/API_CONTRACT.md §4, Canonical form and isomorphism: the graph of a node set is its induced subgraph: its nodes, each colored by its types with their ancestors (node_colors: none colors all alike), and the edges in scope (by relation, or one above it; the scope's directions do not matter) with both ends in the set, each with its own relation, directed from source to target or, with directed: false, as an undirected link; parallel edges and loops count with their multiplicity. Color refinement (one-dimensional Weisfeiler-Leman) gives a node, each round, the rank in sorted order of its old color with the sorted multisets of (neighbour's color, relation) over its out-edges and its in-edges (or its links when undirected); it stops when no class splits. Colors depend on structure alone, never on IDs. Individualization and refinement (McKay and Piperno, 2014): refine; take the smallest class of several nodes; give each of its nodes in turn (by ID) a color of its own and search on. Every leaf (every class one node) orders the nodes; its encoding is the nodes' colors in that order and the sorted edges [i, j, relation] between positions; the least encoding over the leaves is canonical, and the first leaf reaching it gives the order. Two leaves with the same encoding give an automorphism; a node in the orbit of one already searched, under the automorphisms found that fix the current prefix, is skipped. The least encoding is the same for every isomorphic copy; only which order achieving it is reported depends on IDs. Reading the set, each refinement round, each individualization, each leaf and each orbit computation are charged to the expansion budget before they are done; worst cases stay exponential, and the budget bounds them. Answer: order, encoding (nodes, edges, directed) and canonical_id, the digest of the encoding; all null when interrupted. A checker confirms the encoding is the set's graph relabeled by the order, so equal identities prove isomorphism; that it is the least encoding is the search's, not certified. The worked example beside the cards was run on the runtime at 32507b6: two six-rings of C nodes read as links (directed: false), a to f and u, x, v, z, w, y around the ring, give the orders a, b, f, c, e, d and u, x, y, v, w, z (the amber positions), one encoding (edges [0,1], [0,2], [1,3], [2,4], [3,5], [4,5]) and one canonical_id, sha256:2bd33e64…; isomorphism maps a to u, b to x, c to v, d to z, e to w and f to y.
isomorphism: The same structure, or not. Theory: Whether two node sets' graphs are equal up to renaming, colors and relations kept; the sets may overlap. Algorithm: Cheap negatives first: other counts, or color refinement of both graphs side by side. Else both canonical forms. Proven by: A match: node and edge bijections. A mismatch: counts or refinement histograms if they differ; else the search, uncertified. docs/API_CONTRACT.md §4: isomorphism decides two node sets (which may overlap) under one scope, direction and coloring. It first tries the easy proofs of a negative: other numbers of nodes or edges (certificate kind counts), or color refinement of the two graphs side by side, as one disjoint union, giving their sides other color histograms after some round (kind refinement, with the rounds); with certificate: true a negative so found carries it, and a checker recomputes it. Otherwise both canonical forms are computed: equal identities give the node mapping by position and the edge mapping by (positions, relation, edge ID), which prove the isomorphism; other identities answer false, proven by the exact search alone (certificate null). Interrupted: isomorphic null, nothing mapped. Revalidation (§7): an isomorphism's mappings prove it by themselves; a canonical form is refuted when its encoding is no longer the set's graph relabeled by its order, and otherwise unknown (no_certificate), since its minimality is not certified. A Codex adversarial review (three passes) found, each fixed with a regression: the induced subgraph read before any budget check; nonexistent nodes accepted by the verifier; duplicate mapping entries hiding invalid pairs; unverified canonical ids in isomorphism answers (removed: canonical_form gives a verified one); canonicality taken from a mere relabeling on revalidation (now refuted or unknown on another projection); float positions accepted. The third pass's remaining point, that a result holds unchecked on its own projection, was resolved by stating revalidation's trust model in the contract (§7), not by code. Tests (tests/test_canonical.py): 500 random cases agree with networkx's VF2 (node types and relation multisets matched), each answer verified; 300 relabeled or perturbed copies share a canonical identity exactly when networkx finds them isomorphic; symmetric graphs (K8, the Petersen graph, the 4-cube, a 5 × 5 grid, hexagons, the cube) are canonized within the budget; two 3-regular graphs that refinement cannot separate (Petersen and the pentagonal prism) are told apart by the search alone, without a certificate; forgeries refused; 200 interrupted runs claim nothing; revalidation agrees with fresh runs (300); 5 hand-worked conformance cases on G25, the canonical orders worked out by hand from the refinement rules. Benchmarks (the increment's run on the owner's machine; git log 32507b6): a random 3-regular graph on 500 nodes against a relabeled copy, 3.4 s (networkx VF2 114 s); a random graph of 1,000 nodes and 3,000 edges, 0.05 s (0.76 s); a graphene flake of 240 nodes, 0.016 s each; a 30 × 30 grid, 0.32 s (0.22 s); highly symmetric small graphs (the hypercube Q6, K12) take VF2 milliseconds and GRAPH 0.05 to 0.15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Spanning forest, Cycle basis; §6; §7; tests/test_spanning_forest.py, tests/test_cycle_basis.py; git log 741c2dd, a482dbf.
spanning_forest: Backbones, single-linkage clusters. Theory: The minimum (or maximum) spanning forest: one tree per connected piece, each link read either way. Weights are any finite numbers, exact; ties go to the smaller edge ID. Algorithm: Kruskal (1956) with a union-find, taking the links in the order of (weight, edge ID): the forest is unique in that order. Proves itself by: Tarjan's cycle property: no cycle, every piece spanned, and each link left out after every edge of its tree path (path maxima by binary lifting). Revalidation re-checks it. docs/API_CONTRACT.md §4, Spanning forest: each edge in scope is a link between its ends, whichever way the scope follows it; a loop never joins anything; a node with no link is a tree of its own. Weights are compared exactly (floats as exact rationals, negatives allowed); without weights every link weighs 1 and the forest is the first in edge ID order. objective max takes weights descending, then edge ID. Reading each node's links is one expansion; an interrupted search claims nothing (every field null). Answer: the forest's edges in ascending ID, their count, the number of trees and the exact total weight. No certificate is needed: links in scope with no cycle, spanning every piece, and every link left out after every edge of its tree path in that order, are the forest Kruskal's algorithm keeps; the verifier finds those path maxima by binary lifting in O((n + m) log n). Revalidation (§7) re-verifies these claims on the new records, so a lighter or earlier new link refutes a cached forest. A Codex adversarial review found that the verifier skipped a forest given as a tuple (a Result's frozen answer), which let a stale forest revalidate as holding; fixed, with regression tests (a Result, a plain dict, a frozen answer). Tests (tests/test_spanning_forest.py): 800 random cases agree with an independent Kruskal; weights and trees agree with networkx's minimum and maximum spanning edges; forged forests are refused (ties, gaps, cycles, loops, weights, objective); revalidation agrees with fresh runs on 400 random edits; 4 hand-worked conformance cases. Benchmark (git log 741c2dd): 100,000 nodes and 300,000 edges in 0.89 s (networkx minimum_spanning_edges: 0.92 s); the verifier proves the forest in 3.05 s.
cycle_basis: Ring perception: a minimum cycle basis. Theory: Rank (links − nodes + pieces) independent simple cycles of least total weight. With every link 1: chemistry's smallest set of smallest rings: naphthalene has two six-rings, cubane five four-rings. Algorithm: De Pina (1995; Kavitha et al., 2004): cycle i is a lightest cycle meeting witness S_i oddly, a shortest path in the parity graph; each later witness odd on it takes S_i in. Certificate proves: The witnesses: cycle i is odd on witness i and every earlier cycle even, so the cycles are independent; a checker finds no lighter odd cycle, so the basis is minimum. docs/API_CONTRACT.md §4, Cycle basis: each edge in scope is a link, read undirected; a loop is a cycle of one link and two parallel links a cycle of two. The cycle space over GF(2) has dimension rank = links less nodes plus connected pieces. With every link 1 the basis is chemistry's smallest set of smallest rings (SSSR), one minimum basis among possibly several; weights are as costs, non-negative and exact. De Pina's algorithm runs from a spanning forest by edge ID, whose rank links outside it give the first witnesses. A lightest S-odd cycle is a shortest path from (v, 0) to (v, 1) in the parity graph (two copies of the links, those in S crossing between the copies), from each end v of a link of S, read mod 2 and split into simple cycles. Witnesses are sparse sets with an edge index, so an exhausted budget allocates nothing quadratic. Each cycle is final once found, so an interrupted search lists a proven prefix of the basis. With certificate: true the witnesses prove the basis minimum (de Pina's theorem); the verifier also checks each cycle against the records, independence by GF(2) elimination, and the rank from the records. Revalidated by certificate (§7). A Codex adversarial review found three problems, all fixed with regressions: a witness naming a link twice let a non-minimum basis pass (parity counted two ways; repeated links are now refused by the verifier, the contract and the schema); an exhausted budget still allocated every witness as a bitset; a total beyond the floats was rejected instead of written as null beside its exact value. It also noted that forged-answer tests stopped at the result_id check: the forgeries in the negative-cost, injective, forest and basis tests are now resealed, so they test the semantic checks. Tests (tests/test_cycle_basis.py): 500 random multigraphs agree with a brute-force oracle (every simple cycle, then the matroid greedy) on rank and least weight; networkx agrees on simple graphs; naphthalene gives two 6-rings and cubane five 4-rings; 2 hand-traced conformance cases. Benchmark (git log a482dbf): a 1,300-atom graphene-like sheet (networkx hexagonal_lattice_graph(20, 30)), 600 six-rings in 0.16 s, proven in 0.07 s; networkx minimum_cycle_basis needs 0.59 s for a 124-atom sheet (6 × 8 hexagons).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Minimum-cost flow, Matching (and its Costs); §6; tests/test_min_cost_flow.py, tests/test_weighted_matching.py; git log 573ce2b, 70ff8b4, 066dbab.
max_flow: Throughput, and the cut that limits it. Theory: As much as the capacities let through from sources to targets (Ford and Fulkerson, 1956). Unit capacities count disjoint paths. Algorithm: Dinic (1970) in exact integers: breadth-first levels in the residual graph, then a blocking flow, built only where read. Certificate proves: The cut's source side: a checker confirms the flow and recomputes a cut of the same value, so both are optimal. Unit capacities count edge- or node-disjoint paths (Menger, 1927). Dinic's algorithm (1970) in exact integers: breadth-first levels in the residual graph, then a blocking flow; the residual graph is built only where the search reads it. Certificate: the cut's source side; a checker confirms the flow and recomputes a cut of the same value from the records, so both are optimal (max-flow min-cut theorem).
min_cost_flow: A throughput at least cost. Theory: Send a value, or as much as possible, at least total cost: supply chains, the cheapest routes. Exact capacities and costs. Algorithm: Successive shortest paths: Dijkstra on costs reduced by potentials, then augment along the cheapest path (Edmonds and Karp). Certificate proves: Potentials leave no residual arc negative, so none is cheaper; for a maximum flow, a minimum cut shows none is larger. docs/API_CONTRACT.md §4, Minimum-cost flow: each hop in scope carries at most its edge's capacity at its edge's cost per unit (an edge in scope both ways carries flow either way, up to its capacity each way); a loop carries nothing. Capacities, costs and the value are exact (floats as exact rationals); costs are non-negative. Successive shortest paths (Jewell, 1958; Busacker and Gowen, 1960; with potentials, Edmonds and Karp, 1972, and Tomizawa, 1971): a virtual source feeds the sources and a virtual sink drains the targets; each phase is Dijkstra's search over the residual network on costs reduced by potentials, an augmentation along the cheapest path, and the potentials raised by the search's distances. The flow of each value reached is a cheapest one of that value. When the value asked for cannot be sent, the answer is a maximum flow at least cost, feasible false. An interrupted search keeps the flow sent, valid but never claimed cheapest or largest. Certificate (kind potentials): potentials for every node with a hop in scope and for the virtual source and sink; every residual arc costs nothing negative once reduced, so no flow of the same value is cheaper; for a maximum flow, source_side is a minimum cut's (every source and no target, every hop out full and every hop in empty), so no flow is larger. The verifier checks all of it from the records; revalidated by certificate (§7). A Codex adversarial review found that a flow's stated relation went unchecked (a relabelled edge revalidated as holding) and that an interrupted answer could send more than was asked; both fixed with regressions. Tests (tests/test_min_cost_flow.py): 500 random cases agree with networkx (a middle-node network, so parallel edges and two-way scopes stay distinct) on value and least cost, or on the maximum flow's least cost when infeasible; rational capacities, costs and values are exact; forgeries are refused; 3 hand-worked conformance cases. Benchmark (git log 70ff8b4): 500 nodes and 3,000 edges, 0.04 s (networkx max_flow_min_cost 0.17 s); 5,000 nodes and 30,000 edges, 0.61 s (networkx 4.25 s), proven in 0.11 s.
matching: Distinct pairings, at least cost. Theory: A maximum matching of a left set to partners outside it, no node twice. With costs, the cheapest of the largest: the assignment problem. Algorithm: Hopcroft and Karp (1973); with costs, the Hungarian method: successive shortest paths on costs reduced by potentials. Certificate proves: König's vertex cover (1931): as many nodes as pairs, so none is larger; with costs, potentials leave no residual arc negative. Samples to instruments, claims to reviewers. Without costs: phases of a breadth-first search from the unpaired left nodes along alternating paths, then augmentation along the shortest ones. When pairs fall short, Hall's condition shows why: the uncovered left nodes and their candidates, all in the cover, have fewer candidates than nodes. Costs (docs/API_CONTRACT.md §4, Matching, Costs; git log 066dbab): any finite numbers, by relation or by edge (for a heaviest matching, negate the weights); a left node's candidate for a partner is its cheapest hop to it. The search is Kuhn and Munkres's Hungarian method with Dijkstra's searches on reduced costs (after Edmonds and Karp and Tomizawa) in the network source -&gt; left node -&gt; partner -&gt; sink, with potentials kept non-negative on every residual arc. Certificate cover_and_potentials: König's cover proves the size, and the potentials of every left node and partner, the source and the sink leave no residual arc negative once reduced, so no matching of that size is cheaper. Unweighted matching is unchanged, but every matching request now states costs, so its request_id differs. A Codex adversarial review found that an integer-cost certificate could carry floats (1e100 potentials swallowed a negative reduced cost); every potential, the source and the sink must now be exact, with a regression. Tests (tests/test_weighted_matching.py): 600 random cases agree with brute force over every matching on size and least cost; networkx's maximum-cardinality weighted matching agrees on 30 × 25 assignments; forged matchings and certificates are refused; 1 hand-traced conformance case. Benchmark (git log 066dbab): 300 + 300 nodes and 6,000 hops in 0.25 s (networkx max_weight_matching with maxcardinality: 0.81 s), proven in 0.02 s; 2,000 + 2,000 nodes and 40,000 hops in 13.9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741c2dd; README.md (Revalidation); docs/API_CONTRACT.md §7 (a spanning forest holds while its links, the cycle property and the pieces it spans still check, as verify_result checks them; an edit that breaks any of these refutes it. Cycle bases, matchings with costs, minimum-cost flows, reachability between pairs (61dff27) and Datalog (61cabb1, by its least-model certificate) are revalidated by their certificates, pairs needing both proofs: a closure proves only negatives, so a reachable pair without its witness is unknown, no_certificate; k shortest paths are not certified, so they are unknown, not_certified; an isomorphism (32507b6) holds by its node and edge mappings, and a canonical form is refuted when its encoding is no longer the set's graph relabeled by its order, otherwise unknown, no_certificate)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 Trust model (docs/API_CONTRACT.md §7): Revalidation trusts a result to be GRAPH's own answer for the projection it names, and checks only what an edit could change: on that same projection a result holds without a check, and verify_result is the check for a result from elsewhere. So a canonical form, whose minimality no certificate proves, holds on its own projection and on any other is refuted or unknown. This closed the last point of the isomorphism increment's third Codex review pass (32507b6) by documentation,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(689 pass), src/graph_runtime/conformance/cases.json (209 cases), SCALE parity (16 tests) and STATES parity (6 tests) in their environments; 73 / 73 real consumer requests answer the same with both engines (git log f144c48). Oracles: tests/oracle.py; regular paths against Brzozowski derivatives on 1,500 random graphs (git log f65497b); PageRank against the exact linear system over fractions on 500 graphs (git log 0d4d2b3); negative costs against an independent fixpoint on 1,500 random graphs (tests/test_negative_costs.py); Datalog against an independent naive fixpoint on 400 random programs (tests/test_datalog.py); isomorphism against networkx's VF2 on 500 random cases, and the canonical identities of 300 relabeled or perturbed copies (tests/test_canonical.py). Parity: docs/SCALE_INTEGRATION.md, docs/STATES_INTEGRATION.md. Reviews: git log 8917563, 7ff04db; Codex adversarial reviews before commit: 99fb868 (a request field named kind was overwritten by the digest's record kind, now connectivity; unlisted groups and stray trees in the components certificate), 573ce2b (an interrupted max flow's upper bound was not verified), 1e8678d, 05d3ea5, 1d6dbbf, 04532ba, 107dc68, 297ca1e; 97723bb and 260d7b2 (negative costs and the faster projection identity, reviewed together: no soundness or identity counterexample, 12,000 larger random graphs all matching an independent oracle; one medium issue, diff-based revalidation reading the whole certificate even for an unrelated edit, fixed, and a regression test now forbids it); b7e4f12 (injective patterns: a 1,100-step chain hit Python's recursion limit, so row enumeration for cycles, injective patterns and tree rows now runs on an explicit stack, with a regression test covering rows, count and exists); 741c2dd (spanning forests: the verifier skipped a forest given as a tuple, a Result's frozen answer, which let a stale forest revalidate as holding; it now checks tuples and refuses a missing edge list, and so do three other list-only checks; regression tests cover a Result, a plain dict and a frozen answer); a482dbf (cycle bases: a witness naming a link twice let a non-minimum basis pass, because parity was counted two ways, now refused by the verifier, the contract and the schema; an exhausted budget still allocated every witness as a bitset; a total beyond the floats was rejected instead of written as null beside its exact value; and forged-answer tests stopped at the result_id check, so the forgeries in the negative-cost, injective, forest and basis tests are now resealed to test the semantic checks); 066dbab (weighted matching: an integer-cost certificate could carry floats, 1e100 potentials swallowing a negative reduced cost; every potential, the source and the sink must now be exact); ffd474a (k shortest paths: settled keys kept every edge-ID prefix, quadratic on a long path, 248 MiB on an 8,000-node chain, now released; the contract reader accepted a misordered or repeated list, now checked). Earlier findings shown on previous builds of this slide: a path from outside the sources' region (critical path, 1d6dbbf); a stale nearest cut held and contradicted answers left unknown (incidence, 05d3ea5); exact fields beside false values and unpolled controls (critical path, 1d6dbbf); a nonuniform PageRank start, a lenient ranking revalidation and a quadratic cyclic join (107dc68, the review of 26 October's increments together); the negative-cost review was otherwise sound on 12,000 random graphs against an oracle. 70ff8b4 (minimum-cost flows: a flow's stated relation went unchecked, so a relabelled edge revalidated as holding; an interrupted answer could send more than was asked; both fixed with regressions); b7bbe3a (cyclic pattern counts, four review passes, each finding fixed with a regression test: planning the elimination order was cubic on an 800-variable star pattern, 7.4 s for one row; a batched expansion charge checked cancellation only once per batch, so a batch of k now checks the deadline and cancellation exactly as k single expansions would; planning on K(17, n) patterns and wide bags was not charged to the budget; request normalization of patterns with many steps was quadratic, rebuilding the edge-variable set per step; the setup of a 100,000-spoke pattern was not charged; growing products, up to 2^400000, were built before a zero loop factor, which now removes its node first); 61dff27 (reachability between pairs, three passes, the third approving with no findings; each finding fixed with a regression: revalidation held witness-free positives on a closure certificate, which proves only negatives; hop lists were read before the first budget check; the index was cached per scope without bound, now the last four; closure verification was quadratic, twice; witness walks were charged only after the fact, now hop by hop before each is followed); 61cabb1 (positive Datalog, six passes, the sixth approving; each finding fixed with a regression: verifier joins materialized every substitution, twice; index builds, join plans, premise copies, ancestor walks and type decoding were not charged to the budget; a certificate was left on an output-limited answer; rows named facts when derivations were off; rounds were committed in hash order when interrupted; predicate arity was unbounded, now at most 32; the closure check was unbounded, now it stops after five million reads and says the certificate was not checked); 32507b6 (canonical forms and isomorphism, three passes; each finding fixed with a regression: the induced subgraph was read before any budget check; the verifier accepted nonexistent nodes; duplicate mapping entries hid invalid pairs; isomorphism answers carried unverified canonical ids, now removed, since canonical_form gives a verified one; revalidation took a mere relabeling for the canonical form, now refuted or unknown on another projection; float positions were accepted. The third pass's remaining point, that a result holds unchecked on its own projection, was resolved by stating revalidation's trust model in docs/API_CONTRACT.md §7, not by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Also: weak components 0.45 s, unit-capacity max flow 3.8 s. Negative costs (git log 97723bb; measured on an Apple M4): 20,000 nodes and 100,000 edges, 31% negative, no negative cycle; GRAPH 0.10 s with its feasible-potentials certificate, networkx bellman_ford 0.13 s and goldberg_radzik 0.39 s, the same cost. With a negative cycle planted near the source, networkx find_negative_cycle takes 0.002 s and GRAPH 0.042 s: GRAPH first computes the corridor between the sources and the targets (one linear pass), so that a cycle that cannot reach a target is ignored. Hexagon search (git log b7e4f12): an injective six-ring pattern counted in a graphene-like sheet of 1,300 atoms (networkx hexagonal_lattice_graph(20, 30)), 7,200 matches, 600 rings × 12 symmetries, GRAPH 0.05 s, networkx GraphMatcher's subgraph monomorphisms 0.54 s. Spanning forest (git log 741c2dd): 100,000 nodes and 300,000 random edges with integer weights, GRAPH 0.89 s, networkx minimum_spanning_edges (Kruskal) 0.92 s on the same multigraph; GRAPH's verifier proves the forest in 3.05 s. Weighted matching (git log 066dbab): 300 + 300 nodes and 6,000 random hops with integer costs, GRAPH 0.25 s with its cover-and-potentials certificate (proven in 0.02 s), networkx max_weight_matching (maxcardinality, costs turned into weights) 0.81 s; 2,000 + 2,000 nodes and 40,000 hops: GRAPH 13.9 s. k shortest paths (git log ffd474a): 20,000 nodes and 100,000 edges, k = 20, GRAPH 3.07 s, networkx shortest_simple_paths 0.30 s, the same costs; on 2,000 nodes and 10,000 edges, k = 50, GRAPH 0.32 s, networkx 0.18 s. networkx's spur searches are bidirectional, which GRAPH's strict order of ties (cost, hops, start node and edge IDs) does not allow here. Cycle basis (git log a482dbf), not charted because the sizes differ: GRAPH 0.16 s for 600 six-rings of a 1,300-atom graphene-like sheet, proven in 0.07 s; networkx minimum_cycle_basis 0.59 s for a 124-atom sheet. Min-cost flow (git log 70ff8b4): 5,000 nodes and 30,000 random edges, capacities 1 to 10 and costs 0 to 20, 5 sources and 5 targets, as much as possible: GRAPH 0.61 s with its certificate, proven in 0.11 s; networkx max_flow_min_cost 4.25 s on the same network with a middle node per edge (so parallel edges stay distinct); on 500 nodes and 3,000 edges, GRAPH 0.04 s, networkx 0.17 s. Machine load for the last six was not recorded in the commits. Cyclic pattern counts (git log b7bbe3a), not charted because the comparison is with GRAPH's own earlier listing (the previous commit, 105393c, with its budget raised so both finish), not with networkx; measured on the owner's machine under heavy load from other processes, the same totals throughout: closed 4-walks on the complete bipartite graph K(30, 30), both directions, 1,620,000 rows, 0.04 s against 3.7 s, 116k against 3.3 million expansions; closed 5-walks on networkx gnm_random_graph(1000, 5000), 149,300 rows, 1.1 s against 6.1 s; a provenance diamond (300 claims and 40 measurements in 30 datasets: two supports of a claim from one dataset), 27,432 rows, 0.14 s against 1.05 s, 111k against 572k expansions; closed 4-walks on gnm_random_graph(2000, 8000), 274,524 rows, 0.31 s against 1.11 s; triangles (closed 3-walks) on gnm_random_graph(3000, 30000), 0.44 s against 0.40 s, on par (networkx triangles takes 0.04 s for the plain triangle count); closed 4-walks on K(60, 60), 25.9 million rows, counted with 894k expansions where listing would need about 53 million. Pair reachability (git log 61dff27; the increment's benchmark run on the owner's machine, other processes running; docs/API_CONTRACT.md §4 quotes an earlier run, 1.5 s and 0.4 s): a random graph of 100,000 nodes and 300,000 edges (one giant strong component, 390,000 label entries), 10,000 random pairs; charted is GRAPH's time with the index built in the request, 1.2 s, against networkx has_path per pair, 1.6 s; with the index kept on the projection GRAPH takes 0.33 s, with the same result_id and stats;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networkx 0.1 s, since random pairs there are almost never reachable and reach sets are small. The index pays when it is reused, or when reach sets are large. Transitive closure (git log 61cabb1; owner's machine): the datalog operation with two rules (reach from each edge of R, then reach extended by an edge of R) on 2,000 nodes and 2,600 edges, 583,630 facts in 60 rounds, GRAPH 1.6 s with every fact's derivation, 4.3 s with the least-model certificate (8.6 s to check it); networkx transitive_closure 0.46 s, faster, but a special-purpose routine, not a rule language, and it proves nothing. Against a naive fixpoint (the test oracle, every rule over every fact until a pass adds nothing): 34 s for the 14,528 facts of 300 nodes, where GRAPH's semi-naive evaluation takes 0.04 s. Isomorphism (git log 32507b6; the increment's benchmark run on the owner's machine): a random graph of 1,000 nodes and 3,000 edges against a relabeled copy, GRAPH 0.05 s, networkx is_isomorphic (VF2) 0.76 s, charted; not charted, since it would flatten every other bar: a random 3-regular graph on 500 nodes against a relabeled copy, GRAPH 3.4 s, networkx VF2 114 s (refinement cannot split a regular graph, so GRAPH's search individualizes, with orbit pruning). A graphene flake of 240 nodes, 0.016 s each; a 30 × 30 grid, GRAPH 0.32 s, networkx 0.22 s; highly symmetric small graphs (the hypercube Q6, the complete graph K12) take VF2 milliseconds and GRAPH 0.05 to 0.15 s. GRAPH's answer carries the node and edge bijections that prove it. Moved off the caption to make room for isomorphism: critical path's networkx routine (dag_longest_path_length) gives no order certificate; pair reachability with the index kept on the projection takes 0.33 s, and networkx wins where few pairs reach; the closure has 583,630 facts, each derived, and networkx transitive_closure is a special-purpose routine.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benchmark run on 26 October 2026, kept outside the repository: scale.pgraph_query.run against GRAPH's pattern operation through the SCALE adapter (integrations/scale/scale_graph_adapter.py) on SCALE's documents, row-for-row parity asserted on every query. Times are each query's best of several runs; machine load was not recorded, so compare ratios. Competency questions: the 39 question-document pairs with a plan, medians per query. Methanol synthesis (SCALE's public example, 2,851 nodes, 9,335 links): every generated one- and two-step plan (1,052), totals 5.6 s against 0.61 s listing rows (9.2×) and 0.34 s counting (16×); its largest answer, 10,470 rows, 475 ms against 21 ms (23×, rounded), 0.6 ms counting. Three steps: the plan with the most intermediate rows per answer among 4,673 three-step candidates. 16 copies of the document: 17.1 s against 1.14 s (15×; 33× counting). 1,131 queries = 39 + 1,052 + 40 three-step plans. SCALE without per-row evidence and the deep copy of its answer (pgraph_query._run): methanol 2.27 s, still 3.7× GRAPH's time; 16 copies 7.2 s, 6.3×. SCALE's index (pgraph_query.Graph) 2.2 ms; GRAPH's projection 20 ms with the document's binding digests computed once. Retraction workflows: benchmarks/consumers.py scale (SCALE lifecycle.resting 0.04 ms; GRAPH 0.36 ms for resting on retractions, 0.32 ms for support) and docs/SCALE_INTEGRATION.md (Cost). Why: docs/API_CONTRACT.md §4, Pattern (Yannakakis' semi-join reduction; evaluation never meets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550c362 (25 October, 17:17) to 32507b6 (27 October, 13:10): 54 commits, slide commits included; some rows group neighbouring commits (17:17 is v0 with the independent review's fixes at 17:36, 8917563, and the Codex review behind contract v0.1 at 20:46, 7ff04db; 10:29 is flows and matching, 573ce2b, with dominators at 10:43, 1e8678d, and revalidation by certificate at 10:47, 0a58767; 11:16 is incidence, 05d3ea5, with critical paths at 11:32, 1d6dbbf, and d-separation at 11:44, 83f9ffe; 17:45 is the fixes from a review of the day's increments, 107dc68, with support certificates at 18:23, 297ca1e; 22:11 is negative costs, 97723bb, and the faster projection identity, 260d7b2 (hashed with each node ID, relation and type encoded once: 61 to 34 ms, the build 245 to 206 ms on 50,000 nodes and 150,000 edges, identity bytes unchanged on 400 random projections), with injective patterns at 22:38, b7e4f12, spanning forests at 22:55, 741c2dd, and cycle bases, the row's rings, at 23:11, a482dbf; 23:25 is weighted matching, 066dbab, with k shortest paths at 23:40, ffd474a, and minimum-cost flows at 23:59, 70ff8b4; on 27 October, 00:04 is a slide commit, 105393c, 10:28 is cyclic patterns counted without listing, b7bbe3a, followed by its slide commit at 10:35, 7778d84, 11:21 is reachability between pairs, 61dff27, followed by its slide commit at 11:32, 8c25714, 12:35 is positive Datalog, 61cabb1, followed by its slide commit at 12:47, f903709, and 13:10 is canonical forms and isomorphism, 32507b6). Conformance case counts are from the commit messages (34 at v0, then 49, 54, 62, 70, 74, 78, 91, 100, 112, 116, 121, 133, 143, 148, 153, 158, 165, 168, 173, 176, 180, 182, 183, 185, 188, 195, 199, 204) and cases.json now (209). Tests: 178 → 689.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Codex literature survey of 26 October 2026, kept outside the repository; its recommended order weighs scientific usefulness, implementation effort and the cost of independently proving each answer. Eleven of its items have shipped: negative-cost shortest paths (97723bb); injective patterns (b7e4f12: the survey suggested VF2++-style backtracking with Glasgow-style filtering and refutation trees for negatives; GRAPH enumerates over its Yannakakis-pruned candidates, budget-bounded, and an interrupted search claims no absence); the minimum spanning forest (741c2dd: Kruskal, the forest its own certificate by the cycle property); the minimum cycle basis (a482dbf: de Pina's algorithm, minimality proven by its witnesses; relevant cycles, after Vismara, not yet); weighted matching (066dbab: successive shortest paths, the survey's first slice of item 5, proven by König's cover and residual potentials); k shortest simple paths (ffd474a: Yen with Lawler's rule; the survey's certificate, a Lawler partition tree proving the ranking, is not built: each path is a checked witness and the ranking is tested against an oracle); and min-cost flow (70ff8b4: successive shortest paths with potentials, the rest of item 5; costs non-negative, so the survey's pseudoflow start for negative arcs is not needed; proven by residual potentials and, for a maximum flow, a minimum cut); and cyclic pattern counting (b7bbe3a: variable elimination along a tree decomposition, FAQ's InsideOut, in a weighted min-fill order planned from the pattern alone, with a generic join inside each bag; the survey's certificate, a decomposition and dynamic-programming transcript (count_dp) whose messages a checker recomputes, is not built: a pattern's total is left to oracles, numpy einsum and brute force, as for tree patterns); and the reachability index (61dff27, the reachability_pairs operation: pruned landmark 2-hop labels, Cohen, Halperin, Kaplan and Zwick 2003, Akiba, Iwata and Yoshida 2013, Yano et al. 2013, kept on the projection; as the survey advised, a positive expands hub pointers into ordinary hops, a simple path, and a negative is proven by a closed set, the source's closure; the survey's condensation of strong components before labelling is not done); and positive Datalog (61cabb1, the datalog operation: range-restricted and function-free over the records, evaluated semi-naively, Bancilhon 1986, to the least model, Abiteboul, Hull and Vianu 1995; as the survey advised, each fact's derivation has strictly increasing ranks and is checked in the proof's size, and the whole least model is a certificate checked closed under every rule; each fact keeps one derivation, the first found, so the survey's provenance semirings, Green, Karvounarakis and Tannen 2007, are not built); and canonical forms with isomorphism (32507b6, the canonical_form and isomorphism operations: color refinement, then individualization and refinement with automorphism orbit pruning, McKay and Piperno 2014; as the survey advised, a node and edge bijection proves an isomorphism; a non-isomorphism is proven by other counts or by color refinement histograms of the two graphs side by side when those separate them, otherwise by the exact search alone; the survey's independently checked individualization-refinement trace is not built, so a canonical form's minimality is not certified, and on another projection revalidation answers refuted or unknown). Survey notes for the remaining row: elementary flux modes (exact double description over the incidence operation's stoichiometric matrix, small networks first; each mode's exact balance, and rank(S_J) = |J| - 1 shown by a nonsingular minor, prove its support minimal; completeness needs a full transcript; Gagneur and Klamt 2004; Terzer and Stelling 2008). Each increment is planned to ship with code, docs/API_CONTRACT.md, the schema, hand-worked conformance cases, tests against an independent oracle, verification and revalidation, and a Codex adversarial review of its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3.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3.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slideLayout" Target="../slideLayouts/slideLayout3.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27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Twenty-seven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74676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reachability_pairs · typed_path · shortest_path · bottleneck_path · regular_path · k_shortest_paths</a:t>
            </a:r>
            <a:endParaRPr lang="en-US" sz="1200" dirty="0"/>
          </a:p>
        </p:txBody>
      </p:sp>
      <p:sp>
        <p:nvSpPr>
          <p:cNvPr id="9" name="Text 6"/>
          <p:cNvSpPr txBox="1"/>
          <p:nvPr/>
        </p:nvSpPr>
        <p:spPr>
          <a:xfrm>
            <a:off x="749808" y="3371088"/>
            <a:ext cx="3112922" cy="309372"/>
          </a:xfrm>
          <a:prstGeom prst="rect">
            <a:avLst/>
          </a:prstGeom>
          <a:noFill/>
          <a:ln/>
        </p:spPr>
        <p:txBody>
          <a:bodyPr wrap="square" lIns="0" tIns="0" rIns="0" bIns="0" rtlCol="0" anchor="t"/>
          <a:lstStyle/>
          <a:p>
            <a:pPr indent="0" marL="0">
              <a:buNone/>
            </a:pPr>
            <a:r>
              <a:rPr lang="en-US" sz="1400" dirty="0">
                <a:solidFill>
                  <a:schemeClr val="tx1"/>
                </a:solidFill>
              </a:rPr>
              <a:t>What connects, and the best ways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datalog · critical_path · d_separation · dominators</a:t>
            </a:r>
            <a:endParaRPr lang="en-US" sz="1200" dirty="0"/>
          </a:p>
        </p:txBody>
      </p:sp>
      <p:sp>
        <p:nvSpPr>
          <p:cNvPr id="15" name="Text 11"/>
          <p:cNvSpPr txBox="1"/>
          <p:nvPr/>
        </p:nvSpPr>
        <p:spPr>
          <a:xfrm>
            <a:off x="4539386"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AND/OR and recursive rules, schedules, causal independence, unavoidable nodes.</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 · canonical_form · isomorphism</a:t>
            </a:r>
            <a:endParaRPr lang="en-US" sz="1200" dirty="0"/>
          </a:p>
        </p:txBody>
      </p:sp>
      <p:sp>
        <p:nvSpPr>
          <p:cNvPr id="21" name="Text 16"/>
          <p:cNvSpPr txBox="1"/>
          <p:nvPr/>
        </p:nvSpPr>
        <p:spPr>
          <a:xfrm>
            <a:off x="8328965" y="3020568"/>
            <a:ext cx="3112922" cy="659892"/>
          </a:xfrm>
          <a:prstGeom prst="rect">
            <a:avLst/>
          </a:prstGeom>
          <a:noFill/>
          <a:ln/>
        </p:spPr>
        <p:txBody>
          <a:bodyPr wrap="square" lIns="0" tIns="0" rIns="0" bIns="0" rtlCol="0" anchor="t"/>
          <a:lstStyle/>
          <a:p>
            <a:pPr indent="0" marL="0">
              <a:buNone/>
            </a:pPr>
            <a:r>
              <a:rPr lang="en-US" sz="1400" dirty="0">
                <a:solidFill>
                  <a:schemeClr val="tx1"/>
                </a:solidFill>
              </a:rPr>
              <a:t>Multi-step questions counted exactly, cycles too; injective substructures; one name for every copy.</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Rings and crystals"/>
          <p:cNvSpPr/>
          <p:nvPr/>
        </p:nvSpPr>
        <p:spPr>
          <a:xfrm>
            <a:off x="4338218" y="4091940"/>
            <a:ext cx="3515258" cy="2125980"/>
          </a:xfrm>
          <a:prstGeom prst="roundRect">
            <a:avLst>
              <a:gd name="adj" fmla="val 4301"/>
            </a:avLst>
          </a:prstGeom>
          <a:solidFill>
            <a:schemeClr val="bg2"/>
          </a:solidFill>
          <a:ln/>
        </p:spPr>
      </p:sp>
      <p:sp>
        <p:nvSpPr>
          <p:cNvPr id="29" name="icon Rings and crystals"/>
          <p:cNvSpPr/>
          <p:nvPr/>
        </p:nvSpPr>
        <p:spPr>
          <a:xfrm>
            <a:off x="4539386" y="4293108"/>
            <a:ext cx="502920" cy="502920"/>
          </a:xfrm>
          <a:prstGeom prst="ellipse">
            <a:avLst/>
          </a:prstGeom>
          <a:solidFill>
            <a:schemeClr val="accent1"/>
          </a:solidFill>
          <a:ln/>
        </p:spPr>
      </p:sp>
      <p:pic>
        <p:nvPicPr>
          <p:cNvPr id="30" name="Image 4" descr="Rings and crystals">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Rings and crystals</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cycle_basis · 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Ring perception;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spanning_forest · max_flow · min_cost_flow · matching</a:t>
            </a:r>
            <a:endParaRPr lang="en-US" sz="1200" dirty="0"/>
          </a:p>
        </p:txBody>
      </p:sp>
      <p:sp>
        <p:nvSpPr>
          <p:cNvPr id="39" name="Text 31"/>
          <p:cNvSpPr txBox="1"/>
          <p:nvPr/>
        </p:nvSpPr>
        <p:spPr>
          <a:xfrm>
            <a:off x="8328965" y="5596128"/>
            <a:ext cx="3112922" cy="484632"/>
          </a:xfrm>
          <a:prstGeom prst="rect">
            <a:avLst/>
          </a:prstGeom>
          <a:noFill/>
          <a:ln/>
        </p:spPr>
        <p:txBody>
          <a:bodyPr wrap="square" lIns="0" tIns="0" rIns="0" bIns="0" rtlCol="0" anchor="t"/>
          <a:lstStyle/>
          <a:p>
            <a:pPr indent="0" marL="0">
              <a:buNone/>
            </a:pPr>
            <a:r>
              <a:rPr lang="en-US" sz="1400" dirty="0">
                <a:solidFill>
                  <a:schemeClr val="tx1"/>
                </a:solidFill>
              </a:rPr>
              <a:t>Pieces, weak points, backbones, throughput at least cost, pairings.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Dijkstra and Bellman-Ford-Moore searches in canonical order: one request, always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Every node within the scope and depth, at its least hop count;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dependency_impact</a:t>
            </a:r>
            <a:pPr indent="0" marL="0">
              <a:spcAft>
                <a:spcPts val="840"/>
              </a:spcAft>
              <a:buNone/>
            </a:pPr>
            <a:r>
              <a:rPr lang="en-US" sz="1400" dirty="0">
                <a:solidFill>
                  <a:schemeClr val="tx1"/>
                </a:solidFill>
              </a:rPr>
              <a:t> runs the same search from changed nodes.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in canonical order; each node's first hop builds a witness tree.</a:t>
            </a:r>
            <a:endParaRPr lang="en-US" sz="1400" dirty="0"/>
          </a:p>
        </p:txBody>
      </p:sp>
      <p:sp>
        <p:nvSpPr>
          <p:cNvPr id="9" name="proof reachability"/>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Every hop from an expanded node leads to a listed node at most one hop deeper: complete, and depths least.</a:t>
            </a:r>
            <a:endParaRPr lang="en-US" sz="14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One walk matching a finite sequence of relations, with optional node types at each position.</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(node, position) states.</a:t>
            </a:r>
            <a:endParaRPr lang="en-US" sz="1400" dirty="0"/>
          </a:p>
        </p:txBody>
      </p:sp>
      <p:sp>
        <p:nvSpPr>
          <p:cNvPr id="18" name="proof typed_path"/>
          <p:cNvSpPr/>
          <p:nvPr/>
        </p:nvSpPr>
        <p:spPr>
          <a:xfrm>
            <a:off x="4484522" y="4853940"/>
            <a:ext cx="322265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945380"/>
            <a:ext cx="246888" cy="246888"/>
          </a:xfrm>
          <a:prstGeom prst="rect">
            <a:avLst/>
          </a:prstGeom>
        </p:spPr>
      </p:pic>
      <p:sp>
        <p:nvSpPr>
          <p:cNvPr id="20" name="Text 14"/>
          <p:cNvSpPr txBox="1"/>
          <p:nvPr/>
        </p:nvSpPr>
        <p:spPr>
          <a:xfrm>
            <a:off x="4923434"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Closed states: all states the sources reach, closed under the pattern's hops, none ending at a target.</a:t>
            </a:r>
            <a:endParaRPr lang="en-US" sz="14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least-cost walk from a source to a target, costs of any sign (signed energies). A negative cycle on the way leaves no optimum.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Dijkstra if no cost is negative; else Bellman-Ford-Moore with Tarjan's subtree disassembly, over the nodes between sources and targets.</a:t>
            </a:r>
            <a:endParaRPr lang="en-US" sz="1400" dirty="0"/>
          </a:p>
        </p:txBody>
      </p:sp>
      <p:sp>
        <p:nvSpPr>
          <p:cNvPr id="27" name="proof shortest_path"/>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prove an optimum (with the dead ends if a cost is negative); three walks, a negative cycle; a closure, no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expressions, alternatives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one shortest path cannot answer: the best weakest link, walks shaped by an expression, the next k paths.</a:t>
            </a:r>
            <a:endParaRPr lang="en-US" sz="1600" dirty="0"/>
          </a:p>
        </p:txBody>
      </p:sp>
      <p:sp>
        <p:nvSpPr>
          <p:cNvPr id="4" name="operation bottleneck_path"/>
          <p:cNvSpPr/>
          <p:nvPr/>
        </p:nvSpPr>
        <p:spPr>
          <a:xfrm>
            <a:off x="548640" y="1691640"/>
            <a:ext cx="3515258" cy="4526280"/>
          </a:xfrm>
          <a:prstGeom prst="roundRect">
            <a:avLst>
              <a:gd name="adj" fmla="val 2601"/>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Fastest rate-limiting step, lowest barrier</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path whose weakest edge is strongest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max_min</a:t>
            </a:r>
            <a:pPr indent="0" marL="0">
              <a:spcAft>
                <a:spcPts val="840"/>
              </a:spcAft>
              <a:buNone/>
            </a:pPr>
            <a:r>
              <a:rPr lang="en-US" sz="1400" dirty="0">
                <a:solidFill>
                  <a:schemeClr val="tx1"/>
                </a:solidFill>
              </a:rPr>
              <a:t>: rates) or highest edge lowest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min_max</a:t>
            </a:r>
            <a:pPr indent="0" marL="0">
              <a:spcAft>
                <a:spcPts val="840"/>
              </a:spcAft>
              <a:buNone/>
            </a:pPr>
            <a:r>
              <a:rPr lang="en-US" sz="1400" dirty="0">
                <a:solidFill>
                  <a:schemeClr val="tx1"/>
                </a:solidFill>
              </a:rPr>
              <a:t>: barriers); fewest hops among those.</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Settle nodes best value first, as Dijkstra settles costs; then a breadth-first search over hops as good finds the fewest hops.</a:t>
            </a:r>
            <a:endParaRPr lang="en-US" sz="1400" dirty="0"/>
          </a:p>
        </p:txBody>
      </p:sp>
      <p:sp>
        <p:nvSpPr>
          <p:cNvPr id="9" name="proof bottleneck_path"/>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Threshold: what the sources reach by strictly better hops is closed and holds no target. A closure proves a negative.</a:t>
            </a:r>
            <a:endParaRPr lang="en-US" sz="1400" dirty="0"/>
          </a:p>
        </p:txBody>
      </p:sp>
      <p:sp>
        <p:nvSpPr>
          <p:cNvPr id="13" name="operation regular_path"/>
          <p:cNvSpPr/>
          <p:nvPr/>
        </p:nvSpPr>
        <p:spPr>
          <a:xfrm>
            <a:off x="4338218" y="1691640"/>
            <a:ext cx="3515258" cy="4526280"/>
          </a:xfrm>
          <a:prstGeom prst="roundRect">
            <a:avLst>
              <a:gd name="adj" fmla="val 2601"/>
            </a:avLst>
          </a:prstGeom>
          <a:solidFill>
            <a:schemeClr val="bg2"/>
          </a:solidFill>
          <a:ln/>
        </p:spPr>
      </p:sp>
      <p:sp>
        <p:nvSpPr>
          <p:cNvPr id="14" name="icon regular_path"/>
          <p:cNvSpPr/>
          <p:nvPr/>
        </p:nvSpPr>
        <p:spPr>
          <a:xfrm>
            <a:off x="453938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matching a regular expression</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Regular path queries (Mendelzon and Wood, 1995), as SPARQL property paths and GQL write them: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DERIVED_FROM*/SUPPORTED_BY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the graph times the expression's Glushkov automaton: one fewest-hop walk, or every node reached.</a:t>
            </a:r>
            <a:endParaRPr lang="en-US" sz="1400" dirty="0"/>
          </a:p>
        </p:txBody>
      </p:sp>
      <p:sp>
        <p:nvSpPr>
          <p:cNvPr id="18" name="proof regular_path"/>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Closed product states below a bound prove the fewest hops, a negative or a reached set. The verifier builds its own automaton.</a:t>
            </a:r>
            <a:endParaRPr lang="en-US" sz="1400" dirty="0"/>
          </a:p>
        </p:txBody>
      </p:sp>
      <p:sp>
        <p:nvSpPr>
          <p:cNvPr id="22" name="operation k_shortest_paths"/>
          <p:cNvSpPr/>
          <p:nvPr/>
        </p:nvSpPr>
        <p:spPr>
          <a:xfrm>
            <a:off x="8127797" y="1691640"/>
            <a:ext cx="3515258" cy="4526280"/>
          </a:xfrm>
          <a:prstGeom prst="roundRect">
            <a:avLst>
              <a:gd name="adj" fmla="val 2601"/>
            </a:avLst>
          </a:prstGeom>
          <a:solidFill>
            <a:schemeClr val="bg2"/>
          </a:solidFill>
          <a:ln/>
        </p:spPr>
      </p:sp>
      <p:sp>
        <p:nvSpPr>
          <p:cNvPr id="23" name="icon k_shortest_paths"/>
          <p:cNvSpPr/>
          <p:nvPr/>
        </p:nvSpPr>
        <p:spPr>
          <a:xfrm>
            <a:off x="8328965" y="1892808"/>
            <a:ext cx="512064" cy="512064"/>
          </a:xfrm>
          <a:prstGeom prst="ellipse">
            <a:avLst/>
          </a:prstGeom>
          <a:solidFill>
            <a:schemeClr val="accent1"/>
          </a:solidFill>
          <a:ln/>
        </p:spPr>
      </p:sp>
      <p:pic>
        <p:nvPicPr>
          <p:cNvPr id="24" name="Image 4" descr="k_shortest_paths">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k_shortest_paths</a:t>
            </a:r>
            <a:endParaRPr lang="en-US" sz="1500" dirty="0"/>
          </a:p>
          <a:p>
            <a:pPr indent="0" marL="0">
              <a:buNone/>
            </a:pPr>
            <a:r>
              <a:rPr lang="en-US" sz="1500" b="1" dirty="0">
                <a:solidFill>
                  <a:schemeClr val="tx1"/>
                </a:solidFill>
              </a:rPr>
              <a:t>Alternatives: the first k simple paths</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Alternative pathways, backup routes: k simple paths ranked by cost, hops, then IDs, so ties have one order and parallel edges differ.</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Yen (1971) with Lawler's rule: spur only from where a path left its parent; each least path a Dijkstra search on the full order.</a:t>
            </a:r>
            <a:endParaRPr lang="en-US" sz="1400" dirty="0"/>
          </a:p>
        </p:txBody>
      </p:sp>
      <p:sp>
        <p:nvSpPr>
          <p:cNvPr id="27" name="proof k_shortest_paths"/>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Each path is a witness a checker confirms. The ranking is Yen's theorem, tested on 700 random cases: not certified or revalidated.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many pairs, one kept index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index pays when it is reused or reach sets are large; every answer still carries its own proof.</a:t>
            </a:r>
            <a:endParaRPr lang="en-US" sz="1600" dirty="0"/>
          </a:p>
        </p:txBody>
      </p:sp>
      <p:sp>
        <p:nvSpPr>
          <p:cNvPr id="4" name="operation reachability_pairs"/>
          <p:cNvSpPr/>
          <p:nvPr/>
        </p:nvSpPr>
        <p:spPr>
          <a:xfrm>
            <a:off x="548640" y="1691640"/>
            <a:ext cx="6248095" cy="4526280"/>
          </a:xfrm>
          <a:prstGeom prst="roundRect">
            <a:avLst>
              <a:gd name="adj" fmla="val 2020"/>
            </a:avLst>
          </a:prstGeom>
          <a:solidFill>
            <a:schemeClr val="bg2"/>
          </a:solidFill>
          <a:ln/>
        </p:spPr>
      </p:sp>
      <p:sp>
        <p:nvSpPr>
          <p:cNvPr id="5" name="icon reachability_pairs"/>
          <p:cNvSpPr/>
          <p:nvPr/>
        </p:nvSpPr>
        <p:spPr>
          <a:xfrm>
            <a:off x="749808" y="1892808"/>
            <a:ext cx="512064" cy="512064"/>
          </a:xfrm>
          <a:prstGeom prst="ellipse">
            <a:avLst/>
          </a:prstGeom>
          <a:solidFill>
            <a:schemeClr val="accent1"/>
          </a:solidFill>
          <a:ln/>
        </p:spPr>
      </p:sp>
      <p:pic>
        <p:nvPicPr>
          <p:cNvPr id="6" name="Image 0" descr="reachability_pai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reachability_pairs</a:t>
            </a:r>
            <a:endParaRPr lang="en-US" sz="1500" dirty="0"/>
          </a:p>
          <a:p>
            <a:pPr indent="0" marL="0">
              <a:buNone/>
            </a:pPr>
            <a:r>
              <a:rPr lang="en-US" sz="1500" b="1" dirty="0">
                <a:solidFill>
                  <a:schemeClr val="tx1"/>
                </a:solidFill>
              </a:rPr>
              <a:t>Whether each source reaches its target</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2-hop index (Cohen, Halperin, Kaplan and Zwick, 2003), for checks asked again and again of one projection: each node keeps the hubs it reaches and the hubs that reach it; a source reaches a target exactly when the two labels share a hub.</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Pruned landmark labelling (Akiba, Iwata and Yoshida; Yano et al., 2013), hubs by (in-degree + 1)(out-degree + 1); a pair reads the smaller of its two labels. Kept on the projection, yet every request pays its full cost: a kept index changes only the time.</a:t>
            </a:r>
            <a:endParaRPr lang="en-US" sz="1500" dirty="0"/>
          </a:p>
        </p:txBody>
      </p:sp>
      <p:sp>
        <p:nvSpPr>
          <p:cNvPr id="9" name="proof reachability_pairs"/>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PROVEN BY</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A simple path per reachable pair: label pointers through the first common hub, loops cut, every hop charged. On request, each unreachable pair's source carries its closure, checked from the records.</a:t>
            </a:r>
            <a:endParaRPr lang="en-US" sz="1500" dirty="0"/>
          </a:p>
        </p:txBody>
      </p:sp>
      <p:sp>
        <p:nvSpPr>
          <p:cNvPr id="13" name="2-hop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s reaches t: their labels share hub h</a:t>
            </a:r>
            <a:endParaRPr lang="en-US" sz="1100" dirty="0"/>
          </a:p>
        </p:txBody>
      </p:sp>
      <p:sp>
        <p:nvSpPr>
          <p:cNvPr id="15" name="Shape 11"/>
          <p:cNvSpPr/>
          <p:nvPr/>
        </p:nvSpPr>
        <p:spPr>
          <a:xfrm>
            <a:off x="7746603" y="3307361"/>
            <a:ext cx="529844" cy="258129"/>
          </a:xfrm>
          <a:prstGeom prst="line">
            <a:avLst/>
          </a:prstGeom>
          <a:noFill/>
          <a:ln w="19050">
            <a:solidFill>
              <a:schemeClr val="accent6"/>
            </a:solidFill>
            <a:prstDash val="solid"/>
            <a:tailEnd type="triangle"/>
          </a:ln>
        </p:spPr>
      </p:sp>
      <p:sp>
        <p:nvSpPr>
          <p:cNvPr id="16" name="Shape 12"/>
          <p:cNvSpPr/>
          <p:nvPr/>
        </p:nvSpPr>
        <p:spPr>
          <a:xfrm flipV="1">
            <a:off x="8638143" y="3315370"/>
            <a:ext cx="529844" cy="258129"/>
          </a:xfrm>
          <a:prstGeom prst="line">
            <a:avLst/>
          </a:prstGeom>
          <a:noFill/>
          <a:ln w="19050">
            <a:solidFill>
              <a:schemeClr val="accent6"/>
            </a:solidFill>
            <a:prstDash val="solid"/>
            <a:tailEnd type="triangle"/>
          </a:ln>
        </p:spPr>
      </p:sp>
      <p:sp>
        <p:nvSpPr>
          <p:cNvPr id="17" name="Shape 13"/>
          <p:cNvSpPr/>
          <p:nvPr/>
        </p:nvSpPr>
        <p:spPr>
          <a:xfrm>
            <a:off x="9529683" y="3307361"/>
            <a:ext cx="529844" cy="258129"/>
          </a:xfrm>
          <a:prstGeom prst="line">
            <a:avLst/>
          </a:prstGeom>
          <a:noFill/>
          <a:ln w="19050">
            <a:solidFill>
              <a:schemeClr val="accent6"/>
            </a:solidFill>
            <a:prstDash val="solid"/>
            <a:tailEnd type="triangle"/>
          </a:ln>
        </p:spPr>
      </p:sp>
      <p:sp>
        <p:nvSpPr>
          <p:cNvPr id="18" name="Shape 14"/>
          <p:cNvSpPr/>
          <p:nvPr/>
        </p:nvSpPr>
        <p:spPr>
          <a:xfrm flipV="1">
            <a:off x="7746603" y="2881030"/>
            <a:ext cx="529844" cy="258129"/>
          </a:xfrm>
          <a:prstGeom prst="line">
            <a:avLst/>
          </a:prstGeom>
          <a:noFill/>
          <a:ln w="31750">
            <a:solidFill>
              <a:schemeClr val="accent2"/>
            </a:solidFill>
            <a:prstDash val="solid"/>
            <a:tailEnd type="triangle"/>
          </a:ln>
        </p:spPr>
      </p:sp>
      <p:sp>
        <p:nvSpPr>
          <p:cNvPr id="19" name="Shape 15"/>
          <p:cNvSpPr/>
          <p:nvPr/>
        </p:nvSpPr>
        <p:spPr>
          <a:xfrm>
            <a:off x="8638143" y="2873021"/>
            <a:ext cx="529844" cy="258129"/>
          </a:xfrm>
          <a:prstGeom prst="line">
            <a:avLst/>
          </a:prstGeom>
          <a:noFill/>
          <a:ln w="31750">
            <a:solidFill>
              <a:schemeClr val="accent2"/>
            </a:solidFill>
            <a:prstDash val="solid"/>
            <a:tailEnd type="triangle"/>
          </a:ln>
        </p:spPr>
      </p:sp>
      <p:sp>
        <p:nvSpPr>
          <p:cNvPr id="20" name="Shape 16"/>
          <p:cNvSpPr/>
          <p:nvPr/>
        </p:nvSpPr>
        <p:spPr>
          <a:xfrm flipV="1">
            <a:off x="9529683" y="2881030"/>
            <a:ext cx="529844" cy="258129"/>
          </a:xfrm>
          <a:prstGeom prst="line">
            <a:avLst/>
          </a:prstGeom>
          <a:noFill/>
          <a:ln w="31750">
            <a:solidFill>
              <a:schemeClr val="accent2"/>
            </a:solidFill>
            <a:prstDash val="solid"/>
            <a:tailEnd type="triangle"/>
          </a:ln>
        </p:spPr>
      </p:sp>
      <p:sp>
        <p:nvSpPr>
          <p:cNvPr id="21" name="Shape 17"/>
          <p:cNvSpPr/>
          <p:nvPr/>
        </p:nvSpPr>
        <p:spPr>
          <a:xfrm>
            <a:off x="10421223" y="2873021"/>
            <a:ext cx="529844" cy="258129"/>
          </a:xfrm>
          <a:prstGeom prst="line">
            <a:avLst/>
          </a:prstGeom>
          <a:noFill/>
          <a:ln w="31750">
            <a:solidFill>
              <a:schemeClr val="accent2"/>
            </a:solidFill>
            <a:prstDash val="solid"/>
            <a:tailEnd type="triangle"/>
          </a:ln>
        </p:spPr>
      </p:sp>
      <p:sp>
        <p:nvSpPr>
          <p:cNvPr id="22" name="node s"/>
          <p:cNvSpPr/>
          <p:nvPr/>
        </p:nvSpPr>
        <p:spPr>
          <a:xfrm>
            <a:off x="738195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27349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c"/>
          <p:cNvSpPr/>
          <p:nvPr/>
        </p:nvSpPr>
        <p:spPr>
          <a:xfrm>
            <a:off x="827349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5" name="node h"/>
          <p:cNvSpPr/>
          <p:nvPr/>
        </p:nvSpPr>
        <p:spPr>
          <a:xfrm>
            <a:off x="9165031" y="303123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h</a:t>
            </a:r>
            <a:endParaRPr lang="en-US" sz="1400" dirty="0"/>
          </a:p>
        </p:txBody>
      </p:sp>
      <p:sp>
        <p:nvSpPr>
          <p:cNvPr id="26" name="node b"/>
          <p:cNvSpPr/>
          <p:nvPr/>
        </p:nvSpPr>
        <p:spPr>
          <a:xfrm>
            <a:off x="1005657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7" name="node d"/>
          <p:cNvSpPr/>
          <p:nvPr/>
        </p:nvSpPr>
        <p:spPr>
          <a:xfrm>
            <a:off x="1005657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8" name="node t"/>
          <p:cNvSpPr/>
          <p:nvPr/>
        </p:nvSpPr>
        <p:spPr>
          <a:xfrm>
            <a:off x="1094811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t</a:t>
            </a:r>
            <a:endParaRPr lang="en-US" sz="1400" dirty="0"/>
          </a:p>
        </p:txBody>
      </p:sp>
      <p:sp>
        <p:nvSpPr>
          <p:cNvPr id="29" name="Text 25"/>
          <p:cNvSpPr txBox="1"/>
          <p:nvPr/>
        </p:nvSpPr>
        <p:spPr>
          <a:xfrm>
            <a:off x="7345375" y="4005072"/>
            <a:ext cx="4023360" cy="5486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out(s) = {h, …}</a:t>
            </a:r>
            <a:pPr indent="0" marL="0">
              <a:buNone/>
            </a:pPr>
            <a:r>
              <a:rPr lang="en-US" sz="1400" dirty="0">
                <a:solidFill>
                  <a:schemeClr val="tx1"/>
                </a:solidFill>
              </a:rPr>
              <a:t>  the hubs s reaches</a:t>
            </a:r>
            <a:endParaRPr lang="en-US" sz="1400" dirty="0"/>
          </a:p>
          <a:p>
            <a:pPr indent="0" marL="0">
              <a:buNone/>
            </a:pPr>
            <a:r>
              <a:rPr lang="en-US" sz="1400" b="1" dirty="0">
                <a:solidFill>
                  <a:schemeClr val="accent1"/>
                </a:solidFill>
                <a:latin typeface="Courier New" pitchFamily="34" charset="0"/>
                <a:ea typeface="Courier New" pitchFamily="34" charset="-122"/>
                <a:cs typeface="Courier New" pitchFamily="34" charset="-120"/>
              </a:rPr>
              <a:t>in(t)  = {h, …}</a:t>
            </a:r>
            <a:pPr indent="0" marL="0">
              <a:buNone/>
            </a:pPr>
            <a:r>
              <a:rPr lang="en-US" sz="1400" dirty="0">
                <a:solidFill>
                  <a:schemeClr val="tx1"/>
                </a:solidFill>
              </a:rPr>
              <a:t>  the hubs that reach t</a:t>
            </a:r>
            <a:endParaRPr lang="en-US" sz="1400" dirty="0"/>
          </a:p>
        </p:txBody>
      </p:sp>
      <p:sp>
        <p:nvSpPr>
          <p:cNvPr id="30" name="time index built"/>
          <p:cNvSpPr/>
          <p:nvPr/>
        </p:nvSpPr>
        <p:spPr>
          <a:xfrm>
            <a:off x="7345375" y="4736592"/>
            <a:ext cx="1920240" cy="566928"/>
          </a:xfrm>
          <a:prstGeom prst="roundRect">
            <a:avLst>
              <a:gd name="adj" fmla="val 16129"/>
            </a:avLst>
          </a:prstGeom>
          <a:solidFill>
            <a:schemeClr val="bg2"/>
          </a:solidFill>
          <a:ln/>
        </p:spPr>
      </p:sp>
      <p:sp>
        <p:nvSpPr>
          <p:cNvPr id="31" name="Text 27"/>
          <p:cNvSpPr txBox="1"/>
          <p:nvPr/>
        </p:nvSpPr>
        <p:spPr>
          <a:xfrm>
            <a:off x="748253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1.2 s  </a:t>
            </a:r>
            <a:pPr indent="0" marL="0">
              <a:buNone/>
            </a:pPr>
            <a:r>
              <a:rPr lang="en-US" sz="1400" dirty="0">
                <a:solidFill>
                  <a:schemeClr val="tx1"/>
                </a:solidFill>
              </a:rPr>
              <a:t>index built</a:t>
            </a:r>
            <a:endParaRPr lang="en-US" sz="2200" dirty="0"/>
          </a:p>
        </p:txBody>
      </p:sp>
      <p:sp>
        <p:nvSpPr>
          <p:cNvPr id="32" name="time index kept"/>
          <p:cNvSpPr/>
          <p:nvPr/>
        </p:nvSpPr>
        <p:spPr>
          <a:xfrm>
            <a:off x="9448495" y="4736592"/>
            <a:ext cx="1920240" cy="566928"/>
          </a:xfrm>
          <a:prstGeom prst="roundRect">
            <a:avLst>
              <a:gd name="adj" fmla="val 16129"/>
            </a:avLst>
          </a:prstGeom>
          <a:solidFill>
            <a:schemeClr val="bg2"/>
          </a:solidFill>
          <a:ln/>
        </p:spPr>
      </p:sp>
      <p:sp>
        <p:nvSpPr>
          <p:cNvPr id="33" name="Text 29"/>
          <p:cNvSpPr txBox="1"/>
          <p:nvPr/>
        </p:nvSpPr>
        <p:spPr>
          <a:xfrm>
            <a:off x="958565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0.33 s  </a:t>
            </a:r>
            <a:pPr indent="0" marL="0">
              <a:buNone/>
            </a:pPr>
            <a:r>
              <a:rPr lang="en-US" sz="1400" dirty="0">
                <a:solidFill>
                  <a:schemeClr val="tx1"/>
                </a:solidFill>
              </a:rPr>
              <a:t>index kept</a:t>
            </a:r>
            <a:endParaRPr lang="en-US" sz="2200" dirty="0"/>
          </a:p>
        </p:txBody>
      </p:sp>
      <p:sp>
        <p:nvSpPr>
          <p:cNvPr id="34" name="Text 30"/>
          <p:cNvSpPr txBox="1"/>
          <p:nvPr/>
        </p:nvSpPr>
        <p:spPr>
          <a:xfrm>
            <a:off x="7345375" y="544068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same </a:t>
            </a:r>
            <a:pPr indent="0" marL="0">
              <a:buNone/>
            </a:pPr>
            <a:r>
              <a:rPr lang="en-US" sz="14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stats and status either way: each request is charged the index's full cost (10,000 pairs; 100k nodes, 300k edges).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Datalog over the records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Lineage, provenance closures, "supported through a dataset": any question that is a fixpoint of joins.</a:t>
            </a:r>
            <a:endParaRPr lang="en-US" sz="1600" dirty="0"/>
          </a:p>
        </p:txBody>
      </p:sp>
      <p:sp>
        <p:nvSpPr>
          <p:cNvPr id="4" name="operation datalog"/>
          <p:cNvSpPr/>
          <p:nvPr/>
        </p:nvSpPr>
        <p:spPr>
          <a:xfrm>
            <a:off x="548640" y="1691640"/>
            <a:ext cx="6248095" cy="4526280"/>
          </a:xfrm>
          <a:prstGeom prst="roundRect">
            <a:avLst>
              <a:gd name="adj" fmla="val 2020"/>
            </a:avLst>
          </a:prstGeom>
          <a:solidFill>
            <a:schemeClr val="bg2"/>
          </a:solidFill>
          <a:ln/>
        </p:spPr>
      </p:sp>
      <p:sp>
        <p:nvSpPr>
          <p:cNvPr id="5" name="icon datalog"/>
          <p:cNvSpPr/>
          <p:nvPr/>
        </p:nvSpPr>
        <p:spPr>
          <a:xfrm>
            <a:off x="749808" y="1892808"/>
            <a:ext cx="512064" cy="512064"/>
          </a:xfrm>
          <a:prstGeom prst="ellipse">
            <a:avLst/>
          </a:prstGeom>
          <a:solidFill>
            <a:schemeClr val="accent1"/>
          </a:solidFill>
          <a:ln/>
        </p:spPr>
      </p:sp>
      <p:pic>
        <p:nvPicPr>
          <p:cNvPr id="6" name="Image 0" descr="datalog">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datalog</a:t>
            </a:r>
            <a:endParaRPr lang="en-US" sz="1500" dirty="0"/>
          </a:p>
          <a:p>
            <a:pPr indent="0" marL="0">
              <a:buNone/>
            </a:pPr>
            <a:r>
              <a:rPr lang="en-US" sz="1500" b="1" dirty="0">
                <a:solidFill>
                  <a:schemeClr val="tx1"/>
                </a:solidFill>
              </a:rPr>
              <a:t>Recursive rules over the records, each fact proven</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positive, function-free, range-restricted program over the records: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node(N)</a:t>
            </a:r>
            <a:pPr indent="0" marL="0">
              <a:spcAft>
                <a:spcPts val="840"/>
              </a:spcAft>
              <a:buNone/>
            </a:pPr>
            <a:r>
              <a:rPr lang="en-US" sz="1400" dirty="0">
                <a:solidFill>
                  <a:schemeClr val="tx1"/>
                </a:solidFill>
              </a:rPr>
              <a: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type(N, T)</a:t>
            </a:r>
            <a:pPr indent="0" marL="0">
              <a:spcAft>
                <a:spcPts val="840"/>
              </a:spcAft>
              <a:buNone/>
            </a:pPr>
            <a:r>
              <a:rPr lang="en-US" sz="1400" dirty="0">
                <a:solidFill>
                  <a:schemeClr val="tx1"/>
                </a:solidFill>
              </a:rPr>
              <a:t> with the type hierarchy,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edge(E, S, T, R)</a:t>
            </a:r>
            <a:pPr indent="0" marL="0">
              <a:spcAft>
                <a:spcPts val="840"/>
              </a:spcAft>
              <a:buNone/>
            </a:pPr>
            <a:r>
              <a:rPr lang="en-US" sz="1400" dirty="0">
                <a:solidFill>
                  <a:schemeClr val="tx1"/>
                </a:solidFill>
              </a:rPr>
              <a:t> with every relation above R. Its meaning is the least model, the smallest set of facts closed under every rule (Abiteboul, Hull and Vianu, 1995).</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Semi-naive evaluation (Bancilhon, 1986), predicate components in dependency order: each round joins at least one fact the last round found. Joins run most-bound-first on indexes; facts and derivations do not depend on the hash seed.</a:t>
            </a:r>
            <a:endParaRPr lang="en-US" sz="1400" dirty="0"/>
          </a:p>
        </p:txBody>
      </p:sp>
      <p:sp>
        <p:nvSpPr>
          <p:cNvPr id="9" name="proof datalog"/>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Each fact keeps one derivation, its rule and premises, at a rank above theirs: a well-founded proof checked in its size. On request, the whole least model, which the verifier proves closed under every rule.</a:t>
            </a:r>
            <a:endParaRPr lang="en-US" sz="1400" dirty="0"/>
          </a:p>
        </p:txBody>
      </p:sp>
      <p:sp>
        <p:nvSpPr>
          <p:cNvPr id="13" name="datalog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600" b="1" dirty="0">
                <a:solidFill>
                  <a:schemeClr val="tx1"/>
                </a:solidFill>
              </a:rPr>
              <a:t>Transitive closure in two rules</a:t>
            </a:r>
            <a:endParaRPr lang="en-US" sz="1100" dirty="0"/>
          </a:p>
        </p:txBody>
      </p:sp>
      <p:sp>
        <p:nvSpPr>
          <p:cNvPr id="15" name="datalog program"/>
          <p:cNvSpPr/>
          <p:nvPr/>
        </p:nvSpPr>
        <p:spPr>
          <a:xfrm>
            <a:off x="7345375" y="2560320"/>
            <a:ext cx="4023360" cy="841248"/>
          </a:xfrm>
          <a:prstGeom prst="roundRect">
            <a:avLst>
              <a:gd name="adj" fmla="val 10870"/>
            </a:avLst>
          </a:prstGeom>
          <a:solidFill>
            <a:schemeClr val="bg2"/>
          </a:solidFill>
          <a:ln/>
        </p:spPr>
      </p:sp>
      <p:sp>
        <p:nvSpPr>
          <p:cNvPr id="16" name="Text 12"/>
          <p:cNvSpPr txBox="1"/>
          <p:nvPr/>
        </p:nvSpPr>
        <p:spPr>
          <a:xfrm>
            <a:off x="7482535" y="2651760"/>
            <a:ext cx="502920" cy="219456"/>
          </a:xfrm>
          <a:prstGeom prst="rect">
            <a:avLst/>
          </a:prstGeom>
          <a:noFill/>
          <a:ln/>
        </p:spPr>
        <p:txBody>
          <a:bodyPr wrap="square" lIns="0" tIns="0" rIns="0" bIns="0" rtlCol="0" anchor="ctr"/>
          <a:lstStyle/>
          <a:p>
            <a:pPr indent="0" marL="0">
              <a:buNone/>
            </a:pPr>
            <a:r>
              <a:rPr lang="en-US" sz="1300" b="1" dirty="0">
                <a:solidFill>
                  <a:schemeClr val="accent1"/>
                </a:solidFill>
              </a:rPr>
              <a:t>base</a:t>
            </a:r>
            <a:endParaRPr lang="en-US" sz="1300" dirty="0"/>
          </a:p>
        </p:txBody>
      </p:sp>
      <p:sp>
        <p:nvSpPr>
          <p:cNvPr id="17" name="Text 13"/>
          <p:cNvSpPr txBox="1"/>
          <p:nvPr/>
        </p:nvSpPr>
        <p:spPr>
          <a:xfrm>
            <a:off x="8031175" y="2651760"/>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reach(?x,?y) :- edge(?e,?x,?y,R)</a:t>
            </a:r>
            <a:endParaRPr lang="en-US" sz="1300" dirty="0"/>
          </a:p>
        </p:txBody>
      </p:sp>
      <p:sp>
        <p:nvSpPr>
          <p:cNvPr id="18" name="Text 14"/>
          <p:cNvSpPr txBox="1"/>
          <p:nvPr/>
        </p:nvSpPr>
        <p:spPr>
          <a:xfrm>
            <a:off x="7482535" y="2871216"/>
            <a:ext cx="502920" cy="219456"/>
          </a:xfrm>
          <a:prstGeom prst="rect">
            <a:avLst/>
          </a:prstGeom>
          <a:noFill/>
          <a:ln/>
        </p:spPr>
        <p:txBody>
          <a:bodyPr wrap="square" lIns="0" tIns="0" rIns="0" bIns="0" rtlCol="0" anchor="ctr"/>
          <a:lstStyle/>
          <a:p>
            <a:pPr indent="0" marL="0">
              <a:buNone/>
            </a:pPr>
            <a:r>
              <a:rPr lang="en-US" sz="1300" b="1" dirty="0">
                <a:solidFill>
                  <a:schemeClr val="accent1"/>
                </a:solidFill>
              </a:rPr>
              <a:t>step</a:t>
            </a:r>
            <a:endParaRPr lang="en-US" sz="1300" dirty="0"/>
          </a:p>
        </p:txBody>
      </p:sp>
      <p:sp>
        <p:nvSpPr>
          <p:cNvPr id="19" name="Text 15"/>
          <p:cNvSpPr txBox="1"/>
          <p:nvPr/>
        </p:nvSpPr>
        <p:spPr>
          <a:xfrm>
            <a:off x="8031175" y="2871216"/>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reach(?x,?z) :- reach(?x,?y),</a:t>
            </a:r>
            <a:endParaRPr lang="en-US" sz="1300" dirty="0"/>
          </a:p>
        </p:txBody>
      </p:sp>
      <p:sp>
        <p:nvSpPr>
          <p:cNvPr id="20" name="Text 16"/>
          <p:cNvSpPr txBox="1"/>
          <p:nvPr/>
        </p:nvSpPr>
        <p:spPr>
          <a:xfrm>
            <a:off x="8031175" y="3090672"/>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                edge(?e,?y,?z,R)</a:t>
            </a:r>
            <a:endParaRPr lang="en-US" sz="1300" dirty="0"/>
          </a:p>
        </p:txBody>
      </p:sp>
      <p:sp>
        <p:nvSpPr>
          <p:cNvPr id="21" name="Text 17"/>
          <p:cNvSpPr txBox="1"/>
          <p:nvPr/>
        </p:nvSpPr>
        <p:spPr>
          <a:xfrm>
            <a:off x="7345375" y="3557016"/>
            <a:ext cx="4023360" cy="246888"/>
          </a:xfrm>
          <a:prstGeom prst="rect">
            <a:avLst/>
          </a:prstGeom>
          <a:noFill/>
          <a:ln/>
        </p:spPr>
        <p:txBody>
          <a:bodyPr wrap="square" lIns="0" tIns="0" rIns="0" bIns="0" rtlCol="0" anchor="ctr"/>
          <a:lstStyle/>
          <a:p>
            <a:pPr indent="0" marL="0">
              <a:buNone/>
            </a:pPr>
            <a:r>
              <a:rPr lang="en-US" sz="1100" b="1" spc="100" kern="0" dirty="0">
                <a:solidFill>
                  <a:schemeClr val="accent6"/>
                </a:solidFill>
              </a:rPr>
              <a:t>THE DERIVATION OF </a:t>
            </a:r>
            <a:pPr indent="0" marL="0">
              <a:buNone/>
            </a:pPr>
            <a:r>
              <a:rPr lang="en-US" sz="1200" b="1" dirty="0">
                <a:solidFill>
                  <a:schemeClr val="accent1"/>
                </a:solidFill>
                <a:latin typeface="Courier New" pitchFamily="34" charset="0"/>
                <a:ea typeface="Courier New" pitchFamily="34" charset="-122"/>
                <a:cs typeface="Courier New" pitchFamily="34" charset="-120"/>
              </a:rPr>
              <a:t>reach(a,d)</a:t>
            </a:r>
            <a:endParaRPr lang="en-US" sz="1100" dirty="0"/>
          </a:p>
        </p:txBody>
      </p:sp>
      <p:sp>
        <p:nvSpPr>
          <p:cNvPr id="22" name="Text 18"/>
          <p:cNvSpPr txBox="1"/>
          <p:nvPr/>
        </p:nvSpPr>
        <p:spPr>
          <a:xfrm>
            <a:off x="7345375" y="3877056"/>
            <a:ext cx="594360" cy="310896"/>
          </a:xfrm>
          <a:prstGeom prst="rect">
            <a:avLst/>
          </a:prstGeom>
          <a:noFill/>
          <a:ln/>
        </p:spPr>
        <p:txBody>
          <a:bodyPr wrap="square" lIns="0" tIns="0" rIns="0" bIns="0" rtlCol="0" anchor="ctr"/>
          <a:lstStyle/>
          <a:p>
            <a:pPr indent="0" marL="0">
              <a:buNone/>
            </a:pPr>
            <a:r>
              <a:rPr lang="en-US" sz="1400" b="1" dirty="0">
                <a:solidFill>
                  <a:schemeClr val="accent2"/>
                </a:solidFill>
              </a:rPr>
              <a:t>rank 3</a:t>
            </a:r>
            <a:endParaRPr lang="en-US" sz="1400" dirty="0"/>
          </a:p>
        </p:txBody>
      </p:sp>
      <p:sp>
        <p:nvSpPr>
          <p:cNvPr id="23" name="fact reach(a,d)"/>
          <p:cNvSpPr/>
          <p:nvPr/>
        </p:nvSpPr>
        <p:spPr>
          <a:xfrm>
            <a:off x="8031175" y="3877056"/>
            <a:ext cx="1188720" cy="310896"/>
          </a:xfrm>
          <a:prstGeom prst="roundRect">
            <a:avLst>
              <a:gd name="adj" fmla="val 23529"/>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reach(a,d)</a:t>
            </a:r>
            <a:endParaRPr lang="en-US" sz="1400" dirty="0"/>
          </a:p>
        </p:txBody>
      </p:sp>
      <p:sp>
        <p:nvSpPr>
          <p:cNvPr id="24" name="Text 20"/>
          <p:cNvSpPr txBox="1"/>
          <p:nvPr/>
        </p:nvSpPr>
        <p:spPr>
          <a:xfrm>
            <a:off x="9384487" y="3877056"/>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step  </a:t>
            </a:r>
            <a:pPr indent="0" marL="0">
              <a:buNone/>
            </a:pPr>
            <a:r>
              <a:rPr lang="en-US" sz="1300" dirty="0">
                <a:solidFill>
                  <a:schemeClr val="tx1"/>
                </a:solidFill>
                <a:latin typeface="Courier New" pitchFamily="34" charset="0"/>
                <a:ea typeface="Courier New" pitchFamily="34" charset="-122"/>
                <a:cs typeface="Courier New" pitchFamily="34" charset="-120"/>
              </a:rPr>
              <a:t>edge(e4,c,d,R)</a:t>
            </a:r>
            <a:endParaRPr lang="en-US" sz="1400" dirty="0"/>
          </a:p>
        </p:txBody>
      </p:sp>
      <p:sp>
        <p:nvSpPr>
          <p:cNvPr id="25" name="Text 21"/>
          <p:cNvSpPr txBox="1"/>
          <p:nvPr/>
        </p:nvSpPr>
        <p:spPr>
          <a:xfrm>
            <a:off x="7345375" y="4389120"/>
            <a:ext cx="594360" cy="310896"/>
          </a:xfrm>
          <a:prstGeom prst="rect">
            <a:avLst/>
          </a:prstGeom>
          <a:noFill/>
          <a:ln/>
        </p:spPr>
        <p:txBody>
          <a:bodyPr wrap="square" lIns="0" tIns="0" rIns="0" bIns="0" rtlCol="0" anchor="ctr"/>
          <a:lstStyle/>
          <a:p>
            <a:pPr indent="0" marL="0">
              <a:buNone/>
            </a:pPr>
            <a:r>
              <a:rPr lang="en-US" sz="1400" b="1" dirty="0">
                <a:solidFill>
                  <a:schemeClr val="accent6"/>
                </a:solidFill>
              </a:rPr>
              <a:t>rank 2</a:t>
            </a:r>
            <a:endParaRPr lang="en-US" sz="1400" dirty="0"/>
          </a:p>
        </p:txBody>
      </p:sp>
      <p:sp>
        <p:nvSpPr>
          <p:cNvPr id="26" name="fact reach(a,c)"/>
          <p:cNvSpPr/>
          <p:nvPr/>
        </p:nvSpPr>
        <p:spPr>
          <a:xfrm>
            <a:off x="8031175" y="4389120"/>
            <a:ext cx="11887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reach(a,c)</a:t>
            </a:r>
            <a:endParaRPr lang="en-US" sz="1400" dirty="0"/>
          </a:p>
        </p:txBody>
      </p:sp>
      <p:sp>
        <p:nvSpPr>
          <p:cNvPr id="27" name="Text 23"/>
          <p:cNvSpPr txBox="1"/>
          <p:nvPr/>
        </p:nvSpPr>
        <p:spPr>
          <a:xfrm>
            <a:off x="9384487" y="4389120"/>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step  </a:t>
            </a:r>
            <a:pPr indent="0" marL="0">
              <a:buNone/>
            </a:pPr>
            <a:r>
              <a:rPr lang="en-US" sz="1300" dirty="0">
                <a:solidFill>
                  <a:schemeClr val="tx1"/>
                </a:solidFill>
                <a:latin typeface="Courier New" pitchFamily="34" charset="0"/>
                <a:ea typeface="Courier New" pitchFamily="34" charset="-122"/>
                <a:cs typeface="Courier New" pitchFamily="34" charset="-120"/>
              </a:rPr>
              <a:t>edge(e2,b,c,R)</a:t>
            </a:r>
            <a:endParaRPr lang="en-US" sz="1400" dirty="0"/>
          </a:p>
        </p:txBody>
      </p:sp>
      <p:sp>
        <p:nvSpPr>
          <p:cNvPr id="28" name="Shape 24"/>
          <p:cNvSpPr/>
          <p:nvPr/>
        </p:nvSpPr>
        <p:spPr>
          <a:xfrm flipV="1">
            <a:off x="8625535" y="4215384"/>
            <a:ext cx="0" cy="155448"/>
          </a:xfrm>
          <a:prstGeom prst="line">
            <a:avLst/>
          </a:prstGeom>
          <a:noFill/>
          <a:ln w="19050">
            <a:solidFill>
              <a:schemeClr val="accent6"/>
            </a:solidFill>
            <a:prstDash val="solid"/>
            <a:tailEnd type="triangle"/>
          </a:ln>
        </p:spPr>
      </p:sp>
      <p:sp>
        <p:nvSpPr>
          <p:cNvPr id="29" name="Text 25"/>
          <p:cNvSpPr txBox="1"/>
          <p:nvPr/>
        </p:nvSpPr>
        <p:spPr>
          <a:xfrm>
            <a:off x="7345375" y="4901184"/>
            <a:ext cx="594360" cy="310896"/>
          </a:xfrm>
          <a:prstGeom prst="rect">
            <a:avLst/>
          </a:prstGeom>
          <a:noFill/>
          <a:ln/>
        </p:spPr>
        <p:txBody>
          <a:bodyPr wrap="square" lIns="0" tIns="0" rIns="0" bIns="0" rtlCol="0" anchor="ctr"/>
          <a:lstStyle/>
          <a:p>
            <a:pPr indent="0" marL="0">
              <a:buNone/>
            </a:pPr>
            <a:r>
              <a:rPr lang="en-US" sz="1400" b="1" dirty="0">
                <a:solidFill>
                  <a:schemeClr val="accent6"/>
                </a:solidFill>
              </a:rPr>
              <a:t>rank 1</a:t>
            </a:r>
            <a:endParaRPr lang="en-US" sz="1400" dirty="0"/>
          </a:p>
        </p:txBody>
      </p:sp>
      <p:sp>
        <p:nvSpPr>
          <p:cNvPr id="30" name="fact reach(a,b)"/>
          <p:cNvSpPr/>
          <p:nvPr/>
        </p:nvSpPr>
        <p:spPr>
          <a:xfrm>
            <a:off x="8031175" y="4901184"/>
            <a:ext cx="11887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reach(a,b)</a:t>
            </a:r>
            <a:endParaRPr lang="en-US" sz="1400" dirty="0"/>
          </a:p>
        </p:txBody>
      </p:sp>
      <p:sp>
        <p:nvSpPr>
          <p:cNvPr id="31" name="Text 27"/>
          <p:cNvSpPr txBox="1"/>
          <p:nvPr/>
        </p:nvSpPr>
        <p:spPr>
          <a:xfrm>
            <a:off x="9384487" y="4901184"/>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base  </a:t>
            </a:r>
            <a:pPr indent="0" marL="0">
              <a:buNone/>
            </a:pPr>
            <a:r>
              <a:rPr lang="en-US" sz="1300" dirty="0">
                <a:solidFill>
                  <a:schemeClr val="tx1"/>
                </a:solidFill>
                <a:latin typeface="Courier New" pitchFamily="34" charset="0"/>
                <a:ea typeface="Courier New" pitchFamily="34" charset="-122"/>
                <a:cs typeface="Courier New" pitchFamily="34" charset="-120"/>
              </a:rPr>
              <a:t>edge(e1,a,b,R)</a:t>
            </a:r>
            <a:endParaRPr lang="en-US" sz="1400" dirty="0"/>
          </a:p>
        </p:txBody>
      </p:sp>
      <p:sp>
        <p:nvSpPr>
          <p:cNvPr id="32" name="Shape 28"/>
          <p:cNvSpPr/>
          <p:nvPr/>
        </p:nvSpPr>
        <p:spPr>
          <a:xfrm flipV="1">
            <a:off x="8625535" y="4727448"/>
            <a:ext cx="0" cy="155448"/>
          </a:xfrm>
          <a:prstGeom prst="line">
            <a:avLst/>
          </a:prstGeom>
          <a:noFill/>
          <a:ln w="19050">
            <a:solidFill>
              <a:schemeClr val="accent6"/>
            </a:solidFill>
            <a:prstDash val="solid"/>
            <a:tailEnd type="triangle"/>
          </a:ln>
        </p:spPr>
      </p:sp>
      <p:sp>
        <p:nvSpPr>
          <p:cNvPr id="33" name="Text 29"/>
          <p:cNvSpPr txBox="1"/>
          <p:nvPr/>
        </p:nvSpPr>
        <p:spPr>
          <a:xfrm>
            <a:off x="7345375" y="5376672"/>
            <a:ext cx="4023360" cy="749808"/>
          </a:xfrm>
          <a:prstGeom prst="rect">
            <a:avLst/>
          </a:prstGeom>
          <a:noFill/>
          <a:ln/>
        </p:spPr>
        <p:txBody>
          <a:bodyPr wrap="square" lIns="0" tIns="0" rIns="0" bIns="0" rtlCol="0" anchor="t"/>
          <a:lstStyle/>
          <a:p>
            <a:pPr indent="0" marL="0">
              <a:buNone/>
            </a:pPr>
            <a:r>
              <a:rPr lang="en-US" sz="1400" dirty="0">
                <a:solidFill>
                  <a:schemeClr val="tx1"/>
                </a:solidFill>
              </a:rPr>
              <a:t>Each premise ranks lower: a well-founded proof. On the R edges a→b→c→a, c→d and x→d, the model has 13 facts; </a:t>
            </a:r>
            <a:pPr indent="0" marL="0">
              <a:buNone/>
            </a:pPr>
            <a:r>
              <a:rPr lang="en-US" sz="1300" dirty="0">
                <a:solidFill>
                  <a:schemeClr val="tx1"/>
                </a:solidFill>
                <a:latin typeface="Courier New" pitchFamily="34" charset="0"/>
                <a:ea typeface="Courier New" pitchFamily="34" charset="-122"/>
                <a:cs typeface="Courier New" pitchFamily="34" charset="-120"/>
              </a:rPr>
              <a:t>reach(a,?y)</a:t>
            </a:r>
            <a:pPr indent="0" marL="0">
              <a:buNone/>
            </a:pPr>
            <a:r>
              <a:rPr lang="en-US" sz="1400" dirty="0">
                <a:solidFill>
                  <a:schemeClr val="tx1"/>
                </a:solidFill>
              </a:rPr>
              <a:t> answers a, b, c and 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 substructures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cycles and injective matches.</a:t>
            </a:r>
            <a:endParaRPr lang="en-US" sz="1600" dirty="0"/>
          </a:p>
        </p:txBody>
      </p:sp>
      <p:sp>
        <p:nvSpPr>
          <p:cNvPr id="4" name="operation pattern · trees"/>
          <p:cNvSpPr/>
          <p:nvPr/>
        </p:nvSpPr>
        <p:spPr>
          <a:xfrm>
            <a:off x="548640" y="1691640"/>
            <a:ext cx="3515258" cy="4526280"/>
          </a:xfrm>
          <a:prstGeom prst="roundRect">
            <a:avLst>
              <a:gd name="adj" fmla="val 2601"/>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Variables bound by types (through the hierarchy) or IDs, then steps, each one hop from an earlier variable; optional steps keep their row.</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Yannakakis' semi-join reduction: discover down, prune up, prune down. Totals are counted exactly without listing the rows.</a:t>
            </a:r>
            <a:endParaRPr lang="en-US" sz="1400" dirty="0"/>
          </a:p>
        </p:txBody>
      </p:sp>
      <p:sp>
        <p:nvSpPr>
          <p:cNvPr id="9" name="proof pattern · trees"/>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checks every row; rows and totals match a brute-force enumerator (400 random patterns) and SCALE's own engine.</a:t>
            </a:r>
            <a:endParaRPr lang="en-US" sz="1300" dirty="0"/>
          </a:p>
        </p:txBody>
      </p:sp>
      <p:sp>
        <p:nvSpPr>
          <p:cNvPr id="13" name="operation pattern · cycles"/>
          <p:cNvSpPr/>
          <p:nvPr/>
        </p:nvSpPr>
        <p:spPr>
          <a:xfrm>
            <a:off x="4338218" y="1691640"/>
            <a:ext cx="3515258" cy="4526280"/>
          </a:xfrm>
          <a:prstGeom prst="roundRect">
            <a:avLst>
              <a:gd name="adj" fmla="val 2601"/>
            </a:avLst>
          </a:prstGeom>
          <a:solidFill>
            <a:schemeClr val="bg2"/>
          </a:solidFill>
          <a:ln/>
        </p:spPr>
      </p:sp>
      <p:sp>
        <p:nvSpPr>
          <p:cNvPr id="14" name="icon pattern · cycles"/>
          <p:cNvSpPr/>
          <p:nvPr/>
        </p:nvSpPr>
        <p:spPr>
          <a:xfrm>
            <a:off x="453938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step may close a cycle: two supports of a claim from one dataset, a triangle of citations.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Listed by a worst-case optimal join (Ngo, Porat, Ré and Rudra); counted without listing by variable elimination over a tree decomposition (FAQ).</a:t>
            </a:r>
            <a:endParaRPr lang="en-US" sz="1400" dirty="0"/>
          </a:p>
        </p:txBody>
      </p:sp>
      <p:sp>
        <p:nvSpPr>
          <p:cNvPr id="18" name="proof pattern · cycles"/>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Rows against brute force (300 random patterns); totals against brute force and numpy einsum (850 more). Not certified; never denies.</a:t>
            </a:r>
            <a:endParaRPr lang="en-US" sz="1400" dirty="0"/>
          </a:p>
        </p:txBody>
      </p:sp>
      <p:sp>
        <p:nvSpPr>
          <p:cNvPr id="22" name="operation pattern · injective"/>
          <p:cNvSpPr/>
          <p:nvPr/>
        </p:nvSpPr>
        <p:spPr>
          <a:xfrm>
            <a:off x="8127797" y="1691640"/>
            <a:ext cx="3515258" cy="4526280"/>
          </a:xfrm>
          <a:prstGeom prst="roundRect">
            <a:avLst>
              <a:gd name="adj" fmla="val 2601"/>
            </a:avLst>
          </a:prstGeom>
          <a:solidFill>
            <a:schemeClr val="bg2"/>
          </a:solidFill>
          <a:ln/>
        </p:spPr>
      </p:sp>
      <p:sp>
        <p:nvSpPr>
          <p:cNvPr id="23" name="icon pattern · injective"/>
          <p:cNvSpPr/>
          <p:nvPr/>
        </p:nvSpPr>
        <p:spPr>
          <a:xfrm>
            <a:off x="8328965" y="1892808"/>
            <a:ext cx="512064" cy="512064"/>
          </a:xfrm>
          <a:prstGeom prst="ellipse">
            <a:avLst/>
          </a:prstGeom>
          <a:solidFill>
            <a:schemeClr val="accent1"/>
          </a:solidFill>
          <a:ln/>
        </p:spPr>
      </p:sp>
      <p:pic>
        <p:nvPicPr>
          <p:cNvPr id="24" name="Image 4" descr="pattern · injective">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injective</a:t>
            </a:r>
            <a:endParaRPr lang="en-US" sz="1500" dirty="0"/>
          </a:p>
          <a:p>
            <a:pPr indent="0" marL="0">
              <a:buNone/>
            </a:pPr>
            <a:r>
              <a:rPr lang="en-US" sz="1500" b="1" dirty="0">
                <a:solidFill>
                  <a:schemeClr val="tx1"/>
                </a:solidFill>
              </a:rPr>
              <a:t>Substructure search</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injective: true</a:t>
            </a:r>
            <a:pPr indent="0" marL="0">
              <a:spcAft>
                <a:spcPts val="840"/>
              </a:spcAft>
              <a:buNone/>
            </a:pPr>
            <a:r>
              <a:rPr lang="en-US" sz="1400" dirty="0">
                <a:solidFill>
                  <a:schemeClr val="tx1"/>
                </a:solidFill>
              </a:rPr>
              <a:t>: distinct variables bind distinct nodes, distinct steps distinct edges. Motifs, catalytic sites, rings. No optional steps yet.</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Over the same Yannakakis-pruned candidates, skipping held nodes and used edges. NP-complete: budget-bounded; exact totals when done.</a:t>
            </a:r>
            <a:endParaRPr lang="en-US" sz="1400" dirty="0"/>
          </a:p>
        </p:txBody>
      </p:sp>
      <p:sp>
        <p:nvSpPr>
          <p:cNvPr id="27" name="proof pattern · injective"/>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Brute force filtered for distinctness, row for row (400 random patterns); networkx's monomorphisms. Interrupted: no absence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Isomorphism: one name for every copy</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Deduplicating molecules, motifs and provenance fragments: are two fragments one structure under other IDs?</a:t>
            </a:r>
            <a:endParaRPr lang="en-US" sz="1600" dirty="0"/>
          </a:p>
        </p:txBody>
      </p:sp>
      <p:sp>
        <p:nvSpPr>
          <p:cNvPr id="4" name="operation canonical_form"/>
          <p:cNvSpPr/>
          <p:nvPr/>
        </p:nvSpPr>
        <p:spPr>
          <a:xfrm>
            <a:off x="548640" y="1691640"/>
            <a:ext cx="3444088" cy="4526280"/>
          </a:xfrm>
          <a:prstGeom prst="roundRect">
            <a:avLst>
              <a:gd name="adj" fmla="val 2655"/>
            </a:avLst>
          </a:prstGeom>
          <a:solidFill>
            <a:schemeClr val="bg2"/>
          </a:solidFill>
          <a:ln/>
        </p:spPr>
      </p:sp>
      <p:sp>
        <p:nvSpPr>
          <p:cNvPr id="5" name="icon canonical_form"/>
          <p:cNvSpPr/>
          <p:nvPr/>
        </p:nvSpPr>
        <p:spPr>
          <a:xfrm>
            <a:off x="749808" y="1892808"/>
            <a:ext cx="512064" cy="512064"/>
          </a:xfrm>
          <a:prstGeom prst="ellipse">
            <a:avLst/>
          </a:prstGeom>
          <a:solidFill>
            <a:schemeClr val="accent1"/>
          </a:solidFill>
          <a:ln/>
        </p:spPr>
      </p:sp>
      <p:pic>
        <p:nvPicPr>
          <p:cNvPr id="6" name="Image 0" descr="canonical_form">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38338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canonical_form</a:t>
            </a:r>
            <a:endParaRPr lang="en-US" sz="1500" dirty="0"/>
          </a:p>
          <a:p>
            <a:pPr indent="0" marL="0">
              <a:buNone/>
            </a:pPr>
            <a:r>
              <a:rPr lang="en-US" sz="1500" b="1" dirty="0">
                <a:solidFill>
                  <a:schemeClr val="tx1"/>
                </a:solidFill>
              </a:rPr>
              <a:t>One name for every copy</a:t>
            </a:r>
            <a:endParaRPr lang="en-US" sz="1500" dirty="0"/>
          </a:p>
        </p:txBody>
      </p:sp>
      <p:sp>
        <p:nvSpPr>
          <p:cNvPr id="8" name="Text 5"/>
          <p:cNvSpPr txBox="1"/>
          <p:nvPr/>
        </p:nvSpPr>
        <p:spPr>
          <a:xfrm>
            <a:off x="749808" y="2569464"/>
            <a:ext cx="304175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node set's induced subgraph, with its types and relations, in canonical order; its digest names every copy.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Color refinement (1-WL, never IDs), then individualization and refinement with orbit pruning (McKay and Piperno, 2014).</a:t>
            </a:r>
            <a:endParaRPr lang="en-US" sz="1400" dirty="0"/>
          </a:p>
        </p:txBody>
      </p:sp>
      <p:sp>
        <p:nvSpPr>
          <p:cNvPr id="9" name="proof canonical_form"/>
          <p:cNvSpPr/>
          <p:nvPr/>
        </p:nvSpPr>
        <p:spPr>
          <a:xfrm>
            <a:off x="694944" y="4853940"/>
            <a:ext cx="315148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58455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237988"/>
            <a:ext cx="2932024" cy="705612"/>
          </a:xfrm>
          <a:prstGeom prst="rect">
            <a:avLst/>
          </a:prstGeom>
          <a:noFill/>
          <a:ln/>
        </p:spPr>
        <p:txBody>
          <a:bodyPr wrap="square" lIns="0" tIns="0" rIns="0" bIns="0" rtlCol="0" anchor="t"/>
          <a:lstStyle/>
          <a:p>
            <a:pPr indent="0" marL="0">
              <a:buNone/>
            </a:pPr>
            <a:r>
              <a:rPr lang="en-US" sz="1400" dirty="0">
                <a:solidFill>
                  <a:schemeClr val="tx1"/>
                </a:solidFill>
              </a:rPr>
              <a:t>The encoding is the graph relabeled, so equal ids prove isomorphism. That it is the least is not certified.</a:t>
            </a:r>
            <a:endParaRPr lang="en-US" sz="1400" dirty="0"/>
          </a:p>
        </p:txBody>
      </p:sp>
      <p:sp>
        <p:nvSpPr>
          <p:cNvPr id="13" name="operation isomorphism"/>
          <p:cNvSpPr/>
          <p:nvPr/>
        </p:nvSpPr>
        <p:spPr>
          <a:xfrm>
            <a:off x="4267048" y="1691640"/>
            <a:ext cx="3444088" cy="4526280"/>
          </a:xfrm>
          <a:prstGeom prst="roundRect">
            <a:avLst>
              <a:gd name="adj" fmla="val 2655"/>
            </a:avLst>
          </a:prstGeom>
          <a:solidFill>
            <a:schemeClr val="bg2"/>
          </a:solidFill>
          <a:ln/>
        </p:spPr>
      </p:sp>
      <p:sp>
        <p:nvSpPr>
          <p:cNvPr id="14" name="icon isomorphism"/>
          <p:cNvSpPr/>
          <p:nvPr/>
        </p:nvSpPr>
        <p:spPr>
          <a:xfrm>
            <a:off x="4468216" y="1892808"/>
            <a:ext cx="512064" cy="512064"/>
          </a:xfrm>
          <a:prstGeom prst="ellipse">
            <a:avLst/>
          </a:prstGeom>
          <a:solidFill>
            <a:schemeClr val="accent1"/>
          </a:solidFill>
          <a:ln/>
        </p:spPr>
      </p:sp>
      <p:pic>
        <p:nvPicPr>
          <p:cNvPr id="15" name="Image 2" descr="isomorphism">    </p:cNvPr>
          <p:cNvPicPr>
            <a:picLocks noChangeAspect="1"/>
          </p:cNvPicPr>
          <p:nvPr/>
        </p:nvPicPr>
        <p:blipFill>
          <a:blip r:embed="rId3"/>
          <a:stretch>
            <a:fillRect/>
          </a:stretch>
        </p:blipFill>
        <p:spPr>
          <a:xfrm>
            <a:off x="4580870" y="2005462"/>
            <a:ext cx="286756" cy="286756"/>
          </a:xfrm>
          <a:prstGeom prst="rect">
            <a:avLst/>
          </a:prstGeom>
        </p:spPr>
      </p:pic>
      <p:sp>
        <p:nvSpPr>
          <p:cNvPr id="16" name="Text 11"/>
          <p:cNvSpPr txBox="1"/>
          <p:nvPr/>
        </p:nvSpPr>
        <p:spPr>
          <a:xfrm>
            <a:off x="5126584" y="1874520"/>
            <a:ext cx="238338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isomorphism</a:t>
            </a:r>
            <a:endParaRPr lang="en-US" sz="1500" dirty="0"/>
          </a:p>
          <a:p>
            <a:pPr indent="0" marL="0">
              <a:buNone/>
            </a:pPr>
            <a:r>
              <a:rPr lang="en-US" sz="1500" b="1" dirty="0">
                <a:solidFill>
                  <a:schemeClr val="tx1"/>
                </a:solidFill>
              </a:rPr>
              <a:t>The same structure, or not</a:t>
            </a:r>
            <a:endParaRPr lang="en-US" sz="1500" dirty="0"/>
          </a:p>
        </p:txBody>
      </p:sp>
      <p:sp>
        <p:nvSpPr>
          <p:cNvPr id="17" name="Text 12"/>
          <p:cNvSpPr txBox="1"/>
          <p:nvPr/>
        </p:nvSpPr>
        <p:spPr>
          <a:xfrm>
            <a:off x="4468216" y="2569464"/>
            <a:ext cx="304175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Whether two node sets' graphs are equal up to renaming, colors and relations kept; the sets may overlap.</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Cheap negatives first: other counts, or color refinement of both graphs side by side. Else both canonical forms.</a:t>
            </a:r>
            <a:endParaRPr lang="en-US" sz="1400" dirty="0"/>
          </a:p>
        </p:txBody>
      </p:sp>
      <p:sp>
        <p:nvSpPr>
          <p:cNvPr id="18" name="proof isomorphism"/>
          <p:cNvSpPr/>
          <p:nvPr/>
        </p:nvSpPr>
        <p:spPr>
          <a:xfrm>
            <a:off x="4413352" y="4637024"/>
            <a:ext cx="315148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23080" y="4728464"/>
            <a:ext cx="246888" cy="246888"/>
          </a:xfrm>
          <a:prstGeom prst="rect">
            <a:avLst/>
          </a:prstGeom>
        </p:spPr>
      </p:pic>
      <p:sp>
        <p:nvSpPr>
          <p:cNvPr id="20" name="Text 14"/>
          <p:cNvSpPr txBox="1"/>
          <p:nvPr/>
        </p:nvSpPr>
        <p:spPr>
          <a:xfrm>
            <a:off x="4852264" y="4728464"/>
            <a:ext cx="258455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PROVEN BY</a:t>
            </a:r>
            <a:endParaRPr lang="en-US" sz="1100" dirty="0"/>
          </a:p>
        </p:txBody>
      </p:sp>
      <p:sp>
        <p:nvSpPr>
          <p:cNvPr id="21" name="Text 15"/>
          <p:cNvSpPr txBox="1"/>
          <p:nvPr/>
        </p:nvSpPr>
        <p:spPr>
          <a:xfrm>
            <a:off x="4523080" y="5021072"/>
            <a:ext cx="2932024" cy="922528"/>
          </a:xfrm>
          <a:prstGeom prst="rect">
            <a:avLst/>
          </a:prstGeom>
          <a:noFill/>
          <a:ln/>
        </p:spPr>
        <p:txBody>
          <a:bodyPr wrap="square" lIns="0" tIns="0" rIns="0" bIns="0" rtlCol="0" anchor="t"/>
          <a:lstStyle/>
          <a:p>
            <a:pPr indent="0" marL="0">
              <a:buNone/>
            </a:pPr>
            <a:r>
              <a:rPr lang="en-US" sz="1400" dirty="0">
                <a:solidFill>
                  <a:schemeClr val="tx1"/>
                </a:solidFill>
              </a:rPr>
              <a:t>A match: node and edge bijections. A mismatch: counts or refinement histograms if they differ; else the search, uncertified.</a:t>
            </a:r>
            <a:endParaRPr lang="en-US" sz="1400" dirty="0"/>
          </a:p>
        </p:txBody>
      </p:sp>
      <p:sp>
        <p:nvSpPr>
          <p:cNvPr id="22" name="canonical example"/>
          <p:cNvSpPr/>
          <p:nvPr/>
        </p:nvSpPr>
        <p:spPr>
          <a:xfrm>
            <a:off x="7985455" y="1691640"/>
            <a:ext cx="3657600" cy="4526280"/>
          </a:xfrm>
          <a:prstGeom prst="roundRect">
            <a:avLst>
              <a:gd name="adj" fmla="val 2500"/>
            </a:avLst>
          </a:prstGeom>
          <a:solidFill>
            <a:schemeClr val="bg1"/>
          </a:solidFill>
          <a:ln w="19050">
            <a:solidFill>
              <a:schemeClr val="bg2"/>
            </a:solidFill>
            <a:prstDash val="solid"/>
          </a:ln>
        </p:spPr>
      </p:sp>
      <p:sp>
        <p:nvSpPr>
          <p:cNvPr id="23" name="Text 17"/>
          <p:cNvSpPr txBox="1"/>
          <p:nvPr/>
        </p:nvSpPr>
        <p:spPr>
          <a:xfrm>
            <a:off x="8259775" y="1920240"/>
            <a:ext cx="31089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600" b="1" dirty="0">
                <a:solidFill>
                  <a:schemeClr val="tx1"/>
                </a:solidFill>
              </a:rPr>
              <a:t>One ring, two sets of IDs</a:t>
            </a:r>
            <a:endParaRPr lang="en-US" sz="1100" dirty="0"/>
          </a:p>
        </p:txBody>
      </p:sp>
      <p:sp>
        <p:nvSpPr>
          <p:cNvPr id="24" name="Shape 18"/>
          <p:cNvSpPr/>
          <p:nvPr/>
        </p:nvSpPr>
        <p:spPr>
          <a:xfrm>
            <a:off x="9171637" y="3122676"/>
            <a:ext cx="142541" cy="82296"/>
          </a:xfrm>
          <a:prstGeom prst="line">
            <a:avLst/>
          </a:prstGeom>
          <a:noFill/>
          <a:ln w="19050">
            <a:solidFill>
              <a:schemeClr val="accent6"/>
            </a:solidFill>
            <a:prstDash val="solid"/>
          </a:ln>
        </p:spPr>
      </p:sp>
      <p:sp>
        <p:nvSpPr>
          <p:cNvPr id="25" name="Shape 19"/>
          <p:cNvSpPr/>
          <p:nvPr/>
        </p:nvSpPr>
        <p:spPr>
          <a:xfrm>
            <a:off x="9448800" y="3438144"/>
            <a:ext cx="0" cy="164592"/>
          </a:xfrm>
          <a:prstGeom prst="line">
            <a:avLst/>
          </a:prstGeom>
          <a:noFill/>
          <a:ln w="19050">
            <a:solidFill>
              <a:schemeClr val="accent6"/>
            </a:solidFill>
            <a:prstDash val="solid"/>
          </a:ln>
        </p:spPr>
      </p:sp>
      <p:sp>
        <p:nvSpPr>
          <p:cNvPr id="26" name="Shape 20"/>
          <p:cNvSpPr/>
          <p:nvPr/>
        </p:nvSpPr>
        <p:spPr>
          <a:xfrm flipH="1">
            <a:off x="9171637" y="3835908"/>
            <a:ext cx="142541" cy="82296"/>
          </a:xfrm>
          <a:prstGeom prst="line">
            <a:avLst/>
          </a:prstGeom>
          <a:noFill/>
          <a:ln w="19050">
            <a:solidFill>
              <a:schemeClr val="accent6"/>
            </a:solidFill>
            <a:prstDash val="solid"/>
          </a:ln>
        </p:spPr>
      </p:sp>
      <p:sp>
        <p:nvSpPr>
          <p:cNvPr id="27" name="Shape 21"/>
          <p:cNvSpPr/>
          <p:nvPr/>
        </p:nvSpPr>
        <p:spPr>
          <a:xfrm flipH="1" flipV="1">
            <a:off x="8759852" y="3835908"/>
            <a:ext cx="142541" cy="82296"/>
          </a:xfrm>
          <a:prstGeom prst="line">
            <a:avLst/>
          </a:prstGeom>
          <a:noFill/>
          <a:ln w="19050">
            <a:solidFill>
              <a:schemeClr val="accent6"/>
            </a:solidFill>
            <a:prstDash val="solid"/>
          </a:ln>
        </p:spPr>
      </p:sp>
      <p:sp>
        <p:nvSpPr>
          <p:cNvPr id="28" name="Shape 22"/>
          <p:cNvSpPr/>
          <p:nvPr/>
        </p:nvSpPr>
        <p:spPr>
          <a:xfrm flipV="1">
            <a:off x="8625231" y="3438144"/>
            <a:ext cx="0" cy="164592"/>
          </a:xfrm>
          <a:prstGeom prst="line">
            <a:avLst/>
          </a:prstGeom>
          <a:noFill/>
          <a:ln w="19050">
            <a:solidFill>
              <a:schemeClr val="accent6"/>
            </a:solidFill>
            <a:prstDash val="solid"/>
          </a:ln>
        </p:spPr>
      </p:sp>
      <p:sp>
        <p:nvSpPr>
          <p:cNvPr id="29" name="Shape 23"/>
          <p:cNvSpPr/>
          <p:nvPr/>
        </p:nvSpPr>
        <p:spPr>
          <a:xfrm flipV="1">
            <a:off x="8759852" y="3122676"/>
            <a:ext cx="142541" cy="82296"/>
          </a:xfrm>
          <a:prstGeom prst="line">
            <a:avLst/>
          </a:prstGeom>
          <a:noFill/>
          <a:ln w="19050">
            <a:solidFill>
              <a:schemeClr val="accent6"/>
            </a:solidFill>
            <a:prstDash val="solid"/>
          </a:ln>
        </p:spPr>
      </p:sp>
      <p:sp>
        <p:nvSpPr>
          <p:cNvPr id="30" name="node a"/>
          <p:cNvSpPr/>
          <p:nvPr/>
        </p:nvSpPr>
        <p:spPr>
          <a:xfrm>
            <a:off x="8881567" y="2889504"/>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a</a:t>
            </a:r>
            <a:endParaRPr lang="en-US" sz="1300" dirty="0"/>
          </a:p>
        </p:txBody>
      </p:sp>
      <p:sp>
        <p:nvSpPr>
          <p:cNvPr id="31" name="Text 25"/>
          <p:cNvSpPr txBox="1"/>
          <p:nvPr/>
        </p:nvSpPr>
        <p:spPr>
          <a:xfrm>
            <a:off x="8927287" y="2688336"/>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0</a:t>
            </a:r>
            <a:endParaRPr lang="en-US" sz="1400" dirty="0"/>
          </a:p>
        </p:txBody>
      </p:sp>
      <p:sp>
        <p:nvSpPr>
          <p:cNvPr id="32" name="node b"/>
          <p:cNvSpPr/>
          <p:nvPr/>
        </p:nvSpPr>
        <p:spPr>
          <a:xfrm>
            <a:off x="9293352"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b</a:t>
            </a:r>
            <a:endParaRPr lang="en-US" sz="1300" dirty="0"/>
          </a:p>
        </p:txBody>
      </p:sp>
      <p:sp>
        <p:nvSpPr>
          <p:cNvPr id="33" name="Text 27"/>
          <p:cNvSpPr txBox="1"/>
          <p:nvPr/>
        </p:nvSpPr>
        <p:spPr>
          <a:xfrm>
            <a:off x="9544964"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1</a:t>
            </a:r>
            <a:endParaRPr lang="en-US" sz="1400" dirty="0"/>
          </a:p>
        </p:txBody>
      </p:sp>
      <p:sp>
        <p:nvSpPr>
          <p:cNvPr id="34" name="node c"/>
          <p:cNvSpPr/>
          <p:nvPr/>
        </p:nvSpPr>
        <p:spPr>
          <a:xfrm>
            <a:off x="9293352"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a:t>
            </a:r>
            <a:endParaRPr lang="en-US" sz="1300" dirty="0"/>
          </a:p>
        </p:txBody>
      </p:sp>
      <p:sp>
        <p:nvSpPr>
          <p:cNvPr id="35" name="Text 29"/>
          <p:cNvSpPr txBox="1"/>
          <p:nvPr/>
        </p:nvSpPr>
        <p:spPr>
          <a:xfrm>
            <a:off x="9544964"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3</a:t>
            </a:r>
            <a:endParaRPr lang="en-US" sz="1400" dirty="0"/>
          </a:p>
        </p:txBody>
      </p:sp>
      <p:sp>
        <p:nvSpPr>
          <p:cNvPr id="36" name="node d"/>
          <p:cNvSpPr/>
          <p:nvPr/>
        </p:nvSpPr>
        <p:spPr>
          <a:xfrm>
            <a:off x="8881567" y="3840480"/>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d</a:t>
            </a:r>
            <a:endParaRPr lang="en-US" sz="1300" dirty="0"/>
          </a:p>
        </p:txBody>
      </p:sp>
      <p:sp>
        <p:nvSpPr>
          <p:cNvPr id="37" name="Text 31"/>
          <p:cNvSpPr txBox="1"/>
          <p:nvPr/>
        </p:nvSpPr>
        <p:spPr>
          <a:xfrm>
            <a:off x="8927287" y="4114800"/>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5</a:t>
            </a:r>
            <a:endParaRPr lang="en-US" sz="1400" dirty="0"/>
          </a:p>
        </p:txBody>
      </p:sp>
      <p:sp>
        <p:nvSpPr>
          <p:cNvPr id="38" name="node e"/>
          <p:cNvSpPr/>
          <p:nvPr/>
        </p:nvSpPr>
        <p:spPr>
          <a:xfrm>
            <a:off x="8469783"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e</a:t>
            </a:r>
            <a:endParaRPr lang="en-US" sz="1300" dirty="0"/>
          </a:p>
        </p:txBody>
      </p:sp>
      <p:sp>
        <p:nvSpPr>
          <p:cNvPr id="39" name="Text 33"/>
          <p:cNvSpPr txBox="1"/>
          <p:nvPr/>
        </p:nvSpPr>
        <p:spPr>
          <a:xfrm>
            <a:off x="8309610"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4</a:t>
            </a:r>
            <a:endParaRPr lang="en-US" sz="1400" dirty="0"/>
          </a:p>
        </p:txBody>
      </p:sp>
      <p:sp>
        <p:nvSpPr>
          <p:cNvPr id="40" name="node f"/>
          <p:cNvSpPr/>
          <p:nvPr/>
        </p:nvSpPr>
        <p:spPr>
          <a:xfrm>
            <a:off x="8469783"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f</a:t>
            </a:r>
            <a:endParaRPr lang="en-US" sz="1300" dirty="0"/>
          </a:p>
        </p:txBody>
      </p:sp>
      <p:sp>
        <p:nvSpPr>
          <p:cNvPr id="41" name="Text 35"/>
          <p:cNvSpPr txBox="1"/>
          <p:nvPr/>
        </p:nvSpPr>
        <p:spPr>
          <a:xfrm>
            <a:off x="8309610"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2</a:t>
            </a:r>
            <a:endParaRPr lang="en-US" sz="1400" dirty="0"/>
          </a:p>
        </p:txBody>
      </p:sp>
      <p:sp>
        <p:nvSpPr>
          <p:cNvPr id="42" name="Shape 36"/>
          <p:cNvSpPr/>
          <p:nvPr/>
        </p:nvSpPr>
        <p:spPr>
          <a:xfrm>
            <a:off x="10726117" y="3122676"/>
            <a:ext cx="142541" cy="82296"/>
          </a:xfrm>
          <a:prstGeom prst="line">
            <a:avLst/>
          </a:prstGeom>
          <a:noFill/>
          <a:ln w="19050">
            <a:solidFill>
              <a:schemeClr val="accent6"/>
            </a:solidFill>
            <a:prstDash val="solid"/>
          </a:ln>
        </p:spPr>
      </p:sp>
      <p:sp>
        <p:nvSpPr>
          <p:cNvPr id="43" name="Shape 37"/>
          <p:cNvSpPr/>
          <p:nvPr/>
        </p:nvSpPr>
        <p:spPr>
          <a:xfrm>
            <a:off x="11003280" y="3438144"/>
            <a:ext cx="0" cy="164592"/>
          </a:xfrm>
          <a:prstGeom prst="line">
            <a:avLst/>
          </a:prstGeom>
          <a:noFill/>
          <a:ln w="19050">
            <a:solidFill>
              <a:schemeClr val="accent6"/>
            </a:solidFill>
            <a:prstDash val="solid"/>
          </a:ln>
        </p:spPr>
      </p:sp>
      <p:sp>
        <p:nvSpPr>
          <p:cNvPr id="44" name="Shape 38"/>
          <p:cNvSpPr/>
          <p:nvPr/>
        </p:nvSpPr>
        <p:spPr>
          <a:xfrm flipH="1">
            <a:off x="10726117" y="3835908"/>
            <a:ext cx="142541" cy="82296"/>
          </a:xfrm>
          <a:prstGeom prst="line">
            <a:avLst/>
          </a:prstGeom>
          <a:noFill/>
          <a:ln w="19050">
            <a:solidFill>
              <a:schemeClr val="accent6"/>
            </a:solidFill>
            <a:prstDash val="solid"/>
          </a:ln>
        </p:spPr>
      </p:sp>
      <p:sp>
        <p:nvSpPr>
          <p:cNvPr id="45" name="Shape 39"/>
          <p:cNvSpPr/>
          <p:nvPr/>
        </p:nvSpPr>
        <p:spPr>
          <a:xfrm flipH="1" flipV="1">
            <a:off x="10314332" y="3835908"/>
            <a:ext cx="142541" cy="82296"/>
          </a:xfrm>
          <a:prstGeom prst="line">
            <a:avLst/>
          </a:prstGeom>
          <a:noFill/>
          <a:ln w="19050">
            <a:solidFill>
              <a:schemeClr val="accent6"/>
            </a:solidFill>
            <a:prstDash val="solid"/>
          </a:ln>
        </p:spPr>
      </p:sp>
      <p:sp>
        <p:nvSpPr>
          <p:cNvPr id="46" name="Shape 40"/>
          <p:cNvSpPr/>
          <p:nvPr/>
        </p:nvSpPr>
        <p:spPr>
          <a:xfrm flipV="1">
            <a:off x="10179711" y="3438144"/>
            <a:ext cx="0" cy="164592"/>
          </a:xfrm>
          <a:prstGeom prst="line">
            <a:avLst/>
          </a:prstGeom>
          <a:noFill/>
          <a:ln w="19050">
            <a:solidFill>
              <a:schemeClr val="accent6"/>
            </a:solidFill>
            <a:prstDash val="solid"/>
          </a:ln>
        </p:spPr>
      </p:sp>
      <p:sp>
        <p:nvSpPr>
          <p:cNvPr id="47" name="Shape 41"/>
          <p:cNvSpPr/>
          <p:nvPr/>
        </p:nvSpPr>
        <p:spPr>
          <a:xfrm flipV="1">
            <a:off x="10314332" y="3122676"/>
            <a:ext cx="142541" cy="82296"/>
          </a:xfrm>
          <a:prstGeom prst="line">
            <a:avLst/>
          </a:prstGeom>
          <a:noFill/>
          <a:ln w="19050">
            <a:solidFill>
              <a:schemeClr val="accent6"/>
            </a:solidFill>
            <a:prstDash val="solid"/>
          </a:ln>
        </p:spPr>
      </p:sp>
      <p:sp>
        <p:nvSpPr>
          <p:cNvPr id="48" name="node u"/>
          <p:cNvSpPr/>
          <p:nvPr/>
        </p:nvSpPr>
        <p:spPr>
          <a:xfrm>
            <a:off x="10436047" y="2889504"/>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u</a:t>
            </a:r>
            <a:endParaRPr lang="en-US" sz="1300" dirty="0"/>
          </a:p>
        </p:txBody>
      </p:sp>
      <p:sp>
        <p:nvSpPr>
          <p:cNvPr id="49" name="Text 43"/>
          <p:cNvSpPr txBox="1"/>
          <p:nvPr/>
        </p:nvSpPr>
        <p:spPr>
          <a:xfrm>
            <a:off x="10481767" y="2688336"/>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0</a:t>
            </a:r>
            <a:endParaRPr lang="en-US" sz="1400" dirty="0"/>
          </a:p>
        </p:txBody>
      </p:sp>
      <p:sp>
        <p:nvSpPr>
          <p:cNvPr id="50" name="node x"/>
          <p:cNvSpPr/>
          <p:nvPr/>
        </p:nvSpPr>
        <p:spPr>
          <a:xfrm>
            <a:off x="10847832"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x</a:t>
            </a:r>
            <a:endParaRPr lang="en-US" sz="1300" dirty="0"/>
          </a:p>
        </p:txBody>
      </p:sp>
      <p:sp>
        <p:nvSpPr>
          <p:cNvPr id="51" name="Text 45"/>
          <p:cNvSpPr txBox="1"/>
          <p:nvPr/>
        </p:nvSpPr>
        <p:spPr>
          <a:xfrm>
            <a:off x="11099444"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1</a:t>
            </a:r>
            <a:endParaRPr lang="en-US" sz="1400" dirty="0"/>
          </a:p>
        </p:txBody>
      </p:sp>
      <p:sp>
        <p:nvSpPr>
          <p:cNvPr id="52" name="node v"/>
          <p:cNvSpPr/>
          <p:nvPr/>
        </p:nvSpPr>
        <p:spPr>
          <a:xfrm>
            <a:off x="10847832"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v</a:t>
            </a:r>
            <a:endParaRPr lang="en-US" sz="1300" dirty="0"/>
          </a:p>
        </p:txBody>
      </p:sp>
      <p:sp>
        <p:nvSpPr>
          <p:cNvPr id="53" name="Text 47"/>
          <p:cNvSpPr txBox="1"/>
          <p:nvPr/>
        </p:nvSpPr>
        <p:spPr>
          <a:xfrm>
            <a:off x="11099444"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3</a:t>
            </a:r>
            <a:endParaRPr lang="en-US" sz="1400" dirty="0"/>
          </a:p>
        </p:txBody>
      </p:sp>
      <p:sp>
        <p:nvSpPr>
          <p:cNvPr id="54" name="node z"/>
          <p:cNvSpPr/>
          <p:nvPr/>
        </p:nvSpPr>
        <p:spPr>
          <a:xfrm>
            <a:off x="10436047" y="3840480"/>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z</a:t>
            </a:r>
            <a:endParaRPr lang="en-US" sz="1300" dirty="0"/>
          </a:p>
        </p:txBody>
      </p:sp>
      <p:sp>
        <p:nvSpPr>
          <p:cNvPr id="55" name="Text 49"/>
          <p:cNvSpPr txBox="1"/>
          <p:nvPr/>
        </p:nvSpPr>
        <p:spPr>
          <a:xfrm>
            <a:off x="10481767" y="4114800"/>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5</a:t>
            </a:r>
            <a:endParaRPr lang="en-US" sz="1400" dirty="0"/>
          </a:p>
        </p:txBody>
      </p:sp>
      <p:sp>
        <p:nvSpPr>
          <p:cNvPr id="56" name="node w"/>
          <p:cNvSpPr/>
          <p:nvPr/>
        </p:nvSpPr>
        <p:spPr>
          <a:xfrm>
            <a:off x="10024263"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w</a:t>
            </a:r>
            <a:endParaRPr lang="en-US" sz="1300" dirty="0"/>
          </a:p>
        </p:txBody>
      </p:sp>
      <p:sp>
        <p:nvSpPr>
          <p:cNvPr id="57" name="Text 51"/>
          <p:cNvSpPr txBox="1"/>
          <p:nvPr/>
        </p:nvSpPr>
        <p:spPr>
          <a:xfrm>
            <a:off x="9864090"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4</a:t>
            </a:r>
            <a:endParaRPr lang="en-US" sz="1400" dirty="0"/>
          </a:p>
        </p:txBody>
      </p:sp>
      <p:sp>
        <p:nvSpPr>
          <p:cNvPr id="58" name="node y"/>
          <p:cNvSpPr/>
          <p:nvPr/>
        </p:nvSpPr>
        <p:spPr>
          <a:xfrm>
            <a:off x="10024263"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y</a:t>
            </a:r>
            <a:endParaRPr lang="en-US" sz="1300" dirty="0"/>
          </a:p>
        </p:txBody>
      </p:sp>
      <p:sp>
        <p:nvSpPr>
          <p:cNvPr id="59" name="Text 53"/>
          <p:cNvSpPr txBox="1"/>
          <p:nvPr/>
        </p:nvSpPr>
        <p:spPr>
          <a:xfrm>
            <a:off x="9864090"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2</a:t>
            </a:r>
            <a:endParaRPr lang="en-US" sz="1400" dirty="0"/>
          </a:p>
        </p:txBody>
      </p:sp>
      <p:sp>
        <p:nvSpPr>
          <p:cNvPr id="60" name="Shape 54"/>
          <p:cNvSpPr/>
          <p:nvPr/>
        </p:nvSpPr>
        <p:spPr>
          <a:xfrm>
            <a:off x="9037015" y="4379976"/>
            <a:ext cx="93269" cy="283464"/>
          </a:xfrm>
          <a:prstGeom prst="line">
            <a:avLst/>
          </a:prstGeom>
          <a:noFill/>
          <a:ln w="19050">
            <a:solidFill>
              <a:schemeClr val="accent6"/>
            </a:solidFill>
            <a:prstDash val="solid"/>
            <a:tailEnd type="triangle"/>
          </a:ln>
        </p:spPr>
      </p:sp>
      <p:sp>
        <p:nvSpPr>
          <p:cNvPr id="61" name="Shape 55"/>
          <p:cNvSpPr/>
          <p:nvPr/>
        </p:nvSpPr>
        <p:spPr>
          <a:xfrm flipH="1">
            <a:off x="10498226" y="4379976"/>
            <a:ext cx="93269" cy="283464"/>
          </a:xfrm>
          <a:prstGeom prst="line">
            <a:avLst/>
          </a:prstGeom>
          <a:noFill/>
          <a:ln w="19050">
            <a:solidFill>
              <a:schemeClr val="accent6"/>
            </a:solidFill>
            <a:prstDash val="solid"/>
            <a:tailEnd type="triangle"/>
          </a:ln>
        </p:spPr>
      </p:sp>
      <p:sp>
        <p:nvSpPr>
          <p:cNvPr id="62" name="canonical_id"/>
          <p:cNvSpPr/>
          <p:nvPr/>
        </p:nvSpPr>
        <p:spPr>
          <a:xfrm>
            <a:off x="8259775" y="4690872"/>
            <a:ext cx="3108960" cy="365760"/>
          </a:xfrm>
          <a:prstGeom prst="roundRect">
            <a:avLst>
              <a:gd name="adj" fmla="val 20000"/>
            </a:avLst>
          </a:prstGeom>
          <a:solidFill>
            <a:schemeClr val="accent2"/>
          </a:solidFill>
          <a:ln/>
        </p:spPr>
        <p:txBody>
          <a:bodyPr wrap="square" lIns="0" tIns="0" rIns="0" bIns="0" rtlCol="0" anchor="ctr"/>
          <a:lstStyle/>
          <a:p>
            <a:pPr algn="ctr" indent="0" marL="0">
              <a:buNone/>
            </a:pPr>
            <a:r>
              <a:rPr lang="en-US" sz="1300" dirty="0">
                <a:solidFill>
                  <a:schemeClr val="bg1"/>
                </a:solidFill>
                <a:latin typeface="Courier New" pitchFamily="34" charset="0"/>
                <a:ea typeface="Courier New" pitchFamily="34" charset="-122"/>
                <a:cs typeface="Courier New" pitchFamily="34" charset="-120"/>
              </a:rPr>
              <a:t>canonical_id  </a:t>
            </a:r>
            <a:pPr algn="ctr" indent="0" marL="0">
              <a:buNone/>
            </a:pPr>
            <a:r>
              <a:rPr lang="en-US" sz="1300" b="1" dirty="0">
                <a:solidFill>
                  <a:schemeClr val="bg1"/>
                </a:solidFill>
                <a:latin typeface="Courier New" pitchFamily="34" charset="0"/>
                <a:ea typeface="Courier New" pitchFamily="34" charset="-122"/>
                <a:cs typeface="Courier New" pitchFamily="34" charset="-120"/>
              </a:rPr>
              <a:t>sha256:2bd33e…</a:t>
            </a:r>
            <a:endParaRPr lang="en-US" sz="1300" dirty="0"/>
          </a:p>
        </p:txBody>
      </p:sp>
      <p:sp>
        <p:nvSpPr>
          <p:cNvPr id="63" name="Text 57"/>
          <p:cNvSpPr txBox="1"/>
          <p:nvPr/>
        </p:nvSpPr>
        <p:spPr>
          <a:xfrm>
            <a:off x="8259775" y="5239512"/>
            <a:ext cx="3108960" cy="886968"/>
          </a:xfrm>
          <a:prstGeom prst="rect">
            <a:avLst/>
          </a:prstGeom>
          <a:noFill/>
          <a:ln/>
        </p:spPr>
        <p:txBody>
          <a:bodyPr wrap="square" lIns="0" tIns="0" rIns="0" bIns="0" rtlCol="0" anchor="t"/>
          <a:lstStyle/>
          <a:p>
            <a:pPr indent="0" marL="0">
              <a:buNone/>
            </a:pPr>
            <a:r>
              <a:rPr lang="en-US" sz="1400" dirty="0">
                <a:solidFill>
                  <a:schemeClr val="tx1"/>
                </a:solidFill>
              </a:rPr>
              <a:t>Amber: the canonical order. Renumbered by it, both rings have edges 0–1, 0–2, 1–3, 2–4, 3–5 and 4–5: one encoding, one id.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backbones and 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Links read undirected: the lightest forest that connects every piece, and the lightest rings that generate every cycle.</a:t>
            </a:r>
            <a:endParaRPr lang="en-US" sz="1600" dirty="0"/>
          </a:p>
        </p:txBody>
      </p:sp>
      <p:sp>
        <p:nvSpPr>
          <p:cNvPr id="4" name="operation spanning_forest"/>
          <p:cNvSpPr/>
          <p:nvPr/>
        </p:nvSpPr>
        <p:spPr>
          <a:xfrm>
            <a:off x="548640" y="1691640"/>
            <a:ext cx="5410048" cy="4526280"/>
          </a:xfrm>
          <a:prstGeom prst="roundRect">
            <a:avLst>
              <a:gd name="adj" fmla="val 2020"/>
            </a:avLst>
          </a:prstGeom>
          <a:solidFill>
            <a:schemeClr val="bg2"/>
          </a:solidFill>
          <a:ln/>
        </p:spPr>
      </p:sp>
      <p:sp>
        <p:nvSpPr>
          <p:cNvPr id="5" name="icon spanning_forest"/>
          <p:cNvSpPr/>
          <p:nvPr/>
        </p:nvSpPr>
        <p:spPr>
          <a:xfrm>
            <a:off x="749808" y="1892808"/>
            <a:ext cx="512064" cy="512064"/>
          </a:xfrm>
          <a:prstGeom prst="ellipse">
            <a:avLst/>
          </a:prstGeom>
          <a:solidFill>
            <a:schemeClr val="accent1"/>
          </a:solidFill>
          <a:ln/>
        </p:spPr>
      </p:sp>
      <p:pic>
        <p:nvPicPr>
          <p:cNvPr id="6" name="Image 0" descr="spanning_fores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spanning_forest</a:t>
            </a:r>
            <a:endParaRPr lang="en-US" sz="1500" dirty="0"/>
          </a:p>
          <a:p>
            <a:pPr indent="0" marL="0">
              <a:buNone/>
            </a:pPr>
            <a:r>
              <a:rPr lang="en-US" sz="1500" b="1" dirty="0">
                <a:solidFill>
                  <a:schemeClr val="tx1"/>
                </a:solidFill>
              </a:rPr>
              <a:t>Backbones, single-linkage clusters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minimum (or maximum) spanning forest: one tree per connected piece, each link read either way. Weights are any finite numbers, exact; ties go to the smaller edge ID.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Kruskal (1956) with a union-find, taking the links in the order of (weight, edge ID): the forest is unique in that order.</a:t>
            </a:r>
            <a:endParaRPr lang="en-US" sz="1500" dirty="0"/>
          </a:p>
        </p:txBody>
      </p:sp>
      <p:sp>
        <p:nvSpPr>
          <p:cNvPr id="9" name="proof spanning_fores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PROVES ITSELF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Tarjan's cycle property: no cycle, every piece spanned, and each link left out after every edge of its tree path (path maxima by binary lifting). Revalidation re-checks it.</a:t>
            </a:r>
            <a:endParaRPr lang="en-US" sz="1500" dirty="0"/>
          </a:p>
        </p:txBody>
      </p:sp>
      <p:sp>
        <p:nvSpPr>
          <p:cNvPr id="13" name="operation cycle_basis"/>
          <p:cNvSpPr/>
          <p:nvPr/>
        </p:nvSpPr>
        <p:spPr>
          <a:xfrm>
            <a:off x="6233008" y="1691640"/>
            <a:ext cx="5410048" cy="4526280"/>
          </a:xfrm>
          <a:prstGeom prst="roundRect">
            <a:avLst>
              <a:gd name="adj" fmla="val 2020"/>
            </a:avLst>
          </a:prstGeom>
          <a:solidFill>
            <a:schemeClr val="bg2"/>
          </a:solidFill>
          <a:ln/>
        </p:spPr>
      </p:sp>
      <p:sp>
        <p:nvSpPr>
          <p:cNvPr id="14" name="icon cycle_basis"/>
          <p:cNvSpPr/>
          <p:nvPr/>
        </p:nvSpPr>
        <p:spPr>
          <a:xfrm>
            <a:off x="6434176" y="1892808"/>
            <a:ext cx="512064" cy="512064"/>
          </a:xfrm>
          <a:prstGeom prst="ellipse">
            <a:avLst/>
          </a:prstGeom>
          <a:solidFill>
            <a:schemeClr val="accent1"/>
          </a:solidFill>
          <a:ln/>
        </p:spPr>
      </p:sp>
      <p:pic>
        <p:nvPicPr>
          <p:cNvPr id="15" name="Image 2" descr="cycle_basi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cycle_basis</a:t>
            </a:r>
            <a:endParaRPr lang="en-US" sz="1500" dirty="0"/>
          </a:p>
          <a:p>
            <a:pPr indent="0" marL="0">
              <a:buNone/>
            </a:pPr>
            <a:r>
              <a:rPr lang="en-US" sz="1500" b="1" dirty="0">
                <a:solidFill>
                  <a:schemeClr val="tx1"/>
                </a:solidFill>
              </a:rPr>
              <a:t>Ring perception: a minimum cycle basis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Rank (links − nodes + pieces) independent simple cycles of least total weight. With every link 1: chemistry's smallest set of smallest rings: naphthalene has two six-rings, cubane five four-rings.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De Pina (1995; Kavitha et al., 2004): cycle i is a lightest cycle meeting witness S_i oddly, a shortest path in the parity graph; each later witness odd on it takes S_i in.</a:t>
            </a:r>
            <a:endParaRPr lang="en-US" sz="1500" dirty="0"/>
          </a:p>
        </p:txBody>
      </p:sp>
      <p:sp>
        <p:nvSpPr>
          <p:cNvPr id="18" name="proof cycle_basis"/>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witnesses: cycle i is odd on witness i and every earlier cycle even, so the cycles are independent; a checker finds no lighter odd cycle, so the basis is minimum.</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cost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potentials for its cost, a cover for a matching.</a:t>
            </a:r>
            <a:endParaRPr lang="en-US" sz="1600" dirty="0"/>
          </a:p>
        </p:txBody>
      </p:sp>
      <p:sp>
        <p:nvSpPr>
          <p:cNvPr id="4" name="operation max_flow"/>
          <p:cNvSpPr/>
          <p:nvPr/>
        </p:nvSpPr>
        <p:spPr>
          <a:xfrm>
            <a:off x="548640" y="1691640"/>
            <a:ext cx="3515258" cy="4526280"/>
          </a:xfrm>
          <a:prstGeom prst="roundRect">
            <a:avLst>
              <a:gd name="adj" fmla="val 2601"/>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As much as the capacities let through from sources to targets (Ford and Fulkerson, 1956). Unit capacities count disjoint paths.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Dinic (1970) in exact integers: breadth-first levels in the residual graph, then a blocking flow, built only where read.</a:t>
            </a:r>
            <a:endParaRPr lang="en-US" sz="1400" dirty="0"/>
          </a:p>
        </p:txBody>
      </p:sp>
      <p:sp>
        <p:nvSpPr>
          <p:cNvPr id="9" name="proof max_flow"/>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The cut's source side: a checker confirms the flow and recomputes a cut of the same value, so both are optimal.</a:t>
            </a:r>
            <a:endParaRPr lang="en-US" sz="1400" dirty="0"/>
          </a:p>
        </p:txBody>
      </p:sp>
      <p:sp>
        <p:nvSpPr>
          <p:cNvPr id="13" name="operation min_cost_flow"/>
          <p:cNvSpPr/>
          <p:nvPr/>
        </p:nvSpPr>
        <p:spPr>
          <a:xfrm>
            <a:off x="4338218" y="1691640"/>
            <a:ext cx="3515258" cy="4526280"/>
          </a:xfrm>
          <a:prstGeom prst="roundRect">
            <a:avLst>
              <a:gd name="adj" fmla="val 2601"/>
            </a:avLst>
          </a:prstGeom>
          <a:solidFill>
            <a:schemeClr val="bg2"/>
          </a:solidFill>
          <a:ln/>
        </p:spPr>
      </p:sp>
      <p:sp>
        <p:nvSpPr>
          <p:cNvPr id="14" name="icon min_cost_flow"/>
          <p:cNvSpPr/>
          <p:nvPr/>
        </p:nvSpPr>
        <p:spPr>
          <a:xfrm>
            <a:off x="4539386" y="1892808"/>
            <a:ext cx="512064" cy="512064"/>
          </a:xfrm>
          <a:prstGeom prst="ellipse">
            <a:avLst/>
          </a:prstGeom>
          <a:solidFill>
            <a:schemeClr val="accent1"/>
          </a:solidFill>
          <a:ln/>
        </p:spPr>
      </p:sp>
      <p:pic>
        <p:nvPicPr>
          <p:cNvPr id="15" name="Image 2" descr="min_cost_flow">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min_cost_flow</a:t>
            </a:r>
            <a:endParaRPr lang="en-US" sz="1500" dirty="0"/>
          </a:p>
          <a:p>
            <a:pPr indent="0" marL="0">
              <a:buNone/>
            </a:pPr>
            <a:r>
              <a:rPr lang="en-US" sz="1500" b="1" dirty="0">
                <a:solidFill>
                  <a:schemeClr val="tx1"/>
                </a:solidFill>
              </a:rPr>
              <a:t>A throughput at least cost</a:t>
            </a:r>
            <a:endParaRPr lang="en-US" sz="1500" dirty="0"/>
          </a:p>
        </p:txBody>
      </p:sp>
      <p:sp>
        <p:nvSpPr>
          <p:cNvPr id="17" name="Text 12"/>
          <p:cNvSpPr txBox="1"/>
          <p:nvPr/>
        </p:nvSpPr>
        <p:spPr>
          <a:xfrm>
            <a:off x="4539386"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Send a value, or as much as possible, at least total cost: supply chains, the cheapest routes. Exact capacities and costs.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Successive shortest paths: Dijkstra on costs reduced by potentials, then augment along the cheapest path (Edmonds and Karp).</a:t>
            </a:r>
            <a:endParaRPr lang="en-US" sz="1400" dirty="0"/>
          </a:p>
        </p:txBody>
      </p:sp>
      <p:sp>
        <p:nvSpPr>
          <p:cNvPr id="18" name="proof min_cost_flow"/>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leave no residual arc negative, so none is cheaper; for a maximum flow, a minimum cut shows none is larger.</a:t>
            </a:r>
            <a:endParaRPr lang="en-US" sz="1400" dirty="0"/>
          </a:p>
        </p:txBody>
      </p:sp>
      <p:sp>
        <p:nvSpPr>
          <p:cNvPr id="22" name="operation matching"/>
          <p:cNvSpPr/>
          <p:nvPr/>
        </p:nvSpPr>
        <p:spPr>
          <a:xfrm>
            <a:off x="8127797" y="1691640"/>
            <a:ext cx="3515258" cy="4526280"/>
          </a:xfrm>
          <a:prstGeom prst="roundRect">
            <a:avLst>
              <a:gd name="adj" fmla="val 2601"/>
            </a:avLst>
          </a:prstGeom>
          <a:solidFill>
            <a:schemeClr val="bg2"/>
          </a:solidFill>
          <a:ln/>
        </p:spPr>
      </p:sp>
      <p:sp>
        <p:nvSpPr>
          <p:cNvPr id="23" name="icon matching"/>
          <p:cNvSpPr/>
          <p:nvPr/>
        </p:nvSpPr>
        <p:spPr>
          <a:xfrm>
            <a:off x="8328965" y="1892808"/>
            <a:ext cx="512064" cy="512064"/>
          </a:xfrm>
          <a:prstGeom prst="ellipse">
            <a:avLst/>
          </a:prstGeom>
          <a:solidFill>
            <a:schemeClr val="accent1"/>
          </a:solidFill>
          <a:ln/>
        </p:spPr>
      </p:sp>
      <p:pic>
        <p:nvPicPr>
          <p:cNvPr id="24" name="Image 4" descr="matching">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Distinct pairings, at least cost</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maximum matching of a left set to partners outside it, no node twice. With costs, the cheapest of the largest: the assignment problem.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Hopcroft and Karp (1973); with costs, the Hungarian method: successive shortest paths on costs reduced by potentials.</a:t>
            </a:r>
            <a:endParaRPr lang="en-US" sz="1400" dirty="0"/>
          </a:p>
        </p:txBody>
      </p:sp>
      <p:sp>
        <p:nvSpPr>
          <p:cNvPr id="27" name="proof matching"/>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König's vertex cover (1931): as many nodes as pairs, so none is larger; with costs, potentials leave no residual arc negative.</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forest when it verifies; a cycle or active trail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689</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209</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every finding is fixed with a regression. Among them: a request_id collision and certificate holes (structure); an unverified interrupted bound (max flow); an unchecked relation (min-cost flow); quadratic checks (dominators, support) and memory (k shortest paths); cubic planning and uncharged work (cyclic counts); a positive held on a closure, walks charged late (reachability pairs); joins listing every substitution (Datalog); floats that let a false rank or potentials verify (incidence, weighted matching); a whole certificate read for any edit (negative costs); the recursion limit (injective patterns); frozen answers left unchecked (forests); a repeated witness link (cycle bases); a relabeling taken as canonical (isomorphism). d-separation: no findings.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180588"/>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180588"/>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100k nodes, 500k edges; min-cost flow 5k; matching 50k + 50k; dominators, forest, pairs 300k edges; critical path 400k (networkx: no certificate). Negative costs 20k nodes; weighted 300 + 300; 1,300 atoms; 20 paths in 20k nodes (networkx searches both ways); 10,000 pairs, index built. Closure: 2,000 nodes (networkx: no proof). Isomorphism: 1,000 nodes; 3-regular, 500 nodes: 3.4 s, networkx 114 s; VF2 wins on small symmetric graphs.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SCALE's query engine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own engine on SCALE's documents; the largest, methanol synthesis, has 2,851 nodes and 9,335 links.</a:t>
            </a:r>
            <a:endParaRPr lang="en-US" sz="1600" dirty="0"/>
          </a:p>
        </p:txBody>
      </p:sp>
      <p:graphicFrame>
        <p:nvGraphicFramePr>
          <p:cNvPr id="28" name="SCALE 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6172200" cy="914400"/>
        </p:xfrm>
        <a:graphic>
          <a:graphicData uri="http://schemas.openxmlformats.org/drawingml/2006/table">
            <a:tbl>
              <a:tblPr/>
              <a:tblGrid>
                <a:gridCol w="3291840"/>
                <a:gridCol w="914400"/>
                <a:gridCol w="914400"/>
                <a:gridCol w="1051560"/>
              </a:tblGrid>
              <a:tr h="329184">
                <a:tc>
                  <a:txBody>
                    <a:bodyPr/>
                    <a:lstStyle/>
                    <a:p>
                      <a:pPr algn="l" indent="0" marL="0">
                        <a:buNone/>
                      </a:pPr>
                      <a:r>
                        <a:rPr lang="en-US" sz="1100" b="1" spc="100" kern="0" dirty="0">
                          <a:solidFill>
                            <a:schemeClr val="accent6"/>
                          </a:solidFill>
                        </a:rPr>
                        <a:t>WORKLOAD</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SCALE</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GRAPH</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FASTER</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r>
              <a:tr h="598424">
                <a:tc>
                  <a:txBody>
                    <a:bodyPr/>
                    <a:lstStyle/>
                    <a:p>
                      <a:pPr indent="0" marL="0">
                        <a:buNone/>
                      </a:pPr>
                      <a:r>
                        <a:rPr lang="en-US" sz="1400" dirty="0">
                          <a:solidFill>
                            <a:schemeClr val="tx1"/>
                          </a:solidFill>
                        </a:rPr>
                        <a:t>Competency questions: 39 question–document pairs, median</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0.56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0.087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6.4×</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Methanol synthesis: all 1,052 one- and two-step plans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5.6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0.61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9.2×</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81508">
                <a:tc>
                  <a:txBody>
                    <a:bodyPr/>
                    <a:lstStyle/>
                    <a:p>
                      <a:pPr indent="0" marL="0">
                        <a:buNone/>
                      </a:pPr>
                      <a:r>
                        <a:rPr lang="en-US" sz="1400" dirty="0">
                          <a:solidFill>
                            <a:schemeClr val="tx1"/>
                          </a:solidFill>
                        </a:rPr>
                        <a:t>Its largest answer: 10,470 rows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475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21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Three steps, dead ends: 9,459 intermediate rows, 6 answers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18.9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0.76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598424">
                <a:tc>
                  <a:txBody>
                    <a:bodyPr/>
                    <a:lstStyle/>
                    <a:p>
                      <a:pPr indent="0" marL="0">
                        <a:buNone/>
                      </a:pPr>
                      <a:r>
                        <a:rPr lang="en-US" sz="1400" dirty="0">
                          <a:solidFill>
                            <a:schemeClr val="tx1"/>
                          </a:solidFill>
                        </a:rPr>
                        <a:t>Methanol, 16 copies: 45,616 nodes, 149,360 links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17.1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1.14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15×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4997196"/>
            <a:ext cx="6172200" cy="1220724"/>
          </a:xfrm>
          <a:prstGeom prst="rect">
            <a:avLst/>
          </a:prstGeom>
          <a:noFill/>
          <a:ln/>
        </p:spPr>
        <p:txBody>
          <a:bodyPr wrap="square" lIns="0" tIns="0" rIns="0" bIns="0" rtlCol="0" anchor="t"/>
          <a:lstStyle/>
          <a:p>
            <a:pPr indent="0" marL="0">
              <a:buNone/>
            </a:pPr>
            <a:r>
              <a:rPr lang="en-US" sz="1400" dirty="0">
                <a:solidFill>
                  <a:schemeClr val="tx1"/>
                </a:solidFill>
              </a:rPr>
              <a:t>The same rows in the same order on every query, asserted row for row; GRAPH was never slower on 1,131 queries. Counting without listing: 16× faster on methanol's plans, 33× on 16 copies; its largest answer counted in 0.6 ms. Both engines scale linearly with the copies.</a:t>
            </a:r>
            <a:endParaRPr lang="en-US" sz="1400" dirty="0"/>
          </a:p>
        </p:txBody>
      </p:sp>
      <p:sp>
        <p:nvSpPr>
          <p:cNvPr id="6" name="What SCALE's time includes"/>
          <p:cNvSpPr/>
          <p:nvPr/>
        </p:nvSpPr>
        <p:spPr>
          <a:xfrm>
            <a:off x="7040880" y="1691640"/>
            <a:ext cx="4602175" cy="1386840"/>
          </a:xfrm>
          <a:prstGeom prst="roundRect">
            <a:avLst>
              <a:gd name="adj" fmla="val 6593"/>
            </a:avLst>
          </a:prstGeom>
          <a:solidFill>
            <a:schemeClr val="bg2"/>
          </a:solidFill>
          <a:ln/>
        </p:spPr>
      </p:sp>
      <p:sp>
        <p:nvSpPr>
          <p:cNvPr id="7" name="icon What SCALE's time includes"/>
          <p:cNvSpPr/>
          <p:nvPr/>
        </p:nvSpPr>
        <p:spPr>
          <a:xfrm>
            <a:off x="7223760" y="1837944"/>
            <a:ext cx="384048" cy="384048"/>
          </a:xfrm>
          <a:prstGeom prst="ellipse">
            <a:avLst/>
          </a:prstGeom>
          <a:solidFill>
            <a:schemeClr val="accent1"/>
          </a:solidFill>
          <a:ln/>
        </p:spPr>
      </p:sp>
      <p:pic>
        <p:nvPicPr>
          <p:cNvPr id="8" name="Image 0" descr="What SCALE's time includes">    </p:cNvPr>
          <p:cNvPicPr>
            <a:picLocks noChangeAspect="1"/>
          </p:cNvPicPr>
          <p:nvPr/>
        </p:nvPicPr>
        <p:blipFill>
          <a:blip r:embed="rId1"/>
          <a:stretch>
            <a:fillRect/>
          </a:stretch>
        </p:blipFill>
        <p:spPr>
          <a:xfrm>
            <a:off x="7308251" y="1922435"/>
            <a:ext cx="215067" cy="215067"/>
          </a:xfrm>
          <a:prstGeom prst="rect">
            <a:avLst/>
          </a:prstGeom>
        </p:spPr>
      </p:pic>
      <p:sp>
        <p:nvSpPr>
          <p:cNvPr id="9" name="Text 5"/>
          <p:cNvSpPr txBox="1"/>
          <p:nvPr/>
        </p:nvSpPr>
        <p:spPr>
          <a:xfrm>
            <a:off x="7726680" y="183794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What SCALE's time includes</a:t>
            </a:r>
            <a:endParaRPr lang="en-US" sz="1600" dirty="0"/>
          </a:p>
        </p:txBody>
      </p:sp>
      <p:sp>
        <p:nvSpPr>
          <p:cNvPr id="10" name="Text 6"/>
          <p:cNvSpPr txBox="1"/>
          <p:nvPr/>
        </p:nvSpPr>
        <p:spPr>
          <a:xfrm>
            <a:off x="7223760" y="2313432"/>
            <a:ext cx="4236415" cy="710184"/>
          </a:xfrm>
          <a:prstGeom prst="rect">
            <a:avLst/>
          </a:prstGeom>
          <a:noFill/>
          <a:ln/>
        </p:spPr>
        <p:txBody>
          <a:bodyPr wrap="square" lIns="0" tIns="0" rIns="0" bIns="0" rtlCol="0" anchor="t"/>
          <a:lstStyle/>
          <a:p>
            <a:pPr indent="0" marL="0">
              <a:buNone/>
            </a:pPr>
            <a:r>
              <a:rPr lang="en-US" sz="1400" dirty="0">
                <a:solidFill>
                  <a:schemeClr val="tx1"/>
                </a:solidFill>
              </a:rPr>
              <a:t>Per-row evidence and a deep copy of the answer, about half its time. Without them GRAPH is still 3.7× faster on methanol, 6.3× on 16 copies.</a:t>
            </a:r>
            <a:endParaRPr lang="en-US" sz="1400" dirty="0"/>
          </a:p>
        </p:txBody>
      </p:sp>
      <p:sp>
        <p:nvSpPr>
          <p:cNvPr id="11" name="Where SCALE is faster"/>
          <p:cNvSpPr/>
          <p:nvPr/>
        </p:nvSpPr>
        <p:spPr>
          <a:xfrm>
            <a:off x="7040880" y="3261360"/>
            <a:ext cx="4602175" cy="1386840"/>
          </a:xfrm>
          <a:prstGeom prst="roundRect">
            <a:avLst>
              <a:gd name="adj" fmla="val 6593"/>
            </a:avLst>
          </a:prstGeom>
          <a:solidFill>
            <a:schemeClr val="bg2"/>
          </a:solidFill>
          <a:ln/>
        </p:spPr>
      </p:sp>
      <p:sp>
        <p:nvSpPr>
          <p:cNvPr id="12" name="icon Where SCALE is faster"/>
          <p:cNvSpPr/>
          <p:nvPr/>
        </p:nvSpPr>
        <p:spPr>
          <a:xfrm>
            <a:off x="7223760" y="3407664"/>
            <a:ext cx="384048" cy="384048"/>
          </a:xfrm>
          <a:prstGeom prst="ellipse">
            <a:avLst/>
          </a:prstGeom>
          <a:solidFill>
            <a:schemeClr val="accent1"/>
          </a:solidFill>
          <a:ln/>
        </p:spPr>
      </p:sp>
      <p:pic>
        <p:nvPicPr>
          <p:cNvPr id="13" name="Image 1" descr="Where SCALE is faster">    </p:cNvPr>
          <p:cNvPicPr>
            <a:picLocks noChangeAspect="1"/>
          </p:cNvPicPr>
          <p:nvPr/>
        </p:nvPicPr>
        <p:blipFill>
          <a:blip r:embed="rId2"/>
          <a:stretch>
            <a:fillRect/>
          </a:stretch>
        </p:blipFill>
        <p:spPr>
          <a:xfrm>
            <a:off x="7308251" y="3492155"/>
            <a:ext cx="215067" cy="215067"/>
          </a:xfrm>
          <a:prstGeom prst="rect">
            <a:avLst/>
          </a:prstGeom>
        </p:spPr>
      </p:pic>
      <p:sp>
        <p:nvSpPr>
          <p:cNvPr id="14" name="Text 9"/>
          <p:cNvSpPr txBox="1"/>
          <p:nvPr/>
        </p:nvSpPr>
        <p:spPr>
          <a:xfrm>
            <a:off x="7726680" y="340766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Where SCALE is faster</a:t>
            </a:r>
            <a:endParaRPr lang="en-US" sz="1600" dirty="0"/>
          </a:p>
        </p:txBody>
      </p:sp>
      <p:sp>
        <p:nvSpPr>
          <p:cNvPr id="15" name="Text 10"/>
          <p:cNvSpPr txBox="1"/>
          <p:nvPr/>
        </p:nvSpPr>
        <p:spPr>
          <a:xfrm>
            <a:off x="7223760" y="3883152"/>
            <a:ext cx="4236415" cy="710184"/>
          </a:xfrm>
          <a:prstGeom prst="rect">
            <a:avLst/>
          </a:prstGeom>
          <a:noFill/>
          <a:ln/>
        </p:spPr>
        <p:txBody>
          <a:bodyPr wrap="square" lIns="0" tIns="0" rIns="0" bIns="0" rtlCol="0" anchor="t"/>
          <a:lstStyle/>
          <a:p>
            <a:pPr indent="0" marL="0">
              <a:buNone/>
            </a:pPr>
            <a:r>
              <a:rPr lang="en-US" sz="1400" dirty="0">
                <a:solidFill>
                  <a:schemeClr val="tx1"/>
                </a:solidFill>
              </a:rPr>
              <a:t>Building its index: 2.2 ms, against 20 ms for GRAPH's projection of methanol. The small retraction workflows: 0.04 ms against 0.32–0.36 ms.</a:t>
            </a:r>
            <a:endParaRPr lang="en-US" sz="1400" dirty="0"/>
          </a:p>
        </p:txBody>
      </p:sp>
      <p:sp>
        <p:nvSpPr>
          <p:cNvPr id="16" name="Why"/>
          <p:cNvSpPr/>
          <p:nvPr/>
        </p:nvSpPr>
        <p:spPr>
          <a:xfrm>
            <a:off x="7040880" y="4831080"/>
            <a:ext cx="4602175" cy="1386840"/>
          </a:xfrm>
          <a:prstGeom prst="roundRect">
            <a:avLst>
              <a:gd name="adj" fmla="val 6593"/>
            </a:avLst>
          </a:prstGeom>
          <a:solidFill>
            <a:schemeClr val="bg2"/>
          </a:solidFill>
          <a:ln/>
        </p:spPr>
      </p:sp>
      <p:sp>
        <p:nvSpPr>
          <p:cNvPr id="17" name="icon Why"/>
          <p:cNvSpPr/>
          <p:nvPr/>
        </p:nvSpPr>
        <p:spPr>
          <a:xfrm>
            <a:off x="7223760" y="4977384"/>
            <a:ext cx="384048" cy="384048"/>
          </a:xfrm>
          <a:prstGeom prst="ellipse">
            <a:avLst/>
          </a:prstGeom>
          <a:solidFill>
            <a:schemeClr val="accent1"/>
          </a:solidFill>
          <a:ln/>
        </p:spPr>
      </p:sp>
      <p:pic>
        <p:nvPicPr>
          <p:cNvPr id="18" name="Image 2" descr="Why">    </p:cNvPr>
          <p:cNvPicPr>
            <a:picLocks noChangeAspect="1"/>
          </p:cNvPicPr>
          <p:nvPr/>
        </p:nvPicPr>
        <p:blipFill>
          <a:blip r:embed="rId3"/>
          <a:stretch>
            <a:fillRect/>
          </a:stretch>
        </p:blipFill>
        <p:spPr>
          <a:xfrm>
            <a:off x="7308251" y="5061875"/>
            <a:ext cx="215067" cy="215067"/>
          </a:xfrm>
          <a:prstGeom prst="rect">
            <a:avLst/>
          </a:prstGeom>
        </p:spPr>
      </p:pic>
      <p:sp>
        <p:nvSpPr>
          <p:cNvPr id="19" name="Text 13"/>
          <p:cNvSpPr txBox="1"/>
          <p:nvPr/>
        </p:nvSpPr>
        <p:spPr>
          <a:xfrm>
            <a:off x="7726680" y="497738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20" name="Text 14"/>
          <p:cNvSpPr txBox="1"/>
          <p:nvPr/>
        </p:nvSpPr>
        <p:spPr>
          <a:xfrm>
            <a:off x="7223760" y="5452872"/>
            <a:ext cx="4236415" cy="710184"/>
          </a:xfrm>
          <a:prstGeom prst="rect">
            <a:avLst/>
          </a:prstGeom>
          <a:noFill/>
          <a:ln/>
        </p:spPr>
        <p:txBody>
          <a:bodyPr wrap="square" lIns="0" tIns="0" rIns="0" bIns="0" rtlCol="0" anchor="t"/>
          <a:lstStyle/>
          <a:p>
            <a:pPr indent="0" marL="0">
              <a:buNone/>
            </a:pPr>
            <a:r>
              <a:rPr lang="en-US" sz="1400" dirty="0">
                <a:solidFill>
                  <a:schemeClr val="tx1"/>
                </a:solidFill>
              </a:rPr>
              <a:t>SCALE expands rows step by step. GRAPH's semi-join reduction (Yannakakis) never meets a dead end, and counts without listing the rows.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Fifty-four commits on 25–27 October 2026: from four operations to twenty-seven.</a:t>
            </a:r>
            <a:endParaRPr lang="en-US" sz="1600" dirty="0"/>
          </a:p>
        </p:txBody>
      </p:sp>
      <p:sp>
        <p:nvSpPr>
          <p:cNvPr id="4" name="Shape 2"/>
          <p:cNvSpPr/>
          <p:nvPr/>
        </p:nvSpPr>
        <p:spPr>
          <a:xfrm>
            <a:off x="1508760" y="1810753"/>
            <a:ext cx="0" cy="4288055"/>
          </a:xfrm>
          <a:prstGeom prst="line">
            <a:avLst/>
          </a:prstGeom>
          <a:noFill/>
          <a:ln w="25400">
            <a:solidFill>
              <a:schemeClr val="accent5"/>
            </a:solidFill>
            <a:prstDash val="solid"/>
          </a:ln>
        </p:spPr>
      </p:sp>
      <p:sp>
        <p:nvSpPr>
          <p:cNvPr id="5" name="Text 3"/>
          <p:cNvSpPr txBox="1"/>
          <p:nvPr/>
        </p:nvSpPr>
        <p:spPr>
          <a:xfrm>
            <a:off x="1783080" y="1691640"/>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197582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2986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29865"/>
            <a:ext cx="4434840" cy="238225"/>
          </a:xfrm>
          <a:prstGeom prst="rect">
            <a:avLst/>
          </a:prstGeom>
          <a:noFill/>
          <a:ln/>
        </p:spPr>
        <p:txBody>
          <a:bodyPr wrap="square" lIns="0" tIns="0" rIns="0" bIns="0" rtlCol="0" anchor="ctr"/>
          <a:lstStyle/>
          <a:p>
            <a:pPr indent="0" marL="0">
              <a:buNone/>
            </a:pPr>
            <a:r>
              <a:rPr lang="en-US" sz="1400" dirty="0">
                <a:solidFill>
                  <a:schemeClr val="tx1"/>
                </a:solidFill>
              </a:rPr>
              <a:t>v0: 4 operations, SCALE parity; reviews → contract v0.1</a:t>
            </a:r>
            <a:endParaRPr lang="en-US" sz="1400" dirty="0"/>
          </a:p>
        </p:txBody>
      </p:sp>
      <p:sp>
        <p:nvSpPr>
          <p:cNvPr id="9" name="milestone 20:55"/>
          <p:cNvSpPr/>
          <p:nvPr/>
        </p:nvSpPr>
        <p:spPr>
          <a:xfrm>
            <a:off x="1435608" y="2214051"/>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168091"/>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1" name="Text 9"/>
          <p:cNvSpPr txBox="1"/>
          <p:nvPr/>
        </p:nvSpPr>
        <p:spPr>
          <a:xfrm>
            <a:off x="1783080" y="2168091"/>
            <a:ext cx="4434840" cy="238225"/>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2" name="milestone 23:08"/>
          <p:cNvSpPr/>
          <p:nvPr/>
        </p:nvSpPr>
        <p:spPr>
          <a:xfrm>
            <a:off x="1435608" y="2452276"/>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0631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4" name="Text 12"/>
          <p:cNvSpPr txBox="1"/>
          <p:nvPr/>
        </p:nvSpPr>
        <p:spPr>
          <a:xfrm>
            <a:off x="1783080" y="2406316"/>
            <a:ext cx="4434840" cy="238225"/>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5" name="Text 13"/>
          <p:cNvSpPr txBox="1"/>
          <p:nvPr/>
        </p:nvSpPr>
        <p:spPr>
          <a:xfrm>
            <a:off x="1783080" y="2644541"/>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6" name="milestone 00:14"/>
          <p:cNvSpPr/>
          <p:nvPr/>
        </p:nvSpPr>
        <p:spPr>
          <a:xfrm>
            <a:off x="1435608" y="2928727"/>
            <a:ext cx="146304" cy="146304"/>
          </a:xfrm>
          <a:prstGeom prst="ellipse">
            <a:avLst/>
          </a:prstGeom>
          <a:solidFill>
            <a:schemeClr val="accent1"/>
          </a:solidFill>
          <a:ln w="19050">
            <a:solidFill>
              <a:schemeClr val="bg1"/>
            </a:solidFill>
            <a:prstDash val="solid"/>
          </a:ln>
        </p:spPr>
      </p:sp>
      <p:sp>
        <p:nvSpPr>
          <p:cNvPr id="17" name="Text 15"/>
          <p:cNvSpPr txBox="1"/>
          <p:nvPr/>
        </p:nvSpPr>
        <p:spPr>
          <a:xfrm>
            <a:off x="548640" y="288276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18" name="Text 16"/>
          <p:cNvSpPr txBox="1"/>
          <p:nvPr/>
        </p:nvSpPr>
        <p:spPr>
          <a:xfrm>
            <a:off x="1783080" y="2882766"/>
            <a:ext cx="4434840" cy="238225"/>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19" name="milestone 04:25"/>
          <p:cNvSpPr/>
          <p:nvPr/>
        </p:nvSpPr>
        <p:spPr>
          <a:xfrm>
            <a:off x="1435608" y="3166952"/>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12099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1" name="Text 19"/>
          <p:cNvSpPr txBox="1"/>
          <p:nvPr/>
        </p:nvSpPr>
        <p:spPr>
          <a:xfrm>
            <a:off x="1783080" y="3120992"/>
            <a:ext cx="4434840" cy="238225"/>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2" name="milestone 05:12"/>
          <p:cNvSpPr/>
          <p:nvPr/>
        </p:nvSpPr>
        <p:spPr>
          <a:xfrm>
            <a:off x="1435608" y="3405177"/>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35921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4" name="Text 22"/>
          <p:cNvSpPr txBox="1"/>
          <p:nvPr/>
        </p:nvSpPr>
        <p:spPr>
          <a:xfrm>
            <a:off x="1783080" y="335921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5" name="milestone 10:09"/>
          <p:cNvSpPr/>
          <p:nvPr/>
        </p:nvSpPr>
        <p:spPr>
          <a:xfrm>
            <a:off x="1435608" y="3643403"/>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59744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27" name="Text 25"/>
          <p:cNvSpPr txBox="1"/>
          <p:nvPr/>
        </p:nvSpPr>
        <p:spPr>
          <a:xfrm>
            <a:off x="1783080" y="3597442"/>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28" name="milestone 10:29"/>
          <p:cNvSpPr/>
          <p:nvPr/>
        </p:nvSpPr>
        <p:spPr>
          <a:xfrm>
            <a:off x="1435608" y="3881628"/>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383566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0" name="Text 28"/>
          <p:cNvSpPr txBox="1"/>
          <p:nvPr/>
        </p:nvSpPr>
        <p:spPr>
          <a:xfrm>
            <a:off x="1783080" y="383566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a:t>
            </a:r>
            <a:endParaRPr lang="en-US" sz="1300" dirty="0"/>
          </a:p>
        </p:txBody>
      </p:sp>
      <p:sp>
        <p:nvSpPr>
          <p:cNvPr id="31" name="milestone 11:16"/>
          <p:cNvSpPr/>
          <p:nvPr/>
        </p:nvSpPr>
        <p:spPr>
          <a:xfrm>
            <a:off x="1435608" y="4119853"/>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07389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3" name="Text 31"/>
          <p:cNvSpPr txBox="1"/>
          <p:nvPr/>
        </p:nvSpPr>
        <p:spPr>
          <a:xfrm>
            <a:off x="1783080" y="4073893"/>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d_separation</a:t>
            </a:r>
            <a:endParaRPr lang="en-US" sz="1300" dirty="0"/>
          </a:p>
        </p:txBody>
      </p:sp>
      <p:sp>
        <p:nvSpPr>
          <p:cNvPr id="34" name="milestone 17:45"/>
          <p:cNvSpPr/>
          <p:nvPr/>
        </p:nvSpPr>
        <p:spPr>
          <a:xfrm>
            <a:off x="1435608" y="4358079"/>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31211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36" name="Text 34"/>
          <p:cNvSpPr txBox="1"/>
          <p:nvPr/>
        </p:nvSpPr>
        <p:spPr>
          <a:xfrm>
            <a:off x="1783080" y="4312118"/>
            <a:ext cx="4434840" cy="238225"/>
          </a:xfrm>
          <a:prstGeom prst="rect">
            <a:avLst/>
          </a:prstGeom>
          <a:noFill/>
          <a:ln/>
        </p:spPr>
        <p:txBody>
          <a:bodyPr wrap="square" lIns="0" tIns="0" rIns="0" bIns="0" rtlCol="0" anchor="ctr"/>
          <a:lstStyle/>
          <a:p>
            <a:pPr indent="0" marL="0">
              <a:buNone/>
            </a:pPr>
            <a:r>
              <a:rPr lang="en-US" sz="1400" dirty="0">
                <a:solidFill>
                  <a:schemeClr val="tx1"/>
                </a:solidFill>
              </a:rPr>
              <a:t>Review fixes · support certificates, revalidated</a:t>
            </a:r>
            <a:endParaRPr lang="en-US" sz="1400" dirty="0"/>
          </a:p>
        </p:txBody>
      </p:sp>
      <p:sp>
        <p:nvSpPr>
          <p:cNvPr id="37" name="milestone 22:11"/>
          <p:cNvSpPr/>
          <p:nvPr/>
        </p:nvSpPr>
        <p:spPr>
          <a:xfrm>
            <a:off x="1435608" y="4596304"/>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55034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22:11</a:t>
            </a:r>
            <a:endParaRPr lang="en-US" sz="1300" dirty="0"/>
          </a:p>
        </p:txBody>
      </p:sp>
      <p:sp>
        <p:nvSpPr>
          <p:cNvPr id="39" name="Text 37"/>
          <p:cNvSpPr txBox="1"/>
          <p:nvPr/>
        </p:nvSpPr>
        <p:spPr>
          <a:xfrm>
            <a:off x="1783080" y="4550343"/>
            <a:ext cx="4434840" cy="238225"/>
          </a:xfrm>
          <a:prstGeom prst="rect">
            <a:avLst/>
          </a:prstGeom>
          <a:noFill/>
          <a:ln/>
        </p:spPr>
        <p:txBody>
          <a:bodyPr wrap="square" lIns="0" tIns="0" rIns="0" bIns="0" rtlCol="0" anchor="ctr"/>
          <a:lstStyle/>
          <a:p>
            <a:pPr indent="0" marL="0">
              <a:buNone/>
            </a:pPr>
            <a:r>
              <a:rPr lang="en-US" sz="1400" dirty="0">
                <a:solidFill>
                  <a:schemeClr val="tx1"/>
                </a:solidFill>
              </a:rPr>
              <a:t>Negative costs · injective patterns · forests · rings</a:t>
            </a:r>
            <a:endParaRPr lang="en-US" sz="1400" dirty="0"/>
          </a:p>
        </p:txBody>
      </p:sp>
      <p:sp>
        <p:nvSpPr>
          <p:cNvPr id="40" name="milestone 23:25"/>
          <p:cNvSpPr/>
          <p:nvPr/>
        </p:nvSpPr>
        <p:spPr>
          <a:xfrm>
            <a:off x="1435608" y="4834529"/>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478856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23:25</a:t>
            </a:r>
            <a:endParaRPr lang="en-US" sz="1300" dirty="0"/>
          </a:p>
        </p:txBody>
      </p:sp>
      <p:sp>
        <p:nvSpPr>
          <p:cNvPr id="42" name="Text 40"/>
          <p:cNvSpPr txBox="1"/>
          <p:nvPr/>
        </p:nvSpPr>
        <p:spPr>
          <a:xfrm>
            <a:off x="1783080" y="4788568"/>
            <a:ext cx="4434840" cy="238225"/>
          </a:xfrm>
          <a:prstGeom prst="rect">
            <a:avLst/>
          </a:prstGeom>
          <a:noFill/>
          <a:ln/>
        </p:spPr>
        <p:txBody>
          <a:bodyPr wrap="square" lIns="0" tIns="0" rIns="0" bIns="0" rtlCol="0" anchor="ctr"/>
          <a:lstStyle/>
          <a:p>
            <a:pPr indent="0" marL="0">
              <a:buNone/>
            </a:pPr>
            <a:r>
              <a:rPr lang="en-US" sz="1400" dirty="0">
                <a:solidFill>
                  <a:schemeClr val="tx1"/>
                </a:solidFill>
              </a:rPr>
              <a:t>Min-cost matching and flow · </a:t>
            </a:r>
            <a:pPr indent="0" marL="0">
              <a:buNone/>
            </a:pPr>
            <a:r>
              <a:rPr lang="en-US" sz="1300" dirty="0">
                <a:solidFill>
                  <a:schemeClr val="tx1"/>
                </a:solidFill>
                <a:latin typeface="Courier New" pitchFamily="34" charset="0"/>
                <a:ea typeface="Courier New" pitchFamily="34" charset="-122"/>
                <a:cs typeface="Courier New" pitchFamily="34" charset="-120"/>
              </a:rPr>
              <a:t>k_shortest_paths</a:t>
            </a:r>
            <a:endParaRPr lang="en-US" sz="1400" dirty="0"/>
          </a:p>
        </p:txBody>
      </p:sp>
      <p:sp>
        <p:nvSpPr>
          <p:cNvPr id="43" name="Text 41"/>
          <p:cNvSpPr txBox="1"/>
          <p:nvPr/>
        </p:nvSpPr>
        <p:spPr>
          <a:xfrm>
            <a:off x="1783080" y="5026794"/>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27 OCT 2026</a:t>
            </a:r>
            <a:endParaRPr lang="en-US" sz="1200" dirty="0"/>
          </a:p>
        </p:txBody>
      </p:sp>
      <p:sp>
        <p:nvSpPr>
          <p:cNvPr id="44" name="milestone 10:28"/>
          <p:cNvSpPr/>
          <p:nvPr/>
        </p:nvSpPr>
        <p:spPr>
          <a:xfrm>
            <a:off x="1435608" y="5310980"/>
            <a:ext cx="146304" cy="146304"/>
          </a:xfrm>
          <a:prstGeom prst="ellipse">
            <a:avLst/>
          </a:prstGeom>
          <a:solidFill>
            <a:schemeClr val="accent1"/>
          </a:solidFill>
          <a:ln w="19050">
            <a:solidFill>
              <a:schemeClr val="bg1"/>
            </a:solidFill>
            <a:prstDash val="solid"/>
          </a:ln>
        </p:spPr>
      </p:sp>
      <p:sp>
        <p:nvSpPr>
          <p:cNvPr id="45" name="Text 43"/>
          <p:cNvSpPr txBox="1"/>
          <p:nvPr/>
        </p:nvSpPr>
        <p:spPr>
          <a:xfrm>
            <a:off x="548640" y="5265019"/>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10:28</a:t>
            </a:r>
            <a:endParaRPr lang="en-US" sz="1300" dirty="0"/>
          </a:p>
        </p:txBody>
      </p:sp>
      <p:sp>
        <p:nvSpPr>
          <p:cNvPr id="46" name="Text 44"/>
          <p:cNvSpPr txBox="1"/>
          <p:nvPr/>
        </p:nvSpPr>
        <p:spPr>
          <a:xfrm>
            <a:off x="1783080" y="5265019"/>
            <a:ext cx="4434840" cy="238225"/>
          </a:xfrm>
          <a:prstGeom prst="rect">
            <a:avLst/>
          </a:prstGeom>
          <a:noFill/>
          <a:ln/>
        </p:spPr>
        <p:txBody>
          <a:bodyPr wrap="square" lIns="0" tIns="0" rIns="0" bIns="0" rtlCol="0" anchor="ctr"/>
          <a:lstStyle/>
          <a:p>
            <a:pPr indent="0" marL="0">
              <a:buNone/>
            </a:pPr>
            <a:r>
              <a:rPr lang="en-US" sz="1400" dirty="0">
                <a:solidFill>
                  <a:schemeClr val="tx1"/>
                </a:solidFill>
              </a:rPr>
              <a:t>Cyclic patterns counted by variable elimination</a:t>
            </a:r>
            <a:endParaRPr lang="en-US" sz="1400" dirty="0"/>
          </a:p>
        </p:txBody>
      </p:sp>
      <p:sp>
        <p:nvSpPr>
          <p:cNvPr id="47" name="milestone 11:21"/>
          <p:cNvSpPr/>
          <p:nvPr/>
        </p:nvSpPr>
        <p:spPr>
          <a:xfrm>
            <a:off x="1435608" y="5549205"/>
            <a:ext cx="146304" cy="146304"/>
          </a:xfrm>
          <a:prstGeom prst="ellipse">
            <a:avLst/>
          </a:prstGeom>
          <a:solidFill>
            <a:schemeClr val="accent1"/>
          </a:solidFill>
          <a:ln w="19050">
            <a:solidFill>
              <a:schemeClr val="bg1"/>
            </a:solidFill>
            <a:prstDash val="solid"/>
          </a:ln>
        </p:spPr>
      </p:sp>
      <p:sp>
        <p:nvSpPr>
          <p:cNvPr id="48" name="Text 46"/>
          <p:cNvSpPr txBox="1"/>
          <p:nvPr/>
        </p:nvSpPr>
        <p:spPr>
          <a:xfrm>
            <a:off x="548640" y="5503244"/>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11:21</a:t>
            </a:r>
            <a:endParaRPr lang="en-US" sz="1300" dirty="0"/>
          </a:p>
        </p:txBody>
      </p:sp>
      <p:sp>
        <p:nvSpPr>
          <p:cNvPr id="49" name="Text 47"/>
          <p:cNvSpPr txBox="1"/>
          <p:nvPr/>
        </p:nvSpPr>
        <p:spPr>
          <a:xfrm>
            <a:off x="1783080" y="5503244"/>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reachability_pairs</a:t>
            </a:r>
            <a:pPr indent="0" marL="0">
              <a:buNone/>
            </a:pPr>
            <a:r>
              <a:rPr lang="en-US" sz="1400" dirty="0">
                <a:solidFill>
                  <a:schemeClr val="tx1"/>
                </a:solidFill>
              </a:rPr>
              <a:t> from a kept 2-hop index</a:t>
            </a:r>
            <a:endParaRPr lang="en-US" sz="1300" dirty="0"/>
          </a:p>
        </p:txBody>
      </p:sp>
      <p:sp>
        <p:nvSpPr>
          <p:cNvPr id="50" name="milestone 12:35"/>
          <p:cNvSpPr/>
          <p:nvPr/>
        </p:nvSpPr>
        <p:spPr>
          <a:xfrm>
            <a:off x="1435608" y="5787430"/>
            <a:ext cx="146304" cy="146304"/>
          </a:xfrm>
          <a:prstGeom prst="ellipse">
            <a:avLst/>
          </a:prstGeom>
          <a:solidFill>
            <a:schemeClr val="accent1"/>
          </a:solidFill>
          <a:ln w="19050">
            <a:solidFill>
              <a:schemeClr val="bg1"/>
            </a:solidFill>
            <a:prstDash val="solid"/>
          </a:ln>
        </p:spPr>
      </p:sp>
      <p:sp>
        <p:nvSpPr>
          <p:cNvPr id="51" name="Text 49"/>
          <p:cNvSpPr txBox="1"/>
          <p:nvPr/>
        </p:nvSpPr>
        <p:spPr>
          <a:xfrm>
            <a:off x="548640" y="5741469"/>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12:35</a:t>
            </a:r>
            <a:endParaRPr lang="en-US" sz="1300" dirty="0"/>
          </a:p>
        </p:txBody>
      </p:sp>
      <p:sp>
        <p:nvSpPr>
          <p:cNvPr id="52" name="Text 50"/>
          <p:cNvSpPr txBox="1"/>
          <p:nvPr/>
        </p:nvSpPr>
        <p:spPr>
          <a:xfrm>
            <a:off x="1783080" y="5741469"/>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datalog</a:t>
            </a:r>
            <a:pPr indent="0" marL="0">
              <a:buNone/>
            </a:pPr>
            <a:r>
              <a:rPr lang="en-US" sz="1400" dirty="0">
                <a:solidFill>
                  <a:schemeClr val="tx1"/>
                </a:solidFill>
              </a:rPr>
              <a:t>: rules to their least model, each fact proven</a:t>
            </a:r>
            <a:endParaRPr lang="en-US" sz="1300" dirty="0"/>
          </a:p>
        </p:txBody>
      </p:sp>
      <p:sp>
        <p:nvSpPr>
          <p:cNvPr id="53" name="milestone 13:10"/>
          <p:cNvSpPr/>
          <p:nvPr/>
        </p:nvSpPr>
        <p:spPr>
          <a:xfrm>
            <a:off x="1417320" y="6007367"/>
            <a:ext cx="182880" cy="182880"/>
          </a:xfrm>
          <a:prstGeom prst="ellipse">
            <a:avLst/>
          </a:prstGeom>
          <a:solidFill>
            <a:schemeClr val="accent2"/>
          </a:solidFill>
          <a:ln w="19050">
            <a:solidFill>
              <a:schemeClr val="bg1"/>
            </a:solidFill>
            <a:prstDash val="solid"/>
          </a:ln>
        </p:spPr>
      </p:sp>
      <p:sp>
        <p:nvSpPr>
          <p:cNvPr id="54" name="Text 52"/>
          <p:cNvSpPr txBox="1"/>
          <p:nvPr/>
        </p:nvSpPr>
        <p:spPr>
          <a:xfrm>
            <a:off x="548640" y="597969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13:10</a:t>
            </a:r>
            <a:endParaRPr lang="en-US" sz="1300" dirty="0"/>
          </a:p>
        </p:txBody>
      </p:sp>
      <p:sp>
        <p:nvSpPr>
          <p:cNvPr id="55" name="Text 53"/>
          <p:cNvSpPr txBox="1"/>
          <p:nvPr/>
        </p:nvSpPr>
        <p:spPr>
          <a:xfrm>
            <a:off x="1783080" y="5979695"/>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canonical_form</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isomorphism</a:t>
            </a:r>
            <a:pPr indent="0" marL="0">
              <a:buNone/>
            </a:pPr>
            <a:r>
              <a:rPr lang="en-US" sz="1400" dirty="0">
                <a:solidFill>
                  <a:schemeClr val="tx1"/>
                </a:solidFill>
              </a:rPr>
              <a:t>: one name per copy</a:t>
            </a:r>
            <a:endParaRPr lang="en-US" sz="1300" dirty="0"/>
          </a:p>
        </p:txBody>
      </p:sp>
      <p:sp>
        <p:nvSpPr>
          <p:cNvPr id="56" name="growth operations"/>
          <p:cNvSpPr/>
          <p:nvPr/>
        </p:nvSpPr>
        <p:spPr>
          <a:xfrm>
            <a:off x="6537960" y="1691640"/>
            <a:ext cx="2438248" cy="1005840"/>
          </a:xfrm>
          <a:prstGeom prst="roundRect">
            <a:avLst>
              <a:gd name="adj" fmla="val 9091"/>
            </a:avLst>
          </a:prstGeom>
          <a:solidFill>
            <a:schemeClr val="tx2"/>
          </a:solidFill>
          <a:ln/>
        </p:spPr>
      </p:sp>
      <p:sp>
        <p:nvSpPr>
          <p:cNvPr id="57" name="Text 55"/>
          <p:cNvSpPr txBox="1"/>
          <p:nvPr/>
        </p:nvSpPr>
        <p:spPr>
          <a:xfrm>
            <a:off x="6720840"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27</a:t>
            </a:r>
            <a:endParaRPr lang="en-US" sz="2800" dirty="0"/>
          </a:p>
          <a:p>
            <a:pPr indent="0" marL="0">
              <a:buNone/>
            </a:pPr>
            <a:r>
              <a:rPr lang="en-US" sz="1300" dirty="0">
                <a:solidFill>
                  <a:schemeClr val="accent5"/>
                </a:solidFill>
              </a:rPr>
              <a:t>operations</a:t>
            </a:r>
            <a:endParaRPr lang="en-US" sz="2800" dirty="0"/>
          </a:p>
        </p:txBody>
      </p:sp>
      <p:sp>
        <p:nvSpPr>
          <p:cNvPr id="58" name="growth runtime tests"/>
          <p:cNvSpPr/>
          <p:nvPr/>
        </p:nvSpPr>
        <p:spPr>
          <a:xfrm>
            <a:off x="9204808" y="1691640"/>
            <a:ext cx="2438248" cy="1005840"/>
          </a:xfrm>
          <a:prstGeom prst="roundRect">
            <a:avLst>
              <a:gd name="adj" fmla="val 9091"/>
            </a:avLst>
          </a:prstGeom>
          <a:solidFill>
            <a:schemeClr val="tx2"/>
          </a:solidFill>
          <a:ln/>
        </p:spPr>
      </p:sp>
      <p:sp>
        <p:nvSpPr>
          <p:cNvPr id="59" name="Text 57"/>
          <p:cNvSpPr txBox="1"/>
          <p:nvPr/>
        </p:nvSpPr>
        <p:spPr>
          <a:xfrm>
            <a:off x="9387688"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689</a:t>
            </a:r>
            <a:endParaRPr lang="en-US" sz="2800" dirty="0"/>
          </a:p>
          <a:p>
            <a:pPr indent="0" marL="0">
              <a:buNone/>
            </a:pPr>
            <a:r>
              <a:rPr lang="en-US" sz="1300" dirty="0">
                <a:solidFill>
                  <a:schemeClr val="accent5"/>
                </a:solidFill>
              </a:rPr>
              <a:t>runtime tests</a:t>
            </a:r>
            <a:endParaRPr lang="en-US" sz="2800" dirty="0"/>
          </a:p>
        </p:txBody>
      </p:sp>
      <p:graphicFrame>
        <p:nvGraphicFramePr>
          <p:cNvPr id="60" name="conformance growth chart" descr=""/>
          <p:cNvGraphicFramePr/>
          <p:nvPr/>
        </p:nvGraphicFramePr>
        <p:xfrm>
          <a:off x="6537960" y="2926080"/>
          <a:ext cx="510509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eleven done, one to go</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Ranked by value against effort in a Codex literature survey of 26 October 2026: what is left, and what has shipped.</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Elementary flux modes"/>
          <p:cNvSpPr/>
          <p:nvPr/>
        </p:nvSpPr>
        <p:spPr>
          <a:xfrm>
            <a:off x="548640" y="1911096"/>
            <a:ext cx="11094415" cy="1188720"/>
          </a:xfrm>
          <a:prstGeom prst="roundRect">
            <a:avLst>
              <a:gd name="adj" fmla="val 7692"/>
            </a:avLst>
          </a:prstGeom>
          <a:solidFill>
            <a:schemeClr val="bg2"/>
          </a:solidFill>
          <a:ln/>
        </p:spPr>
      </p:sp>
      <p:sp>
        <p:nvSpPr>
          <p:cNvPr id="9" name="icon Elementary flux modes"/>
          <p:cNvSpPr/>
          <p:nvPr/>
        </p:nvSpPr>
        <p:spPr>
          <a:xfrm>
            <a:off x="713232" y="2286000"/>
            <a:ext cx="438912" cy="438912"/>
          </a:xfrm>
          <a:prstGeom prst="ellipse">
            <a:avLst/>
          </a:prstGeom>
          <a:solidFill>
            <a:schemeClr val="accent1"/>
          </a:solidFill>
          <a:ln/>
        </p:spPr>
      </p:sp>
      <p:pic>
        <p:nvPicPr>
          <p:cNvPr id="10" name="Image 0" descr="Elementary flux modes">    </p:cNvPr>
          <p:cNvPicPr>
            <a:picLocks noChangeAspect="1"/>
          </p:cNvPicPr>
          <p:nvPr/>
        </p:nvPicPr>
        <p:blipFill>
          <a:blip r:embed="rId1"/>
          <a:stretch>
            <a:fillRect/>
          </a:stretch>
        </p:blipFill>
        <p:spPr>
          <a:xfrm>
            <a:off x="809793" y="2382561"/>
            <a:ext cx="245791" cy="245791"/>
          </a:xfrm>
          <a:prstGeom prst="rect">
            <a:avLst/>
          </a:prstGeom>
        </p:spPr>
      </p:pic>
      <p:sp>
        <p:nvSpPr>
          <p:cNvPr id="11" name="Text 8"/>
          <p:cNvSpPr txBox="1"/>
          <p:nvPr/>
        </p:nvSpPr>
        <p:spPr>
          <a:xfrm>
            <a:off x="1325880" y="1911096"/>
            <a:ext cx="1828800" cy="1188720"/>
          </a:xfrm>
          <a:prstGeom prst="rect">
            <a:avLst/>
          </a:prstGeom>
          <a:noFill/>
          <a:ln/>
        </p:spPr>
        <p:txBody>
          <a:bodyPr wrap="square" lIns="0" tIns="0" rIns="0" bIns="0" rtlCol="0" anchor="ctr"/>
          <a:lstStyle/>
          <a:p>
            <a:pPr indent="0" marL="0">
              <a:buNone/>
            </a:pPr>
            <a:r>
              <a:rPr lang="en-US" sz="1500" b="1" dirty="0">
                <a:solidFill>
                  <a:schemeClr val="tx1"/>
                </a:solidFill>
              </a:rPr>
              <a:t>Elementary flux modes</a:t>
            </a:r>
            <a:endParaRPr lang="en-US" sz="1500" dirty="0"/>
          </a:p>
        </p:txBody>
      </p:sp>
      <p:sp>
        <p:nvSpPr>
          <p:cNvPr id="12" name="Text 9"/>
          <p:cNvSpPr txBox="1"/>
          <p:nvPr/>
        </p:nvSpPr>
        <p:spPr>
          <a:xfrm>
            <a:off x="3383280" y="1911096"/>
            <a:ext cx="3017520" cy="1188720"/>
          </a:xfrm>
          <a:prstGeom prst="rect">
            <a:avLst/>
          </a:prstGeom>
          <a:noFill/>
          <a:ln/>
        </p:spPr>
        <p:txBody>
          <a:bodyPr wrap="square" lIns="0" tIns="0" rIns="0" bIns="0" rtlCol="0" anchor="ctr"/>
          <a:lstStyle/>
          <a:p>
            <a:pPr indent="0" marL="0">
              <a:buNone/>
            </a:pPr>
            <a:r>
              <a:rPr lang="en-US" sz="1400" dirty="0">
                <a:solidFill>
                  <a:schemeClr val="tx1"/>
                </a:solidFill>
              </a:rPr>
              <a:t>A reaction network's minimal steady pathways, small networks first.</a:t>
            </a:r>
            <a:endParaRPr lang="en-US" sz="1400" dirty="0"/>
          </a:p>
        </p:txBody>
      </p:sp>
      <p:sp>
        <p:nvSpPr>
          <p:cNvPr id="13" name="Text 10"/>
          <p:cNvSpPr txBox="1"/>
          <p:nvPr/>
        </p:nvSpPr>
        <p:spPr>
          <a:xfrm>
            <a:off x="6629400" y="1911096"/>
            <a:ext cx="3017520" cy="1188720"/>
          </a:xfrm>
          <a:prstGeom prst="rect">
            <a:avLst/>
          </a:prstGeom>
          <a:noFill/>
          <a:ln/>
        </p:spPr>
        <p:txBody>
          <a:bodyPr wrap="square" lIns="0" tIns="0" rIns="0" bIns="0" rtlCol="0" anchor="ctr"/>
          <a:lstStyle/>
          <a:p>
            <a:pPr indent="0" marL="0">
              <a:buNone/>
            </a:pPr>
            <a:r>
              <a:rPr lang="en-US" sz="1400" dirty="0">
                <a:solidFill>
                  <a:schemeClr val="tx1"/>
                </a:solidFill>
              </a:rPr>
              <a:t>A mode balances exactly; a nonsingular minor proves its support minimal.</a:t>
            </a:r>
            <a:endParaRPr lang="en-US" sz="1400" dirty="0"/>
          </a:p>
        </p:txBody>
      </p:sp>
      <p:sp>
        <p:nvSpPr>
          <p:cNvPr id="14" name="Text 11"/>
          <p:cNvSpPr txBox="1"/>
          <p:nvPr/>
        </p:nvSpPr>
        <p:spPr>
          <a:xfrm>
            <a:off x="9875520" y="1911096"/>
            <a:ext cx="1676095" cy="1188720"/>
          </a:xfrm>
          <a:prstGeom prst="rect">
            <a:avLst/>
          </a:prstGeom>
          <a:noFill/>
          <a:ln/>
        </p:spPr>
        <p:txBody>
          <a:bodyPr wrap="square" lIns="0" tIns="0" rIns="0" bIns="0" rtlCol="0" anchor="ctr"/>
          <a:lstStyle/>
          <a:p>
            <a:pPr indent="0" marL="0">
              <a:buNone/>
            </a:pPr>
            <a:r>
              <a:rPr lang="en-US" sz="1200" i="1" dirty="0">
                <a:solidFill>
                  <a:schemeClr val="accent6"/>
                </a:solidFill>
              </a:rPr>
              <a:t>Gagneur and Klamt 2004; Terzer and Stelling 2008</a:t>
            </a:r>
            <a:endParaRPr lang="en-US" sz="1200" dirty="0"/>
          </a:p>
        </p:txBody>
      </p:sp>
      <p:sp>
        <p:nvSpPr>
          <p:cNvPr id="15" name="Text 12"/>
          <p:cNvSpPr txBox="1"/>
          <p:nvPr/>
        </p:nvSpPr>
        <p:spPr>
          <a:xfrm>
            <a:off x="713232" y="3374136"/>
            <a:ext cx="10765231"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DONE FROM THE SURVEY (11)</a:t>
            </a:r>
            <a:endParaRPr lang="en-US" sz="1100" dirty="0"/>
          </a:p>
        </p:txBody>
      </p:sp>
      <p:sp>
        <p:nvSpPr>
          <p:cNvPr id="16" name="done Negative costs"/>
          <p:cNvSpPr/>
          <p:nvPr/>
        </p:nvSpPr>
        <p:spPr>
          <a:xfrm>
            <a:off x="548640" y="3675888"/>
            <a:ext cx="3576218" cy="566928"/>
          </a:xfrm>
          <a:prstGeom prst="roundRect">
            <a:avLst>
              <a:gd name="adj" fmla="val 16129"/>
            </a:avLst>
          </a:prstGeom>
          <a:solidFill>
            <a:schemeClr val="bg1"/>
          </a:solidFill>
          <a:ln w="19050">
            <a:solidFill>
              <a:schemeClr val="bg2"/>
            </a:solidFill>
            <a:prstDash val="solid"/>
          </a:ln>
        </p:spPr>
      </p:sp>
      <p:sp>
        <p:nvSpPr>
          <p:cNvPr id="17" name="icon done Negative costs"/>
          <p:cNvSpPr/>
          <p:nvPr/>
        </p:nvSpPr>
        <p:spPr>
          <a:xfrm>
            <a:off x="713232" y="3794760"/>
            <a:ext cx="329184" cy="329184"/>
          </a:xfrm>
          <a:prstGeom prst="ellipse">
            <a:avLst/>
          </a:prstGeom>
          <a:solidFill>
            <a:schemeClr val="accent1"/>
          </a:solidFill>
          <a:ln/>
        </p:spPr>
      </p:sp>
      <p:pic>
        <p:nvPicPr>
          <p:cNvPr id="18" name="Image 1" descr="done Negative costs">    </p:cNvPr>
          <p:cNvPicPr>
            <a:picLocks noChangeAspect="1"/>
          </p:cNvPicPr>
          <p:nvPr/>
        </p:nvPicPr>
        <p:blipFill>
          <a:blip r:embed="rId2"/>
          <a:stretch>
            <a:fillRect/>
          </a:stretch>
        </p:blipFill>
        <p:spPr>
          <a:xfrm>
            <a:off x="785652" y="3867180"/>
            <a:ext cx="184343" cy="184343"/>
          </a:xfrm>
          <a:prstGeom prst="rect">
            <a:avLst/>
          </a:prstGeom>
        </p:spPr>
      </p:pic>
      <p:sp>
        <p:nvSpPr>
          <p:cNvPr id="19" name="Text 15"/>
          <p:cNvSpPr txBox="1"/>
          <p:nvPr/>
        </p:nvSpPr>
        <p:spPr>
          <a:xfrm>
            <a:off x="1207008" y="3675888"/>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Negative costs</a:t>
            </a:r>
            <a:endParaRPr lang="en-US" sz="1400" dirty="0"/>
          </a:p>
          <a:p>
            <a:pPr indent="0" marL="0">
              <a:buNone/>
            </a:pPr>
            <a:r>
              <a:rPr lang="en-US" sz="1200" i="1" dirty="0">
                <a:solidFill>
                  <a:schemeClr val="accent6"/>
                </a:solidFill>
              </a:rPr>
              <a:t>a negative cycle proven by three walks</a:t>
            </a:r>
            <a:endParaRPr lang="en-US" sz="1400" dirty="0"/>
          </a:p>
        </p:txBody>
      </p:sp>
      <p:sp>
        <p:nvSpPr>
          <p:cNvPr id="20" name="done Injective patterns"/>
          <p:cNvSpPr/>
          <p:nvPr/>
        </p:nvSpPr>
        <p:spPr>
          <a:xfrm>
            <a:off x="4307738" y="3675888"/>
            <a:ext cx="3576218" cy="566928"/>
          </a:xfrm>
          <a:prstGeom prst="roundRect">
            <a:avLst>
              <a:gd name="adj" fmla="val 16129"/>
            </a:avLst>
          </a:prstGeom>
          <a:solidFill>
            <a:schemeClr val="bg1"/>
          </a:solidFill>
          <a:ln w="19050">
            <a:solidFill>
              <a:schemeClr val="bg2"/>
            </a:solidFill>
            <a:prstDash val="solid"/>
          </a:ln>
        </p:spPr>
      </p:sp>
      <p:sp>
        <p:nvSpPr>
          <p:cNvPr id="21" name="icon done Injective patterns"/>
          <p:cNvSpPr/>
          <p:nvPr/>
        </p:nvSpPr>
        <p:spPr>
          <a:xfrm>
            <a:off x="4472330" y="3794760"/>
            <a:ext cx="329184" cy="329184"/>
          </a:xfrm>
          <a:prstGeom prst="ellipse">
            <a:avLst/>
          </a:prstGeom>
          <a:solidFill>
            <a:schemeClr val="accent1"/>
          </a:solidFill>
          <a:ln/>
        </p:spPr>
      </p:sp>
      <p:pic>
        <p:nvPicPr>
          <p:cNvPr id="22" name="Image 2" descr="done Injective patterns">    </p:cNvPr>
          <p:cNvPicPr>
            <a:picLocks noChangeAspect="1"/>
          </p:cNvPicPr>
          <p:nvPr/>
        </p:nvPicPr>
        <p:blipFill>
          <a:blip r:embed="rId3"/>
          <a:stretch>
            <a:fillRect/>
          </a:stretch>
        </p:blipFill>
        <p:spPr>
          <a:xfrm>
            <a:off x="4544751" y="3867180"/>
            <a:ext cx="184343" cy="184343"/>
          </a:xfrm>
          <a:prstGeom prst="rect">
            <a:avLst/>
          </a:prstGeom>
        </p:spPr>
      </p:pic>
      <p:sp>
        <p:nvSpPr>
          <p:cNvPr id="23" name="Text 18"/>
          <p:cNvSpPr txBox="1"/>
          <p:nvPr/>
        </p:nvSpPr>
        <p:spPr>
          <a:xfrm>
            <a:off x="4966106" y="3675888"/>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Injective patterns</a:t>
            </a:r>
            <a:endParaRPr lang="en-US" sz="1400" dirty="0"/>
          </a:p>
          <a:p>
            <a:pPr indent="0" marL="0">
              <a:buNone/>
            </a:pPr>
            <a:r>
              <a:rPr lang="en-US" sz="1200" i="1" dirty="0">
                <a:solidFill>
                  <a:schemeClr val="accent6"/>
                </a:solidFill>
              </a:rPr>
              <a:t>substructure search, budget-bounded</a:t>
            </a:r>
            <a:endParaRPr lang="en-US" sz="1400" dirty="0"/>
          </a:p>
        </p:txBody>
      </p:sp>
      <p:sp>
        <p:nvSpPr>
          <p:cNvPr id="24" name="done Spanning forests"/>
          <p:cNvSpPr/>
          <p:nvPr/>
        </p:nvSpPr>
        <p:spPr>
          <a:xfrm>
            <a:off x="8066837" y="3675888"/>
            <a:ext cx="3576218" cy="566928"/>
          </a:xfrm>
          <a:prstGeom prst="roundRect">
            <a:avLst>
              <a:gd name="adj" fmla="val 16129"/>
            </a:avLst>
          </a:prstGeom>
          <a:solidFill>
            <a:schemeClr val="bg1"/>
          </a:solidFill>
          <a:ln w="19050">
            <a:solidFill>
              <a:schemeClr val="bg2"/>
            </a:solidFill>
            <a:prstDash val="solid"/>
          </a:ln>
        </p:spPr>
      </p:sp>
      <p:sp>
        <p:nvSpPr>
          <p:cNvPr id="25" name="icon done Spanning forests"/>
          <p:cNvSpPr/>
          <p:nvPr/>
        </p:nvSpPr>
        <p:spPr>
          <a:xfrm>
            <a:off x="8231429" y="3794760"/>
            <a:ext cx="329184" cy="329184"/>
          </a:xfrm>
          <a:prstGeom prst="ellipse">
            <a:avLst/>
          </a:prstGeom>
          <a:solidFill>
            <a:schemeClr val="accent1"/>
          </a:solidFill>
          <a:ln/>
        </p:spPr>
      </p:sp>
      <p:pic>
        <p:nvPicPr>
          <p:cNvPr id="26" name="Image 3" descr="done Spanning forests">    </p:cNvPr>
          <p:cNvPicPr>
            <a:picLocks noChangeAspect="1"/>
          </p:cNvPicPr>
          <p:nvPr/>
        </p:nvPicPr>
        <p:blipFill>
          <a:blip r:embed="rId4"/>
          <a:stretch>
            <a:fillRect/>
          </a:stretch>
        </p:blipFill>
        <p:spPr>
          <a:xfrm>
            <a:off x="8303849" y="3867180"/>
            <a:ext cx="184343" cy="184343"/>
          </a:xfrm>
          <a:prstGeom prst="rect">
            <a:avLst/>
          </a:prstGeom>
        </p:spPr>
      </p:pic>
      <p:sp>
        <p:nvSpPr>
          <p:cNvPr id="27" name="Text 21"/>
          <p:cNvSpPr txBox="1"/>
          <p:nvPr/>
        </p:nvSpPr>
        <p:spPr>
          <a:xfrm>
            <a:off x="8725205" y="3675888"/>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Spanning forests</a:t>
            </a:r>
            <a:endParaRPr lang="en-US" sz="1400" dirty="0"/>
          </a:p>
          <a:p>
            <a:pPr indent="0" marL="0">
              <a:buNone/>
            </a:pPr>
            <a:r>
              <a:rPr lang="en-US" sz="1200" i="1" dirty="0">
                <a:solidFill>
                  <a:schemeClr val="accent6"/>
                </a:solidFill>
              </a:rPr>
              <a:t>proven by the cycle property</a:t>
            </a:r>
            <a:endParaRPr lang="en-US" sz="1400" dirty="0"/>
          </a:p>
        </p:txBody>
      </p:sp>
      <p:sp>
        <p:nvSpPr>
          <p:cNvPr id="28" name="done Cycle bases"/>
          <p:cNvSpPr/>
          <p:nvPr/>
        </p:nvSpPr>
        <p:spPr>
          <a:xfrm>
            <a:off x="548640" y="4334256"/>
            <a:ext cx="3576218" cy="566928"/>
          </a:xfrm>
          <a:prstGeom prst="roundRect">
            <a:avLst>
              <a:gd name="adj" fmla="val 16129"/>
            </a:avLst>
          </a:prstGeom>
          <a:solidFill>
            <a:schemeClr val="bg1"/>
          </a:solidFill>
          <a:ln w="19050">
            <a:solidFill>
              <a:schemeClr val="bg2"/>
            </a:solidFill>
            <a:prstDash val="solid"/>
          </a:ln>
        </p:spPr>
      </p:sp>
      <p:sp>
        <p:nvSpPr>
          <p:cNvPr id="29" name="icon done Cycle bases"/>
          <p:cNvSpPr/>
          <p:nvPr/>
        </p:nvSpPr>
        <p:spPr>
          <a:xfrm>
            <a:off x="713232" y="4453128"/>
            <a:ext cx="329184" cy="329184"/>
          </a:xfrm>
          <a:prstGeom prst="ellipse">
            <a:avLst/>
          </a:prstGeom>
          <a:solidFill>
            <a:schemeClr val="accent1"/>
          </a:solidFill>
          <a:ln/>
        </p:spPr>
      </p:sp>
      <p:pic>
        <p:nvPicPr>
          <p:cNvPr id="30" name="Image 4" descr="done Cycle bases">    </p:cNvPr>
          <p:cNvPicPr>
            <a:picLocks noChangeAspect="1"/>
          </p:cNvPicPr>
          <p:nvPr/>
        </p:nvPicPr>
        <p:blipFill>
          <a:blip r:embed="rId5"/>
          <a:stretch>
            <a:fillRect/>
          </a:stretch>
        </p:blipFill>
        <p:spPr>
          <a:xfrm>
            <a:off x="785652" y="4525548"/>
            <a:ext cx="184343" cy="184343"/>
          </a:xfrm>
          <a:prstGeom prst="rect">
            <a:avLst/>
          </a:prstGeom>
        </p:spPr>
      </p:pic>
      <p:sp>
        <p:nvSpPr>
          <p:cNvPr id="31" name="Text 24"/>
          <p:cNvSpPr txBox="1"/>
          <p:nvPr/>
        </p:nvSpPr>
        <p:spPr>
          <a:xfrm>
            <a:off x="1207008" y="4334256"/>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Cycle bases</a:t>
            </a:r>
            <a:endParaRPr lang="en-US" sz="1400" dirty="0"/>
          </a:p>
          <a:p>
            <a:pPr indent="0" marL="0">
              <a:buNone/>
            </a:pPr>
            <a:r>
              <a:rPr lang="en-US" sz="1200" i="1" dirty="0">
                <a:solidFill>
                  <a:schemeClr val="accent6"/>
                </a:solidFill>
              </a:rPr>
              <a:t>minimum, by de Pina's witnesses</a:t>
            </a:r>
            <a:endParaRPr lang="en-US" sz="1400" dirty="0"/>
          </a:p>
        </p:txBody>
      </p:sp>
      <p:sp>
        <p:nvSpPr>
          <p:cNvPr id="32" name="done Weighted matching"/>
          <p:cNvSpPr/>
          <p:nvPr/>
        </p:nvSpPr>
        <p:spPr>
          <a:xfrm>
            <a:off x="4307738" y="4334256"/>
            <a:ext cx="3576218" cy="566928"/>
          </a:xfrm>
          <a:prstGeom prst="roundRect">
            <a:avLst>
              <a:gd name="adj" fmla="val 16129"/>
            </a:avLst>
          </a:prstGeom>
          <a:solidFill>
            <a:schemeClr val="bg1"/>
          </a:solidFill>
          <a:ln w="19050">
            <a:solidFill>
              <a:schemeClr val="bg2"/>
            </a:solidFill>
            <a:prstDash val="solid"/>
          </a:ln>
        </p:spPr>
      </p:sp>
      <p:sp>
        <p:nvSpPr>
          <p:cNvPr id="33" name="icon done Weighted matching"/>
          <p:cNvSpPr/>
          <p:nvPr/>
        </p:nvSpPr>
        <p:spPr>
          <a:xfrm>
            <a:off x="4472330" y="4453128"/>
            <a:ext cx="329184" cy="329184"/>
          </a:xfrm>
          <a:prstGeom prst="ellipse">
            <a:avLst/>
          </a:prstGeom>
          <a:solidFill>
            <a:schemeClr val="accent1"/>
          </a:solidFill>
          <a:ln/>
        </p:spPr>
      </p:sp>
      <p:pic>
        <p:nvPicPr>
          <p:cNvPr id="34" name="Image 5" descr="done Weighted matching">    </p:cNvPr>
          <p:cNvPicPr>
            <a:picLocks noChangeAspect="1"/>
          </p:cNvPicPr>
          <p:nvPr/>
        </p:nvPicPr>
        <p:blipFill>
          <a:blip r:embed="rId6"/>
          <a:stretch>
            <a:fillRect/>
          </a:stretch>
        </p:blipFill>
        <p:spPr>
          <a:xfrm>
            <a:off x="4544751" y="4525548"/>
            <a:ext cx="184343" cy="184343"/>
          </a:xfrm>
          <a:prstGeom prst="rect">
            <a:avLst/>
          </a:prstGeom>
        </p:spPr>
      </p:pic>
      <p:sp>
        <p:nvSpPr>
          <p:cNvPr id="35" name="Text 27"/>
          <p:cNvSpPr txBox="1"/>
          <p:nvPr/>
        </p:nvSpPr>
        <p:spPr>
          <a:xfrm>
            <a:off x="4966106" y="4334256"/>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Weighted matching</a:t>
            </a:r>
            <a:endParaRPr lang="en-US" sz="1400" dirty="0"/>
          </a:p>
          <a:p>
            <a:pPr indent="0" marL="0">
              <a:buNone/>
            </a:pPr>
            <a:r>
              <a:rPr lang="en-US" sz="1200" i="1" dirty="0">
                <a:solidFill>
                  <a:schemeClr val="accent6"/>
                </a:solidFill>
              </a:rPr>
              <a:t>proven by a cover and potentials</a:t>
            </a:r>
            <a:endParaRPr lang="en-US" sz="1400" dirty="0"/>
          </a:p>
        </p:txBody>
      </p:sp>
      <p:sp>
        <p:nvSpPr>
          <p:cNvPr id="36" name="done k shortest paths"/>
          <p:cNvSpPr/>
          <p:nvPr/>
        </p:nvSpPr>
        <p:spPr>
          <a:xfrm>
            <a:off x="8066837" y="4334256"/>
            <a:ext cx="3576218" cy="566928"/>
          </a:xfrm>
          <a:prstGeom prst="roundRect">
            <a:avLst>
              <a:gd name="adj" fmla="val 16129"/>
            </a:avLst>
          </a:prstGeom>
          <a:solidFill>
            <a:schemeClr val="bg1"/>
          </a:solidFill>
          <a:ln w="19050">
            <a:solidFill>
              <a:schemeClr val="bg2"/>
            </a:solidFill>
            <a:prstDash val="solid"/>
          </a:ln>
        </p:spPr>
      </p:sp>
      <p:sp>
        <p:nvSpPr>
          <p:cNvPr id="37" name="icon done k shortest paths"/>
          <p:cNvSpPr/>
          <p:nvPr/>
        </p:nvSpPr>
        <p:spPr>
          <a:xfrm>
            <a:off x="8231429" y="4453128"/>
            <a:ext cx="329184" cy="329184"/>
          </a:xfrm>
          <a:prstGeom prst="ellipse">
            <a:avLst/>
          </a:prstGeom>
          <a:solidFill>
            <a:schemeClr val="accent1"/>
          </a:solidFill>
          <a:ln/>
        </p:spPr>
      </p:sp>
      <p:pic>
        <p:nvPicPr>
          <p:cNvPr id="38" name="Image 6" descr="done k shortest paths">    </p:cNvPr>
          <p:cNvPicPr>
            <a:picLocks noChangeAspect="1"/>
          </p:cNvPicPr>
          <p:nvPr/>
        </p:nvPicPr>
        <p:blipFill>
          <a:blip r:embed="rId7"/>
          <a:stretch>
            <a:fillRect/>
          </a:stretch>
        </p:blipFill>
        <p:spPr>
          <a:xfrm>
            <a:off x="8303849" y="4525548"/>
            <a:ext cx="184343" cy="184343"/>
          </a:xfrm>
          <a:prstGeom prst="rect">
            <a:avLst/>
          </a:prstGeom>
        </p:spPr>
      </p:pic>
      <p:sp>
        <p:nvSpPr>
          <p:cNvPr id="39" name="Text 30"/>
          <p:cNvSpPr txBox="1"/>
          <p:nvPr/>
        </p:nvSpPr>
        <p:spPr>
          <a:xfrm>
            <a:off x="8725205" y="4334256"/>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k shortest paths</a:t>
            </a:r>
            <a:endParaRPr lang="en-US" sz="1400" dirty="0"/>
          </a:p>
          <a:p>
            <a:pPr indent="0" marL="0">
              <a:buNone/>
            </a:pPr>
            <a:r>
              <a:rPr lang="en-US" sz="1200" i="1" dirty="0">
                <a:solidFill>
                  <a:schemeClr val="accent6"/>
                </a:solidFill>
              </a:rPr>
              <a:t>the ranking tested, not certified</a:t>
            </a:r>
            <a:endParaRPr lang="en-US" sz="1400" dirty="0"/>
          </a:p>
        </p:txBody>
      </p:sp>
      <p:sp>
        <p:nvSpPr>
          <p:cNvPr id="40" name="done Min-cost flow"/>
          <p:cNvSpPr/>
          <p:nvPr/>
        </p:nvSpPr>
        <p:spPr>
          <a:xfrm>
            <a:off x="548640" y="4992624"/>
            <a:ext cx="3576218" cy="566928"/>
          </a:xfrm>
          <a:prstGeom prst="roundRect">
            <a:avLst>
              <a:gd name="adj" fmla="val 16129"/>
            </a:avLst>
          </a:prstGeom>
          <a:solidFill>
            <a:schemeClr val="bg1"/>
          </a:solidFill>
          <a:ln w="19050">
            <a:solidFill>
              <a:schemeClr val="bg2"/>
            </a:solidFill>
            <a:prstDash val="solid"/>
          </a:ln>
        </p:spPr>
      </p:sp>
      <p:sp>
        <p:nvSpPr>
          <p:cNvPr id="41" name="icon done Min-cost flow"/>
          <p:cNvSpPr/>
          <p:nvPr/>
        </p:nvSpPr>
        <p:spPr>
          <a:xfrm>
            <a:off x="713232" y="5111496"/>
            <a:ext cx="329184" cy="329184"/>
          </a:xfrm>
          <a:prstGeom prst="ellipse">
            <a:avLst/>
          </a:prstGeom>
          <a:solidFill>
            <a:schemeClr val="accent1"/>
          </a:solidFill>
          <a:ln/>
        </p:spPr>
      </p:sp>
      <p:pic>
        <p:nvPicPr>
          <p:cNvPr id="42" name="Image 7" descr="done Min-cost flow">    </p:cNvPr>
          <p:cNvPicPr>
            <a:picLocks noChangeAspect="1"/>
          </p:cNvPicPr>
          <p:nvPr/>
        </p:nvPicPr>
        <p:blipFill>
          <a:blip r:embed="rId8"/>
          <a:stretch>
            <a:fillRect/>
          </a:stretch>
        </p:blipFill>
        <p:spPr>
          <a:xfrm>
            <a:off x="785652" y="5183916"/>
            <a:ext cx="184343" cy="184343"/>
          </a:xfrm>
          <a:prstGeom prst="rect">
            <a:avLst/>
          </a:prstGeom>
        </p:spPr>
      </p:pic>
      <p:sp>
        <p:nvSpPr>
          <p:cNvPr id="43" name="Text 33"/>
          <p:cNvSpPr txBox="1"/>
          <p:nvPr/>
        </p:nvSpPr>
        <p:spPr>
          <a:xfrm>
            <a:off x="1207008" y="4992624"/>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Min-cost flow</a:t>
            </a:r>
            <a:endParaRPr lang="en-US" sz="1400" dirty="0"/>
          </a:p>
          <a:p>
            <a:pPr indent="0" marL="0">
              <a:buNone/>
            </a:pPr>
            <a:r>
              <a:rPr lang="en-US" sz="1200" i="1" dirty="0">
                <a:solidFill>
                  <a:schemeClr val="accent6"/>
                </a:solidFill>
              </a:rPr>
              <a:t>proven by potentials and a cut</a:t>
            </a:r>
            <a:endParaRPr lang="en-US" sz="1400" dirty="0"/>
          </a:p>
        </p:txBody>
      </p:sp>
      <p:sp>
        <p:nvSpPr>
          <p:cNvPr id="44" name="done Cyclic pattern counts"/>
          <p:cNvSpPr/>
          <p:nvPr/>
        </p:nvSpPr>
        <p:spPr>
          <a:xfrm>
            <a:off x="4307738" y="4992624"/>
            <a:ext cx="3576218" cy="566928"/>
          </a:xfrm>
          <a:prstGeom prst="roundRect">
            <a:avLst>
              <a:gd name="adj" fmla="val 16129"/>
            </a:avLst>
          </a:prstGeom>
          <a:solidFill>
            <a:schemeClr val="bg1"/>
          </a:solidFill>
          <a:ln w="19050">
            <a:solidFill>
              <a:schemeClr val="bg2"/>
            </a:solidFill>
            <a:prstDash val="solid"/>
          </a:ln>
        </p:spPr>
      </p:sp>
      <p:sp>
        <p:nvSpPr>
          <p:cNvPr id="45" name="icon done Cyclic pattern counts"/>
          <p:cNvSpPr/>
          <p:nvPr/>
        </p:nvSpPr>
        <p:spPr>
          <a:xfrm>
            <a:off x="4472330" y="5111496"/>
            <a:ext cx="329184" cy="329184"/>
          </a:xfrm>
          <a:prstGeom prst="ellipse">
            <a:avLst/>
          </a:prstGeom>
          <a:solidFill>
            <a:schemeClr val="accent1"/>
          </a:solidFill>
          <a:ln/>
        </p:spPr>
      </p:sp>
      <p:pic>
        <p:nvPicPr>
          <p:cNvPr id="46" name="Image 8" descr="done Cyclic pattern counts">    </p:cNvPr>
          <p:cNvPicPr>
            <a:picLocks noChangeAspect="1"/>
          </p:cNvPicPr>
          <p:nvPr/>
        </p:nvPicPr>
        <p:blipFill>
          <a:blip r:embed="rId9"/>
          <a:stretch>
            <a:fillRect/>
          </a:stretch>
        </p:blipFill>
        <p:spPr>
          <a:xfrm>
            <a:off x="4544751" y="5183916"/>
            <a:ext cx="184343" cy="184343"/>
          </a:xfrm>
          <a:prstGeom prst="rect">
            <a:avLst/>
          </a:prstGeom>
        </p:spPr>
      </p:pic>
      <p:sp>
        <p:nvSpPr>
          <p:cNvPr id="47" name="Text 36"/>
          <p:cNvSpPr txBox="1"/>
          <p:nvPr/>
        </p:nvSpPr>
        <p:spPr>
          <a:xfrm>
            <a:off x="4966106" y="4992624"/>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Cyclic pattern counts</a:t>
            </a:r>
            <a:endParaRPr lang="en-US" sz="1400" dirty="0"/>
          </a:p>
          <a:p>
            <a:pPr indent="0" marL="0">
              <a:buNone/>
            </a:pPr>
            <a:r>
              <a:rPr lang="en-US" sz="1200" i="1" dirty="0">
                <a:solidFill>
                  <a:schemeClr val="accent6"/>
                </a:solidFill>
              </a:rPr>
              <a:t>totals checked by oracles, not certified</a:t>
            </a:r>
            <a:endParaRPr lang="en-US" sz="1400" dirty="0"/>
          </a:p>
        </p:txBody>
      </p:sp>
      <p:sp>
        <p:nvSpPr>
          <p:cNvPr id="48" name="done 2-hop reachability index"/>
          <p:cNvSpPr/>
          <p:nvPr/>
        </p:nvSpPr>
        <p:spPr>
          <a:xfrm>
            <a:off x="8066837" y="4992624"/>
            <a:ext cx="3576218" cy="566928"/>
          </a:xfrm>
          <a:prstGeom prst="roundRect">
            <a:avLst>
              <a:gd name="adj" fmla="val 16129"/>
            </a:avLst>
          </a:prstGeom>
          <a:solidFill>
            <a:schemeClr val="bg1"/>
          </a:solidFill>
          <a:ln w="19050">
            <a:solidFill>
              <a:schemeClr val="bg2"/>
            </a:solidFill>
            <a:prstDash val="solid"/>
          </a:ln>
        </p:spPr>
      </p:sp>
      <p:sp>
        <p:nvSpPr>
          <p:cNvPr id="49" name="icon done 2-hop reachability index"/>
          <p:cNvSpPr/>
          <p:nvPr/>
        </p:nvSpPr>
        <p:spPr>
          <a:xfrm>
            <a:off x="8231429" y="5111496"/>
            <a:ext cx="329184" cy="329184"/>
          </a:xfrm>
          <a:prstGeom prst="ellipse">
            <a:avLst/>
          </a:prstGeom>
          <a:solidFill>
            <a:schemeClr val="accent1"/>
          </a:solidFill>
          <a:ln/>
        </p:spPr>
      </p:sp>
      <p:pic>
        <p:nvPicPr>
          <p:cNvPr id="50" name="Image 9" descr="done 2-hop reachability index">    </p:cNvPr>
          <p:cNvPicPr>
            <a:picLocks noChangeAspect="1"/>
          </p:cNvPicPr>
          <p:nvPr/>
        </p:nvPicPr>
        <p:blipFill>
          <a:blip r:embed="rId10"/>
          <a:stretch>
            <a:fillRect/>
          </a:stretch>
        </p:blipFill>
        <p:spPr>
          <a:xfrm>
            <a:off x="8303849" y="5183916"/>
            <a:ext cx="184343" cy="184343"/>
          </a:xfrm>
          <a:prstGeom prst="rect">
            <a:avLst/>
          </a:prstGeom>
        </p:spPr>
      </p:pic>
      <p:sp>
        <p:nvSpPr>
          <p:cNvPr id="51" name="Text 39"/>
          <p:cNvSpPr txBox="1"/>
          <p:nvPr/>
        </p:nvSpPr>
        <p:spPr>
          <a:xfrm>
            <a:off x="8725205" y="4992624"/>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2-hop reachability index</a:t>
            </a:r>
            <a:endParaRPr lang="en-US" sz="1400" dirty="0"/>
          </a:p>
          <a:p>
            <a:pPr indent="0" marL="0">
              <a:buNone/>
            </a:pPr>
            <a:r>
              <a:rPr lang="en-US" sz="1200" i="1" dirty="0">
                <a:solidFill>
                  <a:schemeClr val="accent6"/>
                </a:solidFill>
              </a:rPr>
              <a:t>witnessed and certified</a:t>
            </a:r>
            <a:endParaRPr lang="en-US" sz="1400" dirty="0"/>
          </a:p>
        </p:txBody>
      </p:sp>
      <p:sp>
        <p:nvSpPr>
          <p:cNvPr id="52" name="done Positive Datalog"/>
          <p:cNvSpPr/>
          <p:nvPr/>
        </p:nvSpPr>
        <p:spPr>
          <a:xfrm>
            <a:off x="548640" y="5650992"/>
            <a:ext cx="3576218" cy="566928"/>
          </a:xfrm>
          <a:prstGeom prst="roundRect">
            <a:avLst>
              <a:gd name="adj" fmla="val 16129"/>
            </a:avLst>
          </a:prstGeom>
          <a:solidFill>
            <a:schemeClr val="bg1"/>
          </a:solidFill>
          <a:ln w="19050">
            <a:solidFill>
              <a:schemeClr val="bg2"/>
            </a:solidFill>
            <a:prstDash val="solid"/>
          </a:ln>
        </p:spPr>
      </p:sp>
      <p:sp>
        <p:nvSpPr>
          <p:cNvPr id="53" name="icon done Positive Datalog"/>
          <p:cNvSpPr/>
          <p:nvPr/>
        </p:nvSpPr>
        <p:spPr>
          <a:xfrm>
            <a:off x="713232" y="5769864"/>
            <a:ext cx="329184" cy="329184"/>
          </a:xfrm>
          <a:prstGeom prst="ellipse">
            <a:avLst/>
          </a:prstGeom>
          <a:solidFill>
            <a:schemeClr val="accent1"/>
          </a:solidFill>
          <a:ln/>
        </p:spPr>
      </p:sp>
      <p:pic>
        <p:nvPicPr>
          <p:cNvPr id="54" name="Image 10" descr="done Positive Datalog">    </p:cNvPr>
          <p:cNvPicPr>
            <a:picLocks noChangeAspect="1"/>
          </p:cNvPicPr>
          <p:nvPr/>
        </p:nvPicPr>
        <p:blipFill>
          <a:blip r:embed="rId11"/>
          <a:stretch>
            <a:fillRect/>
          </a:stretch>
        </p:blipFill>
        <p:spPr>
          <a:xfrm>
            <a:off x="785652" y="5842284"/>
            <a:ext cx="184343" cy="184343"/>
          </a:xfrm>
          <a:prstGeom prst="rect">
            <a:avLst/>
          </a:prstGeom>
        </p:spPr>
      </p:pic>
      <p:sp>
        <p:nvSpPr>
          <p:cNvPr id="55" name="Text 42"/>
          <p:cNvSpPr txBox="1"/>
          <p:nvPr/>
        </p:nvSpPr>
        <p:spPr>
          <a:xfrm>
            <a:off x="1207008" y="5650992"/>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Positive Datalog</a:t>
            </a:r>
            <a:endParaRPr lang="en-US" sz="1400" dirty="0"/>
          </a:p>
          <a:p>
            <a:pPr indent="0" marL="0">
              <a:buNone/>
            </a:pPr>
            <a:r>
              <a:rPr lang="en-US" sz="1200" i="1" dirty="0">
                <a:solidFill>
                  <a:schemeClr val="accent6"/>
                </a:solidFill>
              </a:rPr>
              <a:t>each fact with its derivation</a:t>
            </a:r>
            <a:endParaRPr lang="en-US" sz="1400" dirty="0"/>
          </a:p>
        </p:txBody>
      </p:sp>
      <p:sp>
        <p:nvSpPr>
          <p:cNvPr id="56" name="done Isomorphism, canonical forms"/>
          <p:cNvSpPr/>
          <p:nvPr/>
        </p:nvSpPr>
        <p:spPr>
          <a:xfrm>
            <a:off x="4307738" y="5650992"/>
            <a:ext cx="3576218" cy="566928"/>
          </a:xfrm>
          <a:prstGeom prst="roundRect">
            <a:avLst>
              <a:gd name="adj" fmla="val 16129"/>
            </a:avLst>
          </a:prstGeom>
          <a:solidFill>
            <a:schemeClr val="bg1"/>
          </a:solidFill>
          <a:ln w="19050">
            <a:solidFill>
              <a:schemeClr val="bg2"/>
            </a:solidFill>
            <a:prstDash val="solid"/>
          </a:ln>
        </p:spPr>
      </p:sp>
      <p:sp>
        <p:nvSpPr>
          <p:cNvPr id="57" name="icon done Isomorphism, canonical forms"/>
          <p:cNvSpPr/>
          <p:nvPr/>
        </p:nvSpPr>
        <p:spPr>
          <a:xfrm>
            <a:off x="4472330" y="5769864"/>
            <a:ext cx="329184" cy="329184"/>
          </a:xfrm>
          <a:prstGeom prst="ellipse">
            <a:avLst/>
          </a:prstGeom>
          <a:solidFill>
            <a:schemeClr val="accent1"/>
          </a:solidFill>
          <a:ln/>
        </p:spPr>
      </p:sp>
      <p:pic>
        <p:nvPicPr>
          <p:cNvPr id="58" name="Image 11" descr="done Isomorphism, canonical forms">    </p:cNvPr>
          <p:cNvPicPr>
            <a:picLocks noChangeAspect="1"/>
          </p:cNvPicPr>
          <p:nvPr/>
        </p:nvPicPr>
        <p:blipFill>
          <a:blip r:embed="rId12"/>
          <a:stretch>
            <a:fillRect/>
          </a:stretch>
        </p:blipFill>
        <p:spPr>
          <a:xfrm>
            <a:off x="4544751" y="5842284"/>
            <a:ext cx="184343" cy="184343"/>
          </a:xfrm>
          <a:prstGeom prst="rect">
            <a:avLst/>
          </a:prstGeom>
        </p:spPr>
      </p:pic>
      <p:sp>
        <p:nvSpPr>
          <p:cNvPr id="59" name="Text 45"/>
          <p:cNvSpPr txBox="1"/>
          <p:nvPr/>
        </p:nvSpPr>
        <p:spPr>
          <a:xfrm>
            <a:off x="4966106" y="5650992"/>
            <a:ext cx="2780690" cy="566928"/>
          </a:xfrm>
          <a:prstGeom prst="rect">
            <a:avLst/>
          </a:prstGeom>
          <a:noFill/>
          <a:ln/>
        </p:spPr>
        <p:txBody>
          <a:bodyPr wrap="square" lIns="0" tIns="0" rIns="0" bIns="0" rtlCol="0" anchor="ctr"/>
          <a:lstStyle/>
          <a:p>
            <a:pPr indent="0" marL="0">
              <a:buNone/>
            </a:pPr>
            <a:r>
              <a:rPr lang="en-US" sz="1400" b="1" dirty="0">
                <a:solidFill>
                  <a:schemeClr val="tx1"/>
                </a:solidFill>
              </a:rPr>
              <a:t>Isomorphism, canonical forms</a:t>
            </a:r>
            <a:endParaRPr lang="en-US" sz="1400" dirty="0"/>
          </a:p>
          <a:p>
            <a:pPr indent="0" marL="0">
              <a:buNone/>
            </a:pPr>
            <a:r>
              <a:rPr lang="en-US" sz="1200" i="1" dirty="0">
                <a:solidFill>
                  <a:schemeClr val="accent6"/>
                </a:solidFill>
              </a:rPr>
              <a:t>minimality not certified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earlier: Katz intervals, bidirectional search, factorized pattern answers. Critical paths and d-separation, from the same list, are done.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Twenty-seven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2026-10-27T17:22:45Z</dcterms:created>
  <dcterms:modified xsi:type="dcterms:W3CDTF">2026-10-27T17:22:45Z</dcterms:modified>
</cp:coreProperties>
</file>