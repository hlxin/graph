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1b7e441c-820a-6dcf-6a11-4ac62dad8ab0}">
          <p14:sldIdLst>
            <p14:sldId id="256"/>
            <p14:sldId id="257"/>
            <p14:sldId id="258"/>
          </p14:sldIdLst>
        </p14:section>
        <p14:section name="Architecture" id="{9ad6ae2c-dd38-e680-d427-5774c8a01b36}">
          <p14:sldIdLst>
            <p14:sldId id="259"/>
            <p14:sldId id="260"/>
            <p14:sldId id="261"/>
          </p14:sldIdLst>
        </p14:section>
        <p14:section name="Operations" id="{a4415b52-84c2-e202-1899-571d10e2c731}">
          <p14:sldIdLst>
            <p14:sldId id="262"/>
            <p14:sldId id="263"/>
            <p14:sldId id="264"/>
            <p14:sldId id="265"/>
            <p14:sldId id="266"/>
            <p14:sldId id="267"/>
            <p14:sldId id="268"/>
            <p14:sldId id="269"/>
            <p14:sldId id="270"/>
          </p14:sldIdLst>
        </p14:section>
        <p14:section name="Trust and results" id="{baa1465f-c5c3-c8db-b124-b1106d939a8b}">
          <p14:sldIdLst>
            <p14:sldId id="271"/>
            <p14:sldId id="272"/>
            <p14:sldId id="273"/>
            <p14:sldId id="274"/>
          </p14:sldIdLst>
        </p14:section>
        <p14:section name="Development" id="{b16713dc-a068-43e8-3c6e-bb81743ac046}">
          <p14:sldIdLst>
            <p14:sldId id="275"/>
          </p14:sldIdLst>
        </p14:section>
        <p14:section name="Roadmap" id="{77df7b4f-6b6b-f824-2d47-6a394e0e93e4}">
          <p14:sldIdLst>
            <p14:sldId id="276"/>
            <p14:sldId id="277"/>
          </p14:sldIdLst>
        </p14:section>
        <p14:section name="Close" id="{31f3446e-3daf-7628-fd47-dc7f23967dfb}">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Strong components</c:v>
                  </c:pt>
                  <c:pt idx="1">
                    <c:v>Articulation points</c:v>
                  </c:pt>
                  <c:pt idx="2">
                    <c:v>Max flow</c:v>
                  </c:pt>
                  <c:pt idx="3">
                    <c:v>Matching</c:v>
                  </c:pt>
                </c:lvl>
              </c:multiLvlStrCache>
            </c:multiLvlStrRef>
          </c:cat>
          <c:val>
            <c:numRef>
              <c:f>Sheet1!$B$2:$B$5</c:f>
              <c:numCache>
                <c:formatCode>General</c:formatCode>
                <c:ptCount val="4"/>
                <c:pt idx="0">
                  <c:v>0.38</c:v>
                </c:pt>
                <c:pt idx="1">
                  <c:v>0.57</c:v>
                </c:pt>
                <c:pt idx="2">
                  <c:v>4.5</c:v>
                </c:pt>
                <c:pt idx="3">
                  <c:v>2.5</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Strong components</c:v>
                  </c:pt>
                  <c:pt idx="1">
                    <c:v>Articulation points</c:v>
                  </c:pt>
                  <c:pt idx="2">
                    <c:v>Max flow</c:v>
                  </c:pt>
                  <c:pt idx="3">
                    <c:v>Matching</c:v>
                  </c:pt>
                </c:lvl>
              </c:multiLvlStrCache>
            </c:multiLvlStrRef>
          </c:cat>
          <c:val>
            <c:numRef>
              <c:f>Sheet1!$C$2:$C$5</c:f>
              <c:numCache>
                <c:formatCode>General</c:formatCode>
                <c:ptCount val="4"/>
                <c:pt idx="0">
                  <c:v>0.34</c:v>
                </c:pt>
                <c:pt idx="1">
                  <c:v>0.36</c:v>
                </c:pt>
                <c:pt idx="2">
                  <c:v>6.4</c:v>
                </c:pt>
                <c:pt idx="3">
                  <c:v>2.1</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Sheet1!$A$2:$A$15</c:f>
              <c:multiLvlStrCache>
                <c:ptCount val="14"/>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lvl>
              </c:multiLvlStrCache>
            </c:multiLvlStrRef>
          </c:cat>
          <c:val>
            <c:numRef>
              <c:f>Sheet1!$B$2:$B$15</c:f>
              <c:numCache>
                <c:formatCode>General</c:formatCode>
                <c:ptCount val="14"/>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15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§6.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minimum-cost path from any source to any target, with explicit non-negative costs. Algorithm: Dijkstra's algorithm in exact arithmetic: integers, or rationals held as scaled integers. Certificate proves: Potentials prove the optimum, or an interrupted search's lower bound; a closure proves there is no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Checked by: verify_result recomputes what stands from the records by re-evaluating every rule. Generalizes SCALE's "rests on a retraction, all or in part".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(514 pass), src/graph_runtime/conformance/cases.json (143 cases), SCALE parity (16 tests) and STATES parity (6 tests) in their environments; 73 of 73 real consumer requests answer the same with both engines (git log f144c48). Oracles: tests/oracle.py; regular paths against Brzozowski derivatives on 1,500 random graphs (git log f65497b); PageRank against the exact linear system over fractions on 500 graphs (git log 0d4d2b3). Parity: docs/SCALE_INTEGRATION.md, docs/STATES_INTEGRATION.md. Reviews: git log 8917563, 7ff04db; Codex adversarial reviews before commit: git log 99fb868 (a request field named kind was overwritten by the digest's record kind, now connectivity; unlisted groups and stray trees in the components certificate) and 573ce2b (an interrupted max flow's upper bound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1,200 pinned result_ids unchanged (Golden test: the speedups changed no answer). Source: git log f65497b (tests/test_golden.py).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and git log 573ce2b; max flow and matching measured on the owner's machine. Articulation points: GRAPH's biconnectivity (which also finds bridges) against networkx's articulation_points; max flow: 5 sources, 5 targets, integer capacities, against networkx maximum_flow_value; matching: against networkx hopcroft_karp_matching.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(23 commits, 550c362 to 573ce2b; some rows group neighbouring commits). Conformance case counts are from the commit messages (34 at v0, then 49, 54, 62, 70, 74, 78, 91, 100, 112, 116, 121, 133) and cases.json now (143). Tests: 178 → 514.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plan.md and the two Codex surveys (codex_literature.md, codex_domains.md), 26 October 2026, kept outside the repository. Each increment is planned to ship with code, docs/API_CONTRACT.md, the schema, hand-worked conformance cases, tests with a networkx oracle, verification and revalidation, golden result_ids unchanged, and a Codex adversarial review of its diff. Further candidates: DAG critical path, d-separation, minimum spanning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15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Fifteen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p:cNvSpPr/>
          <p:nvPr/>
        </p:nvSpPr>
        <p:spPr>
          <a:xfrm>
            <a:off x="4338218" y="1691640"/>
            <a:ext cx="3515258" cy="2125980"/>
          </a:xfrm>
          <a:prstGeom prst="roundRect">
            <a:avLst>
              <a:gd name="adj" fmla="val 4301"/>
            </a:avLst>
          </a:prstGeom>
          <a:solidFill>
            <a:schemeClr val="bg2"/>
          </a:solidFill>
          <a:ln/>
        </p:spPr>
      </p:sp>
      <p:sp>
        <p:nvSpPr>
          <p:cNvPr id="11" name="icon Reasoning"/>
          <p:cNvSpPr/>
          <p:nvPr/>
        </p:nvSpPr>
        <p:spPr>
          <a:xfrm>
            <a:off x="4539386" y="1892808"/>
            <a:ext cx="502920" cy="502920"/>
          </a:xfrm>
          <a:prstGeom prst="ellipse">
            <a:avLst/>
          </a:prstGeom>
          <a:solidFill>
            <a:schemeClr val="accent1"/>
          </a:solidFill>
          <a:ln/>
        </p:spPr>
      </p:sp>
      <p:pic>
        <p:nvPicPr>
          <p:cNvPr id="12" name="Image 1" descr="Reasoning">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a:t>
            </a:r>
            <a:endParaRPr lang="en-US" sz="2000" dirty="0"/>
          </a:p>
        </p:txBody>
      </p:sp>
      <p:sp>
        <p:nvSpPr>
          <p:cNvPr id="14" name="Text 10"/>
          <p:cNvSpPr txBox="1"/>
          <p:nvPr/>
        </p:nvSpPr>
        <p:spPr>
          <a:xfrm>
            <a:off x="4539386"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a:t>
            </a:r>
            <a:endParaRPr lang="en-US" sz="1200" dirty="0"/>
          </a:p>
        </p:txBody>
      </p:sp>
      <p:sp>
        <p:nvSpPr>
          <p:cNvPr id="15" name="Text 11"/>
          <p:cNvSpPr txBox="1"/>
          <p:nvPr/>
        </p:nvSpPr>
        <p:spPr>
          <a:xfrm>
            <a:off x="4539386"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AND/OR rules: what still stands, what can be made.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p:cNvSpPr/>
          <p:nvPr/>
        </p:nvSpPr>
        <p:spPr>
          <a:xfrm>
            <a:off x="548640" y="4091940"/>
            <a:ext cx="3515258" cy="2125980"/>
          </a:xfrm>
          <a:prstGeom prst="roundRect">
            <a:avLst>
              <a:gd name="adj" fmla="val 4301"/>
            </a:avLst>
          </a:prstGeom>
          <a:solidFill>
            <a:schemeClr val="bg2"/>
          </a:solidFill>
          <a:ln/>
        </p:spPr>
      </p:sp>
      <p:sp>
        <p:nvSpPr>
          <p:cNvPr id="23" name="icon Ranking"/>
          <p:cNvSpPr/>
          <p:nvPr/>
        </p:nvSpPr>
        <p:spPr>
          <a:xfrm>
            <a:off x="749808" y="4293108"/>
            <a:ext cx="502920" cy="502920"/>
          </a:xfrm>
          <a:prstGeom prst="ellipse">
            <a:avLst/>
          </a:prstGeom>
          <a:solidFill>
            <a:schemeClr val="accent1"/>
          </a:solidFill>
          <a:ln/>
        </p:spPr>
      </p:sp>
      <p:pic>
        <p:nvPicPr>
          <p:cNvPr id="24" name="Image 3" descr="Ranking">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around chosen nodes, as proven intervals.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max_flow · matching</a:t>
            </a:r>
            <a:endParaRPr lang="en-US" sz="1200" dirty="0"/>
          </a:p>
        </p:txBody>
      </p:sp>
      <p:sp>
        <p:nvSpPr>
          <p:cNvPr id="39" name="Text 31"/>
          <p:cNvSpPr txBox="1"/>
          <p:nvPr/>
        </p:nvSpPr>
        <p:spPr>
          <a:xfrm>
            <a:off x="8328965"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Pieces, single points of failure, throughput and distinct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and Dijkstra searches in a fixed canonical order, so the same request always picks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Every node within the scope and depth, at its least hop count;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dependency_impact</a:t>
            </a:r>
            <a:pPr indent="0" marL="0">
              <a:spcAft>
                <a:spcPts val="900"/>
              </a:spcAft>
              <a:buNone/>
            </a:pPr>
            <a:r>
              <a:rPr lang="en-US" sz="1500" dirty="0">
                <a:solidFill>
                  <a:schemeClr val="tx1"/>
                </a:solidFill>
              </a:rPr>
              <a:t> runs the same search from changed nodes.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in canonical order; each node's first hop builds a witness tree.</a:t>
            </a:r>
            <a:endParaRPr lang="en-US" sz="1500" dirty="0"/>
          </a:p>
        </p:txBody>
      </p:sp>
      <p:sp>
        <p:nvSpPr>
          <p:cNvPr id="9" name="proof reachability"/>
          <p:cNvSpPr/>
          <p:nvPr/>
        </p:nvSpPr>
        <p:spPr>
          <a:xfrm>
            <a:off x="694944" y="4807458"/>
            <a:ext cx="322265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Every hop from an expanded node leads to a listed node at most one hop deeper: complete, and depths least.</a:t>
            </a:r>
            <a:endParaRPr lang="en-US" sz="15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178727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walk matching a finite sequence of relations, with optional node types at each position.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(node, position) states.</a:t>
            </a:r>
            <a:endParaRPr lang="en-US" sz="1500" dirty="0"/>
          </a:p>
        </p:txBody>
      </p:sp>
      <p:sp>
        <p:nvSpPr>
          <p:cNvPr id="18" name="proof typed_path"/>
          <p:cNvSpPr/>
          <p:nvPr/>
        </p:nvSpPr>
        <p:spPr>
          <a:xfrm>
            <a:off x="4484522" y="4575048"/>
            <a:ext cx="3222650" cy="1441704"/>
          </a:xfrm>
          <a:prstGeom prst="roundRect">
            <a:avLst>
              <a:gd name="adj" fmla="val 5074"/>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666488"/>
            <a:ext cx="246888" cy="246888"/>
          </a:xfrm>
          <a:prstGeom prst="rect">
            <a:avLst/>
          </a:prstGeom>
        </p:spPr>
      </p:pic>
      <p:sp>
        <p:nvSpPr>
          <p:cNvPr id="20" name="Text 14"/>
          <p:cNvSpPr txBox="1"/>
          <p:nvPr/>
        </p:nvSpPr>
        <p:spPr>
          <a:xfrm>
            <a:off x="4923434" y="466648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4959096"/>
            <a:ext cx="3003194" cy="984504"/>
          </a:xfrm>
          <a:prstGeom prst="rect">
            <a:avLst/>
          </a:prstGeom>
          <a:noFill/>
          <a:ln/>
        </p:spPr>
        <p:txBody>
          <a:bodyPr wrap="square" lIns="0" tIns="0" rIns="0" bIns="0" rtlCol="0" anchor="t"/>
          <a:lstStyle/>
          <a:p>
            <a:pPr indent="0" marL="0">
              <a:buNone/>
            </a:pPr>
            <a:r>
              <a:rPr lang="en-US" sz="1500" dirty="0">
                <a:solidFill>
                  <a:schemeClr val="tx1"/>
                </a:solidFill>
              </a:rPr>
              <a:t>Closed states: all states the sources reach, closed under the pattern's hops, none ending at a target.</a:t>
            </a:r>
            <a:endParaRPr lang="en-US" sz="15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minimum-cost path from any source to any target, with explicit non-negative costs.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Dijkstra's algorithm in exact arithmetic: integers, or rationals held as scaled integers.</a:t>
            </a:r>
            <a:endParaRPr lang="en-US" sz="1500" dirty="0"/>
          </a:p>
        </p:txBody>
      </p:sp>
      <p:sp>
        <p:nvSpPr>
          <p:cNvPr id="27" name="proof shortest_path"/>
          <p:cNvSpPr/>
          <p:nvPr/>
        </p:nvSpPr>
        <p:spPr>
          <a:xfrm>
            <a:off x="8274101" y="4807458"/>
            <a:ext cx="3222650" cy="1209294"/>
          </a:xfrm>
          <a:prstGeom prst="roundRect">
            <a:avLst>
              <a:gd name="adj" fmla="val 6049"/>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898898"/>
            <a:ext cx="246888" cy="246888"/>
          </a:xfrm>
          <a:prstGeom prst="rect">
            <a:avLst/>
          </a:prstGeom>
        </p:spPr>
      </p:pic>
      <p:sp>
        <p:nvSpPr>
          <p:cNvPr id="29" name="Text 21"/>
          <p:cNvSpPr txBox="1"/>
          <p:nvPr/>
        </p:nvSpPr>
        <p:spPr>
          <a:xfrm>
            <a:off x="8713013"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Potentials prove the optimum, or an interrupted search's lower bound; a closure proves there is no path.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recomputes what stands from the records by re-evaluating every rule. Generalizes SCALE's "rests on a retraction, all or in part".</a:t>
            </a:r>
            <a:endParaRPr lang="en-US" sz="14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in time proportional to the edit, without searching again.</a:t>
            </a:r>
            <a:endParaRPr lang="en-US" sz="1600" dirty="0"/>
          </a:p>
        </p:txBody>
      </p:sp>
      <p:sp>
        <p:nvSpPr>
          <p:cNvPr id="4" name="verdict holds"/>
          <p:cNvSpPr/>
          <p:nvPr/>
        </p:nvSpPr>
        <p:spPr>
          <a:xfrm>
            <a:off x="548640" y="1691640"/>
            <a:ext cx="5074920" cy="1356360"/>
          </a:xfrm>
          <a:prstGeom prst="roundRect">
            <a:avLst>
              <a:gd name="adj" fmla="val 6742"/>
            </a:avLst>
          </a:prstGeom>
          <a:solidFill>
            <a:schemeClr val="bg2"/>
          </a:solidFill>
          <a:ln/>
        </p:spPr>
      </p:sp>
      <p:sp>
        <p:nvSpPr>
          <p:cNvPr id="5" name="icon holds"/>
          <p:cNvSpPr/>
          <p:nvPr/>
        </p:nvSpPr>
        <p:spPr>
          <a:xfrm>
            <a:off x="777240" y="2086356"/>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11080"/>
            <a:ext cx="317480" cy="317480"/>
          </a:xfrm>
          <a:prstGeom prst="rect">
            <a:avLst/>
          </a:prstGeom>
        </p:spPr>
      </p:pic>
      <p:sp>
        <p:nvSpPr>
          <p:cNvPr id="7" name="Text 4"/>
          <p:cNvSpPr txBox="1"/>
          <p:nvPr/>
        </p:nvSpPr>
        <p:spPr>
          <a:xfrm>
            <a:off x="1554480" y="180136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a correct answer to the same request on the new projection.</a:t>
            </a:r>
            <a:endParaRPr lang="en-US" sz="1800" dirty="0"/>
          </a:p>
        </p:txBody>
      </p:sp>
      <p:sp>
        <p:nvSpPr>
          <p:cNvPr id="8" name="verdict fails"/>
          <p:cNvSpPr/>
          <p:nvPr/>
        </p:nvSpPr>
        <p:spPr>
          <a:xfrm>
            <a:off x="548640" y="3276600"/>
            <a:ext cx="5074920" cy="1356360"/>
          </a:xfrm>
          <a:prstGeom prst="roundRect">
            <a:avLst>
              <a:gd name="adj" fmla="val 6742"/>
            </a:avLst>
          </a:prstGeom>
          <a:solidFill>
            <a:schemeClr val="bg2"/>
          </a:solidFill>
          <a:ln/>
        </p:spPr>
      </p:sp>
      <p:sp>
        <p:nvSpPr>
          <p:cNvPr id="9" name="icon fails"/>
          <p:cNvSpPr/>
          <p:nvPr/>
        </p:nvSpPr>
        <p:spPr>
          <a:xfrm>
            <a:off x="777240" y="3671316"/>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796040"/>
            <a:ext cx="317480" cy="317480"/>
          </a:xfrm>
          <a:prstGeom prst="rect">
            <a:avLst/>
          </a:prstGeom>
        </p:spPr>
      </p:pic>
      <p:sp>
        <p:nvSpPr>
          <p:cNvPr id="11" name="Text 7"/>
          <p:cNvSpPr txBox="1"/>
          <p:nvPr/>
        </p:nvSpPr>
        <p:spPr>
          <a:xfrm>
            <a:off x="1554480" y="338632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with the edit that refutes it: a witness edge gone, or a hop to a node the answer does not list.</a:t>
            </a:r>
            <a:endParaRPr lang="en-US" sz="1800" dirty="0"/>
          </a:p>
        </p:txBody>
      </p:sp>
      <p:sp>
        <p:nvSpPr>
          <p:cNvPr id="12" name="verdict unknown"/>
          <p:cNvSpPr/>
          <p:nvPr/>
        </p:nvSpPr>
        <p:spPr>
          <a:xfrm>
            <a:off x="548640" y="4861560"/>
            <a:ext cx="5074920" cy="1356360"/>
          </a:xfrm>
          <a:prstGeom prst="roundRect">
            <a:avLst>
              <a:gd name="adj" fmla="val 6742"/>
            </a:avLst>
          </a:prstGeom>
          <a:solidFill>
            <a:schemeClr val="bg2"/>
          </a:solidFill>
          <a:ln/>
        </p:spPr>
      </p:sp>
      <p:sp>
        <p:nvSpPr>
          <p:cNvPr id="13" name="icon unknown"/>
          <p:cNvSpPr/>
          <p:nvPr/>
        </p:nvSpPr>
        <p:spPr>
          <a:xfrm>
            <a:off x="777240" y="5256276"/>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381000"/>
            <a:ext cx="317480" cy="317480"/>
          </a:xfrm>
          <a:prstGeom prst="rect">
            <a:avLst/>
          </a:prstGeom>
        </p:spPr>
      </p:pic>
      <p:sp>
        <p:nvSpPr>
          <p:cNvPr id="15" name="Text 10"/>
          <p:cNvSpPr txBox="1"/>
          <p:nvPr/>
        </p:nvSpPr>
        <p:spPr>
          <a:xfrm>
            <a:off x="1554480" y="497128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a:t>
            </a:r>
            <a:endParaRPr lang="en-US" sz="1800" dirty="0"/>
          </a:p>
        </p:txBody>
      </p:sp>
      <p:sp>
        <p:nvSpPr>
          <p:cNvPr id="16" name="Text 11"/>
          <p:cNvSpPr txBox="1"/>
          <p:nvPr/>
        </p:nvSpPr>
        <p:spPr>
          <a:xfrm>
            <a:off x="6035040" y="1691640"/>
            <a:ext cx="2666848" cy="118872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0.1 ms</a:t>
            </a:r>
            <a:endParaRPr lang="en-US" sz="4400" dirty="0"/>
          </a:p>
          <a:p>
            <a:pPr indent="0" marL="0">
              <a:buNone/>
            </a:pPr>
            <a:r>
              <a:rPr lang="en-US" sz="1400" dirty="0">
                <a:solidFill>
                  <a:schemeClr val="tx1"/>
                </a:solidFill>
              </a:rPr>
              <a:t>per cached result, checked against a diff</a:t>
            </a:r>
            <a:endParaRPr lang="en-US" sz="4400" dirty="0"/>
          </a:p>
        </p:txBody>
      </p:sp>
      <p:sp>
        <p:nvSpPr>
          <p:cNvPr id="17" name="Text 12"/>
          <p:cNvSpPr txBox="1"/>
          <p:nvPr/>
        </p:nvSpPr>
        <p:spPr>
          <a:xfrm>
            <a:off x="8976208" y="1691640"/>
            <a:ext cx="2666848" cy="1188720"/>
          </a:xfrm>
          <a:prstGeom prst="rect">
            <a:avLst/>
          </a:prstGeom>
          <a:noFill/>
          <a:ln/>
        </p:spPr>
        <p:txBody>
          <a:bodyPr wrap="square" lIns="0" tIns="0" rIns="0" bIns="0" rtlCol="0" anchor="t"/>
          <a:lstStyle/>
          <a:p>
            <a:pPr indent="0" marL="0">
              <a:buNone/>
            </a:pPr>
            <a:r>
              <a:rPr lang="en-US" sz="4400" b="1" dirty="0">
                <a:solidFill>
                  <a:schemeClr val="accent6"/>
                </a:solidFill>
                <a:latin typeface="Cambria" pitchFamily="34" charset="0"/>
                <a:ea typeface="Cambria" pitchFamily="34" charset="-122"/>
                <a:cs typeface="Cambria" pitchFamily="34" charset="-120"/>
              </a:rPr>
              <a:t>≈100 ms</a:t>
            </a:r>
            <a:endParaRPr lang="en-US" sz="4400" dirty="0"/>
          </a:p>
          <a:p>
            <a:pPr indent="0" marL="0">
              <a:buNone/>
            </a:pPr>
            <a:r>
              <a:rPr lang="en-US" sz="1400" dirty="0">
                <a:solidFill>
                  <a:schemeClr val="tx1"/>
                </a:solidFill>
              </a:rPr>
              <a:t>to rerun the same request</a:t>
            </a:r>
            <a:endParaRPr lang="en-US" sz="4400" dirty="0"/>
          </a:p>
        </p:txBody>
      </p:sp>
      <p:sp>
        <p:nvSpPr>
          <p:cNvPr id="18" name="Text 13"/>
          <p:cNvSpPr txBox="1"/>
          <p:nvPr/>
        </p:nvSpPr>
        <p:spPr>
          <a:xfrm>
            <a:off x="6035040" y="2898648"/>
            <a:ext cx="560801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035040" y="3383280"/>
          <a:ext cx="560801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035040" y="5943600"/>
            <a:ext cx="560801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51560"/>
          </a:xfrm>
          <a:prstGeom prst="roundRect">
            <a:avLst>
              <a:gd name="adj" fmla="val 8696"/>
            </a:avLst>
          </a:prstGeom>
          <a:solidFill>
            <a:schemeClr val="tx2"/>
          </a:solidFill>
          <a:ln/>
        </p:spPr>
      </p:sp>
      <p:sp>
        <p:nvSpPr>
          <p:cNvPr id="5" name="Text 3"/>
          <p:cNvSpPr txBox="1"/>
          <p:nvPr/>
        </p:nvSpPr>
        <p:spPr>
          <a:xfrm>
            <a:off x="731520" y="1801368"/>
            <a:ext cx="1670243" cy="86868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514</a:t>
            </a:r>
            <a:endParaRPr lang="en-US" sz="3400" dirty="0"/>
          </a:p>
          <a:p>
            <a:pPr indent="0" marL="0">
              <a:buNone/>
            </a:pPr>
            <a:r>
              <a:rPr lang="en-US" sz="1300" dirty="0">
                <a:solidFill>
                  <a:schemeClr val="accent5"/>
                </a:solidFill>
              </a:rPr>
              <a:t>runtime tests pass</a:t>
            </a:r>
            <a:endParaRPr lang="en-US" sz="3400" dirty="0"/>
          </a:p>
        </p:txBody>
      </p:sp>
      <p:sp>
        <p:nvSpPr>
          <p:cNvPr id="6" name="count hand-worked conformance cases"/>
          <p:cNvSpPr/>
          <p:nvPr/>
        </p:nvSpPr>
        <p:spPr>
          <a:xfrm>
            <a:off x="2813243" y="1691640"/>
            <a:ext cx="2036003" cy="1051560"/>
          </a:xfrm>
          <a:prstGeom prst="roundRect">
            <a:avLst>
              <a:gd name="adj" fmla="val 8696"/>
            </a:avLst>
          </a:prstGeom>
          <a:solidFill>
            <a:schemeClr val="tx2"/>
          </a:solidFill>
          <a:ln/>
        </p:spPr>
      </p:sp>
      <p:sp>
        <p:nvSpPr>
          <p:cNvPr id="7" name="Text 5"/>
          <p:cNvSpPr txBox="1"/>
          <p:nvPr/>
        </p:nvSpPr>
        <p:spPr>
          <a:xfrm>
            <a:off x="2996123" y="1801368"/>
            <a:ext cx="1670243" cy="86868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143</a:t>
            </a:r>
            <a:endParaRPr lang="en-US" sz="3400" dirty="0"/>
          </a:p>
          <a:p>
            <a:pPr indent="0" marL="0">
              <a:buNone/>
            </a:pPr>
            <a:r>
              <a:rPr lang="en-US" sz="1300" dirty="0">
                <a:solidFill>
                  <a:schemeClr val="accent5"/>
                </a:solidFill>
              </a:rPr>
              <a:t>hand-worked conformance cases</a:t>
            </a:r>
            <a:endParaRPr lang="en-US" sz="3400" dirty="0"/>
          </a:p>
        </p:txBody>
      </p:sp>
      <p:sp>
        <p:nvSpPr>
          <p:cNvPr id="8" name="count SCALE parity tests"/>
          <p:cNvSpPr/>
          <p:nvPr/>
        </p:nvSpPr>
        <p:spPr>
          <a:xfrm>
            <a:off x="5077846" y="1691640"/>
            <a:ext cx="2036003" cy="1051560"/>
          </a:xfrm>
          <a:prstGeom prst="roundRect">
            <a:avLst>
              <a:gd name="adj" fmla="val 8696"/>
            </a:avLst>
          </a:prstGeom>
          <a:solidFill>
            <a:schemeClr val="tx2"/>
          </a:solidFill>
          <a:ln/>
        </p:spPr>
      </p:sp>
      <p:sp>
        <p:nvSpPr>
          <p:cNvPr id="9" name="Text 7"/>
          <p:cNvSpPr txBox="1"/>
          <p:nvPr/>
        </p:nvSpPr>
        <p:spPr>
          <a:xfrm>
            <a:off x="5260726" y="1801368"/>
            <a:ext cx="1670243" cy="86868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51560"/>
          </a:xfrm>
          <a:prstGeom prst="roundRect">
            <a:avLst>
              <a:gd name="adj" fmla="val 8696"/>
            </a:avLst>
          </a:prstGeom>
          <a:solidFill>
            <a:schemeClr val="tx2"/>
          </a:solidFill>
          <a:ln/>
        </p:spPr>
      </p:sp>
      <p:sp>
        <p:nvSpPr>
          <p:cNvPr id="11" name="Text 9"/>
          <p:cNvSpPr txBox="1"/>
          <p:nvPr/>
        </p:nvSpPr>
        <p:spPr>
          <a:xfrm>
            <a:off x="7525329" y="1801368"/>
            <a:ext cx="1670243" cy="86868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consumer requests agree"/>
          <p:cNvSpPr/>
          <p:nvPr/>
        </p:nvSpPr>
        <p:spPr>
          <a:xfrm>
            <a:off x="9607052" y="1691640"/>
            <a:ext cx="2036003" cy="1051560"/>
          </a:xfrm>
          <a:prstGeom prst="roundRect">
            <a:avLst>
              <a:gd name="adj" fmla="val 8696"/>
            </a:avLst>
          </a:prstGeom>
          <a:solidFill>
            <a:schemeClr val="tx2"/>
          </a:solidFill>
          <a:ln/>
        </p:spPr>
      </p:sp>
      <p:sp>
        <p:nvSpPr>
          <p:cNvPr id="13" name="Text 11"/>
          <p:cNvSpPr txBox="1"/>
          <p:nvPr/>
        </p:nvSpPr>
        <p:spPr>
          <a:xfrm>
            <a:off x="9789932" y="1801368"/>
            <a:ext cx="1670243" cy="86868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consumer requests agree</a:t>
            </a:r>
            <a:endParaRPr lang="en-US" sz="3400" dirty="0"/>
          </a:p>
        </p:txBody>
      </p:sp>
      <p:sp>
        <p:nvSpPr>
          <p:cNvPr id="14" name="Independent verifier"/>
          <p:cNvSpPr/>
          <p:nvPr/>
        </p:nvSpPr>
        <p:spPr>
          <a:xfrm>
            <a:off x="548640" y="2971800"/>
            <a:ext cx="2567864" cy="2441448"/>
          </a:xfrm>
          <a:prstGeom prst="roundRect">
            <a:avLst>
              <a:gd name="adj" fmla="val 3745"/>
            </a:avLst>
          </a:prstGeom>
          <a:solidFill>
            <a:schemeClr val="bg2"/>
          </a:solidFill>
          <a:ln/>
        </p:spPr>
      </p:sp>
      <p:sp>
        <p:nvSpPr>
          <p:cNvPr id="15" name="icon Independent verifier"/>
          <p:cNvSpPr/>
          <p:nvPr/>
        </p:nvSpPr>
        <p:spPr>
          <a:xfrm>
            <a:off x="749808" y="317296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273552"/>
            <a:ext cx="256032" cy="256032"/>
          </a:xfrm>
          <a:prstGeom prst="rect">
            <a:avLst/>
          </a:prstGeom>
        </p:spPr>
      </p:pic>
      <p:sp>
        <p:nvSpPr>
          <p:cNvPr id="17" name="Text 14"/>
          <p:cNvSpPr txBox="1"/>
          <p:nvPr/>
        </p:nvSpPr>
        <p:spPr>
          <a:xfrm>
            <a:off x="749808" y="3749040"/>
            <a:ext cx="2165528" cy="292608"/>
          </a:xfrm>
          <a:prstGeom prst="rect">
            <a:avLst/>
          </a:prstGeom>
          <a:noFill/>
          <a:ln/>
        </p:spPr>
        <p:txBody>
          <a:bodyPr wrap="square" lIns="0" tIns="0" rIns="0" bIns="0" rtlCol="0" anchor="t"/>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4114800"/>
            <a:ext cx="2165528" cy="120700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971800"/>
            <a:ext cx="2567864" cy="2441448"/>
          </a:xfrm>
          <a:prstGeom prst="roundRect">
            <a:avLst>
              <a:gd name="adj" fmla="val 3745"/>
            </a:avLst>
          </a:prstGeom>
          <a:solidFill>
            <a:schemeClr val="bg2"/>
          </a:solidFill>
          <a:ln/>
        </p:spPr>
      </p:sp>
      <p:sp>
        <p:nvSpPr>
          <p:cNvPr id="20" name="icon Independent oracles"/>
          <p:cNvSpPr/>
          <p:nvPr/>
        </p:nvSpPr>
        <p:spPr>
          <a:xfrm>
            <a:off x="3591992" y="317296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273552"/>
            <a:ext cx="256032" cy="256032"/>
          </a:xfrm>
          <a:prstGeom prst="rect">
            <a:avLst/>
          </a:prstGeom>
        </p:spPr>
      </p:pic>
      <p:sp>
        <p:nvSpPr>
          <p:cNvPr id="22" name="Text 18"/>
          <p:cNvSpPr txBox="1"/>
          <p:nvPr/>
        </p:nvSpPr>
        <p:spPr>
          <a:xfrm>
            <a:off x="3591992" y="3749040"/>
            <a:ext cx="2165528" cy="292608"/>
          </a:xfrm>
          <a:prstGeom prst="rect">
            <a:avLst/>
          </a:prstGeom>
          <a:noFill/>
          <a:ln/>
        </p:spPr>
        <p:txBody>
          <a:bodyPr wrap="square" lIns="0" tIns="0" rIns="0" bIns="0" rtlCol="0" anchor="t"/>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4114800"/>
            <a:ext cx="2165528" cy="1207008"/>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971800"/>
            <a:ext cx="2567864" cy="2441448"/>
          </a:xfrm>
          <a:prstGeom prst="roundRect">
            <a:avLst>
              <a:gd name="adj" fmla="val 3745"/>
            </a:avLst>
          </a:prstGeom>
          <a:solidFill>
            <a:schemeClr val="bg2"/>
          </a:solidFill>
          <a:ln/>
        </p:spPr>
      </p:sp>
      <p:sp>
        <p:nvSpPr>
          <p:cNvPr id="25" name="icon Hand-worked cases"/>
          <p:cNvSpPr/>
          <p:nvPr/>
        </p:nvSpPr>
        <p:spPr>
          <a:xfrm>
            <a:off x="6434176" y="317296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273552"/>
            <a:ext cx="256032" cy="256032"/>
          </a:xfrm>
          <a:prstGeom prst="rect">
            <a:avLst/>
          </a:prstGeom>
        </p:spPr>
      </p:pic>
      <p:sp>
        <p:nvSpPr>
          <p:cNvPr id="27" name="Text 22"/>
          <p:cNvSpPr txBox="1"/>
          <p:nvPr/>
        </p:nvSpPr>
        <p:spPr>
          <a:xfrm>
            <a:off x="6434176" y="3749040"/>
            <a:ext cx="2165528" cy="292608"/>
          </a:xfrm>
          <a:prstGeom prst="rect">
            <a:avLst/>
          </a:prstGeom>
          <a:noFill/>
          <a:ln/>
        </p:spPr>
        <p:txBody>
          <a:bodyPr wrap="square" lIns="0" tIns="0" rIns="0" bIns="0" rtlCol="0" anchor="t"/>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4114800"/>
            <a:ext cx="2165528" cy="1207008"/>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971800"/>
            <a:ext cx="2567864" cy="2441448"/>
          </a:xfrm>
          <a:prstGeom prst="roundRect">
            <a:avLst>
              <a:gd name="adj" fmla="val 3745"/>
            </a:avLst>
          </a:prstGeom>
          <a:solidFill>
            <a:schemeClr val="bg2"/>
          </a:solidFill>
          <a:ln/>
        </p:spPr>
      </p:sp>
      <p:sp>
        <p:nvSpPr>
          <p:cNvPr id="30" name="icon Consumer parity"/>
          <p:cNvSpPr/>
          <p:nvPr/>
        </p:nvSpPr>
        <p:spPr>
          <a:xfrm>
            <a:off x="9276359" y="317296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273552"/>
            <a:ext cx="256032" cy="256032"/>
          </a:xfrm>
          <a:prstGeom prst="rect">
            <a:avLst/>
          </a:prstGeom>
        </p:spPr>
      </p:pic>
      <p:sp>
        <p:nvSpPr>
          <p:cNvPr id="32" name="Text 26"/>
          <p:cNvSpPr txBox="1"/>
          <p:nvPr/>
        </p:nvSpPr>
        <p:spPr>
          <a:xfrm>
            <a:off x="9276359" y="3749040"/>
            <a:ext cx="2165528" cy="292608"/>
          </a:xfrm>
          <a:prstGeom prst="rect">
            <a:avLst/>
          </a:prstGeom>
          <a:noFill/>
          <a:ln/>
        </p:spPr>
        <p:txBody>
          <a:bodyPr wrap="square" lIns="0" tIns="0" rIns="0" bIns="0" rtlCol="0" anchor="t"/>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4114800"/>
            <a:ext cx="2165528" cy="1207008"/>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596128"/>
            <a:ext cx="11094415" cy="62179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review that fuzzed the runtime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Each increment now gets a Codex adversarial review before it is committed: it caught a request_id collision and two certificate holes (structure) and an unverified interrupted upper bound (flows), all fixed with regression tests.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pinned result_ids unchanged"/>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1,200</a:t>
            </a:r>
            <a:endParaRPr lang="en-US" sz="4400" dirty="0"/>
          </a:p>
          <a:p>
            <a:pPr indent="0" marL="0">
              <a:spcAft>
                <a:spcPts val="600"/>
              </a:spcAft>
              <a:buNone/>
            </a:pPr>
            <a:r>
              <a:rPr lang="en-US" sz="1700" b="1" dirty="0">
                <a:solidFill>
                  <a:schemeClr val="tx1"/>
                </a:solidFill>
              </a:rPr>
              <a:t>pinned result_ids unchanged</a:t>
            </a:r>
            <a:endParaRPr lang="en-US" sz="4400" dirty="0"/>
          </a:p>
          <a:p>
            <a:pPr indent="0" marL="0">
              <a:buNone/>
            </a:pPr>
            <a:r>
              <a:rPr lang="en-US" sz="1400" dirty="0">
                <a:solidFill>
                  <a:schemeClr val="accent6"/>
                </a:solidFill>
              </a:rPr>
              <a:t>Golden test: the speedups changed no answer</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5364328" cy="548640"/>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84048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623560"/>
            <a:ext cx="5364328" cy="548640"/>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nodes, 250k edges). Also: weak components 0.45 s; max flow with unit capacities 3.8 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Twenty-three commits on 25–26 October 2026: from four operations to fifteen.</a:t>
            </a:r>
            <a:endParaRPr lang="en-US" sz="1600" dirty="0"/>
          </a:p>
        </p:txBody>
      </p:sp>
      <p:sp>
        <p:nvSpPr>
          <p:cNvPr id="4" name="Shape 2"/>
          <p:cNvSpPr/>
          <p:nvPr/>
        </p:nvSpPr>
        <p:spPr>
          <a:xfrm>
            <a:off x="1508760" y="1842516"/>
            <a:ext cx="0" cy="4224528"/>
          </a:xfrm>
          <a:prstGeom prst="line">
            <a:avLst/>
          </a:prstGeom>
          <a:noFill/>
          <a:ln w="25400">
            <a:solidFill>
              <a:schemeClr val="accent5"/>
            </a:solidFill>
            <a:prstDash val="solid"/>
          </a:ln>
        </p:spPr>
      </p:sp>
      <p:sp>
        <p:nvSpPr>
          <p:cNvPr id="5" name="Text 3"/>
          <p:cNvSpPr txBox="1"/>
          <p:nvPr/>
        </p:nvSpPr>
        <p:spPr>
          <a:xfrm>
            <a:off x="1783080" y="1691640"/>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7111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9339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93392"/>
            <a:ext cx="4800600" cy="3017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372868"/>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9514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95144"/>
            <a:ext cx="4800600" cy="3017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674620"/>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59689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596896"/>
            <a:ext cx="4800600" cy="301752"/>
          </a:xfrm>
          <a:prstGeom prst="rect">
            <a:avLst/>
          </a:prstGeom>
          <a:noFill/>
          <a:ln/>
        </p:spPr>
        <p:txBody>
          <a:bodyPr wrap="square" lIns="0" tIns="0" rIns="0" bIns="0" rtlCol="0" anchor="ctr"/>
          <a:lstStyle/>
          <a:p>
            <a:pPr indent="0" marL="0">
              <a:buNone/>
            </a:pPr>
            <a:r>
              <a:rPr lang="en-US" sz="1400" dirty="0">
                <a:solidFill>
                  <a:schemeClr val="tx1"/>
                </a:solidFill>
              </a:rPr>
              <a:t>STATES: context extraction as bounded reachability</a:t>
            </a:r>
            <a:endParaRPr lang="en-US" sz="1400" dirty="0"/>
          </a:p>
        </p:txBody>
      </p:sp>
      <p:sp>
        <p:nvSpPr>
          <p:cNvPr id="15" name="milestone 21:10"/>
          <p:cNvSpPr/>
          <p:nvPr/>
        </p:nvSpPr>
        <p:spPr>
          <a:xfrm>
            <a:off x="1435608" y="2976372"/>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89864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21:10</a:t>
            </a:r>
            <a:endParaRPr lang="en-US" sz="1300" dirty="0"/>
          </a:p>
        </p:txBody>
      </p:sp>
      <p:sp>
        <p:nvSpPr>
          <p:cNvPr id="17" name="Text 15"/>
          <p:cNvSpPr txBox="1"/>
          <p:nvPr/>
        </p:nvSpPr>
        <p:spPr>
          <a:xfrm>
            <a:off x="1783080" y="2898648"/>
            <a:ext cx="4800600" cy="301752"/>
          </a:xfrm>
          <a:prstGeom prst="rect">
            <a:avLst/>
          </a:prstGeom>
          <a:noFill/>
          <a:ln/>
        </p:spPr>
        <p:txBody>
          <a:bodyPr wrap="square" lIns="0" tIns="0" rIns="0" bIns="0" rtlCol="0" anchor="ctr"/>
          <a:lstStyle/>
          <a:p>
            <a:pPr indent="0" marL="0">
              <a:buNone/>
            </a:pPr>
            <a:r>
              <a:rPr lang="en-US" sz="1400" dirty="0">
                <a:solidFill>
                  <a:schemeClr val="tx1"/>
                </a:solidFill>
              </a:rPr>
              <a:t>Hot spots removed; CI; real consumer benchmarks</a:t>
            </a:r>
            <a:endParaRPr lang="en-US" sz="1400" dirty="0"/>
          </a:p>
        </p:txBody>
      </p:sp>
      <p:sp>
        <p:nvSpPr>
          <p:cNvPr id="18" name="milestone 23:08"/>
          <p:cNvSpPr/>
          <p:nvPr/>
        </p:nvSpPr>
        <p:spPr>
          <a:xfrm>
            <a:off x="1435608" y="3278124"/>
            <a:ext cx="146304" cy="146304"/>
          </a:xfrm>
          <a:prstGeom prst="ellipse">
            <a:avLst/>
          </a:prstGeom>
          <a:solidFill>
            <a:schemeClr val="accent1"/>
          </a:solidFill>
          <a:ln w="19050">
            <a:solidFill>
              <a:schemeClr val="bg1"/>
            </a:solidFill>
            <a:prstDash val="solid"/>
          </a:ln>
        </p:spPr>
      </p:sp>
      <p:sp>
        <p:nvSpPr>
          <p:cNvPr id="19" name="Text 17"/>
          <p:cNvSpPr txBox="1"/>
          <p:nvPr/>
        </p:nvSpPr>
        <p:spPr>
          <a:xfrm>
            <a:off x="548640" y="320040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20" name="Text 18"/>
          <p:cNvSpPr txBox="1"/>
          <p:nvPr/>
        </p:nvSpPr>
        <p:spPr>
          <a:xfrm>
            <a:off x="1783080" y="3200400"/>
            <a:ext cx="4800600" cy="3017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21" name="Text 19"/>
          <p:cNvSpPr txBox="1"/>
          <p:nvPr/>
        </p:nvSpPr>
        <p:spPr>
          <a:xfrm>
            <a:off x="1783080" y="3502152"/>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22" name="milestone 00:14"/>
          <p:cNvSpPr/>
          <p:nvPr/>
        </p:nvSpPr>
        <p:spPr>
          <a:xfrm>
            <a:off x="1435608" y="3881628"/>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80390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4" name="Text 22"/>
          <p:cNvSpPr txBox="1"/>
          <p:nvPr/>
        </p:nvSpPr>
        <p:spPr>
          <a:xfrm>
            <a:off x="1783080" y="3803904"/>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JSON tools, CLI, MCP</a:t>
            </a:r>
            <a:endParaRPr lang="en-US" sz="1400" dirty="0"/>
          </a:p>
        </p:txBody>
      </p:sp>
      <p:sp>
        <p:nvSpPr>
          <p:cNvPr id="25" name="milestone 00:27"/>
          <p:cNvSpPr/>
          <p:nvPr/>
        </p:nvSpPr>
        <p:spPr>
          <a:xfrm>
            <a:off x="1435608" y="4183380"/>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410565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00:27</a:t>
            </a:r>
            <a:endParaRPr lang="en-US" sz="1300" dirty="0"/>
          </a:p>
        </p:txBody>
      </p:sp>
      <p:sp>
        <p:nvSpPr>
          <p:cNvPr id="27" name="Text 25"/>
          <p:cNvSpPr txBox="1"/>
          <p:nvPr/>
        </p:nvSpPr>
        <p:spPr>
          <a:xfrm>
            <a:off x="1783080" y="410565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300" dirty="0"/>
          </a:p>
        </p:txBody>
      </p:sp>
      <p:sp>
        <p:nvSpPr>
          <p:cNvPr id="28" name="milestone 04:25"/>
          <p:cNvSpPr/>
          <p:nvPr/>
        </p:nvSpPr>
        <p:spPr>
          <a:xfrm>
            <a:off x="1435608" y="4485132"/>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40740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30" name="Text 28"/>
          <p:cNvSpPr txBox="1"/>
          <p:nvPr/>
        </p:nvSpPr>
        <p:spPr>
          <a:xfrm>
            <a:off x="1783080" y="4407408"/>
            <a:ext cx="4800600" cy="3017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31" name="milestone 05:12"/>
          <p:cNvSpPr/>
          <p:nvPr/>
        </p:nvSpPr>
        <p:spPr>
          <a:xfrm>
            <a:off x="1435608" y="4786884"/>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70916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33" name="Text 31"/>
          <p:cNvSpPr txBox="1"/>
          <p:nvPr/>
        </p:nvSpPr>
        <p:spPr>
          <a:xfrm>
            <a:off x="1783080" y="4709160"/>
            <a:ext cx="4800600" cy="301752"/>
          </a:xfrm>
          <a:prstGeom prst="rect">
            <a:avLst/>
          </a:prstGeom>
          <a:noFill/>
          <a:ln/>
        </p:spPr>
        <p:txBody>
          <a:bodyPr wrap="square" lIns="0" tIns="0" rIns="0" bIns="0" rtlCol="0" anchor="ctr"/>
          <a:lstStyle/>
          <a:p>
            <a:pPr indent="0" marL="0">
              <a:buNone/>
            </a:pPr>
            <a:r>
              <a:rPr lang="en-US" sz="1400" dirty="0">
                <a:solidFill>
                  <a:schemeClr val="tx1"/>
                </a:solidFill>
              </a:rPr>
              <a:t>Periodic projections · </a:t>
            </a:r>
            <a:pPr indent="0" marL="0">
              <a:buNone/>
            </a:pPr>
            <a:r>
              <a:rPr lang="en-US" sz="1300" dirty="0">
                <a:solidFill>
                  <a:schemeClr val="tx1"/>
                </a:solidFill>
                <a:latin typeface="Courier New" pitchFamily="34" charset="0"/>
                <a:ea typeface="Courier New" pitchFamily="34" charset="-122"/>
                <a:cs typeface="Courier New" pitchFamily="34" charset="-120"/>
              </a:rPr>
              <a:t>periodicity</a:t>
            </a:r>
            <a:endParaRPr lang="en-US" sz="1400" dirty="0"/>
          </a:p>
        </p:txBody>
      </p:sp>
      <p:sp>
        <p:nvSpPr>
          <p:cNvPr id="34" name="milestone 05:19"/>
          <p:cNvSpPr/>
          <p:nvPr/>
        </p:nvSpPr>
        <p:spPr>
          <a:xfrm>
            <a:off x="1435608" y="5088636"/>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501091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05:19</a:t>
            </a:r>
            <a:endParaRPr lang="en-US" sz="1300" dirty="0"/>
          </a:p>
        </p:txBody>
      </p:sp>
      <p:sp>
        <p:nvSpPr>
          <p:cNvPr id="36" name="Text 34"/>
          <p:cNvSpPr txBox="1"/>
          <p:nvPr/>
        </p:nvSpPr>
        <p:spPr>
          <a:xfrm>
            <a:off x="1783080" y="5010912"/>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Certified PageRank · cyclic patterns</a:t>
            </a:r>
            <a:endParaRPr lang="en-US" sz="1400" dirty="0"/>
          </a:p>
        </p:txBody>
      </p:sp>
      <p:sp>
        <p:nvSpPr>
          <p:cNvPr id="37" name="milestone 10:09"/>
          <p:cNvSpPr/>
          <p:nvPr/>
        </p:nvSpPr>
        <p:spPr>
          <a:xfrm>
            <a:off x="1435608" y="5390388"/>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531266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9" name="Text 37"/>
          <p:cNvSpPr txBox="1"/>
          <p:nvPr/>
        </p:nvSpPr>
        <p:spPr>
          <a:xfrm>
            <a:off x="1783080" y="5312664"/>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endParaRPr lang="en-US" sz="1300" dirty="0"/>
          </a:p>
        </p:txBody>
      </p:sp>
      <p:sp>
        <p:nvSpPr>
          <p:cNvPr id="40" name="milestone 10:15"/>
          <p:cNvSpPr/>
          <p:nvPr/>
        </p:nvSpPr>
        <p:spPr>
          <a:xfrm>
            <a:off x="1435608" y="5692140"/>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61441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10:15</a:t>
            </a:r>
            <a:endParaRPr lang="en-US" sz="1300" dirty="0"/>
          </a:p>
        </p:txBody>
      </p:sp>
      <p:sp>
        <p:nvSpPr>
          <p:cNvPr id="42" name="Text 40"/>
          <p:cNvSpPr txBox="1"/>
          <p:nvPr/>
        </p:nvSpPr>
        <p:spPr>
          <a:xfrm>
            <a:off x="1783080" y="5614416"/>
            <a:ext cx="4800600" cy="301752"/>
          </a:xfrm>
          <a:prstGeom prst="rect">
            <a:avLst/>
          </a:prstGeom>
          <a:noFill/>
          <a:ln/>
        </p:spPr>
        <p:txBody>
          <a:bodyPr wrap="square" lIns="0" tIns="0" rIns="0" bIns="0" rtlCol="0" anchor="ctr"/>
          <a:lstStyle/>
          <a:p>
            <a:pPr indent="0" marL="0">
              <a:buNone/>
            </a:pPr>
            <a:r>
              <a:rPr lang="en-US" sz="1400" dirty="0">
                <a:solidFill>
                  <a:schemeClr val="tx1"/>
                </a:solidFill>
              </a:rPr>
              <a:t>These slides</a:t>
            </a:r>
            <a:endParaRPr lang="en-US" sz="1400" dirty="0"/>
          </a:p>
        </p:txBody>
      </p:sp>
      <p:sp>
        <p:nvSpPr>
          <p:cNvPr id="43" name="milestone 10:29"/>
          <p:cNvSpPr/>
          <p:nvPr/>
        </p:nvSpPr>
        <p:spPr>
          <a:xfrm>
            <a:off x="1417320" y="5975604"/>
            <a:ext cx="182880" cy="182880"/>
          </a:xfrm>
          <a:prstGeom prst="ellipse">
            <a:avLst/>
          </a:prstGeom>
          <a:solidFill>
            <a:schemeClr val="accent2"/>
          </a:solidFill>
          <a:ln w="19050">
            <a:solidFill>
              <a:schemeClr val="bg1"/>
            </a:solidFill>
            <a:prstDash val="solid"/>
          </a:ln>
        </p:spPr>
      </p:sp>
      <p:sp>
        <p:nvSpPr>
          <p:cNvPr id="44" name="Text 42"/>
          <p:cNvSpPr txBox="1"/>
          <p:nvPr/>
        </p:nvSpPr>
        <p:spPr>
          <a:xfrm>
            <a:off x="548640" y="591616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45" name="Text 43"/>
          <p:cNvSpPr txBox="1"/>
          <p:nvPr/>
        </p:nvSpPr>
        <p:spPr>
          <a:xfrm>
            <a:off x="1783080" y="5916168"/>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46" name="growth operations"/>
          <p:cNvSpPr/>
          <p:nvPr/>
        </p:nvSpPr>
        <p:spPr>
          <a:xfrm>
            <a:off x="6903720" y="1691640"/>
            <a:ext cx="2255368" cy="1005840"/>
          </a:xfrm>
          <a:prstGeom prst="roundRect">
            <a:avLst>
              <a:gd name="adj" fmla="val 9091"/>
            </a:avLst>
          </a:prstGeom>
          <a:solidFill>
            <a:schemeClr val="tx2"/>
          </a:solidFill>
          <a:ln/>
        </p:spPr>
      </p:sp>
      <p:sp>
        <p:nvSpPr>
          <p:cNvPr id="47" name="Text 45"/>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15</a:t>
            </a:r>
            <a:endParaRPr lang="en-US" sz="2800" dirty="0"/>
          </a:p>
          <a:p>
            <a:pPr indent="0" marL="0">
              <a:buNone/>
            </a:pPr>
            <a:r>
              <a:rPr lang="en-US" sz="1300" dirty="0">
                <a:solidFill>
                  <a:schemeClr val="accent5"/>
                </a:solidFill>
              </a:rPr>
              <a:t>operations</a:t>
            </a:r>
            <a:endParaRPr lang="en-US" sz="2800" dirty="0"/>
          </a:p>
        </p:txBody>
      </p:sp>
      <p:sp>
        <p:nvSpPr>
          <p:cNvPr id="48" name="growth runtime tests"/>
          <p:cNvSpPr/>
          <p:nvPr/>
        </p:nvSpPr>
        <p:spPr>
          <a:xfrm>
            <a:off x="9387688" y="1691640"/>
            <a:ext cx="2255368" cy="1005840"/>
          </a:xfrm>
          <a:prstGeom prst="roundRect">
            <a:avLst>
              <a:gd name="adj" fmla="val 9091"/>
            </a:avLst>
          </a:prstGeom>
          <a:solidFill>
            <a:schemeClr val="tx2"/>
          </a:solidFill>
          <a:ln/>
        </p:spPr>
      </p:sp>
      <p:sp>
        <p:nvSpPr>
          <p:cNvPr id="49" name="Text 47"/>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514</a:t>
            </a:r>
            <a:endParaRPr lang="en-US" sz="2800" dirty="0"/>
          </a:p>
          <a:p>
            <a:pPr indent="0" marL="0">
              <a:buNone/>
            </a:pPr>
            <a:r>
              <a:rPr lang="en-US" sz="1300" dirty="0">
                <a:solidFill>
                  <a:schemeClr val="accent5"/>
                </a:solidFill>
              </a:rPr>
              <a:t>runtime tests</a:t>
            </a:r>
            <a:endParaRPr lang="en-US" sz="2800" dirty="0"/>
          </a:p>
        </p:txBody>
      </p:sp>
      <p:graphicFrame>
        <p:nvGraphicFramePr>
          <p:cNvPr id="50"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two literature surveys run with Codex. Structure and flows, which both recommend, are done; these come next.</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Dominators"/>
          <p:cNvSpPr/>
          <p:nvPr/>
        </p:nvSpPr>
        <p:spPr>
          <a:xfrm>
            <a:off x="548640" y="1911096"/>
            <a:ext cx="11094415" cy="788213"/>
          </a:xfrm>
          <a:prstGeom prst="roundRect">
            <a:avLst>
              <a:gd name="adj" fmla="val 11601"/>
            </a:avLst>
          </a:prstGeom>
          <a:solidFill>
            <a:schemeClr val="bg2"/>
          </a:solidFill>
          <a:ln/>
        </p:spPr>
      </p:sp>
      <p:sp>
        <p:nvSpPr>
          <p:cNvPr id="9" name="icon Dominators"/>
          <p:cNvSpPr/>
          <p:nvPr/>
        </p:nvSpPr>
        <p:spPr>
          <a:xfrm>
            <a:off x="713232" y="2085746"/>
            <a:ext cx="438912" cy="438912"/>
          </a:xfrm>
          <a:prstGeom prst="ellipse">
            <a:avLst/>
          </a:prstGeom>
          <a:solidFill>
            <a:schemeClr val="accent1"/>
          </a:solidFill>
          <a:ln/>
        </p:spPr>
      </p:sp>
      <p:pic>
        <p:nvPicPr>
          <p:cNvPr id="10" name="Image 0" descr="Dominators">    </p:cNvPr>
          <p:cNvPicPr>
            <a:picLocks noChangeAspect="1"/>
          </p:cNvPicPr>
          <p:nvPr/>
        </p:nvPicPr>
        <p:blipFill>
          <a:blip r:embed="rId1"/>
          <a:stretch>
            <a:fillRect/>
          </a:stretch>
        </p:blipFill>
        <p:spPr>
          <a:xfrm>
            <a:off x="809793" y="2182307"/>
            <a:ext cx="245791" cy="245791"/>
          </a:xfrm>
          <a:prstGeom prst="rect">
            <a:avLst/>
          </a:prstGeom>
        </p:spPr>
      </p:pic>
      <p:sp>
        <p:nvSpPr>
          <p:cNvPr id="11" name="Text 8"/>
          <p:cNvSpPr txBox="1"/>
          <p:nvPr/>
        </p:nvSpPr>
        <p:spPr>
          <a:xfrm>
            <a:off x="1325880" y="1911096"/>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Dominators</a:t>
            </a:r>
            <a:endParaRPr lang="en-US" sz="1500" dirty="0"/>
          </a:p>
        </p:txBody>
      </p:sp>
      <p:sp>
        <p:nvSpPr>
          <p:cNvPr id="12" name="Text 9"/>
          <p:cNvSpPr txBox="1"/>
          <p:nvPr/>
        </p:nvSpPr>
        <p:spPr>
          <a:xfrm>
            <a:off x="3383280" y="1911096"/>
            <a:ext cx="3017520" cy="788213"/>
          </a:xfrm>
          <a:prstGeom prst="rect">
            <a:avLst/>
          </a:prstGeom>
          <a:noFill/>
          <a:ln/>
        </p:spPr>
        <p:txBody>
          <a:bodyPr wrap="square" lIns="0" tIns="0" rIns="0" bIns="0" rtlCol="0" anchor="ctr"/>
          <a:lstStyle/>
          <a:p>
            <a:pPr indent="0" marL="0">
              <a:buNone/>
            </a:pPr>
            <a:r>
              <a:rPr lang="en-US" sz="1400" dirty="0">
                <a:solidFill>
                  <a:schemeClr val="tx1"/>
                </a:solidFill>
              </a:rPr>
              <a:t>The nodes every route from a source must pass through.</a:t>
            </a:r>
            <a:endParaRPr lang="en-US" sz="1400" dirty="0"/>
          </a:p>
        </p:txBody>
      </p:sp>
      <p:sp>
        <p:nvSpPr>
          <p:cNvPr id="13" name="Text 10"/>
          <p:cNvSpPr txBox="1"/>
          <p:nvPr/>
        </p:nvSpPr>
        <p:spPr>
          <a:xfrm>
            <a:off x="6629400" y="1911096"/>
            <a:ext cx="3017520" cy="788213"/>
          </a:xfrm>
          <a:prstGeom prst="rect">
            <a:avLst/>
          </a:prstGeom>
          <a:noFill/>
          <a:ln/>
        </p:spPr>
        <p:txBody>
          <a:bodyPr wrap="square" lIns="0" tIns="0" rIns="0" bIns="0" rtlCol="0" anchor="ctr"/>
          <a:lstStyle/>
          <a:p>
            <a:pPr indent="0" marL="0">
              <a:buNone/>
            </a:pPr>
            <a:r>
              <a:rPr lang="en-US" sz="1400" dirty="0">
                <a:solidFill>
                  <a:schemeClr val="tx1"/>
                </a:solidFill>
              </a:rPr>
              <a:t>A dominator tree with a low-high order, checked against the edges.</a:t>
            </a:r>
            <a:endParaRPr lang="en-US" sz="1400" dirty="0"/>
          </a:p>
        </p:txBody>
      </p:sp>
      <p:sp>
        <p:nvSpPr>
          <p:cNvPr id="14" name="Text 11"/>
          <p:cNvSpPr txBox="1"/>
          <p:nvPr/>
        </p:nvSpPr>
        <p:spPr>
          <a:xfrm>
            <a:off x="9875520" y="1911096"/>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Lengauer–Tarjan 1979; Georgiadis–Tarjan 2015</a:t>
            </a:r>
            <a:endParaRPr lang="en-US" sz="1200" dirty="0"/>
          </a:p>
        </p:txBody>
      </p:sp>
      <p:sp>
        <p:nvSpPr>
          <p:cNvPr id="15" name="roadmap Exact incidence algebra"/>
          <p:cNvSpPr/>
          <p:nvPr/>
        </p:nvSpPr>
        <p:spPr>
          <a:xfrm>
            <a:off x="548640" y="2790749"/>
            <a:ext cx="11094415" cy="788213"/>
          </a:xfrm>
          <a:prstGeom prst="roundRect">
            <a:avLst>
              <a:gd name="adj" fmla="val 11601"/>
            </a:avLst>
          </a:prstGeom>
          <a:solidFill>
            <a:schemeClr val="bg2"/>
          </a:solidFill>
          <a:ln/>
        </p:spPr>
      </p:sp>
      <p:sp>
        <p:nvSpPr>
          <p:cNvPr id="16" name="icon Exact incidence algebra"/>
          <p:cNvSpPr/>
          <p:nvPr/>
        </p:nvSpPr>
        <p:spPr>
          <a:xfrm>
            <a:off x="713232" y="2965399"/>
            <a:ext cx="438912" cy="438912"/>
          </a:xfrm>
          <a:prstGeom prst="ellipse">
            <a:avLst/>
          </a:prstGeom>
          <a:solidFill>
            <a:schemeClr val="accent1"/>
          </a:solidFill>
          <a:ln/>
        </p:spPr>
      </p:sp>
      <p:pic>
        <p:nvPicPr>
          <p:cNvPr id="17" name="Image 1" descr="Exact incidence algebra">    </p:cNvPr>
          <p:cNvPicPr>
            <a:picLocks noChangeAspect="1"/>
          </p:cNvPicPr>
          <p:nvPr/>
        </p:nvPicPr>
        <p:blipFill>
          <a:blip r:embed="rId2"/>
          <a:stretch>
            <a:fillRect/>
          </a:stretch>
        </p:blipFill>
        <p:spPr>
          <a:xfrm>
            <a:off x="809793" y="3061960"/>
            <a:ext cx="245791" cy="245791"/>
          </a:xfrm>
          <a:prstGeom prst="rect">
            <a:avLst/>
          </a:prstGeom>
        </p:spPr>
      </p:pic>
      <p:sp>
        <p:nvSpPr>
          <p:cNvPr id="18" name="Text 14"/>
          <p:cNvSpPr txBox="1"/>
          <p:nvPr/>
        </p:nvSpPr>
        <p:spPr>
          <a:xfrm>
            <a:off x="1325880" y="2790749"/>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Exact incidence algebra</a:t>
            </a:r>
            <a:endParaRPr lang="en-US" sz="1500" dirty="0"/>
          </a:p>
        </p:txBody>
      </p:sp>
      <p:sp>
        <p:nvSpPr>
          <p:cNvPr id="19" name="Text 15"/>
          <p:cNvSpPr txBox="1"/>
          <p:nvPr/>
        </p:nvSpPr>
        <p:spPr>
          <a:xfrm>
            <a:off x="3383280" y="2790749"/>
            <a:ext cx="3017520" cy="788213"/>
          </a:xfrm>
          <a:prstGeom prst="rect">
            <a:avLst/>
          </a:prstGeom>
          <a:noFill/>
          <a:ln/>
        </p:spPr>
        <p:txBody>
          <a:bodyPr wrap="square" lIns="0" tIns="0" rIns="0" bIns="0" rtlCol="0" anchor="ctr"/>
          <a:lstStyle/>
          <a:p>
            <a:pPr indent="0" marL="0">
              <a:buNone/>
            </a:pPr>
            <a:r>
              <a:rPr lang="en-US" sz="1400" dirty="0">
                <a:solidFill>
                  <a:schemeClr val="tx1"/>
                </a:solidFill>
              </a:rPr>
              <a:t>Exact rank and kernels: conservation laws for RATES, Petri nets.</a:t>
            </a:r>
            <a:endParaRPr lang="en-US" sz="1400" dirty="0"/>
          </a:p>
        </p:txBody>
      </p:sp>
      <p:sp>
        <p:nvSpPr>
          <p:cNvPr id="20" name="Text 16"/>
          <p:cNvSpPr txBox="1"/>
          <p:nvPr/>
        </p:nvSpPr>
        <p:spPr>
          <a:xfrm>
            <a:off x="6629400" y="2790749"/>
            <a:ext cx="3017520" cy="788213"/>
          </a:xfrm>
          <a:prstGeom prst="rect">
            <a:avLst/>
          </a:prstGeom>
          <a:noFill/>
          <a:ln/>
        </p:spPr>
        <p:txBody>
          <a:bodyPr wrap="square" lIns="0" tIns="0" rIns="0" bIns="0" rtlCol="0" anchor="ctr"/>
          <a:lstStyle/>
          <a:p>
            <a:pPr indent="0" marL="0">
              <a:buNone/>
            </a:pPr>
            <a:r>
              <a:rPr lang="en-US" sz="1400" dirty="0">
                <a:solidFill>
                  <a:schemeClr val="tx1"/>
                </a:solidFill>
              </a:rPr>
              <a:t>Elimination identities, kernel equations; Farkas for infeasibility.</a:t>
            </a:r>
            <a:endParaRPr lang="en-US" sz="1400" dirty="0"/>
          </a:p>
        </p:txBody>
      </p:sp>
      <p:sp>
        <p:nvSpPr>
          <p:cNvPr id="21" name="Text 17"/>
          <p:cNvSpPr txBox="1"/>
          <p:nvPr/>
        </p:nvSpPr>
        <p:spPr>
          <a:xfrm>
            <a:off x="9875520" y="2790749"/>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Feinberg 1987 (deficiency, in adapters)</a:t>
            </a:r>
            <a:endParaRPr lang="en-US" sz="1200" dirty="0"/>
          </a:p>
        </p:txBody>
      </p:sp>
      <p:sp>
        <p:nvSpPr>
          <p:cNvPr id="22" name="roadmap Support certificates"/>
          <p:cNvSpPr/>
          <p:nvPr/>
        </p:nvSpPr>
        <p:spPr>
          <a:xfrm>
            <a:off x="548640" y="3670402"/>
            <a:ext cx="11094415" cy="788213"/>
          </a:xfrm>
          <a:prstGeom prst="roundRect">
            <a:avLst>
              <a:gd name="adj" fmla="val 11601"/>
            </a:avLst>
          </a:prstGeom>
          <a:solidFill>
            <a:schemeClr val="bg2"/>
          </a:solidFill>
          <a:ln/>
        </p:spPr>
      </p:sp>
      <p:sp>
        <p:nvSpPr>
          <p:cNvPr id="23" name="icon Support certificates"/>
          <p:cNvSpPr/>
          <p:nvPr/>
        </p:nvSpPr>
        <p:spPr>
          <a:xfrm>
            <a:off x="713232" y="3845052"/>
            <a:ext cx="438912" cy="438912"/>
          </a:xfrm>
          <a:prstGeom prst="ellipse">
            <a:avLst/>
          </a:prstGeom>
          <a:solidFill>
            <a:schemeClr val="accent1"/>
          </a:solidFill>
          <a:ln/>
        </p:spPr>
      </p:sp>
      <p:pic>
        <p:nvPicPr>
          <p:cNvPr id="24" name="Image 2" descr="Support certificates">    </p:cNvPr>
          <p:cNvPicPr>
            <a:picLocks noChangeAspect="1"/>
          </p:cNvPicPr>
          <p:nvPr/>
        </p:nvPicPr>
        <p:blipFill>
          <a:blip r:embed="rId3"/>
          <a:stretch>
            <a:fillRect/>
          </a:stretch>
        </p:blipFill>
        <p:spPr>
          <a:xfrm>
            <a:off x="809793" y="3941613"/>
            <a:ext cx="245791" cy="245791"/>
          </a:xfrm>
          <a:prstGeom prst="rect">
            <a:avLst/>
          </a:prstGeom>
        </p:spPr>
      </p:pic>
      <p:sp>
        <p:nvSpPr>
          <p:cNvPr id="25" name="Text 20"/>
          <p:cNvSpPr txBox="1"/>
          <p:nvPr/>
        </p:nvSpPr>
        <p:spPr>
          <a:xfrm>
            <a:off x="1325880" y="3670402"/>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Support certificates</a:t>
            </a:r>
            <a:endParaRPr lang="en-US" sz="1500" dirty="0"/>
          </a:p>
        </p:txBody>
      </p:sp>
      <p:sp>
        <p:nvSpPr>
          <p:cNvPr id="26" name="Text 21"/>
          <p:cNvSpPr txBox="1"/>
          <p:nvPr/>
        </p:nvSpPr>
        <p:spPr>
          <a:xfrm>
            <a:off x="3383280" y="3670402"/>
            <a:ext cx="3017520" cy="788213"/>
          </a:xfrm>
          <a:prstGeom prst="rect">
            <a:avLst/>
          </a:prstGeom>
          <a:noFill/>
          <a:ln/>
        </p:spPr>
        <p:txBody>
          <a:bodyPr wrap="square" lIns="0" tIns="0" rIns="0" bIns="0" rtlCol="0" anchor="ctr"/>
          <a:lstStyle/>
          <a:p>
            <a:pPr indent="0" marL="0">
              <a:buNone/>
            </a:pPr>
            <a:r>
              <a:rPr lang="en-US" sz="1400" dirty="0">
                <a:solidFill>
                  <a:schemeClr val="tx1"/>
                </a:solidFill>
              </a:rPr>
              <a:t>Support answers checked and revalidated without recomputing.</a:t>
            </a:r>
            <a:endParaRPr lang="en-US" sz="1400" dirty="0"/>
          </a:p>
        </p:txBody>
      </p:sp>
      <p:sp>
        <p:nvSpPr>
          <p:cNvPr id="27" name="Text 22"/>
          <p:cNvSpPr txBox="1"/>
          <p:nvPr/>
        </p:nvSpPr>
        <p:spPr>
          <a:xfrm>
            <a:off x="6629400" y="3670402"/>
            <a:ext cx="3017520" cy="788213"/>
          </a:xfrm>
          <a:prstGeom prst="rect">
            <a:avLst/>
          </a:prstGeom>
          <a:noFill/>
          <a:ln/>
        </p:spPr>
        <p:txBody>
          <a:bodyPr wrap="square" lIns="0" tIns="0" rIns="0" bIns="0" rtlCol="0" anchor="ctr"/>
          <a:lstStyle/>
          <a:p>
            <a:pPr indent="0" marL="0">
              <a:buNone/>
            </a:pPr>
            <a:r>
              <a:rPr lang="en-US" sz="1400" dirty="0">
                <a:solidFill>
                  <a:schemeClr val="tx1"/>
                </a:solidFill>
              </a:rPr>
              <a:t>Derivation ranks and closure under every rule prove the least fixpoint.</a:t>
            </a:r>
            <a:endParaRPr lang="en-US" sz="1400" dirty="0"/>
          </a:p>
        </p:txBody>
      </p:sp>
      <p:sp>
        <p:nvSpPr>
          <p:cNvPr id="28" name="Text 23"/>
          <p:cNvSpPr txBox="1"/>
          <p:nvPr/>
        </p:nvSpPr>
        <p:spPr>
          <a:xfrm>
            <a:off x="9875520" y="3670402"/>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Dowling–Gallier 1984; McConnell et al. 2011</a:t>
            </a:r>
            <a:endParaRPr lang="en-US" sz="1200" dirty="0"/>
          </a:p>
        </p:txBody>
      </p:sp>
      <p:sp>
        <p:nvSpPr>
          <p:cNvPr id="29" name="roadmap k-best paths"/>
          <p:cNvSpPr/>
          <p:nvPr/>
        </p:nvSpPr>
        <p:spPr>
          <a:xfrm>
            <a:off x="548640" y="4550054"/>
            <a:ext cx="11094415" cy="788213"/>
          </a:xfrm>
          <a:prstGeom prst="roundRect">
            <a:avLst>
              <a:gd name="adj" fmla="val 11601"/>
            </a:avLst>
          </a:prstGeom>
          <a:solidFill>
            <a:schemeClr val="bg2"/>
          </a:solidFill>
          <a:ln/>
        </p:spPr>
      </p:sp>
      <p:sp>
        <p:nvSpPr>
          <p:cNvPr id="30" name="icon k-best paths"/>
          <p:cNvSpPr/>
          <p:nvPr/>
        </p:nvSpPr>
        <p:spPr>
          <a:xfrm>
            <a:off x="713232" y="4724705"/>
            <a:ext cx="438912" cy="438912"/>
          </a:xfrm>
          <a:prstGeom prst="ellipse">
            <a:avLst/>
          </a:prstGeom>
          <a:solidFill>
            <a:schemeClr val="accent1"/>
          </a:solidFill>
          <a:ln/>
        </p:spPr>
      </p:sp>
      <p:pic>
        <p:nvPicPr>
          <p:cNvPr id="31" name="Image 3" descr="k-best paths">    </p:cNvPr>
          <p:cNvPicPr>
            <a:picLocks noChangeAspect="1"/>
          </p:cNvPicPr>
          <p:nvPr/>
        </p:nvPicPr>
        <p:blipFill>
          <a:blip r:embed="rId4"/>
          <a:stretch>
            <a:fillRect/>
          </a:stretch>
        </p:blipFill>
        <p:spPr>
          <a:xfrm>
            <a:off x="809793" y="4821265"/>
            <a:ext cx="245791" cy="245791"/>
          </a:xfrm>
          <a:prstGeom prst="rect">
            <a:avLst/>
          </a:prstGeom>
        </p:spPr>
      </p:pic>
      <p:sp>
        <p:nvSpPr>
          <p:cNvPr id="32" name="Text 26"/>
          <p:cNvSpPr txBox="1"/>
          <p:nvPr/>
        </p:nvSpPr>
        <p:spPr>
          <a:xfrm>
            <a:off x="1325880" y="4550054"/>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k-best paths</a:t>
            </a:r>
            <a:endParaRPr lang="en-US" sz="1500" dirty="0"/>
          </a:p>
        </p:txBody>
      </p:sp>
      <p:sp>
        <p:nvSpPr>
          <p:cNvPr id="33" name="Text 27"/>
          <p:cNvSpPr txBox="1"/>
          <p:nvPr/>
        </p:nvSpPr>
        <p:spPr>
          <a:xfrm>
            <a:off x="3383280" y="4550054"/>
            <a:ext cx="3017520" cy="788213"/>
          </a:xfrm>
          <a:prstGeom prst="rect">
            <a:avLst/>
          </a:prstGeom>
          <a:noFill/>
          <a:ln/>
        </p:spPr>
        <p:txBody>
          <a:bodyPr wrap="square" lIns="0" tIns="0" rIns="0" bIns="0" rtlCol="0" anchor="ctr"/>
          <a:lstStyle/>
          <a:p>
            <a:pPr indent="0" marL="0">
              <a:buNone/>
            </a:pPr>
            <a:r>
              <a:rPr lang="en-US" sz="1400" dirty="0">
                <a:solidFill>
                  <a:schemeClr val="tx1"/>
                </a:solidFill>
              </a:rPr>
              <a:t>Alternative routes and explanations, not only one optimum.</a:t>
            </a:r>
            <a:endParaRPr lang="en-US" sz="1400" dirty="0"/>
          </a:p>
        </p:txBody>
      </p:sp>
      <p:sp>
        <p:nvSpPr>
          <p:cNvPr id="34" name="Text 28"/>
          <p:cNvSpPr txBox="1"/>
          <p:nvPr/>
        </p:nvSpPr>
        <p:spPr>
          <a:xfrm>
            <a:off x="6629400" y="4550054"/>
            <a:ext cx="3017520" cy="788213"/>
          </a:xfrm>
          <a:prstGeom prst="rect">
            <a:avLst/>
          </a:prstGeom>
          <a:noFill/>
          <a:ln/>
        </p:spPr>
        <p:txBody>
          <a:bodyPr wrap="square" lIns="0" tIns="0" rIns="0" bIns="0" rtlCol="0" anchor="ctr"/>
          <a:lstStyle/>
          <a:p>
            <a:pPr indent="0" marL="0">
              <a:buNone/>
            </a:pPr>
            <a:r>
              <a:rPr lang="en-US" sz="1400" dirty="0">
                <a:solidFill>
                  <a:schemeClr val="tx1"/>
                </a:solidFill>
              </a:rPr>
              <a:t>Path witnesses; a deviation partition with potentials proves the first k.</a:t>
            </a:r>
            <a:endParaRPr lang="en-US" sz="1400" dirty="0"/>
          </a:p>
        </p:txBody>
      </p:sp>
      <p:sp>
        <p:nvSpPr>
          <p:cNvPr id="35" name="Text 29"/>
          <p:cNvSpPr txBox="1"/>
          <p:nvPr/>
        </p:nvSpPr>
        <p:spPr>
          <a:xfrm>
            <a:off x="9875520" y="4550054"/>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Yen 1971 (k shortest simple paths)</a:t>
            </a:r>
            <a:endParaRPr lang="en-US" sz="1200" dirty="0"/>
          </a:p>
        </p:txBody>
      </p:sp>
      <p:sp>
        <p:nvSpPr>
          <p:cNvPr id="36" name="roadmap Incremental repair"/>
          <p:cNvSpPr/>
          <p:nvPr/>
        </p:nvSpPr>
        <p:spPr>
          <a:xfrm>
            <a:off x="548640" y="5429707"/>
            <a:ext cx="11094415" cy="788213"/>
          </a:xfrm>
          <a:prstGeom prst="roundRect">
            <a:avLst>
              <a:gd name="adj" fmla="val 11601"/>
            </a:avLst>
          </a:prstGeom>
          <a:solidFill>
            <a:schemeClr val="bg2"/>
          </a:solidFill>
          <a:ln/>
        </p:spPr>
      </p:sp>
      <p:sp>
        <p:nvSpPr>
          <p:cNvPr id="37" name="icon Incremental repair"/>
          <p:cNvSpPr/>
          <p:nvPr/>
        </p:nvSpPr>
        <p:spPr>
          <a:xfrm>
            <a:off x="713232" y="5604358"/>
            <a:ext cx="438912" cy="438912"/>
          </a:xfrm>
          <a:prstGeom prst="ellipse">
            <a:avLst/>
          </a:prstGeom>
          <a:solidFill>
            <a:schemeClr val="accent1"/>
          </a:solidFill>
          <a:ln/>
        </p:spPr>
      </p:sp>
      <p:pic>
        <p:nvPicPr>
          <p:cNvPr id="38" name="Image 4" descr="Incremental repair">    </p:cNvPr>
          <p:cNvPicPr>
            <a:picLocks noChangeAspect="1"/>
          </p:cNvPicPr>
          <p:nvPr/>
        </p:nvPicPr>
        <p:blipFill>
          <a:blip r:embed="rId5"/>
          <a:stretch>
            <a:fillRect/>
          </a:stretch>
        </p:blipFill>
        <p:spPr>
          <a:xfrm>
            <a:off x="809793" y="5700918"/>
            <a:ext cx="245791" cy="245791"/>
          </a:xfrm>
          <a:prstGeom prst="rect">
            <a:avLst/>
          </a:prstGeom>
        </p:spPr>
      </p:pic>
      <p:sp>
        <p:nvSpPr>
          <p:cNvPr id="39" name="Text 32"/>
          <p:cNvSpPr txBox="1"/>
          <p:nvPr/>
        </p:nvSpPr>
        <p:spPr>
          <a:xfrm>
            <a:off x="1325880" y="5429707"/>
            <a:ext cx="1828800" cy="788213"/>
          </a:xfrm>
          <a:prstGeom prst="rect">
            <a:avLst/>
          </a:prstGeom>
          <a:noFill/>
          <a:ln/>
        </p:spPr>
        <p:txBody>
          <a:bodyPr wrap="square" lIns="0" tIns="0" rIns="0" bIns="0" rtlCol="0" anchor="ctr"/>
          <a:lstStyle/>
          <a:p>
            <a:pPr indent="0" marL="0">
              <a:buNone/>
            </a:pPr>
            <a:r>
              <a:rPr lang="en-US" sz="1500" b="1" dirty="0">
                <a:solidFill>
                  <a:schemeClr val="tx1"/>
                </a:solidFill>
              </a:rPr>
              <a:t>Incremental repair</a:t>
            </a:r>
            <a:endParaRPr lang="en-US" sz="1500" dirty="0"/>
          </a:p>
        </p:txBody>
      </p:sp>
      <p:sp>
        <p:nvSpPr>
          <p:cNvPr id="40" name="Text 33"/>
          <p:cNvSpPr txBox="1"/>
          <p:nvPr/>
        </p:nvSpPr>
        <p:spPr>
          <a:xfrm>
            <a:off x="3383280" y="5429707"/>
            <a:ext cx="3017520" cy="788213"/>
          </a:xfrm>
          <a:prstGeom prst="rect">
            <a:avLst/>
          </a:prstGeom>
          <a:noFill/>
          <a:ln/>
        </p:spPr>
        <p:txBody>
          <a:bodyPr wrap="square" lIns="0" tIns="0" rIns="0" bIns="0" rtlCol="0" anchor="ctr"/>
          <a:lstStyle/>
          <a:p>
            <a:pPr indent="0" marL="0">
              <a:buNone/>
            </a:pPr>
            <a:r>
              <a:rPr lang="en-US" sz="1400" dirty="0">
                <a:solidFill>
                  <a:schemeClr val="tx1"/>
                </a:solidFill>
              </a:rPr>
              <a:t>Repair cached answers that revalidation finds broken.</a:t>
            </a:r>
            <a:endParaRPr lang="en-US" sz="1400" dirty="0"/>
          </a:p>
        </p:txBody>
      </p:sp>
      <p:sp>
        <p:nvSpPr>
          <p:cNvPr id="41" name="Text 34"/>
          <p:cNvSpPr txBox="1"/>
          <p:nvPr/>
        </p:nvSpPr>
        <p:spPr>
          <a:xfrm>
            <a:off x="6629400" y="5429707"/>
            <a:ext cx="3017520" cy="788213"/>
          </a:xfrm>
          <a:prstGeom prst="rect">
            <a:avLst/>
          </a:prstGeom>
          <a:noFill/>
          <a:ln/>
        </p:spPr>
        <p:txBody>
          <a:bodyPr wrap="square" lIns="0" tIns="0" rIns="0" bIns="0" rtlCol="0" anchor="ctr"/>
          <a:lstStyle/>
          <a:p>
            <a:pPr indent="0" marL="0">
              <a:buNone/>
            </a:pPr>
            <a:r>
              <a:rPr lang="en-US" sz="1400" dirty="0">
                <a:solidFill>
                  <a:schemeClr val="tx1"/>
                </a:solidFill>
              </a:rPr>
              <a:t>A fresh answer with an ordinary certificate on the new projection.</a:t>
            </a:r>
            <a:endParaRPr lang="en-US" sz="1400" dirty="0"/>
          </a:p>
        </p:txBody>
      </p:sp>
      <p:sp>
        <p:nvSpPr>
          <p:cNvPr id="42" name="Text 35"/>
          <p:cNvSpPr txBox="1"/>
          <p:nvPr/>
        </p:nvSpPr>
        <p:spPr>
          <a:xfrm>
            <a:off x="9875520" y="5429707"/>
            <a:ext cx="1676095" cy="788213"/>
          </a:xfrm>
          <a:prstGeom prst="rect">
            <a:avLst/>
          </a:prstGeom>
          <a:noFill/>
          <a:ln/>
        </p:spPr>
        <p:txBody>
          <a:bodyPr wrap="square" lIns="0" tIns="0" rIns="0" bIns="0" rtlCol="0" anchor="ctr"/>
          <a:lstStyle/>
          <a:p>
            <a:pPr indent="0" marL="0">
              <a:buNone/>
            </a:pPr>
            <a:r>
              <a:rPr lang="en-US" sz="1200" i="1" dirty="0">
                <a:solidFill>
                  <a:schemeClr val="accent6"/>
                </a:solidFill>
              </a:rPr>
              <a:t>Gupta et al. 1993; Ramalingam–Reps 1996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DAG critical paths, d-separation, minimum spanning forests, cycle bases, Datalog, Katz intervals, bidirectional search, factorized pattern answers.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Fifteen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2026-10-26T14:31:34Z</dcterms:created>
  <dcterms:modified xsi:type="dcterms:W3CDTF">2026-10-26T14:31:34Z</dcterms:modified>
</cp:coreProperties>
</file>