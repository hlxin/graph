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3b5b011a-e849-9d18-073b-050743e4bec7}">
          <p14:sldIdLst>
            <p14:sldId id="256"/>
            <p14:sldId id="257"/>
            <p14:sldId id="258"/>
          </p14:sldIdLst>
        </p14:section>
        <p14:section name="Architecture" id="{05291d25-9439-8ed4-aefe-84de7a313ef9}">
          <p14:sldIdLst>
            <p14:sldId id="259"/>
            <p14:sldId id="260"/>
            <p14:sldId id="261"/>
          </p14:sldIdLst>
        </p14:section>
        <p14:section name="Operations" id="{15058014-131b-f815-136a-8882c58fee2f}">
          <p14:sldIdLst>
            <p14:sldId id="262"/>
            <p14:sldId id="263"/>
            <p14:sldId id="264"/>
            <p14:sldId id="265"/>
            <p14:sldId id="266"/>
            <p14:sldId id="267"/>
            <p14:sldId id="268"/>
            <p14:sldId id="269"/>
            <p14:sldId id="270"/>
            <p14:sldId id="271"/>
            <p14:sldId id="272"/>
            <p14:sldId id="273"/>
          </p14:sldIdLst>
        </p14:section>
        <p14:section name="Trust and results" id="{eed35332-851e-b12a-b97d-0b1024b72f90}">
          <p14:sldIdLst>
            <p14:sldId id="274"/>
            <p14:sldId id="275"/>
            <p14:sldId id="276"/>
            <p14:sldId id="277"/>
            <p14:sldId id="278"/>
          </p14:sldIdLst>
        </p14:section>
        <p14:section name="Development" id="{20b584aa-5daa-f2a8-f6e0-5ecac511a8c9}">
          <p14:sldIdLst>
            <p14:sldId id="279"/>
          </p14:sldIdLst>
        </p14:section>
        <p14:section name="Roadmap" id="{88afddbf-9db6-28f5-bd99-8903515638df}">
          <p14:sldIdLst>
            <p14:sldId id="280"/>
            <p14:sldId id="281"/>
          </p14:sldIdLst>
        </p14:section>
        <p14:section name="Close" id="{e737b35b-5ed3-4dff-e3f2-8bc69b905b4b}">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Sheet1!$A$2:$A$8</c:f>
              <c:multiLvlStrCache>
                <c:ptCount val="7"/>
                <c:lvl>
                  <c:pt idx="0">
                    <c:v>Strong components</c:v>
                  </c:pt>
                  <c:pt idx="1">
                    <c:v>Articulation points</c:v>
                  </c:pt>
                  <c:pt idx="2">
                    <c:v>Max flow</c:v>
                  </c:pt>
                  <c:pt idx="3">
                    <c:v>Matching</c:v>
                  </c:pt>
                  <c:pt idx="4">
                    <c:v>Dominators</c:v>
                  </c:pt>
                  <c:pt idx="5">
                    <c:v>Critical path</c:v>
                  </c:pt>
                  <c:pt idx="6">
                    <c:v>Negative costs</c:v>
                  </c:pt>
                </c:lvl>
              </c:multiLvlStrCache>
            </c:multiLvlStrRef>
          </c:cat>
          <c:val>
            <c:numRef>
              <c:f>Sheet1!$B$2:$B$8</c:f>
              <c:numCache>
                <c:formatCode>General</c:formatCode>
                <c:ptCount val="7"/>
                <c:pt idx="0">
                  <c:v>0.38</c:v>
                </c:pt>
                <c:pt idx="1">
                  <c:v>0.57</c:v>
                </c:pt>
                <c:pt idx="2">
                  <c:v>4.5</c:v>
                </c:pt>
                <c:pt idx="3">
                  <c:v>2.5</c:v>
                </c:pt>
                <c:pt idx="4">
                  <c:v>0.65</c:v>
                </c:pt>
                <c:pt idx="5">
                  <c:v>0.67</c:v>
                </c:pt>
                <c:pt idx="6">
                  <c:v>0.1</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Sheet1!$A$2:$A$8</c:f>
              <c:multiLvlStrCache>
                <c:ptCount val="7"/>
                <c:lvl>
                  <c:pt idx="0">
                    <c:v>Strong components</c:v>
                  </c:pt>
                  <c:pt idx="1">
                    <c:v>Articulation points</c:v>
                  </c:pt>
                  <c:pt idx="2">
                    <c:v>Max flow</c:v>
                  </c:pt>
                  <c:pt idx="3">
                    <c:v>Matching</c:v>
                  </c:pt>
                  <c:pt idx="4">
                    <c:v>Dominators</c:v>
                  </c:pt>
                  <c:pt idx="5">
                    <c:v>Critical path</c:v>
                  </c:pt>
                  <c:pt idx="6">
                    <c:v>Negative costs</c:v>
                  </c:pt>
                </c:lvl>
              </c:multiLvlStrCache>
            </c:multiLvlStrRef>
          </c:cat>
          <c:val>
            <c:numRef>
              <c:f>Sheet1!$C$2:$C$8</c:f>
              <c:numCache>
                <c:formatCode>General</c:formatCode>
                <c:ptCount val="7"/>
                <c:pt idx="0">
                  <c:v>0.34</c:v>
                </c:pt>
                <c:pt idx="1">
                  <c:v>0.36</c:v>
                </c:pt>
                <c:pt idx="2">
                  <c:v>6.4</c:v>
                </c:pt>
                <c:pt idx="3">
                  <c:v>2.1</c:v>
                </c:pt>
                <c:pt idx="4">
                  <c:v>0.93</c:v>
                </c:pt>
                <c:pt idx="5">
                  <c:v>0.26</c:v>
                </c:pt>
                <c:pt idx="6">
                  <c:v>0.13</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Sheet1!$A$2:$A$21</c:f>
              <c:multiLvlStrCache>
                <c:ptCount val="20"/>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lvl>
              </c:multiLvlStrCache>
            </c:multiLvlStrRef>
          </c:cat>
          <c:val>
            <c:numRef>
              <c:f>Sheet1!$B$2:$B$21</c:f>
              <c:numCache>
                <c:formatCode>General</c:formatCode>
                <c:ptCount val="20"/>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numCache>
            </c:numRef>
          </c:val>
          <c:smooth val="0"/>
        </c:ser>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19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§6; git log 8b79971, 7b39f7d.
pattern · trees: Tree patterns without dead ends. Theory: Variables bound by types (through the hierarchy) or explicit IDs, then steps, each one hop from an earlier variable; optional steps keep their row. Algorithm: Yannakakis' semi-join reduction: discover down, prune up, prune down. Rows in canonical order; the exact total is counted without listing (60⁴ rows in well under a second). Checked by: verify_result checks every row against the records; rows and totals match a brute-force enumerator (400 random patterns) and SCALE's own engine.
pattern · cycles: Corroboration and contradiction motifs. Theory: A step may close a cycle between bound variables: two supports of a claim from one dataset, a triangle of citations. Algorithm: Worst-case optimal join (Ngo, Porat, Ré and Rudra; Veldhuizen's Leapfrog Triejoin): intersect candidates with what every closing step allows, smallest set first. Checked by: Row for row against a brute-force enumerator (300 random cyclic patterns). An interruption keeps a prefix of the rows and never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§6; git log 573ce2b.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Theory: A maximum matching of a left set to partners outside it, no node in two pairs: samples to instruments, claims to reviewers. Algorithm: Hopcroft and Karp (1973): breadth-first phases along alternating paths from the unpaired left nodes, then augmentation along the shortest ones. Certificate proves: König's vertex cover (1931): as many nodes as pairs, touching every candidate hop, so no matching is larger. When pairs fall short, Hall's condition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README.md (Revalidation); docs/API_CONTRACT.md §7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(563 pass), src/graph_runtime/conformance/cases.json (173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97723bb (26 October, 22:11): 37 commits, slide commits included; some rows group neighbouring commits, and 22:11 is two (260d7b2, the projection identity hashed with each node ID, relation and type encoded once: 61 to 34 ms, the build 245 to 206 ms on 50,000 nodes and 150,000 edges, identity bytes unchanged on 400 random projections; 97723bb, negative costs). Conformance case counts are from the commit messages (34 at v0, then 49, 54, 62, 70, 74, 78, 91, 100, 112, 116, 121, 133, 143, 148, 153, 158, 165, 168) and cases.json now (173). Tests: 178 → 563.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Its first item, negative-cost shortest paths, shipped in 97723bb. Survey notes per row: injective patterns (VF2++-style backtracking with Glasgow-style filtering; embeddings checked in O(q + r); a negative needs an exhaustive refutation tree, possibly exponential); minimum spanning forest (Kruskal; the forest is its own certificate by the cycle property); minimum cycle basis (de Pina; GF(2) elimination proves a basis, de Pina's supports with shortest-path proofs prove minimality; relevant cycles after Vismara); min-cost flow and weighted matching (successive shortest paths with potentials; reduced costs non-negative on every residual arc); cyclic pattern counting (variable elimination, FAQ InsideOut; a decomposition and dynamic-programming transcript); k shortest simple paths (Yen with Lawler's partitioning; a partition tree proves the ranking); then a reachability index (pruned landmark 2-hop labels; Cohen, Halperin, Kaplan and Zwick 2003), positive Datalog (semi-naive evaluation; derivation trees), isomorphism and canonical labeling (individualization-refinement; McKay and Piperno 2014), elementary flux modes (exact double description; Gagneur and Klamt 2004).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3.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19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Nineteen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critical_path · d_separation</a:t>
            </a:r>
            <a:endParaRPr lang="en-US" sz="1200" dirty="0"/>
          </a:p>
        </p:txBody>
      </p:sp>
      <p:sp>
        <p:nvSpPr>
          <p:cNvPr id="15" name="Text 11"/>
          <p:cNvSpPr txBox="1"/>
          <p:nvPr/>
        </p:nvSpPr>
        <p:spPr>
          <a:xfrm>
            <a:off x="4539386"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AND/OR rules, schedules and slack, causal independence.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trees counted exactly, cycles by a worst-case optimal join.</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max_flow · matching · dominators</a:t>
            </a:r>
            <a:endParaRPr lang="en-US" sz="1200" dirty="0"/>
          </a:p>
        </p:txBody>
      </p:sp>
      <p:sp>
        <p:nvSpPr>
          <p:cNvPr id="39" name="Text 31"/>
          <p:cNvSpPr txBox="1"/>
          <p:nvPr/>
        </p:nvSpPr>
        <p:spPr>
          <a:xfrm>
            <a:off x="8328965" y="5420868"/>
            <a:ext cx="3112922" cy="659892"/>
          </a:xfrm>
          <a:prstGeom prst="rect">
            <a:avLst/>
          </a:prstGeom>
          <a:noFill/>
          <a:ln/>
        </p:spPr>
        <p:txBody>
          <a:bodyPr wrap="square" lIns="0" tIns="0" rIns="0" bIns="0" rtlCol="0" anchor="t"/>
          <a:lstStyle/>
          <a:p>
            <a:pPr indent="0" marL="0">
              <a:buNone/>
            </a:pPr>
            <a:r>
              <a:rPr lang="en-US" sz="1400" dirty="0">
                <a:solidFill>
                  <a:schemeClr val="tx1"/>
                </a:solidFill>
              </a:rPr>
              <a:t>Pieces, weak points, throughput, pairings and unavoidable nodes.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and cycles.</a:t>
            </a:r>
            <a:endParaRPr lang="en-US" sz="1600" dirty="0"/>
          </a:p>
        </p:txBody>
      </p:sp>
      <p:sp>
        <p:nvSpPr>
          <p:cNvPr id="4" name="operation pattern · trees"/>
          <p:cNvSpPr/>
          <p:nvPr/>
        </p:nvSpPr>
        <p:spPr>
          <a:xfrm>
            <a:off x="548640" y="1691640"/>
            <a:ext cx="5410048" cy="4526280"/>
          </a:xfrm>
          <a:prstGeom prst="roundRect">
            <a:avLst>
              <a:gd name="adj" fmla="val 2020"/>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Variables bound by types (through the hierarchy) or explicit IDs, then steps, each one hop from an earlier variable; optional steps keep their row.</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Yannakakis' semi-join reduction: discover down, prune up, prune down. Rows in canonical order; the exact total is counted without listing (60⁴ rows in well under a second).</a:t>
            </a:r>
            <a:endParaRPr lang="en-US" sz="1600" dirty="0"/>
          </a:p>
        </p:txBody>
      </p:sp>
      <p:sp>
        <p:nvSpPr>
          <p:cNvPr id="9" name="proof pattern · trees"/>
          <p:cNvSpPr/>
          <p:nvPr/>
        </p:nvSpPr>
        <p:spPr>
          <a:xfrm>
            <a:off x="694944" y="4760976"/>
            <a:ext cx="5117440" cy="1255776"/>
          </a:xfrm>
          <a:prstGeom prst="roundRect">
            <a:avLst>
              <a:gd name="adj" fmla="val 5825"/>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52416"/>
            <a:ext cx="246888" cy="246888"/>
          </a:xfrm>
          <a:prstGeom prst="rect">
            <a:avLst/>
          </a:prstGeom>
        </p:spPr>
      </p:pic>
      <p:sp>
        <p:nvSpPr>
          <p:cNvPr id="11" name="Text 7"/>
          <p:cNvSpPr txBox="1"/>
          <p:nvPr/>
        </p:nvSpPr>
        <p:spPr>
          <a:xfrm>
            <a:off x="1133856"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45024"/>
            <a:ext cx="4897984" cy="798576"/>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verify_result</a:t>
            </a:r>
            <a:pPr indent="0" marL="0">
              <a:buNone/>
            </a:pPr>
            <a:r>
              <a:rPr lang="en-US" sz="1600" dirty="0">
                <a:solidFill>
                  <a:schemeClr val="tx1"/>
                </a:solidFill>
              </a:rPr>
              <a:t> checks every row against the records; rows and totals match a brute-force enumerator (400 random patterns) and SCALE's own engine.</a:t>
            </a:r>
            <a:endParaRPr lang="en-US" sz="1500" dirty="0"/>
          </a:p>
        </p:txBody>
      </p:sp>
      <p:sp>
        <p:nvSpPr>
          <p:cNvPr id="13" name="operation pattern · cycles"/>
          <p:cNvSpPr/>
          <p:nvPr/>
        </p:nvSpPr>
        <p:spPr>
          <a:xfrm>
            <a:off x="6233008" y="1691640"/>
            <a:ext cx="5410048" cy="4526280"/>
          </a:xfrm>
          <a:prstGeom prst="roundRect">
            <a:avLst>
              <a:gd name="adj" fmla="val 2020"/>
            </a:avLst>
          </a:prstGeom>
          <a:solidFill>
            <a:schemeClr val="bg2"/>
          </a:solidFill>
          <a:ln/>
        </p:spPr>
      </p:sp>
      <p:sp>
        <p:nvSpPr>
          <p:cNvPr id="14" name="icon pattern · cycles"/>
          <p:cNvSpPr/>
          <p:nvPr/>
        </p:nvSpPr>
        <p:spPr>
          <a:xfrm>
            <a:off x="643417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6434176"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A step may close a cycle between bound variables: two supports of a claim from one dataset, a triangle of citations.</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Worst-case optimal join (Ngo, Porat, Ré and Rudra; Veldhuizen's Leapfrog Triejoin): intersect candidates with what every closing step allows, smallest set first.</a:t>
            </a:r>
            <a:endParaRPr lang="en-US" sz="1600" dirty="0"/>
          </a:p>
        </p:txBody>
      </p:sp>
      <p:sp>
        <p:nvSpPr>
          <p:cNvPr id="18" name="proof pattern · cycles"/>
          <p:cNvSpPr/>
          <p:nvPr/>
        </p:nvSpPr>
        <p:spPr>
          <a:xfrm>
            <a:off x="6379312" y="4760976"/>
            <a:ext cx="5117440" cy="1255776"/>
          </a:xfrm>
          <a:prstGeom prst="roundRect">
            <a:avLst>
              <a:gd name="adj" fmla="val 5825"/>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52416"/>
            <a:ext cx="246888" cy="246888"/>
          </a:xfrm>
          <a:prstGeom prst="rect">
            <a:avLst/>
          </a:prstGeom>
        </p:spPr>
      </p:pic>
      <p:sp>
        <p:nvSpPr>
          <p:cNvPr id="20" name="Text 14"/>
          <p:cNvSpPr txBox="1"/>
          <p:nvPr/>
        </p:nvSpPr>
        <p:spPr>
          <a:xfrm>
            <a:off x="6818224"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6489040" y="5145024"/>
            <a:ext cx="4897984" cy="798576"/>
          </a:xfrm>
          <a:prstGeom prst="rect">
            <a:avLst/>
          </a:prstGeom>
          <a:noFill/>
          <a:ln/>
        </p:spPr>
        <p:txBody>
          <a:bodyPr wrap="square" lIns="0" tIns="0" rIns="0" bIns="0" rtlCol="0" anchor="t"/>
          <a:lstStyle/>
          <a:p>
            <a:pPr indent="0" marL="0">
              <a:buNone/>
            </a:pPr>
            <a:r>
              <a:rPr lang="en-US" sz="1600" dirty="0">
                <a:solidFill>
                  <a:schemeClr val="tx1"/>
                </a:solidFill>
              </a:rPr>
              <a:t>Row for row against a brute-force enumerator (300 random cyclic patterns). An interruption keeps a prefix of the rows and never denies.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vertex cover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As much as the capacities let through from the sources to the targets (Ford and Fulkerson, 1956). Unit capacities count edge- or node-disjoint paths (Menger, 1927).</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Dinic's algorithm (1970) in exact integers: breadth-first levels in the residual graph, then a blocking flow; the residual graph is built only where the search reads it.</a:t>
            </a:r>
            <a:endParaRPr lang="en-US" sz="1500" dirty="0"/>
          </a:p>
        </p:txBody>
      </p:sp>
      <p:sp>
        <p:nvSpPr>
          <p:cNvPr id="9" name="proof max_flow"/>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cut's source side: a checker confirms the flow and recomputes a cut of the same value from the records, so both are optimal (max-flow min-cut theorem).</a:t>
            </a:r>
            <a:endParaRPr lang="en-US" sz="15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maximum matching of a left set to partners outside it, no node in two pairs: samples to instruments, claims to reviewers.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Hopcroft and Karp (1973): breadth-first phases along alternating paths from the unpaired left nodes, then augmentation along the shortest ones.</a:t>
            </a:r>
            <a:endParaRPr lang="en-US" sz="1500" dirty="0"/>
          </a:p>
        </p:txBody>
      </p:sp>
      <p:sp>
        <p:nvSpPr>
          <p:cNvPr id="18" name="proof matching"/>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König's vertex cover (1931): as many nodes as pairs, touching every candidate hop, so no matching is larger. When pairs fall short, Hall's condition shows why.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cycle or active trail holds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563</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173</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Found and fixed with regressions: a request_id collision and two certificate holes (structure); an unverified interrupted bound (flows); quadratic checks (dominators, support); a float entry that let a false rank verify, a stale nearest cut held, contradicted answers left unknown (incidence); exact fields beside false values, a path from outside the sources' region, unpolled controls (critical path); a nonuniform PageRank start, a lenient ranking revalidation, a quadratic cyclic join (26 October together); a whole certificate read for an unrelated edit (negative costs, else sound on 12,000 random graphs against an oracle).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38201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165090"/>
            <a:ext cx="5364328" cy="1052830"/>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38201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165090"/>
            <a:ext cx="5364328" cy="1052830"/>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250k edges; dominators 300k edges; critical path 400k edges (networkx: no order certificate). Negative costs: 20k nodes, 100k edges, 31% negative; GRAPH with its certificate, networkx goldberg_radzik 0.39 s. A negative cycle planted near the source: networkx 0.002 s, GRAPH 0.042 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4"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Thirty-seven commits on 25–26 October 2026: from four operations to nineteen.</a:t>
            </a:r>
            <a:endParaRPr lang="en-US" sz="1600" dirty="0"/>
          </a:p>
        </p:txBody>
      </p:sp>
      <p:sp>
        <p:nvSpPr>
          <p:cNvPr id="4" name="Shape 2"/>
          <p:cNvSpPr/>
          <p:nvPr/>
        </p:nvSpPr>
        <p:spPr>
          <a:xfrm>
            <a:off x="1508760" y="1824766"/>
            <a:ext cx="0" cy="4260028"/>
          </a:xfrm>
          <a:prstGeom prst="line">
            <a:avLst/>
          </a:prstGeom>
          <a:noFill/>
          <a:ln w="25400">
            <a:solidFill>
              <a:schemeClr val="accent5"/>
            </a:solidFill>
            <a:prstDash val="solid"/>
          </a:ln>
        </p:spPr>
      </p:sp>
      <p:sp>
        <p:nvSpPr>
          <p:cNvPr id="5" name="Text 3"/>
          <p:cNvSpPr txBox="1"/>
          <p:nvPr/>
        </p:nvSpPr>
        <p:spPr>
          <a:xfrm>
            <a:off x="1783080" y="1691640"/>
            <a:ext cx="475488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1786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5789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57892"/>
            <a:ext cx="4800600" cy="2662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284117"/>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2414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24144"/>
            <a:ext cx="4800600" cy="2662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550369"/>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9039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490395"/>
            <a:ext cx="4800600" cy="266252"/>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5" name="milestone 23:08"/>
          <p:cNvSpPr/>
          <p:nvPr/>
        </p:nvSpPr>
        <p:spPr>
          <a:xfrm>
            <a:off x="1435608" y="2816621"/>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756647"/>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7" name="Text 15"/>
          <p:cNvSpPr txBox="1"/>
          <p:nvPr/>
        </p:nvSpPr>
        <p:spPr>
          <a:xfrm>
            <a:off x="1783080" y="2756647"/>
            <a:ext cx="4800600" cy="2662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8" name="Text 16"/>
          <p:cNvSpPr txBox="1"/>
          <p:nvPr/>
        </p:nvSpPr>
        <p:spPr>
          <a:xfrm>
            <a:off x="1783080" y="3022899"/>
            <a:ext cx="4754880" cy="2662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9" name="milestone 00:14"/>
          <p:cNvSpPr/>
          <p:nvPr/>
        </p:nvSpPr>
        <p:spPr>
          <a:xfrm>
            <a:off x="1435608" y="3349124"/>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28915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1" name="Text 19"/>
          <p:cNvSpPr txBox="1"/>
          <p:nvPr/>
        </p:nvSpPr>
        <p:spPr>
          <a:xfrm>
            <a:off x="1783080" y="3289151"/>
            <a:ext cx="4800600" cy="2662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22" name="milestone 04:25"/>
          <p:cNvSpPr/>
          <p:nvPr/>
        </p:nvSpPr>
        <p:spPr>
          <a:xfrm>
            <a:off x="1435608" y="3615376"/>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555402"/>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4" name="Text 22"/>
          <p:cNvSpPr txBox="1"/>
          <p:nvPr/>
        </p:nvSpPr>
        <p:spPr>
          <a:xfrm>
            <a:off x="1783080" y="3555402"/>
            <a:ext cx="4800600" cy="2662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5" name="milestone 05:12"/>
          <p:cNvSpPr/>
          <p:nvPr/>
        </p:nvSpPr>
        <p:spPr>
          <a:xfrm>
            <a:off x="1435608" y="3881628"/>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821654"/>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7" name="Text 25"/>
          <p:cNvSpPr txBox="1"/>
          <p:nvPr/>
        </p:nvSpPr>
        <p:spPr>
          <a:xfrm>
            <a:off x="1783080" y="3821654"/>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8" name="milestone 10:09"/>
          <p:cNvSpPr/>
          <p:nvPr/>
        </p:nvSpPr>
        <p:spPr>
          <a:xfrm>
            <a:off x="1435608" y="4147880"/>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08790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30" name="Text 28"/>
          <p:cNvSpPr txBox="1"/>
          <p:nvPr/>
        </p:nvSpPr>
        <p:spPr>
          <a:xfrm>
            <a:off x="1783080" y="4087906"/>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31" name="milestone 10:29"/>
          <p:cNvSpPr/>
          <p:nvPr/>
        </p:nvSpPr>
        <p:spPr>
          <a:xfrm>
            <a:off x="1435608" y="4414132"/>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35415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3" name="Text 31"/>
          <p:cNvSpPr txBox="1"/>
          <p:nvPr/>
        </p:nvSpPr>
        <p:spPr>
          <a:xfrm>
            <a:off x="1783080" y="4354158"/>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34" name="milestone 10:43"/>
          <p:cNvSpPr/>
          <p:nvPr/>
        </p:nvSpPr>
        <p:spPr>
          <a:xfrm>
            <a:off x="1435608" y="4680383"/>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620409"/>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10:43</a:t>
            </a:r>
            <a:endParaRPr lang="en-US" sz="1300" dirty="0"/>
          </a:p>
        </p:txBody>
      </p:sp>
      <p:sp>
        <p:nvSpPr>
          <p:cNvPr id="36" name="Text 34"/>
          <p:cNvSpPr txBox="1"/>
          <p:nvPr/>
        </p:nvSpPr>
        <p:spPr>
          <a:xfrm>
            <a:off x="1783080" y="4620409"/>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 by certificate</a:t>
            </a:r>
            <a:endParaRPr lang="en-US" sz="1300" dirty="0"/>
          </a:p>
        </p:txBody>
      </p:sp>
      <p:sp>
        <p:nvSpPr>
          <p:cNvPr id="37" name="milestone 11:16"/>
          <p:cNvSpPr/>
          <p:nvPr/>
        </p:nvSpPr>
        <p:spPr>
          <a:xfrm>
            <a:off x="1435608" y="4946635"/>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886661"/>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9" name="Text 37"/>
          <p:cNvSpPr txBox="1"/>
          <p:nvPr/>
        </p:nvSpPr>
        <p:spPr>
          <a:xfrm>
            <a:off x="1783080" y="4886661"/>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(conservation laws)</a:t>
            </a:r>
            <a:endParaRPr lang="en-US" sz="1300" dirty="0"/>
          </a:p>
        </p:txBody>
      </p:sp>
      <p:sp>
        <p:nvSpPr>
          <p:cNvPr id="40" name="milestone 11:32"/>
          <p:cNvSpPr/>
          <p:nvPr/>
        </p:nvSpPr>
        <p:spPr>
          <a:xfrm>
            <a:off x="1435608" y="5212887"/>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152913"/>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11:32</a:t>
            </a:r>
            <a:endParaRPr lang="en-US" sz="1300" dirty="0"/>
          </a:p>
        </p:txBody>
      </p:sp>
      <p:sp>
        <p:nvSpPr>
          <p:cNvPr id="42" name="Text 40"/>
          <p:cNvSpPr txBox="1"/>
          <p:nvPr/>
        </p:nvSpPr>
        <p:spPr>
          <a:xfrm>
            <a:off x="1783080" y="5152913"/>
            <a:ext cx="4800600" cy="2662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(schedules)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43" name="milestone 17:45"/>
          <p:cNvSpPr/>
          <p:nvPr/>
        </p:nvSpPr>
        <p:spPr>
          <a:xfrm>
            <a:off x="1435608" y="5479139"/>
            <a:ext cx="146304" cy="146304"/>
          </a:xfrm>
          <a:prstGeom prst="ellipse">
            <a:avLst/>
          </a:prstGeom>
          <a:solidFill>
            <a:schemeClr val="accent1"/>
          </a:solidFill>
          <a:ln w="19050">
            <a:solidFill>
              <a:schemeClr val="bg1"/>
            </a:solidFill>
            <a:prstDash val="solid"/>
          </a:ln>
        </p:spPr>
      </p:sp>
      <p:sp>
        <p:nvSpPr>
          <p:cNvPr id="44" name="Text 42"/>
          <p:cNvSpPr txBox="1"/>
          <p:nvPr/>
        </p:nvSpPr>
        <p:spPr>
          <a:xfrm>
            <a:off x="548640" y="5419165"/>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45" name="Text 43"/>
          <p:cNvSpPr txBox="1"/>
          <p:nvPr/>
        </p:nvSpPr>
        <p:spPr>
          <a:xfrm>
            <a:off x="1783080" y="5419165"/>
            <a:ext cx="4800600" cy="266252"/>
          </a:xfrm>
          <a:prstGeom prst="rect">
            <a:avLst/>
          </a:prstGeom>
          <a:noFill/>
          <a:ln/>
        </p:spPr>
        <p:txBody>
          <a:bodyPr wrap="square" lIns="0" tIns="0" rIns="0" bIns="0" rtlCol="0" anchor="ctr"/>
          <a:lstStyle/>
          <a:p>
            <a:pPr indent="0" marL="0">
              <a:buNone/>
            </a:pPr>
            <a:r>
              <a:rPr lang="en-US" sz="1400" dirty="0">
                <a:solidFill>
                  <a:schemeClr val="tx1"/>
                </a:solidFill>
              </a:rPr>
              <a:t>Fixes from a review of the day's increments</a:t>
            </a:r>
            <a:endParaRPr lang="en-US" sz="1400" dirty="0"/>
          </a:p>
        </p:txBody>
      </p:sp>
      <p:sp>
        <p:nvSpPr>
          <p:cNvPr id="46" name="milestone 18:23"/>
          <p:cNvSpPr/>
          <p:nvPr/>
        </p:nvSpPr>
        <p:spPr>
          <a:xfrm>
            <a:off x="1435608" y="5745390"/>
            <a:ext cx="146304" cy="146304"/>
          </a:xfrm>
          <a:prstGeom prst="ellipse">
            <a:avLst/>
          </a:prstGeom>
          <a:solidFill>
            <a:schemeClr val="accent1"/>
          </a:solidFill>
          <a:ln w="19050">
            <a:solidFill>
              <a:schemeClr val="bg1"/>
            </a:solidFill>
            <a:prstDash val="solid"/>
          </a:ln>
        </p:spPr>
      </p:sp>
      <p:sp>
        <p:nvSpPr>
          <p:cNvPr id="47" name="Text 45"/>
          <p:cNvSpPr txBox="1"/>
          <p:nvPr/>
        </p:nvSpPr>
        <p:spPr>
          <a:xfrm>
            <a:off x="548640" y="5685416"/>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18:23</a:t>
            </a:r>
            <a:endParaRPr lang="en-US" sz="1300" dirty="0"/>
          </a:p>
        </p:txBody>
      </p:sp>
      <p:sp>
        <p:nvSpPr>
          <p:cNvPr id="48" name="Text 46"/>
          <p:cNvSpPr txBox="1"/>
          <p:nvPr/>
        </p:nvSpPr>
        <p:spPr>
          <a:xfrm>
            <a:off x="1783080" y="5685416"/>
            <a:ext cx="4800600" cy="266252"/>
          </a:xfrm>
          <a:prstGeom prst="rect">
            <a:avLst/>
          </a:prstGeom>
          <a:noFill/>
          <a:ln/>
        </p:spPr>
        <p:txBody>
          <a:bodyPr wrap="square" lIns="0" tIns="0" rIns="0" bIns="0" rtlCol="0" anchor="ctr"/>
          <a:lstStyle/>
          <a:p>
            <a:pPr indent="0" marL="0">
              <a:buNone/>
            </a:pPr>
            <a:r>
              <a:rPr lang="en-US" sz="1400" dirty="0">
                <a:solidFill>
                  <a:schemeClr val="tx1"/>
                </a:solidFill>
              </a:rPr>
              <a:t>Support certificates · support revalidated</a:t>
            </a:r>
            <a:endParaRPr lang="en-US" sz="1400" dirty="0"/>
          </a:p>
        </p:txBody>
      </p:sp>
      <p:sp>
        <p:nvSpPr>
          <p:cNvPr id="49" name="milestone 22:11"/>
          <p:cNvSpPr/>
          <p:nvPr/>
        </p:nvSpPr>
        <p:spPr>
          <a:xfrm>
            <a:off x="1417320" y="5993354"/>
            <a:ext cx="182880" cy="182880"/>
          </a:xfrm>
          <a:prstGeom prst="ellipse">
            <a:avLst/>
          </a:prstGeom>
          <a:solidFill>
            <a:schemeClr val="accent2"/>
          </a:solidFill>
          <a:ln w="19050">
            <a:solidFill>
              <a:schemeClr val="bg1"/>
            </a:solidFill>
            <a:prstDash val="solid"/>
          </a:ln>
        </p:spPr>
      </p:sp>
      <p:sp>
        <p:nvSpPr>
          <p:cNvPr id="50" name="Text 48"/>
          <p:cNvSpPr txBox="1"/>
          <p:nvPr/>
        </p:nvSpPr>
        <p:spPr>
          <a:xfrm>
            <a:off x="548640" y="5951668"/>
            <a:ext cx="777240" cy="266252"/>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51" name="Text 49"/>
          <p:cNvSpPr txBox="1"/>
          <p:nvPr/>
        </p:nvSpPr>
        <p:spPr>
          <a:xfrm>
            <a:off x="1783080" y="5951668"/>
            <a:ext cx="4800600" cy="266252"/>
          </a:xfrm>
          <a:prstGeom prst="rect">
            <a:avLst/>
          </a:prstGeom>
          <a:noFill/>
          <a:ln/>
        </p:spPr>
        <p:txBody>
          <a:bodyPr wrap="square" lIns="0" tIns="0" rIns="0" bIns="0" rtlCol="0" anchor="ctr"/>
          <a:lstStyle/>
          <a:p>
            <a:pPr indent="0" marL="0">
              <a:buNone/>
            </a:pPr>
            <a:r>
              <a:rPr lang="en-US" sz="1400" dirty="0">
                <a:solidFill>
                  <a:schemeClr val="tx1"/>
                </a:solidFill>
              </a:rPr>
              <a:t>Negative-cost shortest paths · faster projection identity</a:t>
            </a:r>
            <a:endParaRPr lang="en-US" sz="1400" dirty="0"/>
          </a:p>
        </p:txBody>
      </p:sp>
      <p:sp>
        <p:nvSpPr>
          <p:cNvPr id="52" name="growth operations"/>
          <p:cNvSpPr/>
          <p:nvPr/>
        </p:nvSpPr>
        <p:spPr>
          <a:xfrm>
            <a:off x="6903720" y="1691640"/>
            <a:ext cx="2255368" cy="1005840"/>
          </a:xfrm>
          <a:prstGeom prst="roundRect">
            <a:avLst>
              <a:gd name="adj" fmla="val 9091"/>
            </a:avLst>
          </a:prstGeom>
          <a:solidFill>
            <a:schemeClr val="tx2"/>
          </a:solidFill>
          <a:ln/>
        </p:spPr>
      </p:sp>
      <p:sp>
        <p:nvSpPr>
          <p:cNvPr id="53" name="Text 51"/>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19</a:t>
            </a:r>
            <a:endParaRPr lang="en-US" sz="2800" dirty="0"/>
          </a:p>
          <a:p>
            <a:pPr indent="0" marL="0">
              <a:buNone/>
            </a:pPr>
            <a:r>
              <a:rPr lang="en-US" sz="1300" dirty="0">
                <a:solidFill>
                  <a:schemeClr val="accent5"/>
                </a:solidFill>
              </a:rPr>
              <a:t>operations</a:t>
            </a:r>
            <a:endParaRPr lang="en-US" sz="2800" dirty="0"/>
          </a:p>
        </p:txBody>
      </p:sp>
      <p:sp>
        <p:nvSpPr>
          <p:cNvPr id="54" name="growth runtime tests"/>
          <p:cNvSpPr/>
          <p:nvPr/>
        </p:nvSpPr>
        <p:spPr>
          <a:xfrm>
            <a:off x="9387688" y="1691640"/>
            <a:ext cx="2255368" cy="1005840"/>
          </a:xfrm>
          <a:prstGeom prst="roundRect">
            <a:avLst>
              <a:gd name="adj" fmla="val 9091"/>
            </a:avLst>
          </a:prstGeom>
          <a:solidFill>
            <a:schemeClr val="tx2"/>
          </a:solidFill>
          <a:ln/>
        </p:spPr>
      </p:sp>
      <p:sp>
        <p:nvSpPr>
          <p:cNvPr id="55" name="Text 53"/>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563</a:t>
            </a:r>
            <a:endParaRPr lang="en-US" sz="2800" dirty="0"/>
          </a:p>
          <a:p>
            <a:pPr indent="0" marL="0">
              <a:buNone/>
            </a:pPr>
            <a:r>
              <a:rPr lang="en-US" sz="1300" dirty="0">
                <a:solidFill>
                  <a:schemeClr val="accent5"/>
                </a:solidFill>
              </a:rPr>
              <a:t>runtime tests</a:t>
            </a:r>
            <a:endParaRPr lang="en-US" sz="2800" dirty="0"/>
          </a:p>
        </p:txBody>
      </p:sp>
      <p:graphicFrame>
        <p:nvGraphicFramePr>
          <p:cNvPr id="56"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by value against effort in a Codex literature survey; its first, negative costs, is done.</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Injective patterns"/>
          <p:cNvSpPr/>
          <p:nvPr/>
        </p:nvSpPr>
        <p:spPr>
          <a:xfrm>
            <a:off x="548640" y="1911096"/>
            <a:ext cx="11094415" cy="551011"/>
          </a:xfrm>
          <a:prstGeom prst="roundRect">
            <a:avLst>
              <a:gd name="adj" fmla="val 16595"/>
            </a:avLst>
          </a:prstGeom>
          <a:solidFill>
            <a:schemeClr val="bg2"/>
          </a:solidFill>
          <a:ln/>
        </p:spPr>
      </p:sp>
      <p:sp>
        <p:nvSpPr>
          <p:cNvPr id="9" name="icon Injective patterns"/>
          <p:cNvSpPr/>
          <p:nvPr/>
        </p:nvSpPr>
        <p:spPr>
          <a:xfrm>
            <a:off x="713232" y="1967145"/>
            <a:ext cx="438912" cy="438912"/>
          </a:xfrm>
          <a:prstGeom prst="ellipse">
            <a:avLst/>
          </a:prstGeom>
          <a:solidFill>
            <a:schemeClr val="accent1"/>
          </a:solidFill>
          <a:ln/>
        </p:spPr>
      </p:sp>
      <p:pic>
        <p:nvPicPr>
          <p:cNvPr id="10" name="Image 0" descr="Injective patterns">    </p:cNvPr>
          <p:cNvPicPr>
            <a:picLocks noChangeAspect="1"/>
          </p:cNvPicPr>
          <p:nvPr/>
        </p:nvPicPr>
        <p:blipFill>
          <a:blip r:embed="rId1"/>
          <a:stretch>
            <a:fillRect/>
          </a:stretch>
        </p:blipFill>
        <p:spPr>
          <a:xfrm>
            <a:off x="809793" y="2063706"/>
            <a:ext cx="245791" cy="245791"/>
          </a:xfrm>
          <a:prstGeom prst="rect">
            <a:avLst/>
          </a:prstGeom>
        </p:spPr>
      </p:pic>
      <p:sp>
        <p:nvSpPr>
          <p:cNvPr id="11" name="Text 8"/>
          <p:cNvSpPr txBox="1"/>
          <p:nvPr/>
        </p:nvSpPr>
        <p:spPr>
          <a:xfrm>
            <a:off x="1325880" y="1911096"/>
            <a:ext cx="1828800" cy="551011"/>
          </a:xfrm>
          <a:prstGeom prst="rect">
            <a:avLst/>
          </a:prstGeom>
          <a:noFill/>
          <a:ln/>
        </p:spPr>
        <p:txBody>
          <a:bodyPr wrap="square" lIns="0" tIns="0" rIns="0" bIns="0" rtlCol="0" anchor="ctr"/>
          <a:lstStyle/>
          <a:p>
            <a:pPr indent="0" marL="0">
              <a:buNone/>
            </a:pPr>
            <a:r>
              <a:rPr lang="en-US" sz="1500" b="1" dirty="0">
                <a:solidFill>
                  <a:schemeClr val="tx1"/>
                </a:solidFill>
              </a:rPr>
              <a:t>Injective patterns</a:t>
            </a:r>
            <a:endParaRPr lang="en-US" sz="1500" dirty="0"/>
          </a:p>
        </p:txBody>
      </p:sp>
      <p:sp>
        <p:nvSpPr>
          <p:cNvPr id="12" name="Text 9"/>
          <p:cNvSpPr txBox="1"/>
          <p:nvPr/>
        </p:nvSpPr>
        <p:spPr>
          <a:xfrm>
            <a:off x="3383280" y="1911096"/>
            <a:ext cx="3017520" cy="551011"/>
          </a:xfrm>
          <a:prstGeom prst="rect">
            <a:avLst/>
          </a:prstGeom>
          <a:noFill/>
          <a:ln/>
        </p:spPr>
        <p:txBody>
          <a:bodyPr wrap="square" lIns="0" tIns="0" rIns="0" bIns="0" rtlCol="0" anchor="ctr"/>
          <a:lstStyle/>
          <a:p>
            <a:pPr indent="0" marL="0">
              <a:buNone/>
            </a:pPr>
            <a:r>
              <a:rPr lang="en-US" sz="1400" dirty="0">
                <a:solidFill>
                  <a:schemeClr val="tx1"/>
                </a:solidFill>
              </a:rPr>
              <a:t>Substructure search: motifs, catalytic sites, provenance patterns.</a:t>
            </a:r>
            <a:endParaRPr lang="en-US" sz="1400" dirty="0"/>
          </a:p>
        </p:txBody>
      </p:sp>
      <p:sp>
        <p:nvSpPr>
          <p:cNvPr id="13" name="Text 10"/>
          <p:cNvSpPr txBox="1"/>
          <p:nvPr/>
        </p:nvSpPr>
        <p:spPr>
          <a:xfrm>
            <a:off x="6629400" y="1911096"/>
            <a:ext cx="3017520" cy="551011"/>
          </a:xfrm>
          <a:prstGeom prst="rect">
            <a:avLst/>
          </a:prstGeom>
          <a:noFill/>
          <a:ln/>
        </p:spPr>
        <p:txBody>
          <a:bodyPr wrap="square" lIns="0" tIns="0" rIns="0" bIns="0" rtlCol="0" anchor="ctr"/>
          <a:lstStyle/>
          <a:p>
            <a:pPr indent="0" marL="0">
              <a:buNone/>
            </a:pPr>
            <a:r>
              <a:rPr lang="en-US" sz="1400" dirty="0">
                <a:solidFill>
                  <a:schemeClr val="tx1"/>
                </a:solidFill>
              </a:rPr>
              <a:t>Embeddings check in linear time; absence, by a refutation tree.</a:t>
            </a:r>
            <a:endParaRPr lang="en-US" sz="1400" dirty="0"/>
          </a:p>
        </p:txBody>
      </p:sp>
      <p:sp>
        <p:nvSpPr>
          <p:cNvPr id="14" name="Text 11"/>
          <p:cNvSpPr txBox="1"/>
          <p:nvPr/>
        </p:nvSpPr>
        <p:spPr>
          <a:xfrm>
            <a:off x="9875520" y="1911096"/>
            <a:ext cx="1676095" cy="551011"/>
          </a:xfrm>
          <a:prstGeom prst="rect">
            <a:avLst/>
          </a:prstGeom>
          <a:noFill/>
          <a:ln/>
        </p:spPr>
        <p:txBody>
          <a:bodyPr wrap="square" lIns="0" tIns="0" rIns="0" bIns="0" rtlCol="0" anchor="ctr"/>
          <a:lstStyle/>
          <a:p>
            <a:pPr indent="0" marL="0">
              <a:buNone/>
            </a:pPr>
            <a:r>
              <a:rPr lang="en-US" sz="1200" i="1" dirty="0">
                <a:solidFill>
                  <a:schemeClr val="accent6"/>
                </a:solidFill>
              </a:rPr>
              <a:t>VF2++ (2018); the Glasgow solver (2020)</a:t>
            </a:r>
            <a:endParaRPr lang="en-US" sz="1200" dirty="0"/>
          </a:p>
        </p:txBody>
      </p:sp>
      <p:sp>
        <p:nvSpPr>
          <p:cNvPr id="15" name="roadmap Minimum spanning forest"/>
          <p:cNvSpPr/>
          <p:nvPr/>
        </p:nvSpPr>
        <p:spPr>
          <a:xfrm>
            <a:off x="548640" y="2553547"/>
            <a:ext cx="11094415" cy="551011"/>
          </a:xfrm>
          <a:prstGeom prst="roundRect">
            <a:avLst>
              <a:gd name="adj" fmla="val 16595"/>
            </a:avLst>
          </a:prstGeom>
          <a:solidFill>
            <a:schemeClr val="bg2"/>
          </a:solidFill>
          <a:ln/>
        </p:spPr>
      </p:sp>
      <p:sp>
        <p:nvSpPr>
          <p:cNvPr id="16" name="icon Minimum spanning forest"/>
          <p:cNvSpPr/>
          <p:nvPr/>
        </p:nvSpPr>
        <p:spPr>
          <a:xfrm>
            <a:off x="713232" y="2609596"/>
            <a:ext cx="438912" cy="438912"/>
          </a:xfrm>
          <a:prstGeom prst="ellipse">
            <a:avLst/>
          </a:prstGeom>
          <a:solidFill>
            <a:schemeClr val="accent1"/>
          </a:solidFill>
          <a:ln/>
        </p:spPr>
      </p:sp>
      <p:pic>
        <p:nvPicPr>
          <p:cNvPr id="17" name="Image 1" descr="Minimum spanning forest">    </p:cNvPr>
          <p:cNvPicPr>
            <a:picLocks noChangeAspect="1"/>
          </p:cNvPicPr>
          <p:nvPr/>
        </p:nvPicPr>
        <p:blipFill>
          <a:blip r:embed="rId2"/>
          <a:stretch>
            <a:fillRect/>
          </a:stretch>
        </p:blipFill>
        <p:spPr>
          <a:xfrm>
            <a:off x="809793" y="2706157"/>
            <a:ext cx="245791" cy="245791"/>
          </a:xfrm>
          <a:prstGeom prst="rect">
            <a:avLst/>
          </a:prstGeom>
        </p:spPr>
      </p:pic>
      <p:sp>
        <p:nvSpPr>
          <p:cNvPr id="18" name="Text 14"/>
          <p:cNvSpPr txBox="1"/>
          <p:nvPr/>
        </p:nvSpPr>
        <p:spPr>
          <a:xfrm>
            <a:off x="1325880" y="2553547"/>
            <a:ext cx="1828800" cy="551011"/>
          </a:xfrm>
          <a:prstGeom prst="rect">
            <a:avLst/>
          </a:prstGeom>
          <a:noFill/>
          <a:ln/>
        </p:spPr>
        <p:txBody>
          <a:bodyPr wrap="square" lIns="0" tIns="0" rIns="0" bIns="0" rtlCol="0" anchor="ctr"/>
          <a:lstStyle/>
          <a:p>
            <a:pPr indent="0" marL="0">
              <a:buNone/>
            </a:pPr>
            <a:r>
              <a:rPr lang="en-US" sz="1500" b="1" dirty="0">
                <a:solidFill>
                  <a:schemeClr val="tx1"/>
                </a:solidFill>
              </a:rPr>
              <a:t>Minimum spanning forest</a:t>
            </a:r>
            <a:endParaRPr lang="en-US" sz="1500" dirty="0"/>
          </a:p>
        </p:txBody>
      </p:sp>
      <p:sp>
        <p:nvSpPr>
          <p:cNvPr id="19" name="Text 15"/>
          <p:cNvSpPr txBox="1"/>
          <p:nvPr/>
        </p:nvSpPr>
        <p:spPr>
          <a:xfrm>
            <a:off x="3383280" y="2553547"/>
            <a:ext cx="3017520" cy="551011"/>
          </a:xfrm>
          <a:prstGeom prst="rect">
            <a:avLst/>
          </a:prstGeom>
          <a:noFill/>
          <a:ln/>
        </p:spPr>
        <p:txBody>
          <a:bodyPr wrap="square" lIns="0" tIns="0" rIns="0" bIns="0" rtlCol="0" anchor="ctr"/>
          <a:lstStyle/>
          <a:p>
            <a:pPr indent="0" marL="0">
              <a:buNone/>
            </a:pPr>
            <a:r>
              <a:rPr lang="en-US" sz="1400" dirty="0">
                <a:solidFill>
                  <a:schemeClr val="tx1"/>
                </a:solidFill>
              </a:rPr>
              <a:t>Representative connectivity: the lightest forest spanning each piece.</a:t>
            </a:r>
            <a:endParaRPr lang="en-US" sz="1400" dirty="0"/>
          </a:p>
        </p:txBody>
      </p:sp>
      <p:sp>
        <p:nvSpPr>
          <p:cNvPr id="20" name="Text 16"/>
          <p:cNvSpPr txBox="1"/>
          <p:nvPr/>
        </p:nvSpPr>
        <p:spPr>
          <a:xfrm>
            <a:off x="6629400" y="2553547"/>
            <a:ext cx="3017520" cy="551011"/>
          </a:xfrm>
          <a:prstGeom prst="rect">
            <a:avLst/>
          </a:prstGeom>
          <a:noFill/>
          <a:ln/>
        </p:spPr>
        <p:txBody>
          <a:bodyPr wrap="square" lIns="0" tIns="0" rIns="0" bIns="0" rtlCol="0" anchor="ctr"/>
          <a:lstStyle/>
          <a:p>
            <a:pPr indent="0" marL="0">
              <a:buNone/>
            </a:pPr>
            <a:r>
              <a:rPr lang="en-US" sz="1400" dirty="0">
                <a:solidFill>
                  <a:schemeClr val="tx1"/>
                </a:solidFill>
              </a:rPr>
              <a:t>Cycle property: each other edge is a heaviest on the cycle it closes.</a:t>
            </a:r>
            <a:endParaRPr lang="en-US" sz="1400" dirty="0"/>
          </a:p>
        </p:txBody>
      </p:sp>
      <p:sp>
        <p:nvSpPr>
          <p:cNvPr id="21" name="Text 17"/>
          <p:cNvSpPr txBox="1"/>
          <p:nvPr/>
        </p:nvSpPr>
        <p:spPr>
          <a:xfrm>
            <a:off x="9875520" y="2553547"/>
            <a:ext cx="1676095" cy="551011"/>
          </a:xfrm>
          <a:prstGeom prst="rect">
            <a:avLst/>
          </a:prstGeom>
          <a:noFill/>
          <a:ln/>
        </p:spPr>
        <p:txBody>
          <a:bodyPr wrap="square" lIns="0" tIns="0" rIns="0" bIns="0" rtlCol="0" anchor="ctr"/>
          <a:lstStyle/>
          <a:p>
            <a:pPr indent="0" marL="0">
              <a:buNone/>
            </a:pPr>
            <a:r>
              <a:rPr lang="en-US" sz="1200" i="1" dirty="0">
                <a:solidFill>
                  <a:schemeClr val="accent6"/>
                </a:solidFill>
              </a:rPr>
              <a:t>Kruskal 1956; Dixon, Rauch and Tarjan 1992</a:t>
            </a:r>
            <a:endParaRPr lang="en-US" sz="1200" dirty="0"/>
          </a:p>
        </p:txBody>
      </p:sp>
      <p:sp>
        <p:nvSpPr>
          <p:cNvPr id="22" name="roadmap Minimum cycle basis, relevant cycles"/>
          <p:cNvSpPr/>
          <p:nvPr/>
        </p:nvSpPr>
        <p:spPr>
          <a:xfrm>
            <a:off x="548640" y="3195997"/>
            <a:ext cx="11094415" cy="551011"/>
          </a:xfrm>
          <a:prstGeom prst="roundRect">
            <a:avLst>
              <a:gd name="adj" fmla="val 16595"/>
            </a:avLst>
          </a:prstGeom>
          <a:solidFill>
            <a:schemeClr val="bg2"/>
          </a:solidFill>
          <a:ln/>
        </p:spPr>
      </p:sp>
      <p:sp>
        <p:nvSpPr>
          <p:cNvPr id="23" name="icon Minimum cycle basis, relevant cycles"/>
          <p:cNvSpPr/>
          <p:nvPr/>
        </p:nvSpPr>
        <p:spPr>
          <a:xfrm>
            <a:off x="713232" y="3252047"/>
            <a:ext cx="438912" cy="438912"/>
          </a:xfrm>
          <a:prstGeom prst="ellipse">
            <a:avLst/>
          </a:prstGeom>
          <a:solidFill>
            <a:schemeClr val="accent1"/>
          </a:solidFill>
          <a:ln/>
        </p:spPr>
      </p:sp>
      <p:pic>
        <p:nvPicPr>
          <p:cNvPr id="24" name="Image 2" descr="Minimum cycle basis, relevant cycles">    </p:cNvPr>
          <p:cNvPicPr>
            <a:picLocks noChangeAspect="1"/>
          </p:cNvPicPr>
          <p:nvPr/>
        </p:nvPicPr>
        <p:blipFill>
          <a:blip r:embed="rId3"/>
          <a:stretch>
            <a:fillRect/>
          </a:stretch>
        </p:blipFill>
        <p:spPr>
          <a:xfrm>
            <a:off x="809793" y="3348607"/>
            <a:ext cx="245791" cy="245791"/>
          </a:xfrm>
          <a:prstGeom prst="rect">
            <a:avLst/>
          </a:prstGeom>
        </p:spPr>
      </p:pic>
      <p:sp>
        <p:nvSpPr>
          <p:cNvPr id="25" name="Text 20"/>
          <p:cNvSpPr txBox="1"/>
          <p:nvPr/>
        </p:nvSpPr>
        <p:spPr>
          <a:xfrm>
            <a:off x="1325880" y="3195997"/>
            <a:ext cx="1828800" cy="551011"/>
          </a:xfrm>
          <a:prstGeom prst="rect">
            <a:avLst/>
          </a:prstGeom>
          <a:noFill/>
          <a:ln/>
        </p:spPr>
        <p:txBody>
          <a:bodyPr wrap="square" lIns="0" tIns="0" rIns="0" bIns="0" rtlCol="0" anchor="ctr"/>
          <a:lstStyle/>
          <a:p>
            <a:pPr indent="0" marL="0">
              <a:buNone/>
            </a:pPr>
            <a:r>
              <a:rPr lang="en-US" sz="1500" b="1" dirty="0">
                <a:solidFill>
                  <a:schemeClr val="tx1"/>
                </a:solidFill>
              </a:rPr>
              <a:t>Minimum cycle basis, relevant cycles</a:t>
            </a:r>
            <a:endParaRPr lang="en-US" sz="1500" dirty="0"/>
          </a:p>
        </p:txBody>
      </p:sp>
      <p:sp>
        <p:nvSpPr>
          <p:cNvPr id="26" name="Text 21"/>
          <p:cNvSpPr txBox="1"/>
          <p:nvPr/>
        </p:nvSpPr>
        <p:spPr>
          <a:xfrm>
            <a:off x="3383280" y="3195997"/>
            <a:ext cx="3017520" cy="551011"/>
          </a:xfrm>
          <a:prstGeom prst="rect">
            <a:avLst/>
          </a:prstGeom>
          <a:noFill/>
          <a:ln/>
        </p:spPr>
        <p:txBody>
          <a:bodyPr wrap="square" lIns="0" tIns="0" rIns="0" bIns="0" rtlCol="0" anchor="ctr"/>
          <a:lstStyle/>
          <a:p>
            <a:pPr indent="0" marL="0">
              <a:buNone/>
            </a:pPr>
            <a:r>
              <a:rPr lang="en-US" sz="1400" dirty="0">
                <a:solidFill>
                  <a:schemeClr val="tx1"/>
                </a:solidFill>
              </a:rPr>
              <a:t>Ring perception: a smallest set of smallest rings; the relevant rings.</a:t>
            </a:r>
            <a:endParaRPr lang="en-US" sz="1400" dirty="0"/>
          </a:p>
        </p:txBody>
      </p:sp>
      <p:sp>
        <p:nvSpPr>
          <p:cNvPr id="27" name="Text 22"/>
          <p:cNvSpPr txBox="1"/>
          <p:nvPr/>
        </p:nvSpPr>
        <p:spPr>
          <a:xfrm>
            <a:off x="6629400" y="3195997"/>
            <a:ext cx="3017520" cy="551011"/>
          </a:xfrm>
          <a:prstGeom prst="rect">
            <a:avLst/>
          </a:prstGeom>
          <a:noFill/>
          <a:ln/>
        </p:spPr>
        <p:txBody>
          <a:bodyPr wrap="square" lIns="0" tIns="0" rIns="0" bIns="0" rtlCol="0" anchor="ctr"/>
          <a:lstStyle/>
          <a:p>
            <a:pPr indent="0" marL="0">
              <a:buNone/>
            </a:pPr>
            <a:r>
              <a:rPr lang="en-US" sz="1400" dirty="0">
                <a:solidFill>
                  <a:schemeClr val="tx1"/>
                </a:solidFill>
              </a:rPr>
              <a:t>Elimination over GF(2) proves a basis; de Pina's supports, a minimum.</a:t>
            </a:r>
            <a:endParaRPr lang="en-US" sz="1400" dirty="0"/>
          </a:p>
        </p:txBody>
      </p:sp>
      <p:sp>
        <p:nvSpPr>
          <p:cNvPr id="28" name="Text 23"/>
          <p:cNvSpPr txBox="1"/>
          <p:nvPr/>
        </p:nvSpPr>
        <p:spPr>
          <a:xfrm>
            <a:off x="9875520" y="3195997"/>
            <a:ext cx="1676095" cy="551011"/>
          </a:xfrm>
          <a:prstGeom prst="rect">
            <a:avLst/>
          </a:prstGeom>
          <a:noFill/>
          <a:ln/>
        </p:spPr>
        <p:txBody>
          <a:bodyPr wrap="square" lIns="0" tIns="0" rIns="0" bIns="0" rtlCol="0" anchor="ctr"/>
          <a:lstStyle/>
          <a:p>
            <a:pPr indent="0" marL="0">
              <a:buNone/>
            </a:pPr>
            <a:r>
              <a:rPr lang="en-US" sz="1200" i="1" dirty="0">
                <a:solidFill>
                  <a:schemeClr val="accent6"/>
                </a:solidFill>
              </a:rPr>
              <a:t>Horton 1987; Vismara 1997; Kavitha et al.</a:t>
            </a:r>
            <a:endParaRPr lang="en-US" sz="1200" dirty="0"/>
          </a:p>
        </p:txBody>
      </p:sp>
      <p:sp>
        <p:nvSpPr>
          <p:cNvPr id="29" name="roadmap Weighted matching, min-cost flow"/>
          <p:cNvSpPr/>
          <p:nvPr/>
        </p:nvSpPr>
        <p:spPr>
          <a:xfrm>
            <a:off x="548640" y="3838448"/>
            <a:ext cx="11094415" cy="551011"/>
          </a:xfrm>
          <a:prstGeom prst="roundRect">
            <a:avLst>
              <a:gd name="adj" fmla="val 16595"/>
            </a:avLst>
          </a:prstGeom>
          <a:solidFill>
            <a:schemeClr val="bg2"/>
          </a:solidFill>
          <a:ln/>
        </p:spPr>
      </p:sp>
      <p:sp>
        <p:nvSpPr>
          <p:cNvPr id="30" name="icon Weighted matching, min-cost flow"/>
          <p:cNvSpPr/>
          <p:nvPr/>
        </p:nvSpPr>
        <p:spPr>
          <a:xfrm>
            <a:off x="713232" y="3894497"/>
            <a:ext cx="438912" cy="438912"/>
          </a:xfrm>
          <a:prstGeom prst="ellipse">
            <a:avLst/>
          </a:prstGeom>
          <a:solidFill>
            <a:schemeClr val="accent1"/>
          </a:solidFill>
          <a:ln/>
        </p:spPr>
      </p:sp>
      <p:pic>
        <p:nvPicPr>
          <p:cNvPr id="31" name="Image 3" descr="Weighted matching, min-cost flow">    </p:cNvPr>
          <p:cNvPicPr>
            <a:picLocks noChangeAspect="1"/>
          </p:cNvPicPr>
          <p:nvPr/>
        </p:nvPicPr>
        <p:blipFill>
          <a:blip r:embed="rId4"/>
          <a:stretch>
            <a:fillRect/>
          </a:stretch>
        </p:blipFill>
        <p:spPr>
          <a:xfrm>
            <a:off x="809793" y="3991058"/>
            <a:ext cx="245791" cy="245791"/>
          </a:xfrm>
          <a:prstGeom prst="rect">
            <a:avLst/>
          </a:prstGeom>
        </p:spPr>
      </p:pic>
      <p:sp>
        <p:nvSpPr>
          <p:cNvPr id="32" name="Text 26"/>
          <p:cNvSpPr txBox="1"/>
          <p:nvPr/>
        </p:nvSpPr>
        <p:spPr>
          <a:xfrm>
            <a:off x="1325880" y="3838448"/>
            <a:ext cx="1828800" cy="551011"/>
          </a:xfrm>
          <a:prstGeom prst="rect">
            <a:avLst/>
          </a:prstGeom>
          <a:noFill/>
          <a:ln/>
        </p:spPr>
        <p:txBody>
          <a:bodyPr wrap="square" lIns="0" tIns="0" rIns="0" bIns="0" rtlCol="0" anchor="ctr"/>
          <a:lstStyle/>
          <a:p>
            <a:pPr indent="0" marL="0">
              <a:buNone/>
            </a:pPr>
            <a:r>
              <a:rPr lang="en-US" sz="1500" b="1" dirty="0">
                <a:solidFill>
                  <a:schemeClr val="tx1"/>
                </a:solidFill>
              </a:rPr>
              <a:t>Weighted matching, min-cost flow</a:t>
            </a:r>
            <a:endParaRPr lang="en-US" sz="1500" dirty="0"/>
          </a:p>
        </p:txBody>
      </p:sp>
      <p:sp>
        <p:nvSpPr>
          <p:cNvPr id="33" name="Text 27"/>
          <p:cNvSpPr txBox="1"/>
          <p:nvPr/>
        </p:nvSpPr>
        <p:spPr>
          <a:xfrm>
            <a:off x="3383280" y="3838448"/>
            <a:ext cx="3017520" cy="551011"/>
          </a:xfrm>
          <a:prstGeom prst="rect">
            <a:avLst/>
          </a:prstGeom>
          <a:noFill/>
          <a:ln/>
        </p:spPr>
        <p:txBody>
          <a:bodyPr wrap="square" lIns="0" tIns="0" rIns="0" bIns="0" rtlCol="0" anchor="ctr"/>
          <a:lstStyle/>
          <a:p>
            <a:pPr indent="0" marL="0">
              <a:buNone/>
            </a:pPr>
            <a:r>
              <a:rPr lang="en-US" sz="1400" dirty="0">
                <a:solidFill>
                  <a:schemeClr val="tx1"/>
                </a:solidFill>
              </a:rPr>
              <a:t>Assignment, allocation and transport at least cost.</a:t>
            </a:r>
            <a:endParaRPr lang="en-US" sz="1400" dirty="0"/>
          </a:p>
        </p:txBody>
      </p:sp>
      <p:sp>
        <p:nvSpPr>
          <p:cNvPr id="34" name="Text 28"/>
          <p:cNvSpPr txBox="1"/>
          <p:nvPr/>
        </p:nvSpPr>
        <p:spPr>
          <a:xfrm>
            <a:off x="6629400" y="3838448"/>
            <a:ext cx="3017520" cy="551011"/>
          </a:xfrm>
          <a:prstGeom prst="rect">
            <a:avLst/>
          </a:prstGeom>
          <a:noFill/>
          <a:ln/>
        </p:spPr>
        <p:txBody>
          <a:bodyPr wrap="square" lIns="0" tIns="0" rIns="0" bIns="0" rtlCol="0" anchor="ctr"/>
          <a:lstStyle/>
          <a:p>
            <a:pPr indent="0" marL="0">
              <a:buNone/>
            </a:pPr>
            <a:r>
              <a:rPr lang="en-US" sz="1400" dirty="0">
                <a:solidFill>
                  <a:schemeClr val="tx1"/>
                </a:solidFill>
              </a:rPr>
              <a:t>Dual potentials: no residual arc has a negative reduced cost.</a:t>
            </a:r>
            <a:endParaRPr lang="en-US" sz="1400" dirty="0"/>
          </a:p>
        </p:txBody>
      </p:sp>
      <p:sp>
        <p:nvSpPr>
          <p:cNvPr id="35" name="Text 29"/>
          <p:cNvSpPr txBox="1"/>
          <p:nvPr/>
        </p:nvSpPr>
        <p:spPr>
          <a:xfrm>
            <a:off x="9875520" y="3838448"/>
            <a:ext cx="1676095" cy="551011"/>
          </a:xfrm>
          <a:prstGeom prst="rect">
            <a:avLst/>
          </a:prstGeom>
          <a:noFill/>
          <a:ln/>
        </p:spPr>
        <p:txBody>
          <a:bodyPr wrap="square" lIns="0" tIns="0" rIns="0" bIns="0" rtlCol="0" anchor="ctr"/>
          <a:lstStyle/>
          <a:p>
            <a:pPr indent="0" marL="0">
              <a:buNone/>
            </a:pPr>
            <a:r>
              <a:rPr lang="en-US" sz="1200" i="1" dirty="0">
                <a:solidFill>
                  <a:schemeClr val="accent6"/>
                </a:solidFill>
              </a:rPr>
              <a:t>Munkres 1957; Király and Kovács 2012</a:t>
            </a:r>
            <a:endParaRPr lang="en-US" sz="1200" dirty="0"/>
          </a:p>
        </p:txBody>
      </p:sp>
      <p:sp>
        <p:nvSpPr>
          <p:cNvPr id="36" name="roadmap Counting cyclic patterns"/>
          <p:cNvSpPr/>
          <p:nvPr/>
        </p:nvSpPr>
        <p:spPr>
          <a:xfrm>
            <a:off x="548640" y="4480899"/>
            <a:ext cx="11094415" cy="551011"/>
          </a:xfrm>
          <a:prstGeom prst="roundRect">
            <a:avLst>
              <a:gd name="adj" fmla="val 16595"/>
            </a:avLst>
          </a:prstGeom>
          <a:solidFill>
            <a:schemeClr val="bg2"/>
          </a:solidFill>
          <a:ln/>
        </p:spPr>
      </p:sp>
      <p:sp>
        <p:nvSpPr>
          <p:cNvPr id="37" name="icon Counting cyclic patterns"/>
          <p:cNvSpPr/>
          <p:nvPr/>
        </p:nvSpPr>
        <p:spPr>
          <a:xfrm>
            <a:off x="713232" y="4536948"/>
            <a:ext cx="438912" cy="438912"/>
          </a:xfrm>
          <a:prstGeom prst="ellipse">
            <a:avLst/>
          </a:prstGeom>
          <a:solidFill>
            <a:schemeClr val="accent1"/>
          </a:solidFill>
          <a:ln/>
        </p:spPr>
      </p:sp>
      <p:pic>
        <p:nvPicPr>
          <p:cNvPr id="38" name="Image 4" descr="Counting cyclic patterns">    </p:cNvPr>
          <p:cNvPicPr>
            <a:picLocks noChangeAspect="1"/>
          </p:cNvPicPr>
          <p:nvPr/>
        </p:nvPicPr>
        <p:blipFill>
          <a:blip r:embed="rId5"/>
          <a:stretch>
            <a:fillRect/>
          </a:stretch>
        </p:blipFill>
        <p:spPr>
          <a:xfrm>
            <a:off x="809793" y="4633509"/>
            <a:ext cx="245791" cy="245791"/>
          </a:xfrm>
          <a:prstGeom prst="rect">
            <a:avLst/>
          </a:prstGeom>
        </p:spPr>
      </p:pic>
      <p:sp>
        <p:nvSpPr>
          <p:cNvPr id="39" name="Text 32"/>
          <p:cNvSpPr txBox="1"/>
          <p:nvPr/>
        </p:nvSpPr>
        <p:spPr>
          <a:xfrm>
            <a:off x="1325880" y="4480899"/>
            <a:ext cx="1828800" cy="551011"/>
          </a:xfrm>
          <a:prstGeom prst="rect">
            <a:avLst/>
          </a:prstGeom>
          <a:noFill/>
          <a:ln/>
        </p:spPr>
        <p:txBody>
          <a:bodyPr wrap="square" lIns="0" tIns="0" rIns="0" bIns="0" rtlCol="0" anchor="ctr"/>
          <a:lstStyle/>
          <a:p>
            <a:pPr indent="0" marL="0">
              <a:buNone/>
            </a:pPr>
            <a:r>
              <a:rPr lang="en-US" sz="1500" b="1" dirty="0">
                <a:solidFill>
                  <a:schemeClr val="tx1"/>
                </a:solidFill>
              </a:rPr>
              <a:t>Counting cyclic patterns</a:t>
            </a:r>
            <a:endParaRPr lang="en-US" sz="1500" dirty="0"/>
          </a:p>
        </p:txBody>
      </p:sp>
      <p:sp>
        <p:nvSpPr>
          <p:cNvPr id="40" name="Text 33"/>
          <p:cNvSpPr txBox="1"/>
          <p:nvPr/>
        </p:nvSpPr>
        <p:spPr>
          <a:xfrm>
            <a:off x="3383280" y="4480899"/>
            <a:ext cx="3017520" cy="551011"/>
          </a:xfrm>
          <a:prstGeom prst="rect">
            <a:avLst/>
          </a:prstGeom>
          <a:noFill/>
          <a:ln/>
        </p:spPr>
        <p:txBody>
          <a:bodyPr wrap="square" lIns="0" tIns="0" rIns="0" bIns="0" rtlCol="0" anchor="ctr"/>
          <a:lstStyle/>
          <a:p>
            <a:pPr indent="0" marL="0">
              <a:buNone/>
            </a:pPr>
            <a:r>
              <a:rPr lang="en-US" sz="1400" dirty="0">
                <a:solidFill>
                  <a:schemeClr val="tx1"/>
                </a:solidFill>
              </a:rPr>
              <a:t>Exact motif counts without listing rows, over a tree decomposition.</a:t>
            </a:r>
            <a:endParaRPr lang="en-US" sz="1400" dirty="0"/>
          </a:p>
        </p:txBody>
      </p:sp>
      <p:sp>
        <p:nvSpPr>
          <p:cNvPr id="41" name="Text 34"/>
          <p:cNvSpPr txBox="1"/>
          <p:nvPr/>
        </p:nvSpPr>
        <p:spPr>
          <a:xfrm>
            <a:off x="6629400" y="4480899"/>
            <a:ext cx="3017520" cy="551011"/>
          </a:xfrm>
          <a:prstGeom prst="rect">
            <a:avLst/>
          </a:prstGeom>
          <a:noFill/>
          <a:ln/>
        </p:spPr>
        <p:txBody>
          <a:bodyPr wrap="square" lIns="0" tIns="0" rIns="0" bIns="0" rtlCol="0" anchor="ctr"/>
          <a:lstStyle/>
          <a:p>
            <a:pPr indent="0" marL="0">
              <a:buNone/>
            </a:pPr>
            <a:r>
              <a:rPr lang="en-US" sz="1400" dirty="0">
                <a:solidFill>
                  <a:schemeClr val="tx1"/>
                </a:solidFill>
              </a:rPr>
              <a:t>The decomposition's messages, each recomputed by a checker.</a:t>
            </a:r>
            <a:endParaRPr lang="en-US" sz="1400" dirty="0"/>
          </a:p>
        </p:txBody>
      </p:sp>
      <p:sp>
        <p:nvSpPr>
          <p:cNvPr id="42" name="Text 35"/>
          <p:cNvSpPr txBox="1"/>
          <p:nvPr/>
        </p:nvSpPr>
        <p:spPr>
          <a:xfrm>
            <a:off x="9875520" y="4480899"/>
            <a:ext cx="1676095" cy="551011"/>
          </a:xfrm>
          <a:prstGeom prst="rect">
            <a:avLst/>
          </a:prstGeom>
          <a:noFill/>
          <a:ln/>
        </p:spPr>
        <p:txBody>
          <a:bodyPr wrap="square" lIns="0" tIns="0" rIns="0" bIns="0" rtlCol="0" anchor="ctr"/>
          <a:lstStyle/>
          <a:p>
            <a:pPr indent="0" marL="0">
              <a:buNone/>
            </a:pPr>
            <a:r>
              <a:rPr lang="en-US" sz="1200" i="1" dirty="0">
                <a:solidFill>
                  <a:schemeClr val="accent6"/>
                </a:solidFill>
              </a:rPr>
              <a:t>Abo Khamis, Ngo and Rudra 2016 (FAQ)</a:t>
            </a:r>
            <a:endParaRPr lang="en-US" sz="1200" dirty="0"/>
          </a:p>
        </p:txBody>
      </p:sp>
      <p:sp>
        <p:nvSpPr>
          <p:cNvPr id="43" name="roadmap k shortest simple paths"/>
          <p:cNvSpPr/>
          <p:nvPr/>
        </p:nvSpPr>
        <p:spPr>
          <a:xfrm>
            <a:off x="548640" y="5123349"/>
            <a:ext cx="11094415" cy="551011"/>
          </a:xfrm>
          <a:prstGeom prst="roundRect">
            <a:avLst>
              <a:gd name="adj" fmla="val 16595"/>
            </a:avLst>
          </a:prstGeom>
          <a:solidFill>
            <a:schemeClr val="bg2"/>
          </a:solidFill>
          <a:ln/>
        </p:spPr>
      </p:sp>
      <p:sp>
        <p:nvSpPr>
          <p:cNvPr id="44" name="icon k shortest simple paths"/>
          <p:cNvSpPr/>
          <p:nvPr/>
        </p:nvSpPr>
        <p:spPr>
          <a:xfrm>
            <a:off x="713232" y="5179399"/>
            <a:ext cx="438912" cy="438912"/>
          </a:xfrm>
          <a:prstGeom prst="ellipse">
            <a:avLst/>
          </a:prstGeom>
          <a:solidFill>
            <a:schemeClr val="accent1"/>
          </a:solidFill>
          <a:ln/>
        </p:spPr>
      </p:sp>
      <p:pic>
        <p:nvPicPr>
          <p:cNvPr id="45" name="Image 5" descr="k shortest simple paths">    </p:cNvPr>
          <p:cNvPicPr>
            <a:picLocks noChangeAspect="1"/>
          </p:cNvPicPr>
          <p:nvPr/>
        </p:nvPicPr>
        <p:blipFill>
          <a:blip r:embed="rId6"/>
          <a:stretch>
            <a:fillRect/>
          </a:stretch>
        </p:blipFill>
        <p:spPr>
          <a:xfrm>
            <a:off x="809793" y="5275959"/>
            <a:ext cx="245791" cy="245791"/>
          </a:xfrm>
          <a:prstGeom prst="rect">
            <a:avLst/>
          </a:prstGeom>
        </p:spPr>
      </p:pic>
      <p:sp>
        <p:nvSpPr>
          <p:cNvPr id="46" name="Text 38"/>
          <p:cNvSpPr txBox="1"/>
          <p:nvPr/>
        </p:nvSpPr>
        <p:spPr>
          <a:xfrm>
            <a:off x="1325880" y="5123349"/>
            <a:ext cx="1828800" cy="551011"/>
          </a:xfrm>
          <a:prstGeom prst="rect">
            <a:avLst/>
          </a:prstGeom>
          <a:noFill/>
          <a:ln/>
        </p:spPr>
        <p:txBody>
          <a:bodyPr wrap="square" lIns="0" tIns="0" rIns="0" bIns="0" rtlCol="0" anchor="ctr"/>
          <a:lstStyle/>
          <a:p>
            <a:pPr indent="0" marL="0">
              <a:buNone/>
            </a:pPr>
            <a:r>
              <a:rPr lang="en-US" sz="1500" b="1" dirty="0">
                <a:solidFill>
                  <a:schemeClr val="tx1"/>
                </a:solidFill>
              </a:rPr>
              <a:t>k shortest simple paths</a:t>
            </a:r>
            <a:endParaRPr lang="en-US" sz="1500" dirty="0"/>
          </a:p>
        </p:txBody>
      </p:sp>
      <p:sp>
        <p:nvSpPr>
          <p:cNvPr id="47" name="Text 39"/>
          <p:cNvSpPr txBox="1"/>
          <p:nvPr/>
        </p:nvSpPr>
        <p:spPr>
          <a:xfrm>
            <a:off x="3383280" y="5123349"/>
            <a:ext cx="3017520" cy="551011"/>
          </a:xfrm>
          <a:prstGeom prst="rect">
            <a:avLst/>
          </a:prstGeom>
          <a:noFill/>
          <a:ln/>
        </p:spPr>
        <p:txBody>
          <a:bodyPr wrap="square" lIns="0" tIns="0" rIns="0" bIns="0" rtlCol="0" anchor="ctr"/>
          <a:lstStyle/>
          <a:p>
            <a:pPr indent="0" marL="0">
              <a:buNone/>
            </a:pPr>
            <a:r>
              <a:rPr lang="en-US" sz="1400" dirty="0">
                <a:solidFill>
                  <a:schemeClr val="tx1"/>
                </a:solidFill>
              </a:rPr>
              <a:t>Alternative pathways and explanations, not only one optimum.</a:t>
            </a:r>
            <a:endParaRPr lang="en-US" sz="1400" dirty="0"/>
          </a:p>
        </p:txBody>
      </p:sp>
      <p:sp>
        <p:nvSpPr>
          <p:cNvPr id="48" name="Text 40"/>
          <p:cNvSpPr txBox="1"/>
          <p:nvPr/>
        </p:nvSpPr>
        <p:spPr>
          <a:xfrm>
            <a:off x="6629400" y="5123349"/>
            <a:ext cx="3017520" cy="551011"/>
          </a:xfrm>
          <a:prstGeom prst="rect">
            <a:avLst/>
          </a:prstGeom>
          <a:noFill/>
          <a:ln/>
        </p:spPr>
        <p:txBody>
          <a:bodyPr wrap="square" lIns="0" tIns="0" rIns="0" bIns="0" rtlCol="0" anchor="ctr"/>
          <a:lstStyle/>
          <a:p>
            <a:pPr indent="0" marL="0">
              <a:buNone/>
            </a:pPr>
            <a:r>
              <a:rPr lang="en-US" sz="1400" dirty="0">
                <a:solidFill>
                  <a:schemeClr val="tx1"/>
                </a:solidFill>
              </a:rPr>
              <a:t>The paths; a Lawler partition tree proves they are the first k.</a:t>
            </a:r>
            <a:endParaRPr lang="en-US" sz="1400" dirty="0"/>
          </a:p>
        </p:txBody>
      </p:sp>
      <p:sp>
        <p:nvSpPr>
          <p:cNvPr id="49" name="Text 41"/>
          <p:cNvSpPr txBox="1"/>
          <p:nvPr/>
        </p:nvSpPr>
        <p:spPr>
          <a:xfrm>
            <a:off x="9875520" y="5123349"/>
            <a:ext cx="1676095" cy="551011"/>
          </a:xfrm>
          <a:prstGeom prst="rect">
            <a:avLst/>
          </a:prstGeom>
          <a:noFill/>
          <a:ln/>
        </p:spPr>
        <p:txBody>
          <a:bodyPr wrap="square" lIns="0" tIns="0" rIns="0" bIns="0" rtlCol="0" anchor="ctr"/>
          <a:lstStyle/>
          <a:p>
            <a:pPr indent="0" marL="0">
              <a:buNone/>
            </a:pPr>
            <a:r>
              <a:rPr lang="en-US" sz="1200" i="1" dirty="0">
                <a:solidFill>
                  <a:schemeClr val="accent6"/>
                </a:solidFill>
              </a:rPr>
              <a:t>Yen 1971; Lawler 1972</a:t>
            </a:r>
            <a:endParaRPr lang="en-US" sz="1200" dirty="0"/>
          </a:p>
        </p:txBody>
      </p:sp>
      <p:sp>
        <p:nvSpPr>
          <p:cNvPr id="50" name="roadmap later"/>
          <p:cNvSpPr txBox="1"/>
          <p:nvPr/>
        </p:nvSpPr>
        <p:spPr>
          <a:xfrm>
            <a:off x="685800" y="5784088"/>
            <a:ext cx="10820095" cy="433832"/>
          </a:xfrm>
          <a:prstGeom prst="rect">
            <a:avLst/>
          </a:prstGeom>
          <a:noFill/>
          <a:ln/>
        </p:spPr>
        <p:txBody>
          <a:bodyPr wrap="square" lIns="0" tIns="0" rIns="0" bIns="0" rtlCol="0" anchor="ctr"/>
          <a:lstStyle/>
          <a:p>
            <a:pPr indent="0" marL="0">
              <a:buNone/>
            </a:pPr>
            <a:r>
              <a:rPr lang="en-US" sz="1400" b="1" dirty="0">
                <a:solidFill>
                  <a:schemeClr val="tx1"/>
                </a:solidFill>
              </a:rPr>
              <a:t>Then:</a:t>
            </a:r>
            <a:pPr indent="0" marL="0">
              <a:buNone/>
            </a:pPr>
            <a:r>
              <a:rPr lang="en-US" sz="1400" dirty="0">
                <a:solidFill>
                  <a:schemeClr val="tx1"/>
                </a:solidFill>
              </a:rPr>
              <a:t> a reachability index (2-hop labels) · positive Datalog with derivation certificates · isomorphism and canonical labeling · elementary flux modes.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Nineteen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2026-10-27T02:16:42Z</dcterms:created>
  <dcterms:modified xsi:type="dcterms:W3CDTF">2026-10-27T02:16:42Z</dcterms:modified>
</cp:coreProperties>
</file>