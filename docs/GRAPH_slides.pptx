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b52c980b-a3e7-0246-2ef0-6411b73ff8fb}">
          <p14:sldIdLst>
            <p14:sldId id="256"/>
            <p14:sldId id="257"/>
            <p14:sldId id="258"/>
          </p14:sldIdLst>
        </p14:section>
        <p14:section name="Architecture" id="{4cda7db6-0385-13c4-0d96-d7513a3b3e45}">
          <p14:sldIdLst>
            <p14:sldId id="259"/>
            <p14:sldId id="260"/>
            <p14:sldId id="261"/>
          </p14:sldIdLst>
        </p14:section>
        <p14:section name="Operations" id="{4c1451f3-e0c6-5218-6c3c-3a134c365a24}">
          <p14:sldIdLst>
            <p14:sldId id="262"/>
            <p14:sldId id="263"/>
            <p14:sldId id="264"/>
            <p14:sldId id="265"/>
            <p14:sldId id="266"/>
            <p14:sldId id="267"/>
            <p14:sldId id="268"/>
            <p14:sldId id="269"/>
            <p14:sldId id="270"/>
            <p14:sldId id="271"/>
          </p14:sldIdLst>
        </p14:section>
        <p14:section name="Trust and results" id="{e7972a43-918b-7c8e-ba25-76b8fadd2634}">
          <p14:sldIdLst>
            <p14:sldId id="272"/>
            <p14:sldId id="273"/>
            <p14:sldId id="274"/>
            <p14:sldId id="275"/>
          </p14:sldIdLst>
        </p14:section>
        <p14:section name="Development" id="{a4fb14d7-9f0f-0296-b5b1-31249af33b2d}">
          <p14:sldIdLst>
            <p14:sldId id="276"/>
          </p14:sldIdLst>
        </p14:section>
        <p14:section name="Roadmap" id="{e4495837-32ab-80ab-36ac-ce149d99e928}">
          <p14:sldIdLst>
            <p14:sldId id="277"/>
            <p14:sldId id="278"/>
          </p14:sldIdLst>
        </p14:section>
        <p14:section name="Close" id="{0b11c59f-aecb-afe5-46ad-7beec107916d}">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Strong components</c:v>
                  </c:pt>
                  <c:pt idx="1">
                    <c:v>Articulation points</c:v>
                  </c:pt>
                  <c:pt idx="2">
                    <c:v>Max flow</c:v>
                  </c:pt>
                  <c:pt idx="3">
                    <c:v>Matching</c:v>
                  </c:pt>
                  <c:pt idx="4">
                    <c:v>Dominators</c:v>
                  </c:pt>
                </c:lvl>
              </c:multiLvlStrCache>
            </c:multiLvlStrRef>
          </c:cat>
          <c:val>
            <c:numRef>
              <c:f>Sheet1!$B$2:$B$6</c:f>
              <c:numCache>
                <c:formatCode>General</c:formatCode>
                <c:ptCount val="5"/>
                <c:pt idx="0">
                  <c:v>0.38</c:v>
                </c:pt>
                <c:pt idx="1">
                  <c:v>0.57</c:v>
                </c:pt>
                <c:pt idx="2">
                  <c:v>4.5</c:v>
                </c:pt>
                <c:pt idx="3">
                  <c:v>2.5</c:v>
                </c:pt>
                <c:pt idx="4">
                  <c:v>0.65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Strong components</c:v>
                  </c:pt>
                  <c:pt idx="1">
                    <c:v>Articulation points</c:v>
                  </c:pt>
                  <c:pt idx="2">
                    <c:v>Max flow</c:v>
                  </c:pt>
                  <c:pt idx="3">
                    <c:v>Matching</c:v>
                  </c:pt>
                  <c:pt idx="4">
                    <c:v>Dominators</c:v>
                  </c:pt>
                </c:lvl>
              </c:multiLvlStrCache>
            </c:multiLvlStrRef>
          </c:cat>
          <c:val>
            <c:numRef>
              <c:f>Sheet1!$C$2:$C$6</c:f>
              <c:numCache>
                <c:formatCode>General</c:formatCode>
                <c:ptCount val="5"/>
                <c:pt idx="0">
                  <c:v>0.34</c:v>
                </c:pt>
                <c:pt idx="1">
                  <c:v>0.36</c:v>
                </c:pt>
                <c:pt idx="2">
                  <c:v>6.4</c:v>
                </c:pt>
                <c:pt idx="3">
                  <c:v>2.1</c:v>
                </c:pt>
                <c:pt idx="4">
                  <c:v>0.93</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Sheet1!$A$2:$A$16</c:f>
              <c:multiLvlStrCache>
                <c:ptCount val="15"/>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lvl>
              </c:multiLvlStrCache>
            </c:multiLvlStrRef>
          </c:cat>
          <c:val>
            <c:numRef>
              <c:f>Sheet1!$B$2:$B$16</c:f>
              <c:numCache>
                <c:formatCode>General</c:formatCode>
                <c:ptCount val="15"/>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16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Checked by: verify_result recomputes what stands from the records by re-evaluating every rule. Generalizes SCALE's "rests on a retraction, all or in part".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(514 pass), src/graph_runtime/conformance/cases.json (143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 Codex adversarial reviews before commit: git log 99fb868 (a request field named kind was overwritten by the digest's record kind, now connectivity; unlisted groups and stray trees in the components certificate) and 573ce2b (an interrupted max flow's upper bound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1,200 pinned result_ids unchanged (Golden test: the speedups changed no answer). Source: git log f65497b (tests/test_golden.py).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and 1e8678d; flows, matching and dominators measured on the owner's machine.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(23 commits, 550c362 to 573ce2b; some rows group neighbouring commits). Conformance case counts are from the commit messages (34 at v0, then 49, 54, 62, 70, 74, 78, 91, 100, 112, 116, 121, 133) and cases.json now (148). Tests: 178 → 521.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16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Sixteen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p:cNvSpPr/>
          <p:nvPr/>
        </p:nvSpPr>
        <p:spPr>
          <a:xfrm>
            <a:off x="4338218" y="1691640"/>
            <a:ext cx="3515258" cy="2125980"/>
          </a:xfrm>
          <a:prstGeom prst="roundRect">
            <a:avLst>
              <a:gd name="adj" fmla="val 4301"/>
            </a:avLst>
          </a:prstGeom>
          <a:solidFill>
            <a:schemeClr val="bg2"/>
          </a:solidFill>
          <a:ln/>
        </p:spPr>
      </p:sp>
      <p:sp>
        <p:nvSpPr>
          <p:cNvPr id="11" name="icon Reasoning"/>
          <p:cNvSpPr/>
          <p:nvPr/>
        </p:nvSpPr>
        <p:spPr>
          <a:xfrm>
            <a:off x="4539386" y="1892808"/>
            <a:ext cx="502920" cy="502920"/>
          </a:xfrm>
          <a:prstGeom prst="ellipse">
            <a:avLst/>
          </a:prstGeom>
          <a:solidFill>
            <a:schemeClr val="accent1"/>
          </a:solidFill>
          <a:ln/>
        </p:spPr>
      </p:sp>
      <p:pic>
        <p:nvPicPr>
          <p:cNvPr id="12" name="Image 1" descr="Reasoning">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a:t>
            </a:r>
            <a:endParaRPr lang="en-US" sz="2000" dirty="0"/>
          </a:p>
        </p:txBody>
      </p:sp>
      <p:sp>
        <p:nvSpPr>
          <p:cNvPr id="14" name="Text 10"/>
          <p:cNvSpPr txBox="1"/>
          <p:nvPr/>
        </p:nvSpPr>
        <p:spPr>
          <a:xfrm>
            <a:off x="4539386"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a:t>
            </a:r>
            <a:endParaRPr lang="en-US" sz="1200" dirty="0"/>
          </a:p>
        </p:txBody>
      </p:sp>
      <p:sp>
        <p:nvSpPr>
          <p:cNvPr id="15" name="Text 11"/>
          <p:cNvSpPr txBox="1"/>
          <p:nvPr/>
        </p:nvSpPr>
        <p:spPr>
          <a:xfrm>
            <a:off x="4539386"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AND/OR rules: what still stands, what can be made.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p:cNvSpPr/>
          <p:nvPr/>
        </p:nvSpPr>
        <p:spPr>
          <a:xfrm>
            <a:off x="548640" y="4091940"/>
            <a:ext cx="3515258" cy="2125980"/>
          </a:xfrm>
          <a:prstGeom prst="roundRect">
            <a:avLst>
              <a:gd name="adj" fmla="val 4301"/>
            </a:avLst>
          </a:prstGeom>
          <a:solidFill>
            <a:schemeClr val="bg2"/>
          </a:solidFill>
          <a:ln/>
        </p:spPr>
      </p:sp>
      <p:sp>
        <p:nvSpPr>
          <p:cNvPr id="23" name="icon Ranking"/>
          <p:cNvSpPr/>
          <p:nvPr/>
        </p:nvSpPr>
        <p:spPr>
          <a:xfrm>
            <a:off x="749808" y="4293108"/>
            <a:ext cx="502920" cy="502920"/>
          </a:xfrm>
          <a:prstGeom prst="ellipse">
            <a:avLst/>
          </a:prstGeom>
          <a:solidFill>
            <a:schemeClr val="accent1"/>
          </a:solidFill>
          <a:ln/>
        </p:spPr>
      </p:sp>
      <p:pic>
        <p:nvPicPr>
          <p:cNvPr id="24" name="Image 3" descr="Ranking">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around chosen nodes, as proven intervals.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 · dominators</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weak points, throughput,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recomputes what stands from the records by re-evaluating every rule. Generalizes SCALE's "rests on a retraction, all or in part".</a:t>
            </a:r>
            <a:endParaRPr lang="en-US" sz="14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in time proportional to the edit, without searching again.</a:t>
            </a:r>
            <a:endParaRPr lang="en-US" sz="1600" dirty="0"/>
          </a:p>
        </p:txBody>
      </p:sp>
      <p:sp>
        <p:nvSpPr>
          <p:cNvPr id="4" name="verdict holds"/>
          <p:cNvSpPr/>
          <p:nvPr/>
        </p:nvSpPr>
        <p:spPr>
          <a:xfrm>
            <a:off x="548640" y="1691640"/>
            <a:ext cx="5074920" cy="1356360"/>
          </a:xfrm>
          <a:prstGeom prst="roundRect">
            <a:avLst>
              <a:gd name="adj" fmla="val 6742"/>
            </a:avLst>
          </a:prstGeom>
          <a:solidFill>
            <a:schemeClr val="bg2"/>
          </a:solidFill>
          <a:ln/>
        </p:spPr>
      </p:sp>
      <p:sp>
        <p:nvSpPr>
          <p:cNvPr id="5" name="icon holds"/>
          <p:cNvSpPr/>
          <p:nvPr/>
        </p:nvSpPr>
        <p:spPr>
          <a:xfrm>
            <a:off x="777240" y="2086356"/>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11080"/>
            <a:ext cx="317480" cy="317480"/>
          </a:xfrm>
          <a:prstGeom prst="rect">
            <a:avLst/>
          </a:prstGeom>
        </p:spPr>
      </p:pic>
      <p:sp>
        <p:nvSpPr>
          <p:cNvPr id="7" name="Text 4"/>
          <p:cNvSpPr txBox="1"/>
          <p:nvPr/>
        </p:nvSpPr>
        <p:spPr>
          <a:xfrm>
            <a:off x="1554480" y="180136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a correct answer to the same request on the new projection.</a:t>
            </a:r>
            <a:endParaRPr lang="en-US" sz="1800" dirty="0"/>
          </a:p>
        </p:txBody>
      </p:sp>
      <p:sp>
        <p:nvSpPr>
          <p:cNvPr id="8" name="verdict fails"/>
          <p:cNvSpPr/>
          <p:nvPr/>
        </p:nvSpPr>
        <p:spPr>
          <a:xfrm>
            <a:off x="548640" y="3276600"/>
            <a:ext cx="5074920" cy="1356360"/>
          </a:xfrm>
          <a:prstGeom prst="roundRect">
            <a:avLst>
              <a:gd name="adj" fmla="val 6742"/>
            </a:avLst>
          </a:prstGeom>
          <a:solidFill>
            <a:schemeClr val="bg2"/>
          </a:solidFill>
          <a:ln/>
        </p:spPr>
      </p:sp>
      <p:sp>
        <p:nvSpPr>
          <p:cNvPr id="9" name="icon fails"/>
          <p:cNvSpPr/>
          <p:nvPr/>
        </p:nvSpPr>
        <p:spPr>
          <a:xfrm>
            <a:off x="777240" y="3671316"/>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796040"/>
            <a:ext cx="317480" cy="317480"/>
          </a:xfrm>
          <a:prstGeom prst="rect">
            <a:avLst/>
          </a:prstGeom>
        </p:spPr>
      </p:pic>
      <p:sp>
        <p:nvSpPr>
          <p:cNvPr id="11" name="Text 7"/>
          <p:cNvSpPr txBox="1"/>
          <p:nvPr/>
        </p:nvSpPr>
        <p:spPr>
          <a:xfrm>
            <a:off x="1554480" y="338632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with the edit that refutes it: a witness edge gone, or a hop to a node the answer does not list.</a:t>
            </a:r>
            <a:endParaRPr lang="en-US" sz="1800" dirty="0"/>
          </a:p>
        </p:txBody>
      </p:sp>
      <p:sp>
        <p:nvSpPr>
          <p:cNvPr id="12" name="verdict unknown"/>
          <p:cNvSpPr/>
          <p:nvPr/>
        </p:nvSpPr>
        <p:spPr>
          <a:xfrm>
            <a:off x="548640" y="4861560"/>
            <a:ext cx="5074920" cy="1356360"/>
          </a:xfrm>
          <a:prstGeom prst="roundRect">
            <a:avLst>
              <a:gd name="adj" fmla="val 6742"/>
            </a:avLst>
          </a:prstGeom>
          <a:solidFill>
            <a:schemeClr val="bg2"/>
          </a:solidFill>
          <a:ln/>
        </p:spPr>
      </p:sp>
      <p:sp>
        <p:nvSpPr>
          <p:cNvPr id="13" name="icon unknown"/>
          <p:cNvSpPr/>
          <p:nvPr/>
        </p:nvSpPr>
        <p:spPr>
          <a:xfrm>
            <a:off x="777240" y="5256276"/>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381000"/>
            <a:ext cx="317480" cy="317480"/>
          </a:xfrm>
          <a:prstGeom prst="rect">
            <a:avLst/>
          </a:prstGeom>
        </p:spPr>
      </p:pic>
      <p:sp>
        <p:nvSpPr>
          <p:cNvPr id="15" name="Text 10"/>
          <p:cNvSpPr txBox="1"/>
          <p:nvPr/>
        </p:nvSpPr>
        <p:spPr>
          <a:xfrm>
            <a:off x="1554480" y="497128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a:t>
            </a:r>
            <a:endParaRPr lang="en-US" sz="1800" dirty="0"/>
          </a:p>
        </p:txBody>
      </p:sp>
      <p:sp>
        <p:nvSpPr>
          <p:cNvPr id="16" name="Text 11"/>
          <p:cNvSpPr txBox="1"/>
          <p:nvPr/>
        </p:nvSpPr>
        <p:spPr>
          <a:xfrm>
            <a:off x="6035040" y="1691640"/>
            <a:ext cx="2666848" cy="118872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0.1 ms</a:t>
            </a:r>
            <a:endParaRPr lang="en-US" sz="4400" dirty="0"/>
          </a:p>
          <a:p>
            <a:pPr indent="0" marL="0">
              <a:buNone/>
            </a:pPr>
            <a:r>
              <a:rPr lang="en-US" sz="1400" dirty="0">
                <a:solidFill>
                  <a:schemeClr val="tx1"/>
                </a:solidFill>
              </a:rPr>
              <a:t>per cached result, checked against a diff</a:t>
            </a:r>
            <a:endParaRPr lang="en-US" sz="4400" dirty="0"/>
          </a:p>
        </p:txBody>
      </p:sp>
      <p:sp>
        <p:nvSpPr>
          <p:cNvPr id="17" name="Text 12"/>
          <p:cNvSpPr txBox="1"/>
          <p:nvPr/>
        </p:nvSpPr>
        <p:spPr>
          <a:xfrm>
            <a:off x="8976208" y="1691640"/>
            <a:ext cx="2666848" cy="1188720"/>
          </a:xfrm>
          <a:prstGeom prst="rect">
            <a:avLst/>
          </a:prstGeom>
          <a:noFill/>
          <a:ln/>
        </p:spPr>
        <p:txBody>
          <a:bodyPr wrap="square" lIns="0" tIns="0" rIns="0" bIns="0" rtlCol="0" anchor="t"/>
          <a:lstStyle/>
          <a:p>
            <a:pPr indent="0" marL="0">
              <a:buNone/>
            </a:pPr>
            <a:r>
              <a:rPr lang="en-US" sz="4400" b="1" dirty="0">
                <a:solidFill>
                  <a:schemeClr val="accent6"/>
                </a:solidFill>
                <a:latin typeface="Cambria" pitchFamily="34" charset="0"/>
                <a:ea typeface="Cambria" pitchFamily="34" charset="-122"/>
                <a:cs typeface="Cambria" pitchFamily="34" charset="-120"/>
              </a:rPr>
              <a:t>≈100 ms</a:t>
            </a:r>
            <a:endParaRPr lang="en-US" sz="4400" dirty="0"/>
          </a:p>
          <a:p>
            <a:pPr indent="0" marL="0">
              <a:buNone/>
            </a:pPr>
            <a:r>
              <a:rPr lang="en-US" sz="1400" dirty="0">
                <a:solidFill>
                  <a:schemeClr val="tx1"/>
                </a:solidFill>
              </a:rPr>
              <a:t>to rerun the same request</a:t>
            </a:r>
            <a:endParaRPr lang="en-US" sz="4400" dirty="0"/>
          </a:p>
        </p:txBody>
      </p:sp>
      <p:sp>
        <p:nvSpPr>
          <p:cNvPr id="18" name="Text 13"/>
          <p:cNvSpPr txBox="1"/>
          <p:nvPr/>
        </p:nvSpPr>
        <p:spPr>
          <a:xfrm>
            <a:off x="6035040" y="2898648"/>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035040" y="3383280"/>
          <a:ext cx="560801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035040" y="5943600"/>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521</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148</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2359152"/>
          </a:xfrm>
          <a:prstGeom prst="roundRect">
            <a:avLst>
              <a:gd name="adj" fmla="val 3876"/>
            </a:avLst>
          </a:prstGeom>
          <a:solidFill>
            <a:schemeClr val="bg2"/>
          </a:solidFill>
          <a:ln/>
        </p:spPr>
      </p:sp>
      <p:sp>
        <p:nvSpPr>
          <p:cNvPr id="15" name="icon Independent verifier"/>
          <p:cNvSpPr/>
          <p:nvPr/>
        </p:nvSpPr>
        <p:spPr>
          <a:xfrm>
            <a:off x="749808" y="3099816"/>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200400"/>
            <a:ext cx="256032" cy="256032"/>
          </a:xfrm>
          <a:prstGeom prst="rect">
            <a:avLst/>
          </a:prstGeom>
        </p:spPr>
      </p:pic>
      <p:sp>
        <p:nvSpPr>
          <p:cNvPr id="17" name="Text 14"/>
          <p:cNvSpPr txBox="1"/>
          <p:nvPr/>
        </p:nvSpPr>
        <p:spPr>
          <a:xfrm>
            <a:off x="749808" y="3675888"/>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4041648"/>
            <a:ext cx="2165528" cy="112471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2359152"/>
          </a:xfrm>
          <a:prstGeom prst="roundRect">
            <a:avLst>
              <a:gd name="adj" fmla="val 3876"/>
            </a:avLst>
          </a:prstGeom>
          <a:solidFill>
            <a:schemeClr val="bg2"/>
          </a:solidFill>
          <a:ln/>
        </p:spPr>
      </p:sp>
      <p:sp>
        <p:nvSpPr>
          <p:cNvPr id="20" name="icon Independent oracles"/>
          <p:cNvSpPr/>
          <p:nvPr/>
        </p:nvSpPr>
        <p:spPr>
          <a:xfrm>
            <a:off x="3591992" y="3099816"/>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200400"/>
            <a:ext cx="256032" cy="256032"/>
          </a:xfrm>
          <a:prstGeom prst="rect">
            <a:avLst/>
          </a:prstGeom>
        </p:spPr>
      </p:pic>
      <p:sp>
        <p:nvSpPr>
          <p:cNvPr id="22" name="Text 18"/>
          <p:cNvSpPr txBox="1"/>
          <p:nvPr/>
        </p:nvSpPr>
        <p:spPr>
          <a:xfrm>
            <a:off x="3591992" y="3675888"/>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4041648"/>
            <a:ext cx="2165528" cy="112471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2359152"/>
          </a:xfrm>
          <a:prstGeom prst="roundRect">
            <a:avLst>
              <a:gd name="adj" fmla="val 3876"/>
            </a:avLst>
          </a:prstGeom>
          <a:solidFill>
            <a:schemeClr val="bg2"/>
          </a:solidFill>
          <a:ln/>
        </p:spPr>
      </p:sp>
      <p:sp>
        <p:nvSpPr>
          <p:cNvPr id="25" name="icon Hand-worked cases"/>
          <p:cNvSpPr/>
          <p:nvPr/>
        </p:nvSpPr>
        <p:spPr>
          <a:xfrm>
            <a:off x="6434176" y="3099816"/>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200400"/>
            <a:ext cx="256032" cy="256032"/>
          </a:xfrm>
          <a:prstGeom prst="rect">
            <a:avLst/>
          </a:prstGeom>
        </p:spPr>
      </p:pic>
      <p:sp>
        <p:nvSpPr>
          <p:cNvPr id="27" name="Text 22"/>
          <p:cNvSpPr txBox="1"/>
          <p:nvPr/>
        </p:nvSpPr>
        <p:spPr>
          <a:xfrm>
            <a:off x="6434176" y="3675888"/>
            <a:ext cx="2165528" cy="292608"/>
          </a:xfrm>
          <a:prstGeom prst="rect">
            <a:avLst/>
          </a:prstGeom>
          <a:noFill/>
          <a:ln/>
        </p:spPr>
        <p:txBody>
          <a:bodyPr wrap="square" lIns="0" tIns="0" rIns="0" bIns="0" rtlCol="0" anchor="t"/>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4041648"/>
            <a:ext cx="2165528" cy="112471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2359152"/>
          </a:xfrm>
          <a:prstGeom prst="roundRect">
            <a:avLst>
              <a:gd name="adj" fmla="val 3876"/>
            </a:avLst>
          </a:prstGeom>
          <a:solidFill>
            <a:schemeClr val="bg2"/>
          </a:solidFill>
          <a:ln/>
        </p:spPr>
      </p:sp>
      <p:sp>
        <p:nvSpPr>
          <p:cNvPr id="30" name="icon Consumer parity"/>
          <p:cNvSpPr/>
          <p:nvPr/>
        </p:nvSpPr>
        <p:spPr>
          <a:xfrm>
            <a:off x="9276359" y="3099816"/>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200400"/>
            <a:ext cx="256032" cy="256032"/>
          </a:xfrm>
          <a:prstGeom prst="rect">
            <a:avLst/>
          </a:prstGeom>
        </p:spPr>
      </p:pic>
      <p:sp>
        <p:nvSpPr>
          <p:cNvPr id="32" name="Text 26"/>
          <p:cNvSpPr txBox="1"/>
          <p:nvPr/>
        </p:nvSpPr>
        <p:spPr>
          <a:xfrm>
            <a:off x="9276359" y="3675888"/>
            <a:ext cx="2165528" cy="292608"/>
          </a:xfrm>
          <a:prstGeom prst="rect">
            <a:avLst/>
          </a:prstGeom>
          <a:noFill/>
          <a:ln/>
        </p:spPr>
        <p:txBody>
          <a:bodyPr wrap="square" lIns="0" tIns="0" rIns="0" bIns="0" rtlCol="0" anchor="t"/>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4041648"/>
            <a:ext cx="2165528" cy="112471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413248"/>
            <a:ext cx="11094415" cy="80467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Each increment now gets a Codex adversarial review before commit. It caught a request_id collision and two certificate holes (structure), an unverified interrupted upper bound (flows), and, finding no wrong answer in dominators, a quadratic cycle check in result reading (9 s on a 20,000-node chain, now 0.28 s); all fixed with regressions.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pinned result_ids unchanged"/>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1,200</a:t>
            </a:r>
            <a:endParaRPr lang="en-US" sz="4400" dirty="0"/>
          </a:p>
          <a:p>
            <a:pPr indent="0" marL="0">
              <a:spcAft>
                <a:spcPts val="600"/>
              </a:spcAft>
              <a:buNone/>
            </a:pPr>
            <a:r>
              <a:rPr lang="en-US" sz="1700" b="1" dirty="0">
                <a:solidFill>
                  <a:schemeClr val="tx1"/>
                </a:solidFill>
              </a:rPr>
              <a:t>pinned result_ids unchanged</a:t>
            </a:r>
            <a:endParaRPr lang="en-US" sz="4400" dirty="0"/>
          </a:p>
          <a:p>
            <a:pPr indent="0" marL="0">
              <a:buNone/>
            </a:pPr>
            <a:r>
              <a:rPr lang="en-US" sz="1400" dirty="0">
                <a:solidFill>
                  <a:schemeClr val="accent6"/>
                </a:solidFill>
              </a:rPr>
              <a:t>Golden test: the speedups changed no answer</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784854"/>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67934"/>
            <a:ext cx="5364328" cy="649986"/>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784854"/>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567934"/>
            <a:ext cx="5364328" cy="649986"/>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nodes, 250k edges; dominators 94k reached of 100k nodes, 300k edges (1.37 s with the certificate). Also: weak components 0.45 s; unit-capacity max flow 3.8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Twenty-five commits on 25–26 October 2026: from four operations to sixteen.</a:t>
            </a:r>
            <a:endParaRPr lang="en-US" sz="1600" dirty="0"/>
          </a:p>
        </p:txBody>
      </p:sp>
      <p:sp>
        <p:nvSpPr>
          <p:cNvPr id="4" name="Shape 2"/>
          <p:cNvSpPr/>
          <p:nvPr/>
        </p:nvSpPr>
        <p:spPr>
          <a:xfrm>
            <a:off x="1508760" y="1842516"/>
            <a:ext cx="0" cy="4224528"/>
          </a:xfrm>
          <a:prstGeom prst="line">
            <a:avLst/>
          </a:prstGeom>
          <a:noFill/>
          <a:ln w="25400">
            <a:solidFill>
              <a:schemeClr val="accent5"/>
            </a:solidFill>
            <a:prstDash val="solid"/>
          </a:ln>
        </p:spPr>
      </p:sp>
      <p:sp>
        <p:nvSpPr>
          <p:cNvPr id="5" name="Text 3"/>
          <p:cNvSpPr txBox="1"/>
          <p:nvPr/>
        </p:nvSpPr>
        <p:spPr>
          <a:xfrm>
            <a:off x="1783080" y="169164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7111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9339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93392"/>
            <a:ext cx="4800600" cy="3017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37286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9514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95144"/>
            <a:ext cx="4800600" cy="3017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674620"/>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59689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596896"/>
            <a:ext cx="4800600" cy="301752"/>
          </a:xfrm>
          <a:prstGeom prst="rect">
            <a:avLst/>
          </a:prstGeom>
          <a:noFill/>
          <a:ln/>
        </p:spPr>
        <p:txBody>
          <a:bodyPr wrap="square" lIns="0" tIns="0" rIns="0" bIns="0" rtlCol="0" anchor="ctr"/>
          <a:lstStyle/>
          <a:p>
            <a:pPr indent="0" marL="0">
              <a:buNone/>
            </a:pPr>
            <a:r>
              <a:rPr lang="en-US" sz="1400" dirty="0">
                <a:solidFill>
                  <a:schemeClr val="tx1"/>
                </a:solidFill>
              </a:rPr>
              <a:t>STATES: context extraction as bounded reachability</a:t>
            </a:r>
            <a:endParaRPr lang="en-US" sz="1400" dirty="0"/>
          </a:p>
        </p:txBody>
      </p:sp>
      <p:sp>
        <p:nvSpPr>
          <p:cNvPr id="15" name="milestone 21:10"/>
          <p:cNvSpPr/>
          <p:nvPr/>
        </p:nvSpPr>
        <p:spPr>
          <a:xfrm>
            <a:off x="1435608" y="2976372"/>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89864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21:10</a:t>
            </a:r>
            <a:endParaRPr lang="en-US" sz="1300" dirty="0"/>
          </a:p>
        </p:txBody>
      </p:sp>
      <p:sp>
        <p:nvSpPr>
          <p:cNvPr id="17" name="Text 15"/>
          <p:cNvSpPr txBox="1"/>
          <p:nvPr/>
        </p:nvSpPr>
        <p:spPr>
          <a:xfrm>
            <a:off x="1783080" y="2898648"/>
            <a:ext cx="4800600" cy="301752"/>
          </a:xfrm>
          <a:prstGeom prst="rect">
            <a:avLst/>
          </a:prstGeom>
          <a:noFill/>
          <a:ln/>
        </p:spPr>
        <p:txBody>
          <a:bodyPr wrap="square" lIns="0" tIns="0" rIns="0" bIns="0" rtlCol="0" anchor="ctr"/>
          <a:lstStyle/>
          <a:p>
            <a:pPr indent="0" marL="0">
              <a:buNone/>
            </a:pPr>
            <a:r>
              <a:rPr lang="en-US" sz="1400" dirty="0">
                <a:solidFill>
                  <a:schemeClr val="tx1"/>
                </a:solidFill>
              </a:rPr>
              <a:t>Hot spots removed; CI; real consumer benchmarks</a:t>
            </a:r>
            <a:endParaRPr lang="en-US" sz="1400" dirty="0"/>
          </a:p>
        </p:txBody>
      </p:sp>
      <p:sp>
        <p:nvSpPr>
          <p:cNvPr id="18" name="milestone 23:08"/>
          <p:cNvSpPr/>
          <p:nvPr/>
        </p:nvSpPr>
        <p:spPr>
          <a:xfrm>
            <a:off x="1435608" y="3278124"/>
            <a:ext cx="146304" cy="146304"/>
          </a:xfrm>
          <a:prstGeom prst="ellipse">
            <a:avLst/>
          </a:prstGeom>
          <a:solidFill>
            <a:schemeClr val="accent1"/>
          </a:solidFill>
          <a:ln w="19050">
            <a:solidFill>
              <a:schemeClr val="bg1"/>
            </a:solidFill>
            <a:prstDash val="solid"/>
          </a:ln>
        </p:spPr>
      </p:sp>
      <p:sp>
        <p:nvSpPr>
          <p:cNvPr id="19" name="Text 17"/>
          <p:cNvSpPr txBox="1"/>
          <p:nvPr/>
        </p:nvSpPr>
        <p:spPr>
          <a:xfrm>
            <a:off x="548640" y="320040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20" name="Text 18"/>
          <p:cNvSpPr txBox="1"/>
          <p:nvPr/>
        </p:nvSpPr>
        <p:spPr>
          <a:xfrm>
            <a:off x="1783080" y="3200400"/>
            <a:ext cx="4800600" cy="3017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21" name="Text 19"/>
          <p:cNvSpPr txBox="1"/>
          <p:nvPr/>
        </p:nvSpPr>
        <p:spPr>
          <a:xfrm>
            <a:off x="1783080" y="3502152"/>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22" name="milestone 00:14"/>
          <p:cNvSpPr/>
          <p:nvPr/>
        </p:nvSpPr>
        <p:spPr>
          <a:xfrm>
            <a:off x="1435608" y="388162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80390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4" name="Text 22"/>
          <p:cNvSpPr txBox="1"/>
          <p:nvPr/>
        </p:nvSpPr>
        <p:spPr>
          <a:xfrm>
            <a:off x="1783080" y="3803904"/>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JSON tools, CLI, MCP</a:t>
            </a:r>
            <a:endParaRPr lang="en-US" sz="1400" dirty="0"/>
          </a:p>
        </p:txBody>
      </p:sp>
      <p:sp>
        <p:nvSpPr>
          <p:cNvPr id="25" name="milestone 00:27"/>
          <p:cNvSpPr/>
          <p:nvPr/>
        </p:nvSpPr>
        <p:spPr>
          <a:xfrm>
            <a:off x="1435608" y="4183380"/>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410565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00:27</a:t>
            </a:r>
            <a:endParaRPr lang="en-US" sz="1300" dirty="0"/>
          </a:p>
        </p:txBody>
      </p:sp>
      <p:sp>
        <p:nvSpPr>
          <p:cNvPr id="27" name="Text 25"/>
          <p:cNvSpPr txBox="1"/>
          <p:nvPr/>
        </p:nvSpPr>
        <p:spPr>
          <a:xfrm>
            <a:off x="1783080" y="410565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300" dirty="0"/>
          </a:p>
        </p:txBody>
      </p:sp>
      <p:sp>
        <p:nvSpPr>
          <p:cNvPr id="28" name="milestone 04:25"/>
          <p:cNvSpPr/>
          <p:nvPr/>
        </p:nvSpPr>
        <p:spPr>
          <a:xfrm>
            <a:off x="1435608" y="4485132"/>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40740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30" name="Text 28"/>
          <p:cNvSpPr txBox="1"/>
          <p:nvPr/>
        </p:nvSpPr>
        <p:spPr>
          <a:xfrm>
            <a:off x="1783080" y="4407408"/>
            <a:ext cx="4800600" cy="3017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31" name="milestone 05:12"/>
          <p:cNvSpPr/>
          <p:nvPr/>
        </p:nvSpPr>
        <p:spPr>
          <a:xfrm>
            <a:off x="1435608" y="4786884"/>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70916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33" name="Text 31"/>
          <p:cNvSpPr txBox="1"/>
          <p:nvPr/>
        </p:nvSpPr>
        <p:spPr>
          <a:xfrm>
            <a:off x="1783080" y="4709160"/>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34" name="milestone 10:09"/>
          <p:cNvSpPr/>
          <p:nvPr/>
        </p:nvSpPr>
        <p:spPr>
          <a:xfrm>
            <a:off x="1435608" y="5088636"/>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501091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6" name="Text 34"/>
          <p:cNvSpPr txBox="1"/>
          <p:nvPr/>
        </p:nvSpPr>
        <p:spPr>
          <a:xfrm>
            <a:off x="1783080" y="5010912"/>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endParaRPr lang="en-US" sz="1300" dirty="0"/>
          </a:p>
        </p:txBody>
      </p:sp>
      <p:sp>
        <p:nvSpPr>
          <p:cNvPr id="37" name="milestone 10:15"/>
          <p:cNvSpPr/>
          <p:nvPr/>
        </p:nvSpPr>
        <p:spPr>
          <a:xfrm>
            <a:off x="1435608" y="539038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531266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10:15</a:t>
            </a:r>
            <a:endParaRPr lang="en-US" sz="1300" dirty="0"/>
          </a:p>
        </p:txBody>
      </p:sp>
      <p:sp>
        <p:nvSpPr>
          <p:cNvPr id="39" name="Text 37"/>
          <p:cNvSpPr txBox="1"/>
          <p:nvPr/>
        </p:nvSpPr>
        <p:spPr>
          <a:xfrm>
            <a:off x="1783080" y="5312664"/>
            <a:ext cx="4800600" cy="301752"/>
          </a:xfrm>
          <a:prstGeom prst="rect">
            <a:avLst/>
          </a:prstGeom>
          <a:noFill/>
          <a:ln/>
        </p:spPr>
        <p:txBody>
          <a:bodyPr wrap="square" lIns="0" tIns="0" rIns="0" bIns="0" rtlCol="0" anchor="ctr"/>
          <a:lstStyle/>
          <a:p>
            <a:pPr indent="0" marL="0">
              <a:buNone/>
            </a:pPr>
            <a:r>
              <a:rPr lang="en-US" sz="1400" dirty="0">
                <a:solidFill>
                  <a:schemeClr val="tx1"/>
                </a:solidFill>
              </a:rPr>
              <a:t>These slides (updated with each increment)</a:t>
            </a:r>
            <a:endParaRPr lang="en-US" sz="1400" dirty="0"/>
          </a:p>
        </p:txBody>
      </p:sp>
      <p:sp>
        <p:nvSpPr>
          <p:cNvPr id="40" name="milestone 10:29"/>
          <p:cNvSpPr/>
          <p:nvPr/>
        </p:nvSpPr>
        <p:spPr>
          <a:xfrm>
            <a:off x="1435608" y="5692140"/>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61441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42" name="Text 40"/>
          <p:cNvSpPr txBox="1"/>
          <p:nvPr/>
        </p:nvSpPr>
        <p:spPr>
          <a:xfrm>
            <a:off x="1783080" y="561441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43" name="milestone 10:43"/>
          <p:cNvSpPr/>
          <p:nvPr/>
        </p:nvSpPr>
        <p:spPr>
          <a:xfrm>
            <a:off x="1417320" y="5975604"/>
            <a:ext cx="182880" cy="182880"/>
          </a:xfrm>
          <a:prstGeom prst="ellipse">
            <a:avLst/>
          </a:prstGeom>
          <a:solidFill>
            <a:schemeClr val="accent2"/>
          </a:solidFill>
          <a:ln w="19050">
            <a:solidFill>
              <a:schemeClr val="bg1"/>
            </a:solidFill>
            <a:prstDash val="solid"/>
          </a:ln>
        </p:spPr>
      </p:sp>
      <p:sp>
        <p:nvSpPr>
          <p:cNvPr id="44" name="Text 42"/>
          <p:cNvSpPr txBox="1"/>
          <p:nvPr/>
        </p:nvSpPr>
        <p:spPr>
          <a:xfrm>
            <a:off x="548640" y="591616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45" name="Text 43"/>
          <p:cNvSpPr txBox="1"/>
          <p:nvPr/>
        </p:nvSpPr>
        <p:spPr>
          <a:xfrm>
            <a:off x="1783080" y="591616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endParaRPr lang="en-US" sz="1300" dirty="0"/>
          </a:p>
        </p:txBody>
      </p:sp>
      <p:sp>
        <p:nvSpPr>
          <p:cNvPr id="46" name="growth operations"/>
          <p:cNvSpPr/>
          <p:nvPr/>
        </p:nvSpPr>
        <p:spPr>
          <a:xfrm>
            <a:off x="6903720" y="1691640"/>
            <a:ext cx="2255368" cy="1005840"/>
          </a:xfrm>
          <a:prstGeom prst="roundRect">
            <a:avLst>
              <a:gd name="adj" fmla="val 9091"/>
            </a:avLst>
          </a:prstGeom>
          <a:solidFill>
            <a:schemeClr val="tx2"/>
          </a:solidFill>
          <a:ln/>
        </p:spPr>
      </p:sp>
      <p:sp>
        <p:nvSpPr>
          <p:cNvPr id="47" name="Text 45"/>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16</a:t>
            </a:r>
            <a:endParaRPr lang="en-US" sz="2800" dirty="0"/>
          </a:p>
          <a:p>
            <a:pPr indent="0" marL="0">
              <a:buNone/>
            </a:pPr>
            <a:r>
              <a:rPr lang="en-US" sz="1300" dirty="0">
                <a:solidFill>
                  <a:schemeClr val="accent5"/>
                </a:solidFill>
              </a:rPr>
              <a:t>operations</a:t>
            </a:r>
            <a:endParaRPr lang="en-US" sz="2800" dirty="0"/>
          </a:p>
        </p:txBody>
      </p:sp>
      <p:sp>
        <p:nvSpPr>
          <p:cNvPr id="48" name="growth runtime tests"/>
          <p:cNvSpPr/>
          <p:nvPr/>
        </p:nvSpPr>
        <p:spPr>
          <a:xfrm>
            <a:off x="9387688" y="1691640"/>
            <a:ext cx="2255368" cy="1005840"/>
          </a:xfrm>
          <a:prstGeom prst="roundRect">
            <a:avLst>
              <a:gd name="adj" fmla="val 9091"/>
            </a:avLst>
          </a:prstGeom>
          <a:solidFill>
            <a:schemeClr val="tx2"/>
          </a:solidFill>
          <a:ln/>
        </p:spPr>
      </p:sp>
      <p:sp>
        <p:nvSpPr>
          <p:cNvPr id="49" name="Text 47"/>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521</a:t>
            </a:r>
            <a:endParaRPr lang="en-US" sz="2800" dirty="0"/>
          </a:p>
          <a:p>
            <a:pPr indent="0" marL="0">
              <a:buNone/>
            </a:pPr>
            <a:r>
              <a:rPr lang="en-US" sz="1300" dirty="0">
                <a:solidFill>
                  <a:schemeClr val="accent5"/>
                </a:solidFill>
              </a:rPr>
              <a:t>runtime tests</a:t>
            </a:r>
            <a:endParaRPr lang="en-US" sz="2800" dirty="0"/>
          </a:p>
        </p:txBody>
      </p:sp>
      <p:graphicFrame>
        <p:nvGraphicFramePr>
          <p:cNvPr id="50"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Codex literature surveys. Structure, flows and dominators are done; revalidating them comes first.</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Revalidation for the new operations"/>
          <p:cNvSpPr/>
          <p:nvPr/>
        </p:nvSpPr>
        <p:spPr>
          <a:xfrm>
            <a:off x="548640" y="1911096"/>
            <a:ext cx="11094415" cy="788213"/>
          </a:xfrm>
          <a:prstGeom prst="roundRect">
            <a:avLst>
              <a:gd name="adj" fmla="val 11601"/>
            </a:avLst>
          </a:prstGeom>
          <a:solidFill>
            <a:schemeClr val="bg2"/>
          </a:solidFill>
          <a:ln/>
        </p:spPr>
      </p:sp>
      <p:sp>
        <p:nvSpPr>
          <p:cNvPr id="9" name="icon Revalidation for the new operations"/>
          <p:cNvSpPr/>
          <p:nvPr/>
        </p:nvSpPr>
        <p:spPr>
          <a:xfrm>
            <a:off x="713232" y="2085746"/>
            <a:ext cx="438912" cy="438912"/>
          </a:xfrm>
          <a:prstGeom prst="ellipse">
            <a:avLst/>
          </a:prstGeom>
          <a:solidFill>
            <a:schemeClr val="accent1"/>
          </a:solidFill>
          <a:ln/>
        </p:spPr>
      </p:sp>
      <p:pic>
        <p:nvPicPr>
          <p:cNvPr id="10" name="Image 0" descr="Revalidation for the new operations">    </p:cNvPr>
          <p:cNvPicPr>
            <a:picLocks noChangeAspect="1"/>
          </p:cNvPicPr>
          <p:nvPr/>
        </p:nvPicPr>
        <p:blipFill>
          <a:blip r:embed="rId1"/>
          <a:stretch>
            <a:fillRect/>
          </a:stretch>
        </p:blipFill>
        <p:spPr>
          <a:xfrm>
            <a:off x="809793" y="2182307"/>
            <a:ext cx="245791" cy="245791"/>
          </a:xfrm>
          <a:prstGeom prst="rect">
            <a:avLst/>
          </a:prstGeom>
        </p:spPr>
      </p:pic>
      <p:sp>
        <p:nvSpPr>
          <p:cNvPr id="11" name="Text 8"/>
          <p:cNvSpPr txBox="1"/>
          <p:nvPr/>
        </p:nvSpPr>
        <p:spPr>
          <a:xfrm>
            <a:off x="1325880" y="1911096"/>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Revalidation for the new operations</a:t>
            </a:r>
            <a:endParaRPr lang="en-US" sz="1500" dirty="0"/>
          </a:p>
        </p:txBody>
      </p:sp>
      <p:sp>
        <p:nvSpPr>
          <p:cNvPr id="12" name="Text 9"/>
          <p:cNvSpPr txBox="1"/>
          <p:nvPr/>
        </p:nvSpPr>
        <p:spPr>
          <a:xfrm>
            <a:off x="3383280" y="1911096"/>
            <a:ext cx="3017520" cy="788213"/>
          </a:xfrm>
          <a:prstGeom prst="rect">
            <a:avLst/>
          </a:prstGeom>
          <a:noFill/>
          <a:ln/>
        </p:spPr>
        <p:txBody>
          <a:bodyPr wrap="square" lIns="0" tIns="0" rIns="0" bIns="0" rtlCol="0" anchor="ctr"/>
          <a:lstStyle/>
          <a:p>
            <a:pPr indent="0" marL="0">
              <a:buNone/>
            </a:pPr>
            <a:r>
              <a:rPr lang="en-US" sz="1400" dirty="0">
                <a:solidFill>
                  <a:schemeClr val="tx1"/>
                </a:solidFill>
              </a:rPr>
              <a:t>Whether cached structure, flow and dominator answers still hold after an edit.</a:t>
            </a:r>
            <a:endParaRPr lang="en-US" sz="1400" dirty="0"/>
          </a:p>
        </p:txBody>
      </p:sp>
      <p:sp>
        <p:nvSpPr>
          <p:cNvPr id="13" name="Text 10"/>
          <p:cNvSpPr txBox="1"/>
          <p:nvPr/>
        </p:nvSpPr>
        <p:spPr>
          <a:xfrm>
            <a:off x="6629400" y="1911096"/>
            <a:ext cx="3017520" cy="788213"/>
          </a:xfrm>
          <a:prstGeom prst="rect">
            <a:avLst/>
          </a:prstGeom>
          <a:noFill/>
          <a:ln/>
        </p:spPr>
        <p:txBody>
          <a:bodyPr wrap="square" lIns="0" tIns="0" rIns="0" bIns="0" rtlCol="0" anchor="ctr"/>
          <a:lstStyle/>
          <a:p>
            <a:pPr indent="0" marL="0">
              <a:buNone/>
            </a:pPr>
            <a:r>
              <a:rPr lang="en-US" sz="1400" dirty="0">
                <a:solidFill>
                  <a:schemeClr val="tx1"/>
                </a:solidFill>
              </a:rPr>
              <a:t>Their own certificates, rechecked against the edited projection.</a:t>
            </a:r>
            <a:endParaRPr lang="en-US" sz="1400" dirty="0"/>
          </a:p>
        </p:txBody>
      </p:sp>
      <p:sp>
        <p:nvSpPr>
          <p:cNvPr id="14" name="Text 11"/>
          <p:cNvSpPr txBox="1"/>
          <p:nvPr/>
        </p:nvSpPr>
        <p:spPr>
          <a:xfrm>
            <a:off x="9875520" y="1911096"/>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In progress</a:t>
            </a:r>
            <a:endParaRPr lang="en-US" sz="1200" dirty="0"/>
          </a:p>
        </p:txBody>
      </p:sp>
      <p:sp>
        <p:nvSpPr>
          <p:cNvPr id="15" name="roadmap Exact incidence algebra"/>
          <p:cNvSpPr/>
          <p:nvPr/>
        </p:nvSpPr>
        <p:spPr>
          <a:xfrm>
            <a:off x="548640" y="2790749"/>
            <a:ext cx="11094415" cy="788213"/>
          </a:xfrm>
          <a:prstGeom prst="roundRect">
            <a:avLst>
              <a:gd name="adj" fmla="val 11601"/>
            </a:avLst>
          </a:prstGeom>
          <a:solidFill>
            <a:schemeClr val="bg2"/>
          </a:solidFill>
          <a:ln/>
        </p:spPr>
      </p:sp>
      <p:sp>
        <p:nvSpPr>
          <p:cNvPr id="16" name="icon Exact incidence algebra"/>
          <p:cNvSpPr/>
          <p:nvPr/>
        </p:nvSpPr>
        <p:spPr>
          <a:xfrm>
            <a:off x="713232" y="2965399"/>
            <a:ext cx="438912" cy="438912"/>
          </a:xfrm>
          <a:prstGeom prst="ellipse">
            <a:avLst/>
          </a:prstGeom>
          <a:solidFill>
            <a:schemeClr val="accent1"/>
          </a:solidFill>
          <a:ln/>
        </p:spPr>
      </p:sp>
      <p:pic>
        <p:nvPicPr>
          <p:cNvPr id="17" name="Image 1" descr="Exact incidence algebra">    </p:cNvPr>
          <p:cNvPicPr>
            <a:picLocks noChangeAspect="1"/>
          </p:cNvPicPr>
          <p:nvPr/>
        </p:nvPicPr>
        <p:blipFill>
          <a:blip r:embed="rId2"/>
          <a:stretch>
            <a:fillRect/>
          </a:stretch>
        </p:blipFill>
        <p:spPr>
          <a:xfrm>
            <a:off x="809793" y="3061960"/>
            <a:ext cx="245791" cy="245791"/>
          </a:xfrm>
          <a:prstGeom prst="rect">
            <a:avLst/>
          </a:prstGeom>
        </p:spPr>
      </p:pic>
      <p:sp>
        <p:nvSpPr>
          <p:cNvPr id="18" name="Text 14"/>
          <p:cNvSpPr txBox="1"/>
          <p:nvPr/>
        </p:nvSpPr>
        <p:spPr>
          <a:xfrm>
            <a:off x="1325880" y="2790749"/>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Exact incidence algebra</a:t>
            </a:r>
            <a:endParaRPr lang="en-US" sz="1500" dirty="0"/>
          </a:p>
        </p:txBody>
      </p:sp>
      <p:sp>
        <p:nvSpPr>
          <p:cNvPr id="19" name="Text 15"/>
          <p:cNvSpPr txBox="1"/>
          <p:nvPr/>
        </p:nvSpPr>
        <p:spPr>
          <a:xfrm>
            <a:off x="3383280" y="2790749"/>
            <a:ext cx="3017520" cy="788213"/>
          </a:xfrm>
          <a:prstGeom prst="rect">
            <a:avLst/>
          </a:prstGeom>
          <a:noFill/>
          <a:ln/>
        </p:spPr>
        <p:txBody>
          <a:bodyPr wrap="square" lIns="0" tIns="0" rIns="0" bIns="0" rtlCol="0" anchor="ctr"/>
          <a:lstStyle/>
          <a:p>
            <a:pPr indent="0" marL="0">
              <a:buNone/>
            </a:pPr>
            <a:r>
              <a:rPr lang="en-US" sz="1400" dirty="0">
                <a:solidFill>
                  <a:schemeClr val="tx1"/>
                </a:solidFill>
              </a:rPr>
              <a:t>Exact rank and kernels: conservation laws for RATES, Petri nets.</a:t>
            </a:r>
            <a:endParaRPr lang="en-US" sz="1400" dirty="0"/>
          </a:p>
        </p:txBody>
      </p:sp>
      <p:sp>
        <p:nvSpPr>
          <p:cNvPr id="20" name="Text 16"/>
          <p:cNvSpPr txBox="1"/>
          <p:nvPr/>
        </p:nvSpPr>
        <p:spPr>
          <a:xfrm>
            <a:off x="6629400" y="2790749"/>
            <a:ext cx="3017520" cy="788213"/>
          </a:xfrm>
          <a:prstGeom prst="rect">
            <a:avLst/>
          </a:prstGeom>
          <a:noFill/>
          <a:ln/>
        </p:spPr>
        <p:txBody>
          <a:bodyPr wrap="square" lIns="0" tIns="0" rIns="0" bIns="0" rtlCol="0" anchor="ctr"/>
          <a:lstStyle/>
          <a:p>
            <a:pPr indent="0" marL="0">
              <a:buNone/>
            </a:pPr>
            <a:r>
              <a:rPr lang="en-US" sz="1400" dirty="0">
                <a:solidFill>
                  <a:schemeClr val="tx1"/>
                </a:solidFill>
              </a:rPr>
              <a:t>Elimination identities, kernel equations; Farkas for infeasibility.</a:t>
            </a:r>
            <a:endParaRPr lang="en-US" sz="1400" dirty="0"/>
          </a:p>
        </p:txBody>
      </p:sp>
      <p:sp>
        <p:nvSpPr>
          <p:cNvPr id="21" name="Text 17"/>
          <p:cNvSpPr txBox="1"/>
          <p:nvPr/>
        </p:nvSpPr>
        <p:spPr>
          <a:xfrm>
            <a:off x="9875520" y="2790749"/>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Feinberg 1987 (deficiency, in adapters)</a:t>
            </a:r>
            <a:endParaRPr lang="en-US" sz="1200" dirty="0"/>
          </a:p>
        </p:txBody>
      </p:sp>
      <p:sp>
        <p:nvSpPr>
          <p:cNvPr id="22" name="roadmap Support certificates"/>
          <p:cNvSpPr/>
          <p:nvPr/>
        </p:nvSpPr>
        <p:spPr>
          <a:xfrm>
            <a:off x="548640" y="3670402"/>
            <a:ext cx="11094415" cy="788213"/>
          </a:xfrm>
          <a:prstGeom prst="roundRect">
            <a:avLst>
              <a:gd name="adj" fmla="val 11601"/>
            </a:avLst>
          </a:prstGeom>
          <a:solidFill>
            <a:schemeClr val="bg2"/>
          </a:solidFill>
          <a:ln/>
        </p:spPr>
      </p:sp>
      <p:sp>
        <p:nvSpPr>
          <p:cNvPr id="23" name="icon Support certificates"/>
          <p:cNvSpPr/>
          <p:nvPr/>
        </p:nvSpPr>
        <p:spPr>
          <a:xfrm>
            <a:off x="713232" y="3845052"/>
            <a:ext cx="438912" cy="438912"/>
          </a:xfrm>
          <a:prstGeom prst="ellipse">
            <a:avLst/>
          </a:prstGeom>
          <a:solidFill>
            <a:schemeClr val="accent1"/>
          </a:solidFill>
          <a:ln/>
        </p:spPr>
      </p:sp>
      <p:pic>
        <p:nvPicPr>
          <p:cNvPr id="24" name="Image 2" descr="Support certificates">    </p:cNvPr>
          <p:cNvPicPr>
            <a:picLocks noChangeAspect="1"/>
          </p:cNvPicPr>
          <p:nvPr/>
        </p:nvPicPr>
        <p:blipFill>
          <a:blip r:embed="rId3"/>
          <a:stretch>
            <a:fillRect/>
          </a:stretch>
        </p:blipFill>
        <p:spPr>
          <a:xfrm>
            <a:off x="809793" y="3941613"/>
            <a:ext cx="245791" cy="245791"/>
          </a:xfrm>
          <a:prstGeom prst="rect">
            <a:avLst/>
          </a:prstGeom>
        </p:spPr>
      </p:pic>
      <p:sp>
        <p:nvSpPr>
          <p:cNvPr id="25" name="Text 20"/>
          <p:cNvSpPr txBox="1"/>
          <p:nvPr/>
        </p:nvSpPr>
        <p:spPr>
          <a:xfrm>
            <a:off x="1325880" y="3670402"/>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Support certificates</a:t>
            </a:r>
            <a:endParaRPr lang="en-US" sz="1500" dirty="0"/>
          </a:p>
        </p:txBody>
      </p:sp>
      <p:sp>
        <p:nvSpPr>
          <p:cNvPr id="26" name="Text 21"/>
          <p:cNvSpPr txBox="1"/>
          <p:nvPr/>
        </p:nvSpPr>
        <p:spPr>
          <a:xfrm>
            <a:off x="3383280" y="3670402"/>
            <a:ext cx="3017520" cy="788213"/>
          </a:xfrm>
          <a:prstGeom prst="rect">
            <a:avLst/>
          </a:prstGeom>
          <a:noFill/>
          <a:ln/>
        </p:spPr>
        <p:txBody>
          <a:bodyPr wrap="square" lIns="0" tIns="0" rIns="0" bIns="0" rtlCol="0" anchor="ctr"/>
          <a:lstStyle/>
          <a:p>
            <a:pPr indent="0" marL="0">
              <a:buNone/>
            </a:pPr>
            <a:r>
              <a:rPr lang="en-US" sz="1400" dirty="0">
                <a:solidFill>
                  <a:schemeClr val="tx1"/>
                </a:solidFill>
              </a:rPr>
              <a:t>Support answers checked and revalidated without recomputing.</a:t>
            </a:r>
            <a:endParaRPr lang="en-US" sz="1400" dirty="0"/>
          </a:p>
        </p:txBody>
      </p:sp>
      <p:sp>
        <p:nvSpPr>
          <p:cNvPr id="27" name="Text 22"/>
          <p:cNvSpPr txBox="1"/>
          <p:nvPr/>
        </p:nvSpPr>
        <p:spPr>
          <a:xfrm>
            <a:off x="6629400" y="3670402"/>
            <a:ext cx="3017520" cy="788213"/>
          </a:xfrm>
          <a:prstGeom prst="rect">
            <a:avLst/>
          </a:prstGeom>
          <a:noFill/>
          <a:ln/>
        </p:spPr>
        <p:txBody>
          <a:bodyPr wrap="square" lIns="0" tIns="0" rIns="0" bIns="0" rtlCol="0" anchor="ctr"/>
          <a:lstStyle/>
          <a:p>
            <a:pPr indent="0" marL="0">
              <a:buNone/>
            </a:pPr>
            <a:r>
              <a:rPr lang="en-US" sz="1400" dirty="0">
                <a:solidFill>
                  <a:schemeClr val="tx1"/>
                </a:solidFill>
              </a:rPr>
              <a:t>Derivation ranks and closure under every rule prove the least fixpoint.</a:t>
            </a:r>
            <a:endParaRPr lang="en-US" sz="1400" dirty="0"/>
          </a:p>
        </p:txBody>
      </p:sp>
      <p:sp>
        <p:nvSpPr>
          <p:cNvPr id="28" name="Text 23"/>
          <p:cNvSpPr txBox="1"/>
          <p:nvPr/>
        </p:nvSpPr>
        <p:spPr>
          <a:xfrm>
            <a:off x="9875520" y="3670402"/>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Dowling–Gallier 1984; McConnell et al. 2011</a:t>
            </a:r>
            <a:endParaRPr lang="en-US" sz="1200" dirty="0"/>
          </a:p>
        </p:txBody>
      </p:sp>
      <p:sp>
        <p:nvSpPr>
          <p:cNvPr id="29" name="roadmap k-best paths"/>
          <p:cNvSpPr/>
          <p:nvPr/>
        </p:nvSpPr>
        <p:spPr>
          <a:xfrm>
            <a:off x="548640" y="4550054"/>
            <a:ext cx="11094415" cy="788213"/>
          </a:xfrm>
          <a:prstGeom prst="roundRect">
            <a:avLst>
              <a:gd name="adj" fmla="val 11601"/>
            </a:avLst>
          </a:prstGeom>
          <a:solidFill>
            <a:schemeClr val="bg2"/>
          </a:solidFill>
          <a:ln/>
        </p:spPr>
      </p:sp>
      <p:sp>
        <p:nvSpPr>
          <p:cNvPr id="30" name="icon k-best paths"/>
          <p:cNvSpPr/>
          <p:nvPr/>
        </p:nvSpPr>
        <p:spPr>
          <a:xfrm>
            <a:off x="713232" y="4724705"/>
            <a:ext cx="438912" cy="438912"/>
          </a:xfrm>
          <a:prstGeom prst="ellipse">
            <a:avLst/>
          </a:prstGeom>
          <a:solidFill>
            <a:schemeClr val="accent1"/>
          </a:solidFill>
          <a:ln/>
        </p:spPr>
      </p:sp>
      <p:pic>
        <p:nvPicPr>
          <p:cNvPr id="31" name="Image 3" descr="k-best paths">    </p:cNvPr>
          <p:cNvPicPr>
            <a:picLocks noChangeAspect="1"/>
          </p:cNvPicPr>
          <p:nvPr/>
        </p:nvPicPr>
        <p:blipFill>
          <a:blip r:embed="rId4"/>
          <a:stretch>
            <a:fillRect/>
          </a:stretch>
        </p:blipFill>
        <p:spPr>
          <a:xfrm>
            <a:off x="809793" y="4821265"/>
            <a:ext cx="245791" cy="245791"/>
          </a:xfrm>
          <a:prstGeom prst="rect">
            <a:avLst/>
          </a:prstGeom>
        </p:spPr>
      </p:pic>
      <p:sp>
        <p:nvSpPr>
          <p:cNvPr id="32" name="Text 26"/>
          <p:cNvSpPr txBox="1"/>
          <p:nvPr/>
        </p:nvSpPr>
        <p:spPr>
          <a:xfrm>
            <a:off x="1325880" y="4550054"/>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33" name="Text 27"/>
          <p:cNvSpPr txBox="1"/>
          <p:nvPr/>
        </p:nvSpPr>
        <p:spPr>
          <a:xfrm>
            <a:off x="3383280" y="4550054"/>
            <a:ext cx="3017520" cy="788213"/>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34" name="Text 28"/>
          <p:cNvSpPr txBox="1"/>
          <p:nvPr/>
        </p:nvSpPr>
        <p:spPr>
          <a:xfrm>
            <a:off x="6629400" y="4550054"/>
            <a:ext cx="3017520" cy="788213"/>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35" name="Text 29"/>
          <p:cNvSpPr txBox="1"/>
          <p:nvPr/>
        </p:nvSpPr>
        <p:spPr>
          <a:xfrm>
            <a:off x="9875520" y="4550054"/>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36" name="roadmap Incremental repair"/>
          <p:cNvSpPr/>
          <p:nvPr/>
        </p:nvSpPr>
        <p:spPr>
          <a:xfrm>
            <a:off x="548640" y="5429707"/>
            <a:ext cx="11094415" cy="788213"/>
          </a:xfrm>
          <a:prstGeom prst="roundRect">
            <a:avLst>
              <a:gd name="adj" fmla="val 11601"/>
            </a:avLst>
          </a:prstGeom>
          <a:solidFill>
            <a:schemeClr val="bg2"/>
          </a:solidFill>
          <a:ln/>
        </p:spPr>
      </p:sp>
      <p:sp>
        <p:nvSpPr>
          <p:cNvPr id="37" name="icon Incremental repair"/>
          <p:cNvSpPr/>
          <p:nvPr/>
        </p:nvSpPr>
        <p:spPr>
          <a:xfrm>
            <a:off x="713232" y="5604358"/>
            <a:ext cx="438912" cy="438912"/>
          </a:xfrm>
          <a:prstGeom prst="ellipse">
            <a:avLst/>
          </a:prstGeom>
          <a:solidFill>
            <a:schemeClr val="accent1"/>
          </a:solidFill>
          <a:ln/>
        </p:spPr>
      </p:sp>
      <p:pic>
        <p:nvPicPr>
          <p:cNvPr id="38" name="Image 4" descr="Incremental repair">    </p:cNvPr>
          <p:cNvPicPr>
            <a:picLocks noChangeAspect="1"/>
          </p:cNvPicPr>
          <p:nvPr/>
        </p:nvPicPr>
        <p:blipFill>
          <a:blip r:embed="rId5"/>
          <a:stretch>
            <a:fillRect/>
          </a:stretch>
        </p:blipFill>
        <p:spPr>
          <a:xfrm>
            <a:off x="809793" y="5700918"/>
            <a:ext cx="245791" cy="245791"/>
          </a:xfrm>
          <a:prstGeom prst="rect">
            <a:avLst/>
          </a:prstGeom>
        </p:spPr>
      </p:pic>
      <p:sp>
        <p:nvSpPr>
          <p:cNvPr id="39" name="Text 32"/>
          <p:cNvSpPr txBox="1"/>
          <p:nvPr/>
        </p:nvSpPr>
        <p:spPr>
          <a:xfrm>
            <a:off x="1325880" y="5429707"/>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40" name="Text 33"/>
          <p:cNvSpPr txBox="1"/>
          <p:nvPr/>
        </p:nvSpPr>
        <p:spPr>
          <a:xfrm>
            <a:off x="3383280" y="5429707"/>
            <a:ext cx="3017520" cy="788213"/>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41" name="Text 34"/>
          <p:cNvSpPr txBox="1"/>
          <p:nvPr/>
        </p:nvSpPr>
        <p:spPr>
          <a:xfrm>
            <a:off x="6629400" y="5429707"/>
            <a:ext cx="3017520" cy="788213"/>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42" name="Text 35"/>
          <p:cNvSpPr txBox="1"/>
          <p:nvPr/>
        </p:nvSpPr>
        <p:spPr>
          <a:xfrm>
            <a:off x="9875520" y="5429707"/>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Sixteen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2026-10-26T14:46:54Z</dcterms:created>
  <dcterms:modified xsi:type="dcterms:W3CDTF">2026-10-26T14:46:54Z</dcterms:modified>
</cp:coreProperties>
</file>