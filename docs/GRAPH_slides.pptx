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35aac3cf-3ccf-3997-36ec-25575b9e5e3b}">
          <p14:sldIdLst>
            <p14:sldId id="256"/>
            <p14:sldId id="257"/>
            <p14:sldId id="258"/>
          </p14:sldIdLst>
        </p14:section>
        <p14:section name="Architecture" id="{9df62fe0-8f1f-77d2-2677-7c5b5e19c720}">
          <p14:sldIdLst>
            <p14:sldId id="259"/>
            <p14:sldId id="260"/>
            <p14:sldId id="261"/>
          </p14:sldIdLst>
        </p14:section>
        <p14:section name="Operations" id="{b303326d-7dbf-870e-416d-c457cee15cdb}">
          <p14:sldIdLst>
            <p14:sldId id="262"/>
            <p14:sldId id="263"/>
            <p14:sldId id="264"/>
            <p14:sldId id="265"/>
            <p14:sldId id="266"/>
            <p14:sldId id="267"/>
            <p14:sldId id="268"/>
            <p14:sldId id="269"/>
            <p14:sldId id="270"/>
            <p14:sldId id="271"/>
            <p14:sldId id="272"/>
            <p14:sldId id="273"/>
            <p14:sldId id="274"/>
          </p14:sldIdLst>
        </p14:section>
        <p14:section name="Trust and results" id="{0b3023d1-a0de-88f9-e679-86fe855e101f}">
          <p14:sldIdLst>
            <p14:sldId id="275"/>
            <p14:sldId id="276"/>
            <p14:sldId id="277"/>
            <p14:sldId id="278"/>
            <p14:sldId id="279"/>
          </p14:sldIdLst>
        </p14:section>
        <p14:section name="Development" id="{7037eae4-0dbe-6270-1cd1-98631bfe4eaa}">
          <p14:sldIdLst>
            <p14:sldId id="280"/>
          </p14:sldIdLst>
        </p14:section>
        <p14:section name="Roadmap" id="{56f8093a-05e7-e875-d6dd-182224081686}">
          <p14:sldIdLst>
            <p14:sldId id="281"/>
            <p14:sldId id="282"/>
          </p14:sldIdLst>
        </p14:section>
        <p14:section name="Close" id="{46f502fe-5b84-e9d6-659a-2e32cea8994f}">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lvl>
              </c:multiLvlStrCache>
            </c:multiLvlStrRef>
          </c:cat>
          <c:val>
            <c:numRef>
              <c:f>Sheet1!$B$2:$B$13</c:f>
              <c:numCache>
                <c:formatCode>General</c:formatCode>
                <c:ptCount val="12"/>
                <c:pt idx="0">
                  <c:v>0.38</c:v>
                </c:pt>
                <c:pt idx="1">
                  <c:v>0.57</c:v>
                </c:pt>
                <c:pt idx="2">
                  <c:v>4.5</c:v>
                </c:pt>
                <c:pt idx="3">
                  <c:v>0.61</c:v>
                </c:pt>
                <c:pt idx="4">
                  <c:v>2.5</c:v>
                </c:pt>
                <c:pt idx="5">
                  <c:v>0.25</c:v>
                </c:pt>
                <c:pt idx="6">
                  <c:v>0.65</c:v>
                </c:pt>
                <c:pt idx="7">
                  <c:v>0.67</c:v>
                </c:pt>
                <c:pt idx="8">
                  <c:v>0.1</c:v>
                </c:pt>
                <c:pt idx="9">
                  <c:v>0.05</c:v>
                </c:pt>
                <c:pt idx="10">
                  <c:v>0.89</c:v>
                </c:pt>
                <c:pt idx="11">
                  <c:v>3.07</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lvl>
              </c:multiLvlStrCache>
            </c:multiLvlStrRef>
          </c:cat>
          <c:val>
            <c:numRef>
              <c:f>Sheet1!$C$2:$C$13</c:f>
              <c:numCache>
                <c:formatCode>General</c:formatCode>
                <c:ptCount val="12"/>
                <c:pt idx="0">
                  <c:v>0.34</c:v>
                </c:pt>
                <c:pt idx="1">
                  <c:v>0.36</c:v>
                </c:pt>
                <c:pt idx="2">
                  <c:v>6.4</c:v>
                </c:pt>
                <c:pt idx="3">
                  <c:v>4.25</c:v>
                </c:pt>
                <c:pt idx="4">
                  <c:v>2.1</c:v>
                </c:pt>
                <c:pt idx="5">
                  <c:v>0.81</c:v>
                </c:pt>
                <c:pt idx="6">
                  <c:v>0.93</c:v>
                </c:pt>
                <c:pt idx="7">
                  <c:v>0.26</c:v>
                </c:pt>
                <c:pt idx="8">
                  <c:v>0.13</c:v>
                </c:pt>
                <c:pt idx="9">
                  <c:v>0.54</c:v>
                </c:pt>
                <c:pt idx="10">
                  <c:v>0.92</c:v>
                </c:pt>
                <c:pt idx="11">
                  <c:v>0.3</c:v>
                </c:pt>
              </c:numCache>
            </c:numRef>
          </c:val>
        </c:ser>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Sheet1!$A$2:$A$28</c:f>
              <c:multiLvlStrCache>
                <c:ptCount val="27"/>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pt idx="25">
                    <c:v>min-cost</c:v>
                  </c:pt>
                  <c:pt idx="26">
                    <c:v>cyc. count</c:v>
                  </c:pt>
                </c:lvl>
              </c:multiLvlStrCache>
            </c:multiLvlStrRef>
          </c:cat>
          <c:val>
            <c:numRef>
              <c:f>Sheet1!$B$2:$B$28</c:f>
              <c:numCache>
                <c:formatCode>General</c:formatCode>
                <c:ptCount val="27"/>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pt idx="25">
                  <c:v>188</c:v>
                </c:pt>
                <c:pt idx="26">
                  <c:v>195</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9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23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git log ae48035, f65497b, ffd474a.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Checked by: Each path is a witness a checker confirms. The ranking is Yen's theorem, tested on 700 random cases: not certified or revalidated.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The ranking is not certified, so revalidation answers unknown (not_certified).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(with counting without listing), Injective patterns; §6; tests/test_injective_pattern.py, tests/test_cyclic_count.py; git log 8b79971, 7b39f7d, b7e4f12, b7bbe3a.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two supports of a claim from one dataset, a triangle of citations. Algorithm: Listed by a worst-case optimal join (Ngo, Porat, Ré and Rudra); counted without listing by variable elimination over a tree decomposition (FAQ). Checked by: Rows against brute force (300 random patterns); totals against brute force and numpy einsum (850 more). Not certified; never denies. Listing: the join intersects a variable's candidates with what every closing step allows, iterating the smallest set first (Veldhuizen's Leapfrog Triejoin); an interruption keeps a prefix of the rows and never denies. Counting without listing (docs/API_CONTRACT.md §4, Pattern; git log b7bbe3a): answer count and exists compute the total as a sum of products over the required variables (FAQ's InsideOut; Abo Khamis, Ngo and Rudra, 2016). Each required step is a factor of hop counts between its variables' nodes, optional branches fold in as the number of ways they continue, variables are eliminated in a weighted min-fill order planned from the pattern alone (a tree decomposition), and each bag is joined by a generic join and summed out. answer rows lists rows only up to max_results, then counts the rest. A hub (more than 16 neighbours) is ordered last without its fill; an order needing a bag of more than 32 neighbours counts by listing instead. Every part of the work is charged to the expansion budget before it is done, and a batch of k expansions checks the deadline and cancellation exactly as k single ones would. Totals and rows are unchanged; expansions, and so cyclic pattern result_ids, changed. No certificate: a pattern's total is left to oracles, as for tree patterns (the survey's dynamic-programming transcript is not built). Tests (tests/test_cyclic_count.py): 250 random patterns against numpy einsum over hop-count matrices, 300 with optional branches and 300 under max_results against brute force, triangle counts against networkx, trace(A^4) on K(n, n); 7 hand-worked conformance cases on G23 and G13, two pinning the exact budget boundary. Benchmarks (owner's machine, heavily loaded; against the previous commit's listing, the same totals): closed 4-walks on K(30, 30), 1,620,000 rows, 0.04 s against 3.7 s (116k against 3.3 million expansions); closed 5-walks on a random graph of 1,000 nodes and 5,000 edges 1.1 s against 6.1 s; a provenance diamond 0.14 s against 1.05 s; triangles on par. On K(60, 60), 25.9 million closed 4-walks are counted with 894k expansions; listing them would need about 53 million.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Minimum-cost flow, Matching (and its Costs); §6; tests/test_min_cost_flow.py, tests/test_weighted_matching.py; git log 573ce2b, 70ff8b4, 066dbab.
max_flow: Throughput, and the cut that limits it. Theory: As much as the capacities let through from sources to targets (Ford and Fulkerson, 1956). Unit capacities count disjoint paths. Algorithm: Dinic (1970) in exact integers: breadth-first levels in the residual graph, then a blocking flow, built only where read. Certificate proves: The cut's source side: a checker confirms the flow and recomputes a cut of the same value, so both are optimal. Unit capacities count edge- or node-disjoint paths (Menger, 1927). Dinic's algorithm (1970) in exact integers: breadth-first levels in the residual graph, then a blocking flow; the residual graph is built only where the search reads it. Certificate: the cut's source side; a checker confirms the flow and recomputes a cut of the same value from the records, so both are optimal (max-flow min-cut theorem).
min_cost_flow: A throughput at least cost. Theory: Send a value, or as much as possible, at least total cost: supply chains, the cheapest routes. Exact capacities and costs. Algorithm: Successive shortest paths: Dijkstra on costs reduced by potentials, then augment along the cheapest path (Edmonds and Karp). Certificate proves: Potentials leave no residual arc negative, so none is cheaper; for a maximum flow, a minimum cut shows none is larger. docs/API_CONTRACT.md §4, Minimum-cost flow: each hop in scope carries at most its edge's capacity at its edge's cost per unit (an edge in scope both ways carries flow either way, up to its capacity each way); a loop carries nothing. Capacities, costs and the value are exact (floats as exact rationals); costs are non-negative. Successive shortest paths (Jewell, 1958; Busacker and Gowen, 1960; with potentials, Edmonds and Karp, 1972, and Tomizawa, 1971): a virtual source feeds the sources and a virtual sink drains the targets; each phase is Dijkstra's search over the residual network on costs reduced by potentials, an augmentation along the cheapest path, and the potentials raised by the search's distances. The flow of each value reached is a cheapest one of that value. When the value asked for cannot be sent, the answer is a maximum flow at least cost, feasible false. An interrupted search keeps the flow sent, valid but never claimed cheapest or largest. Certificate (kind potentials): potentials for every node with a hop in scope and for the virtual source and sink; every residual arc costs nothing negative once reduced, so no flow of the same value is cheaper; for a maximum flow, source_side is a minimum cut's (every source and no target, every hop out full and every hop in empty), so no flow is larger. The verifier checks all of it from the records; revalidated by certificate (§7). A Codex adversarial review found that a flow's stated relation went unchecked (a relabelled edge revalidated as holding) and that an interrupted answer could send more than was asked; both fixed with regressions. Tests (tests/test_min_cost_flow.py): 500 random cases agree with networkx (a middle-node network, so parallel edges and two-way scopes stay distinct) on value and least cost, or on the maximum flow's least cost when infeasible; rational capacities, costs and values are exact; forgeries are refused; 3 hand-worked conformance cases. Benchmark (git log 70ff8b4): 500 nodes and 3,000 edges, 0.04 s (networkx max_flow_min_cost 0.17 s); 5,000 nodes and 30,000 edges, 0.61 s (networkx 4.25 s), proven in 0.11 s.
matching: Distinct pairings, at least cost. Theory: A maximum matching of a left set to partners outside it, no node twice. With costs, the cheapest of the largest: the assignment problem. Algorithm: Hopcroft and Karp (1973); with costs, the Hungarian method: successive shortest paths on costs reduced by potentials. Certificate proves: König's vertex cover (1931): as many nodes as pairs, so none is larger; with costs, potentials leave no residual arc negative. Samples to instruments, claims to reviewers.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matchings with costs and minimum-cost flows are revalidated by their certificates; k shortest paths are not certified, so they are unknown, not_certified)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(631 pass), src/graph_runtime/conformance/cases.json (195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stale nearest cut held and contradicted answers left unknown (incidence, 05d3ea5); exact fields beside false values and unpolled controls (critical path, 1d6dbbf); a nonuniform PageRank start, a lenient ranking revalidation and a quadratic cyclic join (107dc68, the review of 26 October's increments together); the negative-cost review was otherwise sound on 12,000 random graphs against an oracle. 70ff8b4 (minimum-cost flows: a flow's stated relation went unchecked, so a relabelled edge revalidated as holding; an interrupted answer could send more than was asked; both fixed with regressions); b7bbe3a (cyclic pattern counts, four review passes, each finding fixed with a regression test: planning the elimination order was cubic on an 800-variable star pattern, 7.4 s for one row; a batched expansion charge checked cancellation only once per batch, so a batch of k now checks the deadline and cancellation exactly as k single expansions would; planning on K(17, n) patterns and wide bags was not charged to the budget; request normalization of patterns with many steps was quadratic, rebuilding the edge-variable set per step; the setup of a 100,000-spoke pattern was not charged; growing products, up to 2^400000, were built before a zero loop factor, which now removes its node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Min-cost flow (git log 70ff8b4): 5,000 nodes and 30,000 random edges, capacities 1 to 10 and costs 0 to 20, 5 sources and 5 targets, as much as possible: GRAPH 0.61 s with its certificate, proven in 0.11 s; networkx max_flow_min_cost 4.25 s on the same network with a middle node per edge (so parallel edges stay distinct); on 500 nodes and 3,000 edges, GRAPH 0.04 s, networkx 0.17 s. Machine load for the last six was not recorded in the commits. Cyclic pattern counts (git log b7bbe3a), not charted because the comparison is with GRAPH's own earlier listing (the previous commit, 105393c, with its budget raised so both finish), not with networkx; measured on the owner's machine under heavy load from other processes, the same totals throughout: closed 4-walks on the complete bipartite graph K(30, 30), both directions, 1,620,000 rows, 0.04 s against 3.7 s, 116k against 3.3 million expansions; closed 5-walks on networkx gnm_random_graph(1000, 5000), 149,300 rows, 1.1 s against 6.1 s; a provenance diamond (300 claims and 40 measurements in 30 datasets: two supports of a claim from one dataset), 27,432 rows, 0.14 s against 1.05 s, 111k against 572k expansions; closed 4-walks on gnm_random_graph(2000, 8000), 274,524 rows, 0.31 s against 1.11 s; triangles (closed 3-walks) on gnm_random_graph(3000, 30000), 0.44 s against 0.40 s, on par (networkx triangles takes 0.04 s for the plain triangle count); closed 4-walks on K(60, 60), 25.9 million rows, counted with 894k expansions where listing would need about 53 million.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b7bbe3a (27 October, 10:28): 48 commits, slide commits included; some rows group neighbouring commits (17:17 is v0 with the independent review's fixes at 17:36, 8917563, and the Codex review behind contract v0.1 at 20:46, 7ff04db; 10:29 is flows and matching, 573ce2b, with dominators at 10:43, 1e8678d, and revalidation by certificate at 10:47, 0a58767; 11:16 is incidence, 05d3ea5, with critical paths at 11:32, 1d6dbbf, and d-separation at 11:44, 83f9ffe; 17:45 is the fixes from a review of the day's increments, 107dc68, with support certificates at 18:23, 297ca1e; 22:38 is injective patterns, b7e4f12, with spanning forests at 22:55, 741c2dd, and cycle bases at 23:11, a482dbf; 23:25 is weighted matching, 066dbab, with k shortest paths at 23:40, ffd474a; 23:59 is minimum-cost flows, 70ff8b4; on 27 October, 00:04 is a slide commit, 105393c, and 10:28 is cyclic patterns counted without listing, b7bbe3a), and 22:11 is two (260d7b2, the projection identity hashed with each node ID, relation and type encoded once: 61 to 34 ms, the build 245 to 206 ms on 50,000 nodes and 150,000 edges, identity bytes unchanged on 400 random projections; 97723bb, negative costs). Conformance case counts are from the commit messages (34 at v0, then 49, 54, 62, 70, 74, 78, 91, 100, 112, 116, 121, 133, 143, 148, 153, 158, 165, 168, 173, 176, 180, 182, 183, 185, 188) and cases.json now (195). Tests: 178 → 631.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Eight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k shortest simple paths (ffd474a: Yen with Lawler's rule; the survey's certificate, a Lawler partition tree proving the ranking, is not built: each path is a checked witness and the ranking is tested against an oracle); and min-cost flow (70ff8b4: successive shortest paths with potentials, the rest of item 5; costs non-negative, so the survey's pseudoflow start for negative arcs is not needed; proven by residual potentials and, for a maximum flow, a minimum cut); and cyclic pattern counting (b7bbe3a: variable elimination along a tree decomposition, FAQ's InsideOut, in a weighted min-fill order planned from the pattern alone, with a generic join inside each bag; the survey's certificate, a decomposition and dynamic-programming transcript (count_dp) whose messages a checker recomputes, is not built: a pattern's total is left to oracles, numpy einsum and brute force, as for tree patterns). Survey notes per row: reachability index (strong components condensed, then pruned landmark 2-hop labels; Cohen, Halperin, Kaplan and Zwick 2003; Akiba, Iwata and Yoshida 2013; a positive expands hub routing pointers into ordinary hops, checked in the walk's length; disjoint labels alone do not prove a negative, which needs a closed set); positive Datalog (range-restricted, function-free, semi-naive evaluation; a derivation tree or DAG with strictly increasing ranks, checked in the proof's size; Abiteboul, Hull and Vianu 1995; Green, Karvounarakis and Tannen 2007, provenance semirings); isomorphism and canonical labeling (individualization-refinement; a vertex and edge bijection proves isomorphism in linear time; non-isomorphism and canonical forms need an independently checked individualization-refinement trace, possibly exponential; McKay and Piperno 2014; useful for scientific deduplication); elementary flux modes (exact double description over the incidence operation's stoichiometric matrix, small networks first; each mode's exact balance, and rank(S_J) = |J| - 1 shown by a nonsingular minor, prove its support minimal; completeness needs a full transcript; Gagneur and Klamt 2004; Terzer and Stelling 2008).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23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Twenty-three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critical_path · d_separation · dominators</a:t>
            </a:r>
            <a:endParaRPr lang="en-US" sz="1200" dirty="0"/>
          </a:p>
        </p:txBody>
      </p:sp>
      <p:sp>
        <p:nvSpPr>
          <p:cNvPr id="15" name="Text 11"/>
          <p:cNvSpPr txBox="1"/>
          <p:nvPr/>
        </p:nvSpPr>
        <p:spPr>
          <a:xfrm>
            <a:off x="4539386"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AND/OR rules, schedules and slack, causal independence, unavoidable nodes.</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a:t>
            </a:r>
            <a:endParaRPr lang="en-US" sz="1200" dirty="0"/>
          </a:p>
        </p:txBody>
      </p:sp>
      <p:sp>
        <p:nvSpPr>
          <p:cNvPr id="21" name="Text 16"/>
          <p:cNvSpPr txBox="1"/>
          <p:nvPr/>
        </p:nvSpPr>
        <p:spPr>
          <a:xfrm>
            <a:off x="8328965" y="2845308"/>
            <a:ext cx="3112922" cy="83515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too (variable elimination); injective substructure search.</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a:t>
            </a:r>
            <a:endParaRPr lang="en-US" sz="1200" dirty="0"/>
          </a:p>
        </p:txBody>
      </p:sp>
      <p:sp>
        <p:nvSpPr>
          <p:cNvPr id="27" name="Text 21"/>
          <p:cNvSpPr txBox="1"/>
          <p:nvPr/>
        </p:nvSpPr>
        <p:spPr>
          <a:xfrm>
            <a:off x="749808"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and conservation laws.</a:t>
            </a:r>
            <a:endParaRPr lang="en-US" sz="1400" dirty="0"/>
          </a:p>
        </p:txBody>
      </p:sp>
      <p:sp>
        <p:nvSpPr>
          <p:cNvPr id="28" name="family Rings and crystals"/>
          <p:cNvSpPr/>
          <p:nvPr/>
        </p:nvSpPr>
        <p:spPr>
          <a:xfrm>
            <a:off x="4338218" y="4091940"/>
            <a:ext cx="3515258" cy="2125980"/>
          </a:xfrm>
          <a:prstGeom prst="roundRect">
            <a:avLst>
              <a:gd name="adj" fmla="val 4301"/>
            </a:avLst>
          </a:prstGeom>
          <a:solidFill>
            <a:schemeClr val="bg2"/>
          </a:solidFill>
          <a:ln/>
        </p:spPr>
      </p:sp>
      <p:sp>
        <p:nvSpPr>
          <p:cNvPr id="29" name="icon Rings and crystals"/>
          <p:cNvSpPr/>
          <p:nvPr/>
        </p:nvSpPr>
        <p:spPr>
          <a:xfrm>
            <a:off x="4539386" y="4293108"/>
            <a:ext cx="502920" cy="502920"/>
          </a:xfrm>
          <a:prstGeom prst="ellipse">
            <a:avLst/>
          </a:prstGeom>
          <a:solidFill>
            <a:schemeClr val="accent1"/>
          </a:solidFill>
          <a:ln/>
        </p:spPr>
      </p:sp>
      <p:pic>
        <p:nvPicPr>
          <p:cNvPr id="30" name="Image 4" descr="Rings and crystals">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Rings and crystals</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cycle_basis · 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Ring perception;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min_cost_flow · matching</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throughput at least cost,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Each path is a witness a checker confirms. The ranking is Yen's theorem, tested on 700 random cases: not certified or revalidated.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Listed by a worst-case optimal join (Ngo, Porat, Ré and Rudra); counted without listing by variable elimination over a tree decomposition (FAQ).</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Rows against brute force (300 random patterns); totals against brute force and numpy einsum (850 more). Not certified;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cost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potentials for its cost, a cover for a matching.</a:t>
            </a:r>
            <a:endParaRPr lang="en-US" sz="1600" dirty="0"/>
          </a:p>
        </p:txBody>
      </p:sp>
      <p:sp>
        <p:nvSpPr>
          <p:cNvPr id="4" name="operation max_flow"/>
          <p:cNvSpPr/>
          <p:nvPr/>
        </p:nvSpPr>
        <p:spPr>
          <a:xfrm>
            <a:off x="548640" y="1691640"/>
            <a:ext cx="3515258" cy="4526280"/>
          </a:xfrm>
          <a:prstGeom prst="roundRect">
            <a:avLst>
              <a:gd name="adj" fmla="val 2601"/>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sources to targets (Ford and Fulkerson, 1956). Unit capacities count disjoint paths.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 (1970) in exact integers: breadth-first levels in the residual graph, then a blocking flow, built only where read.</a:t>
            </a:r>
            <a:endParaRPr lang="en-US" sz="1400" dirty="0"/>
          </a:p>
        </p:txBody>
      </p:sp>
      <p:sp>
        <p:nvSpPr>
          <p:cNvPr id="9" name="proof max_flow"/>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so both are optimal.</a:t>
            </a:r>
            <a:endParaRPr lang="en-US" sz="1400" dirty="0"/>
          </a:p>
        </p:txBody>
      </p:sp>
      <p:sp>
        <p:nvSpPr>
          <p:cNvPr id="13" name="operation min_cost_flow"/>
          <p:cNvSpPr/>
          <p:nvPr/>
        </p:nvSpPr>
        <p:spPr>
          <a:xfrm>
            <a:off x="4338218" y="1691640"/>
            <a:ext cx="3515258" cy="4526280"/>
          </a:xfrm>
          <a:prstGeom prst="roundRect">
            <a:avLst>
              <a:gd name="adj" fmla="val 2601"/>
            </a:avLst>
          </a:prstGeom>
          <a:solidFill>
            <a:schemeClr val="bg2"/>
          </a:solidFill>
          <a:ln/>
        </p:spPr>
      </p:sp>
      <p:sp>
        <p:nvSpPr>
          <p:cNvPr id="14" name="icon min_cost_flow"/>
          <p:cNvSpPr/>
          <p:nvPr/>
        </p:nvSpPr>
        <p:spPr>
          <a:xfrm>
            <a:off x="4539386" y="1892808"/>
            <a:ext cx="512064" cy="512064"/>
          </a:xfrm>
          <a:prstGeom prst="ellipse">
            <a:avLst/>
          </a:prstGeom>
          <a:solidFill>
            <a:schemeClr val="accent1"/>
          </a:solidFill>
          <a:ln/>
        </p:spPr>
      </p:sp>
      <p:pic>
        <p:nvPicPr>
          <p:cNvPr id="15" name="Image 2" descr="min_cost_flow">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min_cost_flow</a:t>
            </a:r>
            <a:endParaRPr lang="en-US" sz="1500" dirty="0"/>
          </a:p>
          <a:p>
            <a:pPr indent="0" marL="0">
              <a:buNone/>
            </a:pPr>
            <a:r>
              <a:rPr lang="en-US" sz="1500" b="1" dirty="0">
                <a:solidFill>
                  <a:schemeClr val="tx1"/>
                </a:solidFill>
              </a:rPr>
              <a:t>A throughput at least cost</a:t>
            </a:r>
            <a:endParaRPr lang="en-US" sz="1500" dirty="0"/>
          </a:p>
        </p:txBody>
      </p:sp>
      <p:sp>
        <p:nvSpPr>
          <p:cNvPr id="17" name="Text 12"/>
          <p:cNvSpPr txBox="1"/>
          <p:nvPr/>
        </p:nvSpPr>
        <p:spPr>
          <a:xfrm>
            <a:off x="4539386"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Send a value, or as much as possible, at least total cost: supply chains, the cheapest routes. Exact capacities and costs.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Successive shortest paths: Dijkstra on costs reduced by potentials, then augment along the cheapest path (Edmonds and Karp).</a:t>
            </a:r>
            <a:endParaRPr lang="en-US" sz="1400" dirty="0"/>
          </a:p>
        </p:txBody>
      </p:sp>
      <p:sp>
        <p:nvSpPr>
          <p:cNvPr id="18" name="proof min_cost_flow"/>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leave no residual arc negative, so none is cheaper; for a maximum flow, a minimum cut shows none is larger.</a:t>
            </a:r>
            <a:endParaRPr lang="en-US" sz="1400" dirty="0"/>
          </a:p>
        </p:txBody>
      </p:sp>
      <p:sp>
        <p:nvSpPr>
          <p:cNvPr id="22" name="operation matching"/>
          <p:cNvSpPr/>
          <p:nvPr/>
        </p:nvSpPr>
        <p:spPr>
          <a:xfrm>
            <a:off x="8127797" y="1691640"/>
            <a:ext cx="3515258" cy="4526280"/>
          </a:xfrm>
          <a:prstGeom prst="roundRect">
            <a:avLst>
              <a:gd name="adj" fmla="val 2601"/>
            </a:avLst>
          </a:prstGeom>
          <a:solidFill>
            <a:schemeClr val="bg2"/>
          </a:solidFill>
          <a:ln/>
        </p:spPr>
      </p:sp>
      <p:sp>
        <p:nvSpPr>
          <p:cNvPr id="23" name="icon matching"/>
          <p:cNvSpPr/>
          <p:nvPr/>
        </p:nvSpPr>
        <p:spPr>
          <a:xfrm>
            <a:off x="8328965" y="1892808"/>
            <a:ext cx="512064" cy="512064"/>
          </a:xfrm>
          <a:prstGeom prst="ellipse">
            <a:avLst/>
          </a:prstGeom>
          <a:solidFill>
            <a:schemeClr val="accent1"/>
          </a:solidFill>
          <a:ln/>
        </p:spPr>
      </p:sp>
      <p:pic>
        <p:nvPicPr>
          <p:cNvPr id="24" name="Image 4" descr="matching">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Distinct pairings, at least cost</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twice.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with costs, the Hungarian method: successive shortest paths on costs reduced by potentials.</a:t>
            </a:r>
            <a:endParaRPr lang="en-US" sz="1400" dirty="0"/>
          </a:p>
        </p:txBody>
      </p:sp>
      <p:sp>
        <p:nvSpPr>
          <p:cNvPr id="27" name="proof matching"/>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so none is larger; with costs, potentials leave no residual arc negative.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631</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195</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every finding is fixed with a regression. Among them: a request_id collision and certificate holes (structure); an unverified interrupted bound (max flow); an unchecked relation (min-cost flow); quadratic checks (dominators, support) and memory (k shortest paths); cubic planning, uncharged work and batches checking cancellation once (cyclic counts); floats that let a false rank or potentials verify (incidence, weighted matching); a path from outside the sources' region (critical path); a whole certificate read for any edit (negative costs); the recursion limit (injective patterns); frozen answers left unchecked (forests); a repeated witness link (cycle bases); a misordered path list (k shortest paths).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180588"/>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180588"/>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100k nodes, 500k edges; min-cost flow 5k nodes, 30k edges; matching 50k + 50k; dominators and forest 300k edges; critical path 400k (networkx: no order certificate). Negative costs 20k nodes; weighted 300 + 300; hexagons in 1,300 atoms; 20 shortest paths in 20k nodes (networkx searches both ways). Not charted: 1.6 M closed 4-walks on K(30,30) counted in 0.04 s, against 3.7 s by GRAPH's earlier listing.</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5"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Forty-eight commits on 25–27 October 2026: from four operations to twenty-three.</a:t>
            </a:r>
            <a:endParaRPr lang="en-US" sz="1600" dirty="0"/>
          </a:p>
        </p:txBody>
      </p:sp>
      <p:sp>
        <p:nvSpPr>
          <p:cNvPr id="4" name="Shape 2"/>
          <p:cNvSpPr/>
          <p:nvPr/>
        </p:nvSpPr>
        <p:spPr>
          <a:xfrm>
            <a:off x="1508760" y="1817370"/>
            <a:ext cx="0" cy="4274820"/>
          </a:xfrm>
          <a:prstGeom prst="line">
            <a:avLst/>
          </a:prstGeom>
          <a:noFill/>
          <a:ln w="25400">
            <a:solidFill>
              <a:schemeClr val="accent5"/>
            </a:solidFill>
            <a:prstDash val="solid"/>
          </a:ln>
        </p:spPr>
      </p:sp>
      <p:sp>
        <p:nvSpPr>
          <p:cNvPr id="5" name="Text 3"/>
          <p:cNvSpPr txBox="1"/>
          <p:nvPr/>
        </p:nvSpPr>
        <p:spPr>
          <a:xfrm>
            <a:off x="1783080" y="1691640"/>
            <a:ext cx="4389120" cy="251460"/>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1995678"/>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4310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43100"/>
            <a:ext cx="4434840" cy="251460"/>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47138"/>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19456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194560"/>
            <a:ext cx="4434840" cy="251460"/>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498598"/>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4602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46020"/>
            <a:ext cx="4434840" cy="251460"/>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697480"/>
            <a:ext cx="4389120" cy="251460"/>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3001518"/>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294894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2948940"/>
            <a:ext cx="4434840" cy="251460"/>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252978"/>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20040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200400"/>
            <a:ext cx="4434840" cy="251460"/>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504438"/>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45186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451860"/>
            <a:ext cx="4434840" cy="25146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755898"/>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70332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703320"/>
            <a:ext cx="4434840" cy="25146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4007358"/>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395478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3954780"/>
            <a:ext cx="4434840" cy="25146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a:t>
            </a:r>
            <a:endParaRPr lang="en-US" sz="1300" dirty="0"/>
          </a:p>
        </p:txBody>
      </p:sp>
      <p:sp>
        <p:nvSpPr>
          <p:cNvPr id="31" name="milestone 11:16"/>
          <p:cNvSpPr/>
          <p:nvPr/>
        </p:nvSpPr>
        <p:spPr>
          <a:xfrm>
            <a:off x="1435608" y="4258818"/>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20624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3" name="Text 31"/>
          <p:cNvSpPr txBox="1"/>
          <p:nvPr/>
        </p:nvSpPr>
        <p:spPr>
          <a:xfrm>
            <a:off x="1783080" y="4206240"/>
            <a:ext cx="4434840" cy="25146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4" name="milestone 17:45"/>
          <p:cNvSpPr/>
          <p:nvPr/>
        </p:nvSpPr>
        <p:spPr>
          <a:xfrm>
            <a:off x="1435608" y="4510278"/>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45770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6" name="Text 34"/>
          <p:cNvSpPr txBox="1"/>
          <p:nvPr/>
        </p:nvSpPr>
        <p:spPr>
          <a:xfrm>
            <a:off x="1783080" y="4457700"/>
            <a:ext cx="4434840" cy="251460"/>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37" name="milestone 22:11"/>
          <p:cNvSpPr/>
          <p:nvPr/>
        </p:nvSpPr>
        <p:spPr>
          <a:xfrm>
            <a:off x="1435608" y="4761738"/>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70916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39" name="Text 37"/>
          <p:cNvSpPr txBox="1"/>
          <p:nvPr/>
        </p:nvSpPr>
        <p:spPr>
          <a:xfrm>
            <a:off x="1783080" y="4709160"/>
            <a:ext cx="4434840" cy="251460"/>
          </a:xfrm>
          <a:prstGeom prst="rect">
            <a:avLst/>
          </a:prstGeom>
          <a:noFill/>
          <a:ln/>
        </p:spPr>
        <p:txBody>
          <a:bodyPr wrap="square" lIns="0" tIns="0" rIns="0" bIns="0" rtlCol="0" anchor="ctr"/>
          <a:lstStyle/>
          <a:p>
            <a:pPr indent="0" marL="0">
              <a:buNone/>
            </a:pPr>
            <a:r>
              <a:rPr lang="en-US" sz="1400" dirty="0">
                <a:solidFill>
                  <a:schemeClr val="tx1"/>
                </a:solidFill>
              </a:rPr>
              <a:t>Negative costs · faster projection identity</a:t>
            </a:r>
            <a:endParaRPr lang="en-US" sz="1400" dirty="0"/>
          </a:p>
        </p:txBody>
      </p:sp>
      <p:sp>
        <p:nvSpPr>
          <p:cNvPr id="40" name="milestone 22:38"/>
          <p:cNvSpPr/>
          <p:nvPr/>
        </p:nvSpPr>
        <p:spPr>
          <a:xfrm>
            <a:off x="1435608" y="5013198"/>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496062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22:38</a:t>
            </a:r>
            <a:endParaRPr lang="en-US" sz="1300" dirty="0"/>
          </a:p>
        </p:txBody>
      </p:sp>
      <p:sp>
        <p:nvSpPr>
          <p:cNvPr id="42" name="Text 40"/>
          <p:cNvSpPr txBox="1"/>
          <p:nvPr/>
        </p:nvSpPr>
        <p:spPr>
          <a:xfrm>
            <a:off x="1783080" y="4960620"/>
            <a:ext cx="4434840" cy="251460"/>
          </a:xfrm>
          <a:prstGeom prst="rect">
            <a:avLst/>
          </a:prstGeom>
          <a:noFill/>
          <a:ln/>
        </p:spPr>
        <p:txBody>
          <a:bodyPr wrap="square" lIns="0" tIns="0" rIns="0" bIns="0" rtlCol="0" anchor="ctr"/>
          <a:lstStyle/>
          <a:p>
            <a:pPr indent="0" marL="0">
              <a:buNone/>
            </a:pPr>
            <a:r>
              <a:rPr lang="en-US" sz="1400" dirty="0">
                <a:solidFill>
                  <a:schemeClr val="tx1"/>
                </a:solidFill>
              </a:rPr>
              <a:t>Injective patterns · forests · </a:t>
            </a:r>
            <a:pPr indent="0" marL="0">
              <a:buNone/>
            </a:pPr>
            <a:r>
              <a:rPr lang="en-US" sz="1300" dirty="0">
                <a:solidFill>
                  <a:schemeClr val="tx1"/>
                </a:solidFill>
                <a:latin typeface="Courier New" pitchFamily="34" charset="0"/>
                <a:ea typeface="Courier New" pitchFamily="34" charset="-122"/>
                <a:cs typeface="Courier New" pitchFamily="34" charset="-120"/>
              </a:rPr>
              <a:t>cycle_basis</a:t>
            </a:r>
            <a:endParaRPr lang="en-US" sz="1400" dirty="0"/>
          </a:p>
        </p:txBody>
      </p:sp>
      <p:sp>
        <p:nvSpPr>
          <p:cNvPr id="43" name="milestone 23:25"/>
          <p:cNvSpPr/>
          <p:nvPr/>
        </p:nvSpPr>
        <p:spPr>
          <a:xfrm>
            <a:off x="1435608" y="5264658"/>
            <a:ext cx="146304" cy="146304"/>
          </a:xfrm>
          <a:prstGeom prst="ellipse">
            <a:avLst/>
          </a:prstGeom>
          <a:solidFill>
            <a:schemeClr val="accent1"/>
          </a:solidFill>
          <a:ln w="19050">
            <a:solidFill>
              <a:schemeClr val="bg1"/>
            </a:solidFill>
            <a:prstDash val="solid"/>
          </a:ln>
        </p:spPr>
      </p:sp>
      <p:sp>
        <p:nvSpPr>
          <p:cNvPr id="44" name="Text 42"/>
          <p:cNvSpPr txBox="1"/>
          <p:nvPr/>
        </p:nvSpPr>
        <p:spPr>
          <a:xfrm>
            <a:off x="548640" y="521208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23:25</a:t>
            </a:r>
            <a:endParaRPr lang="en-US" sz="1300" dirty="0"/>
          </a:p>
        </p:txBody>
      </p:sp>
      <p:sp>
        <p:nvSpPr>
          <p:cNvPr id="45" name="Text 43"/>
          <p:cNvSpPr txBox="1"/>
          <p:nvPr/>
        </p:nvSpPr>
        <p:spPr>
          <a:xfrm>
            <a:off x="1783080" y="5212080"/>
            <a:ext cx="4434840" cy="251460"/>
          </a:xfrm>
          <a:prstGeom prst="rect">
            <a:avLst/>
          </a:prstGeom>
          <a:noFill/>
          <a:ln/>
        </p:spPr>
        <p:txBody>
          <a:bodyPr wrap="square" lIns="0" tIns="0" rIns="0" bIns="0" rtlCol="0" anchor="ctr"/>
          <a:lstStyle/>
          <a:p>
            <a:pPr indent="0" marL="0">
              <a:buNone/>
            </a:pPr>
            <a:r>
              <a:rPr lang="en-US" sz="1400" dirty="0">
                <a:solidFill>
                  <a:schemeClr val="tx1"/>
                </a:solidFill>
              </a:rPr>
              <a:t>Weighted matching · </a:t>
            </a:r>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endParaRPr lang="en-US" sz="1400" dirty="0"/>
          </a:p>
        </p:txBody>
      </p:sp>
      <p:sp>
        <p:nvSpPr>
          <p:cNvPr id="46" name="milestone 23:59"/>
          <p:cNvSpPr/>
          <p:nvPr/>
        </p:nvSpPr>
        <p:spPr>
          <a:xfrm>
            <a:off x="1435608" y="5516118"/>
            <a:ext cx="146304" cy="146304"/>
          </a:xfrm>
          <a:prstGeom prst="ellipse">
            <a:avLst/>
          </a:prstGeom>
          <a:solidFill>
            <a:schemeClr val="accent1"/>
          </a:solidFill>
          <a:ln w="19050">
            <a:solidFill>
              <a:schemeClr val="bg1"/>
            </a:solidFill>
            <a:prstDash val="solid"/>
          </a:ln>
        </p:spPr>
      </p:sp>
      <p:sp>
        <p:nvSpPr>
          <p:cNvPr id="47" name="Text 45"/>
          <p:cNvSpPr txBox="1"/>
          <p:nvPr/>
        </p:nvSpPr>
        <p:spPr>
          <a:xfrm>
            <a:off x="548640" y="546354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23:59</a:t>
            </a:r>
            <a:endParaRPr lang="en-US" sz="1300" dirty="0"/>
          </a:p>
        </p:txBody>
      </p:sp>
      <p:sp>
        <p:nvSpPr>
          <p:cNvPr id="48" name="Text 46"/>
          <p:cNvSpPr txBox="1"/>
          <p:nvPr/>
        </p:nvSpPr>
        <p:spPr>
          <a:xfrm>
            <a:off x="1783080" y="5463540"/>
            <a:ext cx="4434840" cy="25146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min_cost_flow</a:t>
            </a:r>
            <a:pPr indent="0" marL="0">
              <a:buNone/>
            </a:pPr>
            <a:r>
              <a:rPr lang="en-US" sz="1400" dirty="0">
                <a:solidFill>
                  <a:schemeClr val="tx1"/>
                </a:solidFill>
              </a:rPr>
              <a:t>, proven by potentials and a cut</a:t>
            </a:r>
            <a:endParaRPr lang="en-US" sz="1300" dirty="0"/>
          </a:p>
        </p:txBody>
      </p:sp>
      <p:sp>
        <p:nvSpPr>
          <p:cNvPr id="49" name="Text 47"/>
          <p:cNvSpPr txBox="1"/>
          <p:nvPr/>
        </p:nvSpPr>
        <p:spPr>
          <a:xfrm>
            <a:off x="1783080" y="5715000"/>
            <a:ext cx="4389120" cy="251460"/>
          </a:xfrm>
          <a:prstGeom prst="rect">
            <a:avLst/>
          </a:prstGeom>
          <a:noFill/>
          <a:ln/>
        </p:spPr>
        <p:txBody>
          <a:bodyPr wrap="square" lIns="0" tIns="0" rIns="0" bIns="0" rtlCol="0" anchor="ctr"/>
          <a:lstStyle/>
          <a:p>
            <a:pPr indent="0" marL="0">
              <a:buNone/>
            </a:pPr>
            <a:r>
              <a:rPr lang="en-US" sz="1200" b="1" spc="100" kern="0" dirty="0">
                <a:solidFill>
                  <a:schemeClr val="accent1"/>
                </a:solidFill>
              </a:rPr>
              <a:t>27 OCT 2026</a:t>
            </a:r>
            <a:endParaRPr lang="en-US" sz="1200" dirty="0"/>
          </a:p>
        </p:txBody>
      </p:sp>
      <p:sp>
        <p:nvSpPr>
          <p:cNvPr id="50" name="milestone 10:28"/>
          <p:cNvSpPr/>
          <p:nvPr/>
        </p:nvSpPr>
        <p:spPr>
          <a:xfrm>
            <a:off x="1417320" y="6000750"/>
            <a:ext cx="182880" cy="182880"/>
          </a:xfrm>
          <a:prstGeom prst="ellipse">
            <a:avLst/>
          </a:prstGeom>
          <a:solidFill>
            <a:schemeClr val="accent2"/>
          </a:solidFill>
          <a:ln w="19050">
            <a:solidFill>
              <a:schemeClr val="bg1"/>
            </a:solidFill>
            <a:prstDash val="solid"/>
          </a:ln>
        </p:spPr>
      </p:sp>
      <p:sp>
        <p:nvSpPr>
          <p:cNvPr id="51" name="Text 49"/>
          <p:cNvSpPr txBox="1"/>
          <p:nvPr/>
        </p:nvSpPr>
        <p:spPr>
          <a:xfrm>
            <a:off x="548640" y="5966460"/>
            <a:ext cx="777240" cy="251460"/>
          </a:xfrm>
          <a:prstGeom prst="rect">
            <a:avLst/>
          </a:prstGeom>
          <a:noFill/>
          <a:ln/>
        </p:spPr>
        <p:txBody>
          <a:bodyPr wrap="square" lIns="0" tIns="0" rIns="0" bIns="0" rtlCol="0" anchor="ctr"/>
          <a:lstStyle/>
          <a:p>
            <a:pPr algn="r" indent="0" marL="0">
              <a:buNone/>
            </a:pPr>
            <a:r>
              <a:rPr lang="en-US" sz="1300" dirty="0">
                <a:solidFill>
                  <a:schemeClr val="accent6"/>
                </a:solidFill>
              </a:rPr>
              <a:t>10:28</a:t>
            </a:r>
            <a:endParaRPr lang="en-US" sz="1300" dirty="0"/>
          </a:p>
        </p:txBody>
      </p:sp>
      <p:sp>
        <p:nvSpPr>
          <p:cNvPr id="52" name="Text 50"/>
          <p:cNvSpPr txBox="1"/>
          <p:nvPr/>
        </p:nvSpPr>
        <p:spPr>
          <a:xfrm>
            <a:off x="1783080" y="5966460"/>
            <a:ext cx="4434840" cy="251460"/>
          </a:xfrm>
          <a:prstGeom prst="rect">
            <a:avLst/>
          </a:prstGeom>
          <a:noFill/>
          <a:ln/>
        </p:spPr>
        <p:txBody>
          <a:bodyPr wrap="square" lIns="0" tIns="0" rIns="0" bIns="0" rtlCol="0" anchor="ctr"/>
          <a:lstStyle/>
          <a:p>
            <a:pPr indent="0" marL="0">
              <a:buNone/>
            </a:pPr>
            <a:r>
              <a:rPr lang="en-US" sz="1400" dirty="0">
                <a:solidFill>
                  <a:schemeClr val="tx1"/>
                </a:solidFill>
              </a:rPr>
              <a:t>Cyclic patterns counted by variable elimination</a:t>
            </a:r>
            <a:endParaRPr lang="en-US" sz="1400" dirty="0"/>
          </a:p>
        </p:txBody>
      </p:sp>
      <p:sp>
        <p:nvSpPr>
          <p:cNvPr id="53" name="growth operations"/>
          <p:cNvSpPr/>
          <p:nvPr/>
        </p:nvSpPr>
        <p:spPr>
          <a:xfrm>
            <a:off x="6537960" y="1691640"/>
            <a:ext cx="2438248" cy="1005840"/>
          </a:xfrm>
          <a:prstGeom prst="roundRect">
            <a:avLst>
              <a:gd name="adj" fmla="val 9091"/>
            </a:avLst>
          </a:prstGeom>
          <a:solidFill>
            <a:schemeClr val="tx2"/>
          </a:solidFill>
          <a:ln/>
        </p:spPr>
      </p:sp>
      <p:sp>
        <p:nvSpPr>
          <p:cNvPr id="54" name="Text 52"/>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23</a:t>
            </a:r>
            <a:endParaRPr lang="en-US" sz="2800" dirty="0"/>
          </a:p>
          <a:p>
            <a:pPr indent="0" marL="0">
              <a:buNone/>
            </a:pPr>
            <a:r>
              <a:rPr lang="en-US" sz="1300" dirty="0">
                <a:solidFill>
                  <a:schemeClr val="accent5"/>
                </a:solidFill>
              </a:rPr>
              <a:t>operations</a:t>
            </a:r>
            <a:endParaRPr lang="en-US" sz="2800" dirty="0"/>
          </a:p>
        </p:txBody>
      </p:sp>
      <p:sp>
        <p:nvSpPr>
          <p:cNvPr id="55" name="growth runtime tests"/>
          <p:cNvSpPr/>
          <p:nvPr/>
        </p:nvSpPr>
        <p:spPr>
          <a:xfrm>
            <a:off x="9204808" y="1691640"/>
            <a:ext cx="2438248" cy="1005840"/>
          </a:xfrm>
          <a:prstGeom prst="roundRect">
            <a:avLst>
              <a:gd name="adj" fmla="val 9091"/>
            </a:avLst>
          </a:prstGeom>
          <a:solidFill>
            <a:schemeClr val="tx2"/>
          </a:solidFill>
          <a:ln/>
        </p:spPr>
      </p:sp>
      <p:sp>
        <p:nvSpPr>
          <p:cNvPr id="56" name="Text 54"/>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631</a:t>
            </a:r>
            <a:endParaRPr lang="en-US" sz="2800" dirty="0"/>
          </a:p>
          <a:p>
            <a:pPr indent="0" marL="0">
              <a:buNone/>
            </a:pPr>
            <a:r>
              <a:rPr lang="en-US" sz="1300" dirty="0">
                <a:solidFill>
                  <a:schemeClr val="accent5"/>
                </a:solidFill>
              </a:rPr>
              <a:t>runtime tests</a:t>
            </a:r>
            <a:endParaRPr lang="en-US" sz="2800" dirty="0"/>
          </a:p>
        </p:txBody>
      </p:sp>
      <p:graphicFrame>
        <p:nvGraphicFramePr>
          <p:cNvPr id="57"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next increments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Ranked by value against effort in a Codex literature survey: eight done, these four to go, in this order.</a:t>
            </a:r>
            <a:endParaRPr lang="en-US" sz="1600" dirty="0"/>
          </a:p>
        </p:txBody>
      </p:sp>
      <p:sp>
        <p:nvSpPr>
          <p:cNvPr id="4" name="Text 2"/>
          <p:cNvSpPr txBox="1"/>
          <p:nvPr/>
        </p:nvSpPr>
        <p:spPr>
          <a:xfrm>
            <a:off x="1325880" y="1618488"/>
            <a:ext cx="251460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INCREMENT</a:t>
            </a:r>
            <a:endParaRPr lang="en-US" sz="1100" dirty="0"/>
          </a:p>
        </p:txBody>
      </p:sp>
      <p:sp>
        <p:nvSpPr>
          <p:cNvPr id="5" name="Text 3"/>
          <p:cNvSpPr txBox="1"/>
          <p:nvPr/>
        </p:nvSpPr>
        <p:spPr>
          <a:xfrm>
            <a:off x="338328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WHAT IT ANSWERS</a:t>
            </a:r>
            <a:endParaRPr lang="en-US" sz="1100" dirty="0"/>
          </a:p>
        </p:txBody>
      </p:sp>
      <p:sp>
        <p:nvSpPr>
          <p:cNvPr id="6" name="Text 4"/>
          <p:cNvSpPr txBox="1"/>
          <p:nvPr/>
        </p:nvSpPr>
        <p:spPr>
          <a:xfrm>
            <a:off x="6629400" y="1618488"/>
            <a:ext cx="30632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CERTIFICATE</a:t>
            </a:r>
            <a:endParaRPr lang="en-US" sz="1100" dirty="0"/>
          </a:p>
        </p:txBody>
      </p:sp>
      <p:sp>
        <p:nvSpPr>
          <p:cNvPr id="7" name="Text 5"/>
          <p:cNvSpPr txBox="1"/>
          <p:nvPr/>
        </p:nvSpPr>
        <p:spPr>
          <a:xfrm>
            <a:off x="9875520" y="1618488"/>
            <a:ext cx="1721815"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REFERENCES</a:t>
            </a:r>
            <a:endParaRPr lang="en-US" sz="1100" dirty="0"/>
          </a:p>
        </p:txBody>
      </p:sp>
      <p:sp>
        <p:nvSpPr>
          <p:cNvPr id="8" name="roadmap Reachability index"/>
          <p:cNvSpPr/>
          <p:nvPr/>
        </p:nvSpPr>
        <p:spPr>
          <a:xfrm>
            <a:off x="548640" y="1911096"/>
            <a:ext cx="11094415" cy="872236"/>
          </a:xfrm>
          <a:prstGeom prst="roundRect">
            <a:avLst>
              <a:gd name="adj" fmla="val 10483"/>
            </a:avLst>
          </a:prstGeom>
          <a:solidFill>
            <a:schemeClr val="bg2"/>
          </a:solidFill>
          <a:ln/>
        </p:spPr>
      </p:sp>
      <p:sp>
        <p:nvSpPr>
          <p:cNvPr id="9" name="icon Reachability index"/>
          <p:cNvSpPr/>
          <p:nvPr/>
        </p:nvSpPr>
        <p:spPr>
          <a:xfrm>
            <a:off x="713232" y="2127758"/>
            <a:ext cx="438912" cy="438912"/>
          </a:xfrm>
          <a:prstGeom prst="ellipse">
            <a:avLst/>
          </a:prstGeom>
          <a:solidFill>
            <a:schemeClr val="accent1"/>
          </a:solidFill>
          <a:ln/>
        </p:spPr>
      </p:sp>
      <p:pic>
        <p:nvPicPr>
          <p:cNvPr id="10" name="Image 0" descr="Reachability index">    </p:cNvPr>
          <p:cNvPicPr>
            <a:picLocks noChangeAspect="1"/>
          </p:cNvPicPr>
          <p:nvPr/>
        </p:nvPicPr>
        <p:blipFill>
          <a:blip r:embed="rId1"/>
          <a:stretch>
            <a:fillRect/>
          </a:stretch>
        </p:blipFill>
        <p:spPr>
          <a:xfrm>
            <a:off x="809793" y="2224319"/>
            <a:ext cx="245791" cy="245791"/>
          </a:xfrm>
          <a:prstGeom prst="rect">
            <a:avLst/>
          </a:prstGeom>
        </p:spPr>
      </p:pic>
      <p:sp>
        <p:nvSpPr>
          <p:cNvPr id="11" name="Text 8"/>
          <p:cNvSpPr txBox="1"/>
          <p:nvPr/>
        </p:nvSpPr>
        <p:spPr>
          <a:xfrm>
            <a:off x="1325880" y="1911096"/>
            <a:ext cx="1828800" cy="872236"/>
          </a:xfrm>
          <a:prstGeom prst="rect">
            <a:avLst/>
          </a:prstGeom>
          <a:noFill/>
          <a:ln/>
        </p:spPr>
        <p:txBody>
          <a:bodyPr wrap="square" lIns="0" tIns="0" rIns="0" bIns="0" rtlCol="0" anchor="ctr"/>
          <a:lstStyle/>
          <a:p>
            <a:pPr indent="0" marL="0">
              <a:buNone/>
            </a:pPr>
            <a:r>
              <a:rPr lang="en-US" sz="1500" b="1" dirty="0">
                <a:solidFill>
                  <a:schemeClr val="tx1"/>
                </a:solidFill>
              </a:rPr>
              <a:t>Reachability index</a:t>
            </a:r>
            <a:endParaRPr lang="en-US" sz="1500" dirty="0"/>
          </a:p>
        </p:txBody>
      </p:sp>
      <p:sp>
        <p:nvSpPr>
          <p:cNvPr id="12" name="Text 9"/>
          <p:cNvSpPr txBox="1"/>
          <p:nvPr/>
        </p:nvSpPr>
        <p:spPr>
          <a:xfrm>
            <a:off x="3383280" y="1911096"/>
            <a:ext cx="3017520" cy="872236"/>
          </a:xfrm>
          <a:prstGeom prst="rect">
            <a:avLst/>
          </a:prstGeom>
          <a:noFill/>
          <a:ln/>
        </p:spPr>
        <p:txBody>
          <a:bodyPr wrap="square" lIns="0" tIns="0" rIns="0" bIns="0" rtlCol="0" anchor="ctr"/>
          <a:lstStyle/>
          <a:p>
            <a:pPr indent="0" marL="0">
              <a:buNone/>
            </a:pPr>
            <a:r>
              <a:rPr lang="en-US" sz="1400" dirty="0">
                <a:solidFill>
                  <a:schemeClr val="tx1"/>
                </a:solidFill>
              </a:rPr>
              <a:t>Many reachability queries on one large, fixed projection: 2-hop labels.</a:t>
            </a:r>
            <a:endParaRPr lang="en-US" sz="1400" dirty="0"/>
          </a:p>
        </p:txBody>
      </p:sp>
      <p:sp>
        <p:nvSpPr>
          <p:cNvPr id="13" name="Text 10"/>
          <p:cNvSpPr txBox="1"/>
          <p:nvPr/>
        </p:nvSpPr>
        <p:spPr>
          <a:xfrm>
            <a:off x="6629400" y="1911096"/>
            <a:ext cx="3017520" cy="872236"/>
          </a:xfrm>
          <a:prstGeom prst="rect">
            <a:avLst/>
          </a:prstGeom>
          <a:noFill/>
          <a:ln/>
        </p:spPr>
        <p:txBody>
          <a:bodyPr wrap="square" lIns="0" tIns="0" rIns="0" bIns="0" rtlCol="0" anchor="ctr"/>
          <a:lstStyle/>
          <a:p>
            <a:pPr indent="0" marL="0">
              <a:buNone/>
            </a:pPr>
            <a:r>
              <a:rPr lang="en-US" sz="1400" dirty="0">
                <a:solidFill>
                  <a:schemeClr val="tx1"/>
                </a:solidFill>
              </a:rPr>
              <a:t>A positive expands hub pointers into hops; a negative needs a closure.</a:t>
            </a:r>
            <a:endParaRPr lang="en-US" sz="1400" dirty="0"/>
          </a:p>
        </p:txBody>
      </p:sp>
      <p:sp>
        <p:nvSpPr>
          <p:cNvPr id="14" name="Text 11"/>
          <p:cNvSpPr txBox="1"/>
          <p:nvPr/>
        </p:nvSpPr>
        <p:spPr>
          <a:xfrm>
            <a:off x="9875520" y="1911096"/>
            <a:ext cx="1676095" cy="872236"/>
          </a:xfrm>
          <a:prstGeom prst="rect">
            <a:avLst/>
          </a:prstGeom>
          <a:noFill/>
          <a:ln/>
        </p:spPr>
        <p:txBody>
          <a:bodyPr wrap="square" lIns="0" tIns="0" rIns="0" bIns="0" rtlCol="0" anchor="ctr"/>
          <a:lstStyle/>
          <a:p>
            <a:pPr indent="0" marL="0">
              <a:buNone/>
            </a:pPr>
            <a:r>
              <a:rPr lang="en-US" sz="1200" i="1" dirty="0">
                <a:solidFill>
                  <a:schemeClr val="accent6"/>
                </a:solidFill>
              </a:rPr>
              <a:t>Cohen, Halperin, Kaplan and Zwick 2003</a:t>
            </a:r>
            <a:endParaRPr lang="en-US" sz="1200" dirty="0"/>
          </a:p>
        </p:txBody>
      </p:sp>
      <p:sp>
        <p:nvSpPr>
          <p:cNvPr id="15" name="roadmap Positive Datalog"/>
          <p:cNvSpPr/>
          <p:nvPr/>
        </p:nvSpPr>
        <p:spPr>
          <a:xfrm>
            <a:off x="548640" y="2874772"/>
            <a:ext cx="11094415" cy="872236"/>
          </a:xfrm>
          <a:prstGeom prst="roundRect">
            <a:avLst>
              <a:gd name="adj" fmla="val 10483"/>
            </a:avLst>
          </a:prstGeom>
          <a:solidFill>
            <a:schemeClr val="bg2"/>
          </a:solidFill>
          <a:ln/>
        </p:spPr>
      </p:sp>
      <p:sp>
        <p:nvSpPr>
          <p:cNvPr id="16" name="icon Positive Datalog"/>
          <p:cNvSpPr/>
          <p:nvPr/>
        </p:nvSpPr>
        <p:spPr>
          <a:xfrm>
            <a:off x="713232" y="3091434"/>
            <a:ext cx="438912" cy="438912"/>
          </a:xfrm>
          <a:prstGeom prst="ellipse">
            <a:avLst/>
          </a:prstGeom>
          <a:solidFill>
            <a:schemeClr val="accent1"/>
          </a:solidFill>
          <a:ln/>
        </p:spPr>
      </p:sp>
      <p:pic>
        <p:nvPicPr>
          <p:cNvPr id="17" name="Image 1" descr="Positive Datalog">    </p:cNvPr>
          <p:cNvPicPr>
            <a:picLocks noChangeAspect="1"/>
          </p:cNvPicPr>
          <p:nvPr/>
        </p:nvPicPr>
        <p:blipFill>
          <a:blip r:embed="rId2"/>
          <a:stretch>
            <a:fillRect/>
          </a:stretch>
        </p:blipFill>
        <p:spPr>
          <a:xfrm>
            <a:off x="809793" y="3187995"/>
            <a:ext cx="245791" cy="245791"/>
          </a:xfrm>
          <a:prstGeom prst="rect">
            <a:avLst/>
          </a:prstGeom>
        </p:spPr>
      </p:pic>
      <p:sp>
        <p:nvSpPr>
          <p:cNvPr id="18" name="Text 14"/>
          <p:cNvSpPr txBox="1"/>
          <p:nvPr/>
        </p:nvSpPr>
        <p:spPr>
          <a:xfrm>
            <a:off x="1325880" y="2874772"/>
            <a:ext cx="1828800" cy="872236"/>
          </a:xfrm>
          <a:prstGeom prst="rect">
            <a:avLst/>
          </a:prstGeom>
          <a:noFill/>
          <a:ln/>
        </p:spPr>
        <p:txBody>
          <a:bodyPr wrap="square" lIns="0" tIns="0" rIns="0" bIns="0" rtlCol="0" anchor="ctr"/>
          <a:lstStyle/>
          <a:p>
            <a:pPr indent="0" marL="0">
              <a:buNone/>
            </a:pPr>
            <a:r>
              <a:rPr lang="en-US" sz="1500" b="1" dirty="0">
                <a:solidFill>
                  <a:schemeClr val="tx1"/>
                </a:solidFill>
              </a:rPr>
              <a:t>Positive Datalog</a:t>
            </a:r>
            <a:endParaRPr lang="en-US" sz="1500" dirty="0"/>
          </a:p>
        </p:txBody>
      </p:sp>
      <p:sp>
        <p:nvSpPr>
          <p:cNvPr id="19" name="Text 15"/>
          <p:cNvSpPr txBox="1"/>
          <p:nvPr/>
        </p:nvSpPr>
        <p:spPr>
          <a:xfrm>
            <a:off x="3383280" y="2874772"/>
            <a:ext cx="3017520" cy="872236"/>
          </a:xfrm>
          <a:prstGeom prst="rect">
            <a:avLst/>
          </a:prstGeom>
          <a:noFill/>
          <a:ln/>
        </p:spPr>
        <p:txBody>
          <a:bodyPr wrap="square" lIns="0" tIns="0" rIns="0" bIns="0" rtlCol="0" anchor="ctr"/>
          <a:lstStyle/>
          <a:p>
            <a:pPr indent="0" marL="0">
              <a:buNone/>
            </a:pPr>
            <a:r>
              <a:rPr lang="en-US" sz="1400" dirty="0">
                <a:solidFill>
                  <a:schemeClr val="tx1"/>
                </a:solidFill>
              </a:rPr>
              <a:t>Rules over the records: provenance questions in a small language.</a:t>
            </a:r>
            <a:endParaRPr lang="en-US" sz="1400" dirty="0"/>
          </a:p>
        </p:txBody>
      </p:sp>
      <p:sp>
        <p:nvSpPr>
          <p:cNvPr id="20" name="Text 16"/>
          <p:cNvSpPr txBox="1"/>
          <p:nvPr/>
        </p:nvSpPr>
        <p:spPr>
          <a:xfrm>
            <a:off x="6629400" y="2874772"/>
            <a:ext cx="3017520" cy="872236"/>
          </a:xfrm>
          <a:prstGeom prst="rect">
            <a:avLst/>
          </a:prstGeom>
          <a:noFill/>
          <a:ln/>
        </p:spPr>
        <p:txBody>
          <a:bodyPr wrap="square" lIns="0" tIns="0" rIns="0" bIns="0" rtlCol="0" anchor="ctr"/>
          <a:lstStyle/>
          <a:p>
            <a:pPr indent="0" marL="0">
              <a:buNone/>
            </a:pPr>
            <a:r>
              <a:rPr lang="en-US" sz="1400" dirty="0">
                <a:solidFill>
                  <a:schemeClr val="tx1"/>
                </a:solidFill>
              </a:rPr>
              <a:t>Derivation trees, ranks strictly increasing, checked in their size.</a:t>
            </a:r>
            <a:endParaRPr lang="en-US" sz="1400" dirty="0"/>
          </a:p>
        </p:txBody>
      </p:sp>
      <p:sp>
        <p:nvSpPr>
          <p:cNvPr id="21" name="Text 17"/>
          <p:cNvSpPr txBox="1"/>
          <p:nvPr/>
        </p:nvSpPr>
        <p:spPr>
          <a:xfrm>
            <a:off x="9875520" y="2874772"/>
            <a:ext cx="1676095" cy="872236"/>
          </a:xfrm>
          <a:prstGeom prst="rect">
            <a:avLst/>
          </a:prstGeom>
          <a:noFill/>
          <a:ln/>
        </p:spPr>
        <p:txBody>
          <a:bodyPr wrap="square" lIns="0" tIns="0" rIns="0" bIns="0" rtlCol="0" anchor="ctr"/>
          <a:lstStyle/>
          <a:p>
            <a:pPr indent="0" marL="0">
              <a:buNone/>
            </a:pPr>
            <a:r>
              <a:rPr lang="en-US" sz="1200" i="1" dirty="0">
                <a:solidFill>
                  <a:schemeClr val="accent6"/>
                </a:solidFill>
              </a:rPr>
              <a:t>Abiteboul, Hull and Vianu 1995; Green et al. 2007</a:t>
            </a:r>
            <a:endParaRPr lang="en-US" sz="1200" dirty="0"/>
          </a:p>
        </p:txBody>
      </p:sp>
      <p:sp>
        <p:nvSpPr>
          <p:cNvPr id="22" name="roadmap Isomorphism, canonical labeling"/>
          <p:cNvSpPr/>
          <p:nvPr/>
        </p:nvSpPr>
        <p:spPr>
          <a:xfrm>
            <a:off x="548640" y="3838448"/>
            <a:ext cx="11094415" cy="872236"/>
          </a:xfrm>
          <a:prstGeom prst="roundRect">
            <a:avLst>
              <a:gd name="adj" fmla="val 10483"/>
            </a:avLst>
          </a:prstGeom>
          <a:solidFill>
            <a:schemeClr val="bg2"/>
          </a:solidFill>
          <a:ln/>
        </p:spPr>
      </p:sp>
      <p:sp>
        <p:nvSpPr>
          <p:cNvPr id="23" name="icon Isomorphism, canonical labeling"/>
          <p:cNvSpPr/>
          <p:nvPr/>
        </p:nvSpPr>
        <p:spPr>
          <a:xfrm>
            <a:off x="713232" y="4055110"/>
            <a:ext cx="438912" cy="438912"/>
          </a:xfrm>
          <a:prstGeom prst="ellipse">
            <a:avLst/>
          </a:prstGeom>
          <a:solidFill>
            <a:schemeClr val="accent1"/>
          </a:solidFill>
          <a:ln/>
        </p:spPr>
      </p:sp>
      <p:pic>
        <p:nvPicPr>
          <p:cNvPr id="24" name="Image 2" descr="Isomorphism, canonical labeling">    </p:cNvPr>
          <p:cNvPicPr>
            <a:picLocks noChangeAspect="1"/>
          </p:cNvPicPr>
          <p:nvPr/>
        </p:nvPicPr>
        <p:blipFill>
          <a:blip r:embed="rId3"/>
          <a:stretch>
            <a:fillRect/>
          </a:stretch>
        </p:blipFill>
        <p:spPr>
          <a:xfrm>
            <a:off x="809793" y="4151671"/>
            <a:ext cx="245791" cy="245791"/>
          </a:xfrm>
          <a:prstGeom prst="rect">
            <a:avLst/>
          </a:prstGeom>
        </p:spPr>
      </p:pic>
      <p:sp>
        <p:nvSpPr>
          <p:cNvPr id="25" name="Text 20"/>
          <p:cNvSpPr txBox="1"/>
          <p:nvPr/>
        </p:nvSpPr>
        <p:spPr>
          <a:xfrm>
            <a:off x="1325880" y="3838448"/>
            <a:ext cx="1828800" cy="872236"/>
          </a:xfrm>
          <a:prstGeom prst="rect">
            <a:avLst/>
          </a:prstGeom>
          <a:noFill/>
          <a:ln/>
        </p:spPr>
        <p:txBody>
          <a:bodyPr wrap="square" lIns="0" tIns="0" rIns="0" bIns="0" rtlCol="0" anchor="ctr"/>
          <a:lstStyle/>
          <a:p>
            <a:pPr indent="0" marL="0">
              <a:buNone/>
            </a:pPr>
            <a:r>
              <a:rPr lang="en-US" sz="1500" b="1" dirty="0">
                <a:solidFill>
                  <a:schemeClr val="tx1"/>
                </a:solidFill>
              </a:rPr>
              <a:t>Isomorphism, canonical labeling</a:t>
            </a:r>
            <a:endParaRPr lang="en-US" sz="1500" dirty="0"/>
          </a:p>
        </p:txBody>
      </p:sp>
      <p:sp>
        <p:nvSpPr>
          <p:cNvPr id="26" name="Text 21"/>
          <p:cNvSpPr txBox="1"/>
          <p:nvPr/>
        </p:nvSpPr>
        <p:spPr>
          <a:xfrm>
            <a:off x="3383280" y="3838448"/>
            <a:ext cx="3017520" cy="872236"/>
          </a:xfrm>
          <a:prstGeom prst="rect">
            <a:avLst/>
          </a:prstGeom>
          <a:noFill/>
          <a:ln/>
        </p:spPr>
        <p:txBody>
          <a:bodyPr wrap="square" lIns="0" tIns="0" rIns="0" bIns="0" rtlCol="0" anchor="ctr"/>
          <a:lstStyle/>
          <a:p>
            <a:pPr indent="0" marL="0">
              <a:buNone/>
            </a:pPr>
            <a:r>
              <a:rPr lang="en-US" sz="1400" dirty="0">
                <a:solidFill>
                  <a:schemeClr val="tx1"/>
                </a:solidFill>
              </a:rPr>
              <a:t>Whether two structures are the same; canonical forms for deduplication.</a:t>
            </a:r>
            <a:endParaRPr lang="en-US" sz="1400" dirty="0"/>
          </a:p>
        </p:txBody>
      </p:sp>
      <p:sp>
        <p:nvSpPr>
          <p:cNvPr id="27" name="Text 22"/>
          <p:cNvSpPr txBox="1"/>
          <p:nvPr/>
        </p:nvSpPr>
        <p:spPr>
          <a:xfrm>
            <a:off x="6629400" y="3838448"/>
            <a:ext cx="3017520" cy="872236"/>
          </a:xfrm>
          <a:prstGeom prst="rect">
            <a:avLst/>
          </a:prstGeom>
          <a:noFill/>
          <a:ln/>
        </p:spPr>
        <p:txBody>
          <a:bodyPr wrap="square" lIns="0" tIns="0" rIns="0" bIns="0" rtlCol="0" anchor="ctr"/>
          <a:lstStyle/>
          <a:p>
            <a:pPr indent="0" marL="0">
              <a:buNone/>
            </a:pPr>
            <a:r>
              <a:rPr lang="en-US" sz="1400" dirty="0">
                <a:solidFill>
                  <a:schemeClr val="tx1"/>
                </a:solidFill>
              </a:rPr>
              <a:t>A node and edge bijection proves a match; a refinement trace, a mismatch.</a:t>
            </a:r>
            <a:endParaRPr lang="en-US" sz="1400" dirty="0"/>
          </a:p>
        </p:txBody>
      </p:sp>
      <p:sp>
        <p:nvSpPr>
          <p:cNvPr id="28" name="Text 23"/>
          <p:cNvSpPr txBox="1"/>
          <p:nvPr/>
        </p:nvSpPr>
        <p:spPr>
          <a:xfrm>
            <a:off x="9875520" y="3838448"/>
            <a:ext cx="1676095" cy="872236"/>
          </a:xfrm>
          <a:prstGeom prst="rect">
            <a:avLst/>
          </a:prstGeom>
          <a:noFill/>
          <a:ln/>
        </p:spPr>
        <p:txBody>
          <a:bodyPr wrap="square" lIns="0" tIns="0" rIns="0" bIns="0" rtlCol="0" anchor="ctr"/>
          <a:lstStyle/>
          <a:p>
            <a:pPr indent="0" marL="0">
              <a:buNone/>
            </a:pPr>
            <a:r>
              <a:rPr lang="en-US" sz="1200" i="1" dirty="0">
                <a:solidFill>
                  <a:schemeClr val="accent6"/>
                </a:solidFill>
              </a:rPr>
              <a:t>McKay and Piperno 2014</a:t>
            </a:r>
            <a:endParaRPr lang="en-US" sz="1200" dirty="0"/>
          </a:p>
        </p:txBody>
      </p:sp>
      <p:sp>
        <p:nvSpPr>
          <p:cNvPr id="29" name="roadmap Elementary flux modes"/>
          <p:cNvSpPr/>
          <p:nvPr/>
        </p:nvSpPr>
        <p:spPr>
          <a:xfrm>
            <a:off x="548640" y="4802124"/>
            <a:ext cx="11094415" cy="872236"/>
          </a:xfrm>
          <a:prstGeom prst="roundRect">
            <a:avLst>
              <a:gd name="adj" fmla="val 10483"/>
            </a:avLst>
          </a:prstGeom>
          <a:solidFill>
            <a:schemeClr val="bg2"/>
          </a:solidFill>
          <a:ln/>
        </p:spPr>
      </p:sp>
      <p:sp>
        <p:nvSpPr>
          <p:cNvPr id="30" name="icon Elementary flux modes"/>
          <p:cNvSpPr/>
          <p:nvPr/>
        </p:nvSpPr>
        <p:spPr>
          <a:xfrm>
            <a:off x="713232" y="5018786"/>
            <a:ext cx="438912" cy="438912"/>
          </a:xfrm>
          <a:prstGeom prst="ellipse">
            <a:avLst/>
          </a:prstGeom>
          <a:solidFill>
            <a:schemeClr val="accent1"/>
          </a:solidFill>
          <a:ln/>
        </p:spPr>
      </p:sp>
      <p:pic>
        <p:nvPicPr>
          <p:cNvPr id="31" name="Image 3" descr="Elementary flux modes">    </p:cNvPr>
          <p:cNvPicPr>
            <a:picLocks noChangeAspect="1"/>
          </p:cNvPicPr>
          <p:nvPr/>
        </p:nvPicPr>
        <p:blipFill>
          <a:blip r:embed="rId4"/>
          <a:stretch>
            <a:fillRect/>
          </a:stretch>
        </p:blipFill>
        <p:spPr>
          <a:xfrm>
            <a:off x="809793" y="5115347"/>
            <a:ext cx="245791" cy="245791"/>
          </a:xfrm>
          <a:prstGeom prst="rect">
            <a:avLst/>
          </a:prstGeom>
        </p:spPr>
      </p:pic>
      <p:sp>
        <p:nvSpPr>
          <p:cNvPr id="32" name="Text 26"/>
          <p:cNvSpPr txBox="1"/>
          <p:nvPr/>
        </p:nvSpPr>
        <p:spPr>
          <a:xfrm>
            <a:off x="1325880" y="4802124"/>
            <a:ext cx="1828800" cy="872236"/>
          </a:xfrm>
          <a:prstGeom prst="rect">
            <a:avLst/>
          </a:prstGeom>
          <a:noFill/>
          <a:ln/>
        </p:spPr>
        <p:txBody>
          <a:bodyPr wrap="square" lIns="0" tIns="0" rIns="0" bIns="0" rtlCol="0" anchor="ctr"/>
          <a:lstStyle/>
          <a:p>
            <a:pPr indent="0" marL="0">
              <a:buNone/>
            </a:pPr>
            <a:r>
              <a:rPr lang="en-US" sz="1500" b="1" dirty="0">
                <a:solidFill>
                  <a:schemeClr val="tx1"/>
                </a:solidFill>
              </a:rPr>
              <a:t>Elementary flux modes</a:t>
            </a:r>
            <a:endParaRPr lang="en-US" sz="1500" dirty="0"/>
          </a:p>
        </p:txBody>
      </p:sp>
      <p:sp>
        <p:nvSpPr>
          <p:cNvPr id="33" name="Text 27"/>
          <p:cNvSpPr txBox="1"/>
          <p:nvPr/>
        </p:nvSpPr>
        <p:spPr>
          <a:xfrm>
            <a:off x="3383280" y="4802124"/>
            <a:ext cx="3017520" cy="872236"/>
          </a:xfrm>
          <a:prstGeom prst="rect">
            <a:avLst/>
          </a:prstGeom>
          <a:noFill/>
          <a:ln/>
        </p:spPr>
        <p:txBody>
          <a:bodyPr wrap="square" lIns="0" tIns="0" rIns="0" bIns="0" rtlCol="0" anchor="ctr"/>
          <a:lstStyle/>
          <a:p>
            <a:pPr indent="0" marL="0">
              <a:buNone/>
            </a:pPr>
            <a:r>
              <a:rPr lang="en-US" sz="1400" dirty="0">
                <a:solidFill>
                  <a:schemeClr val="tx1"/>
                </a:solidFill>
              </a:rPr>
              <a:t>A reaction network's minimal steady pathways, small networks first.</a:t>
            </a:r>
            <a:endParaRPr lang="en-US" sz="1400" dirty="0"/>
          </a:p>
        </p:txBody>
      </p:sp>
      <p:sp>
        <p:nvSpPr>
          <p:cNvPr id="34" name="Text 28"/>
          <p:cNvSpPr txBox="1"/>
          <p:nvPr/>
        </p:nvSpPr>
        <p:spPr>
          <a:xfrm>
            <a:off x="6629400" y="4802124"/>
            <a:ext cx="3017520" cy="872236"/>
          </a:xfrm>
          <a:prstGeom prst="rect">
            <a:avLst/>
          </a:prstGeom>
          <a:noFill/>
          <a:ln/>
        </p:spPr>
        <p:txBody>
          <a:bodyPr wrap="square" lIns="0" tIns="0" rIns="0" bIns="0" rtlCol="0" anchor="ctr"/>
          <a:lstStyle/>
          <a:p>
            <a:pPr indent="0" marL="0">
              <a:buNone/>
            </a:pPr>
            <a:r>
              <a:rPr lang="en-US" sz="1400" dirty="0">
                <a:solidFill>
                  <a:schemeClr val="tx1"/>
                </a:solidFill>
              </a:rPr>
              <a:t>A mode balances exactly; a nonsingular minor proves its support minimal.</a:t>
            </a:r>
            <a:endParaRPr lang="en-US" sz="1400" dirty="0"/>
          </a:p>
        </p:txBody>
      </p:sp>
      <p:sp>
        <p:nvSpPr>
          <p:cNvPr id="35" name="Text 29"/>
          <p:cNvSpPr txBox="1"/>
          <p:nvPr/>
        </p:nvSpPr>
        <p:spPr>
          <a:xfrm>
            <a:off x="9875520" y="4802124"/>
            <a:ext cx="1676095" cy="872236"/>
          </a:xfrm>
          <a:prstGeom prst="rect">
            <a:avLst/>
          </a:prstGeom>
          <a:noFill/>
          <a:ln/>
        </p:spPr>
        <p:txBody>
          <a:bodyPr wrap="square" lIns="0" tIns="0" rIns="0" bIns="0" rtlCol="0" anchor="ctr"/>
          <a:lstStyle/>
          <a:p>
            <a:pPr indent="0" marL="0">
              <a:buNone/>
            </a:pPr>
            <a:r>
              <a:rPr lang="en-US" sz="1200" i="1" dirty="0">
                <a:solidFill>
                  <a:schemeClr val="accent6"/>
                </a:solidFill>
              </a:rPr>
              <a:t>Gagneur and Klamt 2004; Terzer and Stelling 2008</a:t>
            </a:r>
            <a:endParaRPr lang="en-US" sz="1200" dirty="0"/>
          </a:p>
        </p:txBody>
      </p:sp>
      <p:sp>
        <p:nvSpPr>
          <p:cNvPr id="36" name="roadmap later"/>
          <p:cNvSpPr txBox="1"/>
          <p:nvPr/>
        </p:nvSpPr>
        <p:spPr>
          <a:xfrm>
            <a:off x="685800" y="5784088"/>
            <a:ext cx="10820095" cy="433832"/>
          </a:xfrm>
          <a:prstGeom prst="rect">
            <a:avLst/>
          </a:prstGeom>
          <a:noFill/>
          <a:ln/>
        </p:spPr>
        <p:txBody>
          <a:bodyPr wrap="square" lIns="0" tIns="0" rIns="0" bIns="0" rtlCol="0" anchor="ctr"/>
          <a:lstStyle/>
          <a:p>
            <a:pPr indent="0" marL="0">
              <a:buNone/>
            </a:pPr>
            <a:r>
              <a:rPr lang="en-US" sz="1400" b="1" dirty="0">
                <a:solidFill>
                  <a:schemeClr val="tx1"/>
                </a:solidFill>
              </a:rPr>
              <a:t>Done from the survey:</a:t>
            </a:r>
            <a:pPr indent="0" marL="0">
              <a:buNone/>
            </a:pPr>
            <a:r>
              <a:rPr lang="en-US" sz="1400" dirty="0">
                <a:solidFill>
                  <a:schemeClr val="tx1"/>
                </a:solidFill>
              </a:rPr>
              <a:t> negative costs · injective patterns · spanning forests · cycle bases · weighted matching · k shortest paths · min-cost flow · cyclic pattern counts (variable elimination; the totals are checked by oracles, not certified).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Twenty-three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2026-10-27T14:34:32Z</dcterms:created>
  <dcterms:modified xsi:type="dcterms:W3CDTF">2026-10-27T14:34:32Z</dcterms:modified>
</cp:coreProperties>
</file>