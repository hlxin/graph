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4.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GRAPH" id="{2f712e6c-ab47-d7f1-b464-6ba8e1190dec}">
          <p14:sldIdLst>
            <p14:sldId id="256"/>
            <p14:sldId id="257"/>
            <p14:sldId id="258"/>
          </p14:sldIdLst>
        </p14:section>
        <p14:section name="Architecture" id="{9004bf4f-a3f0-93bd-d3d6-241e89a1c649}">
          <p14:sldIdLst>
            <p14:sldId id="259"/>
            <p14:sldId id="260"/>
            <p14:sldId id="261"/>
          </p14:sldIdLst>
        </p14:section>
        <p14:section name="Operations" id="{f07aa9ec-6301-65d9-e4cd-c87e2ac36f63}">
          <p14:sldIdLst>
            <p14:sldId id="262"/>
            <p14:sldId id="263"/>
            <p14:sldId id="264"/>
            <p14:sldId id="265"/>
            <p14:sldId id="266"/>
            <p14:sldId id="267"/>
            <p14:sldId id="268"/>
            <p14:sldId id="269"/>
            <p14:sldId id="270"/>
            <p14:sldId id="271"/>
            <p14:sldId id="272"/>
            <p14:sldId id="273"/>
            <p14:sldId id="274"/>
          </p14:sldIdLst>
        </p14:section>
        <p14:section name="Trust and results" id="{e5de63fc-beaa-9d10-cc88-6b5c231aaad5}">
          <p14:sldIdLst>
            <p14:sldId id="275"/>
            <p14:sldId id="276"/>
            <p14:sldId id="277"/>
            <p14:sldId id="278"/>
            <p14:sldId id="279"/>
          </p14:sldIdLst>
        </p14:section>
        <p14:section name="Development" id="{df746dea-730d-1f20-7c03-0d468e9bb8de}">
          <p14:sldIdLst>
            <p14:sldId id="280"/>
          </p14:sldIdLst>
        </p14:section>
        <p14:section name="Roadmap" id="{d1a8af95-de03-65a3-26c2-1ca09ac93da2}">
          <p14:sldIdLst>
            <p14:sldId id="281"/>
            <p14:sldId id="282"/>
          </p14:sldIdLst>
        </p14:section>
        <p14:section name="Close" id="{0f858e27-2349-ff0f-59f0-05d5c6d3dddb}">
          <p14:sldIdLst>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2421"/>
                </a:solidFill>
                <a:latin typeface="Calibri"/>
              </a:defRPr>
            </a:pPr>
            <a:r>
              <a:rPr sz="1400" b="0" i="0" u="none" strike="noStrike">
                <a:solidFill>
                  <a:srgbClr val="1A2421"/>
                </a:solidFill>
                <a:latin typeface="Calibri"/>
              </a:rPr>
              <a:t>SCALE: 345 cached answers across 31 curation edits</a:t>
            </a:r>
          </a:p>
        </c:rich>
      </c:tx>
      <c:layout/>
      <c:overlay val="0"/>
    </c:title>
    <c:autoTitleDeleted val="0"/>
    <c:plotArea>
      <c:layout/>
      <c:barChart>
        <c:barDir val="bar"/>
        <c:grouping val="clustered"/>
        <c:varyColors val="0"/>
        <c:ser>
          <c:idx val="0"/>
          <c:order val="0"/>
          <c:tx>
            <c:strRef>
              <c:f>Sheet1!$B$1</c:f>
              <c:strCache>
                <c:ptCount val="1"/>
                <c:pt idx="0">
                  <c:v>SCALE verdicts</c:v>
                </c:pt>
              </c:strCache>
            </c:strRef>
          </c:tx>
          <c:spPr>
            <a:solidFill>
              <a:srgbClr val="1E7B6B"/>
            </a:solidFill>
            <a:effectLst/>
          </c:spPr>
          <c:invertIfNegative val="0"/>
          <c:dLbls>
            <c:numFmt formatCode="#,##0" sourceLinked="0"/>
            <c:txPr>
              <a:bodyPr/>
              <a:lstStyle/>
              <a:p>
                <a:pPr>
                  <a:defRPr b="0" i="0" strike="noStrike" sz="1200" u="none">
                    <a:solidFill>
                      <a:srgbClr val="1A2421"/>
                    </a:solidFill>
                    <a:latin typeface="Calibri"/>
                  </a:defRPr>
                </a:pPr>
              </a:p>
            </c:txPr>
            <c:showLegendKey val="0"/>
            <c:showVal val="1"/>
            <c:showCatName val="0"/>
            <c:showSerName val="0"/>
            <c:showPercent val="0"/>
            <c:showBubbleSize val="0"/>
            <c:showLeaderLines val="0"/>
          </c:dLbls>
          <c:dPt>
            <c:idx val="0"/>
            <c:invertIfNegative val="0"/>
            <c:bubble3D val="0"/>
            <c:spPr>
              <a:solidFill>
                <a:srgbClr val="1E7B6B"/>
              </a:solidFill>
              <a:effectLst/>
            </c:spPr>
          </c:dPt>
          <c:dPt>
            <c:idx val="1"/>
            <c:invertIfNegative val="0"/>
            <c:bubble3D val="0"/>
            <c:spPr>
              <a:solidFill>
                <a:srgbClr val="A23B53"/>
              </a:solidFill>
              <a:effectLst/>
            </c:spPr>
          </c:dPt>
          <c:dPt>
            <c:idx val="2"/>
            <c:invertIfNegative val="0"/>
            <c:bubble3D val="0"/>
            <c:spPr>
              <a:solidFill>
                <a:srgbClr val="C77C02"/>
              </a:solidFill>
              <a:effectLst/>
            </c:spPr>
          </c:dPt>
          <c:cat>
            <c:multiLvlStrRef>
              <c:f>Sheet1!$A$2:$A$4</c:f>
              <c:multiLvlStrCache>
                <c:ptCount val="3"/>
                <c:lvl>
                  <c:pt idx="0">
                    <c:v>holds</c:v>
                  </c:pt>
                  <c:pt idx="1">
                    <c:v>fails</c:v>
                  </c:pt>
                  <c:pt idx="2">
                    <c:v>unknown</c:v>
                  </c:pt>
                </c:lvl>
              </c:multiLvlStrCache>
            </c:multiLvlStrRef>
          </c:cat>
          <c:val>
            <c:numRef>
              <c:f>Sheet1!$B$2:$B$4</c:f>
              <c:numCache>
                <c:formatCode>General</c:formatCode>
                <c:ptCount val="3"/>
                <c:pt idx="0">
                  <c:v>312</c:v>
                </c:pt>
                <c:pt idx="1">
                  <c:v>23</c:v>
                </c:pt>
                <c:pt idx="2">
                  <c:v>10</c:v>
                </c:pt>
              </c:numCache>
            </c:numRef>
          </c:val>
        </c:ser>
        <c:dLbls>
          <c:numFmt formatCode="#,##0" sourceLinked="0"/>
          <c:txPr>
            <a:bodyPr/>
            <a:lstStyle/>
            <a:p>
              <a:pPr>
                <a:defRPr b="0" i="0" strike="noStrike" sz="1200" u="none">
                  <a:solidFill>
                    <a:srgbClr val="1A2421"/>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A2421"/>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6626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2421"/>
                </a:solidFill>
                <a:latin typeface="Calibri"/>
              </a:defRPr>
            </a:pPr>
            <a:r>
              <a:rPr sz="1400" b="0" i="0" u="none" strike="noStrike">
                <a:solidFill>
                  <a:srgbClr val="1A2421"/>
                </a:solidFill>
                <a:latin typeface="Calibri"/>
              </a:rPr>
              <a:t>STATES contexts: mean ms per context (42 contexts)</a:t>
            </a:r>
          </a:p>
        </c:rich>
      </c:tx>
      <c:layout/>
      <c:overlay val="0"/>
    </c:title>
    <c:autoTitleDeleted val="0"/>
    <c:plotArea>
      <c:layout/>
      <c:barChart>
        <c:barDir val="bar"/>
        <c:grouping val="clustered"/>
        <c:varyColors val="0"/>
        <c:ser>
          <c:idx val="0"/>
          <c:order val="0"/>
          <c:tx>
            <c:strRef>
              <c:f>Sheet1!$B$1</c:f>
              <c:strCache>
                <c:ptCount val="1"/>
                <c:pt idx="0">
                  <c:v>ms per context</c:v>
                </c:pt>
              </c:strCache>
            </c:strRef>
          </c:tx>
          <c:spPr>
            <a:solidFill>
              <a:srgbClr val="56626A"/>
            </a:solidFill>
            <a:effectLst/>
          </c:spPr>
          <c:invertIfNegative val="0"/>
          <c:dLbls>
            <c:numFmt formatCode="General" sourceLinked="0"/>
            <c:txPr>
              <a:bodyPr/>
              <a:lstStyle/>
              <a:p>
                <a:pPr>
                  <a:defRPr b="0" i="0" strike="noStrike" sz="1200" u="none">
                    <a:solidFill>
                      <a:srgbClr val="1A2421"/>
                    </a:solidFill>
                    <a:latin typeface="Calibri"/>
                  </a:defRPr>
                </a:pPr>
              </a:p>
            </c:txPr>
            <c:showLegendKey val="0"/>
            <c:showVal val="1"/>
            <c:showCatName val="0"/>
            <c:showSerName val="0"/>
            <c:showPercent val="0"/>
            <c:showBubbleSize val="0"/>
            <c:showLeaderLines val="0"/>
          </c:dLbls>
          <c:dPt>
            <c:idx val="0"/>
            <c:invertIfNegative val="0"/>
            <c:bubble3D val="0"/>
            <c:spPr>
              <a:solidFill>
                <a:srgbClr val="56626A"/>
              </a:solidFill>
              <a:effectLst/>
            </c:spPr>
          </c:dPt>
          <c:dPt>
            <c:idx val="1"/>
            <c:invertIfNegative val="0"/>
            <c:bubble3D val="0"/>
            <c:spPr>
              <a:solidFill>
                <a:srgbClr val="8FC5B6"/>
              </a:solidFill>
              <a:effectLst/>
            </c:spPr>
          </c:dPt>
          <c:dPt>
            <c:idx val="2"/>
            <c:invertIfNegative val="0"/>
            <c:bubble3D val="0"/>
            <c:spPr>
              <a:solidFill>
                <a:srgbClr val="1E7B6B"/>
              </a:solidFill>
              <a:effectLst/>
            </c:spPr>
          </c:dPt>
          <c:cat>
            <c:multiLvlStrRef>
              <c:f>Sheet1!$A$2:$A$4</c:f>
              <c:multiLvlStrCache>
                <c:ptCount val="3"/>
                <c:lvl>
                  <c:pt idx="0">
                    <c:v>STATES's own code</c:v>
                  </c:pt>
                  <c:pt idx="1">
                    <c:v>GRAPH, lifted box</c:v>
                  </c:pt>
                  <c:pt idx="2">
                    <c:v>GRAPH, periodic cell</c:v>
                  </c:pt>
                </c:lvl>
              </c:multiLvlStrCache>
            </c:multiLvlStrRef>
          </c:cat>
          <c:val>
            <c:numRef>
              <c:f>Sheet1!$B$2:$B$4</c:f>
              <c:numCache>
                <c:formatCode>General</c:formatCode>
                <c:ptCount val="3"/>
                <c:pt idx="0">
                  <c:v>58.5</c:v>
                </c:pt>
                <c:pt idx="1">
                  <c:v>305</c:v>
                </c:pt>
                <c:pt idx="2">
                  <c:v>17.1</c:v>
                </c:pt>
              </c:numCache>
            </c:numRef>
          </c:val>
        </c:ser>
        <c:dLbls>
          <c:numFmt formatCode="General" sourceLinked="0"/>
          <c:txPr>
            <a:bodyPr/>
            <a:lstStyle/>
            <a:p>
              <a:pPr>
                <a:defRPr b="0" i="0" strike="noStrike" sz="1200" u="none">
                  <a:solidFill>
                    <a:srgbClr val="1A2421"/>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A2421"/>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6626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2421"/>
                </a:solidFill>
                <a:latin typeface="Calibri"/>
              </a:defRPr>
            </a:pPr>
            <a:r>
              <a:rPr sz="1400" b="0" i="0" u="none" strike="noStrike">
                <a:solidFill>
                  <a:srgbClr val="1A2421"/>
                </a:solidFill>
                <a:latin typeface="Calibri"/>
              </a:rPr>
              <a:t>Seconds, against networkx (pure Python too)</a:t>
            </a:r>
          </a:p>
        </c:rich>
      </c:tx>
      <c:layout/>
      <c:overlay val="0"/>
    </c:title>
    <c:autoTitleDeleted val="0"/>
    <c:plotArea>
      <c:layout/>
      <c:barChart>
        <c:barDir val="bar"/>
        <c:grouping val="clustered"/>
        <c:varyColors val="0"/>
        <c:ser>
          <c:idx val="0"/>
          <c:order val="0"/>
          <c:tx>
            <c:strRef>
              <c:f>Sheet1!$B$1</c:f>
              <c:strCache>
                <c:ptCount val="1"/>
                <c:pt idx="0">
                  <c:v>GRAPH</c:v>
                </c:pt>
              </c:strCache>
            </c:strRef>
          </c:tx>
          <c:spPr>
            <a:solidFill>
              <a:srgbClr val="1E7B6B"/>
            </a:solidFill>
            <a:effectLst/>
          </c:spPr>
          <c:invertIfNegative val="0"/>
          <c:dLbls>
            <c:numFmt formatCode="0.0#" sourceLinked="0"/>
            <c:txPr>
              <a:bodyPr/>
              <a:lstStyle/>
              <a:p>
                <a:pPr>
                  <a:defRPr b="0" i="0" strike="noStrike" sz="1000" u="none">
                    <a:solidFill>
                      <a:srgbClr val="1A2421"/>
                    </a:solidFill>
                    <a:latin typeface="Calibri"/>
                  </a:defRPr>
                </a:pPr>
              </a:p>
            </c:txPr>
            <c:showLegendKey val="0"/>
            <c:showVal val="1"/>
            <c:showCatName val="0"/>
            <c:showSerName val="0"/>
            <c:showPercent val="0"/>
            <c:showBubbleSize val="0"/>
            <c:showLeaderLines val="0"/>
          </c:dLbls>
          <c:cat>
            <c:multiLvlStrRef>
              <c:f>Sheet1!$A$2:$A$13</c:f>
              <c:multiLvlStrCache>
                <c:ptCount val="12"/>
                <c:lvl>
                  <c:pt idx="0">
                    <c:v>Strong components</c:v>
                  </c:pt>
                  <c:pt idx="1">
                    <c:v>Articulation points</c:v>
                  </c:pt>
                  <c:pt idx="2">
                    <c:v>Max flow</c:v>
                  </c:pt>
                  <c:pt idx="3">
                    <c:v>Min-cost flow</c:v>
                  </c:pt>
                  <c:pt idx="4">
                    <c:v>Matching</c:v>
                  </c:pt>
                  <c:pt idx="5">
                    <c:v>Weighted matching</c:v>
                  </c:pt>
                  <c:pt idx="6">
                    <c:v>Dominators</c:v>
                  </c:pt>
                  <c:pt idx="7">
                    <c:v>Critical path</c:v>
                  </c:pt>
                  <c:pt idx="8">
                    <c:v>Negative costs</c:v>
                  </c:pt>
                  <c:pt idx="9">
                    <c:v>Hexagon search</c:v>
                  </c:pt>
                  <c:pt idx="10">
                    <c:v>Spanning forest</c:v>
                  </c:pt>
                  <c:pt idx="11">
                    <c:v>k shortest paths</c:v>
                  </c:pt>
                </c:lvl>
              </c:multiLvlStrCache>
            </c:multiLvlStrRef>
          </c:cat>
          <c:val>
            <c:numRef>
              <c:f>Sheet1!$B$2:$B$13</c:f>
              <c:numCache>
                <c:formatCode>General</c:formatCode>
                <c:ptCount val="12"/>
                <c:pt idx="0">
                  <c:v>0.38</c:v>
                </c:pt>
                <c:pt idx="1">
                  <c:v>0.57</c:v>
                </c:pt>
                <c:pt idx="2">
                  <c:v>4.5</c:v>
                </c:pt>
                <c:pt idx="3">
                  <c:v>0.61</c:v>
                </c:pt>
                <c:pt idx="4">
                  <c:v>2.5</c:v>
                </c:pt>
                <c:pt idx="5">
                  <c:v>0.25</c:v>
                </c:pt>
                <c:pt idx="6">
                  <c:v>0.65</c:v>
                </c:pt>
                <c:pt idx="7">
                  <c:v>0.67</c:v>
                </c:pt>
                <c:pt idx="8">
                  <c:v>0.1</c:v>
                </c:pt>
                <c:pt idx="9">
                  <c:v>0.05</c:v>
                </c:pt>
                <c:pt idx="10">
                  <c:v>0.89</c:v>
                </c:pt>
                <c:pt idx="11">
                  <c:v>3.07</c:v>
                </c:pt>
              </c:numCache>
            </c:numRef>
          </c:val>
        </c:ser>
        <c:ser>
          <c:idx val="1"/>
          <c:order val="1"/>
          <c:tx>
            <c:strRef>
              <c:f>Sheet1!$C$1</c:f>
              <c:strCache>
                <c:ptCount val="1"/>
                <c:pt idx="0">
                  <c:v>networkx</c:v>
                </c:pt>
              </c:strCache>
            </c:strRef>
          </c:tx>
          <c:spPr>
            <a:solidFill>
              <a:srgbClr val="56626A"/>
            </a:solidFill>
            <a:effectLst/>
          </c:spPr>
          <c:invertIfNegative val="0"/>
          <c:dLbls>
            <c:numFmt formatCode="0.0#" sourceLinked="0"/>
            <c:txPr>
              <a:bodyPr/>
              <a:lstStyle/>
              <a:p>
                <a:pPr>
                  <a:defRPr b="0" i="0" strike="noStrike" sz="1000" u="none">
                    <a:solidFill>
                      <a:srgbClr val="1A2421"/>
                    </a:solidFill>
                    <a:latin typeface="Calibri"/>
                  </a:defRPr>
                </a:pPr>
              </a:p>
            </c:txPr>
            <c:showLegendKey val="0"/>
            <c:showVal val="1"/>
            <c:showCatName val="0"/>
            <c:showSerName val="0"/>
            <c:showPercent val="0"/>
            <c:showBubbleSize val="0"/>
            <c:showLeaderLines val="0"/>
          </c:dLbls>
          <c:cat>
            <c:multiLvlStrRef>
              <c:f>Sheet1!$A$2:$A$13</c:f>
              <c:multiLvlStrCache>
                <c:ptCount val="12"/>
                <c:lvl>
                  <c:pt idx="0">
                    <c:v>Strong components</c:v>
                  </c:pt>
                  <c:pt idx="1">
                    <c:v>Articulation points</c:v>
                  </c:pt>
                  <c:pt idx="2">
                    <c:v>Max flow</c:v>
                  </c:pt>
                  <c:pt idx="3">
                    <c:v>Min-cost flow</c:v>
                  </c:pt>
                  <c:pt idx="4">
                    <c:v>Matching</c:v>
                  </c:pt>
                  <c:pt idx="5">
                    <c:v>Weighted matching</c:v>
                  </c:pt>
                  <c:pt idx="6">
                    <c:v>Dominators</c:v>
                  </c:pt>
                  <c:pt idx="7">
                    <c:v>Critical path</c:v>
                  </c:pt>
                  <c:pt idx="8">
                    <c:v>Negative costs</c:v>
                  </c:pt>
                  <c:pt idx="9">
                    <c:v>Hexagon search</c:v>
                  </c:pt>
                  <c:pt idx="10">
                    <c:v>Spanning forest</c:v>
                  </c:pt>
                  <c:pt idx="11">
                    <c:v>k shortest paths</c:v>
                  </c:pt>
                </c:lvl>
              </c:multiLvlStrCache>
            </c:multiLvlStrRef>
          </c:cat>
          <c:val>
            <c:numRef>
              <c:f>Sheet1!$C$2:$C$13</c:f>
              <c:numCache>
                <c:formatCode>General</c:formatCode>
                <c:ptCount val="12"/>
                <c:pt idx="0">
                  <c:v>0.34</c:v>
                </c:pt>
                <c:pt idx="1">
                  <c:v>0.36</c:v>
                </c:pt>
                <c:pt idx="2">
                  <c:v>6.4</c:v>
                </c:pt>
                <c:pt idx="3">
                  <c:v>4.25</c:v>
                </c:pt>
                <c:pt idx="4">
                  <c:v>2.1</c:v>
                </c:pt>
                <c:pt idx="5">
                  <c:v>0.81</c:v>
                </c:pt>
                <c:pt idx="6">
                  <c:v>0.93</c:v>
                </c:pt>
                <c:pt idx="7">
                  <c:v>0.26</c:v>
                </c:pt>
                <c:pt idx="8">
                  <c:v>0.13</c:v>
                </c:pt>
                <c:pt idx="9">
                  <c:v>0.54</c:v>
                </c:pt>
                <c:pt idx="10">
                  <c:v>0.92</c:v>
                </c:pt>
                <c:pt idx="11">
                  <c:v>0.3</c:v>
                </c:pt>
              </c:numCache>
            </c:numRef>
          </c:val>
        </c:ser>
        <c:dLbls>
          <c:numFmt formatCode="0.0#" sourceLinked="0"/>
          <c:txPr>
            <a:bodyPr/>
            <a:lstStyle/>
            <a:p>
              <a:pPr>
                <a:defRPr b="0" i="0" strike="noStrike" sz="1000" u="none">
                  <a:solidFill>
                    <a:srgbClr val="1A2421"/>
                  </a:solidFill>
                  <a:latin typeface="Calibri"/>
                </a:defRPr>
              </a:pPr>
            </a:p>
          </c:txPr>
          <c:showLegendKey val="0"/>
          <c:showVal val="1"/>
          <c:showCatName val="0"/>
          <c:showSerName val="0"/>
          <c:showPercent val="0"/>
          <c:showBubbleSize val="0"/>
          <c:showLeaderLines val="0"/>
        </c:dLbls>
        <c:gapWidth val="2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A2421"/>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6626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A2421"/>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2421"/>
                </a:solidFill>
                <a:latin typeface="Calibri"/>
              </a:defRPr>
            </a:pPr>
            <a:r>
              <a:rPr sz="1400" b="0" i="0" u="none" strike="noStrike">
                <a:solidFill>
                  <a:srgbClr val="1A2421"/>
                </a:solidFill>
                <a:latin typeface="Calibri"/>
              </a:rPr>
              <a:t>Hand-worked conformance cases</a:t>
            </a:r>
          </a:p>
        </c:rich>
      </c:tx>
      <c:layout/>
      <c:overlay val="0"/>
    </c:title>
    <c:autoTitleDeleted val="0"/>
    <c:plotArea>
      <c:layout/>
      <c:lineChart>
        <c:varyColors val="0"/>
        <c:ser>
          <c:idx val="0"/>
          <c:order val="0"/>
          <c:tx>
            <c:strRef>
              <c:f>Sheet1!$B$1</c:f>
              <c:strCache>
                <c:ptCount val="1"/>
                <c:pt idx="0">
                  <c:v>conformance cases</c:v>
                </c:pt>
              </c:strCache>
            </c:strRef>
          </c:tx>
          <c:spPr>
            <a:solidFill>
              <a:srgbClr val="1E7B6B"/>
            </a:solidFill>
            <a:ln w="31750" cap="flat">
              <a:solidFill>
                <a:srgbClr val="1E7B6B"/>
              </a:solidFill>
              <a:prstDash val="solid"/>
              <a:round/>
            </a:ln>
            <a:effectLst/>
          </c:spPr>
          <c:invertIfNegative val="0"/>
          <c:dLbls>
            <c:numFmt formatCode="#,##0" sourceLinked="0"/>
            <c:txPr>
              <a:bodyPr/>
              <a:lstStyle/>
              <a:p>
                <a:pPr>
                  <a:defRPr b="0" i="0" strike="noStrike" sz="900" u="none">
                    <a:solidFill>
                      <a:srgbClr val="1A2421"/>
                    </a:solidFill>
                    <a:latin typeface="Calibri"/>
                  </a:defRPr>
                </a:pPr>
              </a:p>
            </c:txPr>
            <c:dLblPos val="t"/>
            <c:showLegendKey val="0"/>
            <c:showVal val="1"/>
            <c:showCatName val="0"/>
            <c:showSerName val="0"/>
            <c:showPercent val="0"/>
            <c:showBubbleSize val="0"/>
            <c:showLeaderLines val="0"/>
          </c:dLbls>
          <c:marker>
            <c:symbol val="circle"/>
            <c:size val="7"/>
            <c:spPr>
              <a:solidFill>
                <a:srgbClr val="1E7B6B"/>
              </a:solidFill>
              <a:ln w="9525" cap="flat">
                <a:solidFill>
                  <a:srgbClr val="1E7B6B"/>
                </a:solidFill>
                <a:prstDash val="solid"/>
                <a:round/>
              </a:ln>
              <a:effectLst/>
            </c:spPr>
          </c:marker>
          <c:cat>
            <c:multiLvlStrRef>
              <c:f>Sheet1!$A$2:$A$27</c:f>
              <c:multiLvlStrCache>
                <c:ptCount val="26"/>
                <c:lvl>
                  <c:pt idx="0">
                    <c:v>v0</c:v>
                  </c:pt>
                  <c:pt idx="1">
                    <c:v>v0.1</c:v>
                  </c:pt>
                  <c:pt idx="2">
                    <c:v>hier.</c:v>
                  </c:pt>
                  <c:pt idx="3">
                    <c:v>pattern</c:v>
                  </c:pt>
                  <c:pt idx="4">
                    <c:v>support</c:v>
                  </c:pt>
                  <c:pt idx="5">
                    <c:v>certs</c:v>
                  </c:pt>
                  <c:pt idx="6">
                    <c:v>bottleneck</c:v>
                  </c:pt>
                  <c:pt idx="7">
                    <c:v>regular</c:v>
                  </c:pt>
                  <c:pt idx="8">
                    <c:v>deriv.</c:v>
                  </c:pt>
                  <c:pt idx="9">
                    <c:v>periodic</c:v>
                  </c:pt>
                  <c:pt idx="10">
                    <c:v>PageRank</c:v>
                  </c:pt>
                  <c:pt idx="11">
                    <c:v>cycles</c:v>
                  </c:pt>
                  <c:pt idx="12">
                    <c:v>structure</c:v>
                  </c:pt>
                  <c:pt idx="13">
                    <c:v>flows</c:v>
                  </c:pt>
                  <c:pt idx="14">
                    <c:v>dominators</c:v>
                  </c:pt>
                  <c:pt idx="15">
                    <c:v>incidence</c:v>
                  </c:pt>
                  <c:pt idx="16">
                    <c:v>crit. path</c:v>
                  </c:pt>
                  <c:pt idx="17">
                    <c:v>d-sep.</c:v>
                  </c:pt>
                  <c:pt idx="18">
                    <c:v>sup. cert.</c:v>
                  </c:pt>
                  <c:pt idx="19">
                    <c:v>neg. costs</c:v>
                  </c:pt>
                  <c:pt idx="20">
                    <c:v>injective</c:v>
                  </c:pt>
                  <c:pt idx="21">
                    <c:v>forest</c:v>
                  </c:pt>
                  <c:pt idx="22">
                    <c:v>rings</c:v>
                  </c:pt>
                  <c:pt idx="23">
                    <c:v>wt. match.</c:v>
                  </c:pt>
                  <c:pt idx="24">
                    <c:v>k paths</c:v>
                  </c:pt>
                  <c:pt idx="25">
                    <c:v>min-cost</c:v>
                  </c:pt>
                </c:lvl>
              </c:multiLvlStrCache>
            </c:multiLvlStrRef>
          </c:cat>
          <c:val>
            <c:numRef>
              <c:f>Sheet1!$B$2:$B$27</c:f>
              <c:numCache>
                <c:formatCode>General</c:formatCode>
                <c:ptCount val="26"/>
                <c:pt idx="0">
                  <c:v>34</c:v>
                </c:pt>
                <c:pt idx="1">
                  <c:v>49</c:v>
                </c:pt>
                <c:pt idx="2">
                  <c:v>54</c:v>
                </c:pt>
                <c:pt idx="3">
                  <c:v>62</c:v>
                </c:pt>
                <c:pt idx="4">
                  <c:v>70</c:v>
                </c:pt>
                <c:pt idx="5">
                  <c:v>74</c:v>
                </c:pt>
                <c:pt idx="6">
                  <c:v>78</c:v>
                </c:pt>
                <c:pt idx="7">
                  <c:v>91</c:v>
                </c:pt>
                <c:pt idx="8">
                  <c:v>100</c:v>
                </c:pt>
                <c:pt idx="9">
                  <c:v>112</c:v>
                </c:pt>
                <c:pt idx="10">
                  <c:v>116</c:v>
                </c:pt>
                <c:pt idx="11">
                  <c:v>121</c:v>
                </c:pt>
                <c:pt idx="12">
                  <c:v>133</c:v>
                </c:pt>
                <c:pt idx="13">
                  <c:v>143</c:v>
                </c:pt>
                <c:pt idx="14">
                  <c:v>148</c:v>
                </c:pt>
                <c:pt idx="15">
                  <c:v>153</c:v>
                </c:pt>
                <c:pt idx="16">
                  <c:v>158</c:v>
                </c:pt>
                <c:pt idx="17">
                  <c:v>165</c:v>
                </c:pt>
                <c:pt idx="18">
                  <c:v>168</c:v>
                </c:pt>
                <c:pt idx="19">
                  <c:v>173</c:v>
                </c:pt>
                <c:pt idx="20">
                  <c:v>176</c:v>
                </c:pt>
                <c:pt idx="21">
                  <c:v>180</c:v>
                </c:pt>
                <c:pt idx="22">
                  <c:v>182</c:v>
                </c:pt>
                <c:pt idx="23">
                  <c:v>183</c:v>
                </c:pt>
                <c:pt idx="24">
                  <c:v>185</c:v>
                </c:pt>
                <c:pt idx="25">
                  <c:v>188</c:v>
                </c:pt>
              </c:numCache>
            </c:numRef>
          </c:val>
          <c:smooth val="0"/>
        </c:ser>
        <c:dLbls>
          <c:numFmt formatCode="#,##0" sourceLinked="0"/>
          <c:txPr>
            <a:bodyPr/>
            <a:lstStyle/>
            <a:p>
              <a:pPr>
                <a:defRPr b="0" i="0" strike="noStrike" sz="900" u="none">
                  <a:solidFill>
                    <a:srgbClr val="1A2421"/>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rot="18900000"/>
          <a:lstStyle/>
          <a:p>
            <a:pPr>
              <a:defRPr sz="1000" b="0" i="0" u="none" strike="noStrike">
                <a:solidFill>
                  <a:srgbClr val="1A2421"/>
                </a:solidFill>
                <a:latin typeface="Calibri"/>
              </a:defRPr>
            </a:pPr>
            <a:endParaRPr lang="en-US"/>
          </a:p>
        </c:txPr>
        <c:crossAx val="2094734552"/>
        <c:crosses val="autoZero"/>
        <c:auto val="1"/>
        <c:lblAlgn val="ctr"/>
        <c:noMultiLvlLbl val="1"/>
        <c:tickLblSkip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6626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 Graph Runtime for Analysis, Provenance, Hypotheses. A small Python library (standard library only) of exact graph operations with witnesses, shared by the group's projects. Status: in development, nothing published (README.md). The highlighted path in the picture is the deck's motif: an answer together with the edges that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README.md (applications keep their scientific definitions; each reaches GRAPH through an adapter it owns), docs/SCALE_INTEGRATION.md (SCALE's tools/pgraph_query.py, lifecycle.py, passages.py), docs/STATES_INTEGRATION.md (extract_context). SCALE and STATES adapters are staged in integrations/ with parity tests. RATES and Cathanor have no adapter yet; derivation and bottleneck paths are phrased in reaction-network terms in docs/API_CONTRACT.md.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README.md (explicit inputs, exact only, bounded work, reproducible results, witnesses checked against the input records), CLAUDE.md (Invariants). Personalized PageRank is in as proven intervals (docs/API_CONTRACT.md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docs/API_CONTRACT.md §1 (projections, identity, hierarchies, periodic projections), §2 (requests, request_id), §3 (execution, limits; execute never raises once its arguments are valid), §5 (results), §6 (verify_result), §7 (revalidation); docs/HYPOTHESES_AND_PROVENANCE.md; docs/RETRIEVAL.md; README.md (tools). The adapter box is dashed: it belongs to the application, not to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is README.md's quick start, rewrapped to fit. Sources for the guarantees: CLAUDE.md (Invariants), docs/API_CONTRACT.md §5 (statuses; reachable/affected/found give False only for a completed result; result_id digests everything but timing).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README.md (Tools for agents and other programs), docs/RETRIEVAL.md (parity with SCALE: 1,980 searches, 130,173 hits in SCALE's order with SCALE's scores), git log 699d263 (a summary of a 40-node reachability is a fifth the size of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src/graph_runtime/request.py (OPERATIONS: 23 names), docs/API_CONTRACT.md §2 and §4. Periodic projections are a kind of projection, not an operation: reachability and dependency impact run on them, and periodicity runs only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docs/API_CONTRACT.md §4: Reachability, Dependency impact, Typed path, Shortest path (and its Negative costs paragraph); §6; src/graph_runtime/engine.py (_search_signed, _answer_signed); tests/test_negative_costs.py; git log 97723bb.
reachability: Reach, and dependency impact. Theory: Every node within the scope and depth, at its least hop count; dependency_impact runs the same search from changed nodes. Algorithm: Breadth-first search in canonical order; each node's first hop builds a witness tree. Closure proves: Every hop from an expanded node leads to a listed node at most one hop deeper: complete, and depths least.
typed_path: A walk along a relation sequence. Theory: One walk matching a finite sequence of relations, with optional node types at each position. Algorithm: Breadth-first search over (node, position) states. Certificate proves: Closed states: all states the sources reach, closed under the pattern's hops, none ending at a target.
shortest_path: The cheapest route, exactly. Theory: A least-cost walk from a source to a target, costs of any sign (signed energies). A negative cycle on the way leaves no optimum. Algorithm: Dijkstra if no cost is negative; else Bellman-Ford-Moore with Tarjan's subtree disassembly, over the nodes between sources and targets. Certificate proves: Potentials prove an optimum (with the dead ends if a cost is negative); three walks, a negative cycle; a closure, no path. Costs are exact: integers, or rationals held as scaled integers. Non-negative requests are answered exactly as before, by Dijkstra's algorithm; its potentials also prove an interrupted search's lower bound. With any negative cost (docs/API_CONTRACT.md §4, Negative costs; engine.py _search_signed and _answer_signed): Bellman-Ford-Moore, first in first out, with Tarjan's subtree disassembly (Tarjan, 1981; Cherkassky and Goldberg, 1999), run only over the live nodes, those reachable from a source that can reach a target, so a negative cycle among the dead ends changes nothing. Outcomes: an optimum whose witness is the fewest-hop least-cost walk (breadth-first over the hops tight under the least costs, so it does not depend on the order of the search); or a negative cycle on a walk from a source to a target, reported as three walks (lead_in, the cycle with its negative cost, lead_out) that the verifier checks; a complete negative keeps its closure certificate; an interrupted search claims no lower bound. Certificate feasible_potentials: the least costs of the live nodes and the dead ends; every hop from a listed node goes to a dead end or to a listed node at most its cost above, dead ends are closed, sources sit at or below 0 and targets at or above the bound. Typical use: exergonic steps and signed energies in reaction networks. Tests: tests/test_negative_costs.py (1,500 random graphs against an independent fixpoint oracle, forged proofs rejected, revalidation against fresh runs); 5 hand-worked conformance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docs/API_CONTRACT.md §4: Bottleneck path, Regular path, K shortest paths; §6; tests/test_k_shortest_paths.py; git log ae48035, f65497b, ffd474a.
bottleneck_path: Fastest rate-limiting step, lowest barrier. Theory: The path whose weakest edge is strongest (max_min: rates) or highest edge lowest (min_max: barriers); fewest hops among those. Algorithm: Settle nodes best value first, as Dijkstra settles costs; then a breadth-first search over hops as good finds the fewest hops. Certificate proves: Threshold: what the sources reach by strictly better hops is closed and holds no target. A closure proves a negative. max_min, e.g. rates: the fastest rate-limiting step; min_max, e.g. barriers: the lowest highest barrier. Weights are compared, never added. The breadth-first search runs over the hops at least as good as the value. Certificate: what the sources reach by hops strictly better than the value is closed and holds no target, so no path is better.
regular_path: Walks matching a regular expression. Theory: Regular path queries (Mendelzon and Wood, 1995), as SPARQL property paths and GQL write them: DERIVED_FROM*/SUPPORTED_BY Algorithm: Breadth-first search over the graph times the expression's Glushkov automaton: one fewest-hop walk, or every node reached. Certificate proves: Closed product states below a bound prove the fewest hops, a negative or a reached set. The verifier builds its own automaton. A fuller expression: DERIVED_FROM*/SUPPORTED_BY[Measurement]/IN. The search runs over the product of the graph and the expression's Glushkov automaton. Closed product states below a bound prove the fewest hops, a negative or a complete reached set.
k_shortest_paths: Alternatives: the first k simple paths. Theory: Alternative pathways, backup routes: k simple paths ranked by cost, hops, then IDs, so ties have one order and parallel edges differ. Algorithm: Yen (1971) with Lawler's rule: spur only from where a path left its parent; each least path a Dijkstra search on the full order. Checked by: Each path is a witness a checker confirms. The ranking is Yen's theorem, tested on 700 random cases: not certified or revalidated. docs/API_CONTRACT.md §4, K shortest paths: a path visits no node twice; other sources and targets may lie on it, and a source that is a target is a path of no hops. Costs as for shortest paths, non-negative and exact; without costs every hop costs 1. The order: cost, then hops, then the start node's ID and the sequence of edge IDs. Yen's algorithm: for each accepted path and each of its nodes, the least path that keeps the hops before that spur node, avoids the nodes before it, and leaves it neither by a hop nor by stopping that an accepted path with the same root took is a candidate; stopping is one more way to leave a spur node, so paths that end at a target on the way, or go on past one, are found. A virtual start before the sources makes several sources one problem. Lawler's rule spurs only from where a path left its parent, and searches stop at the key of the last candidate that could still be listed. Each least path is Dijkstra's search on the full key, which extending a path preserves. exhausted is true when fewer than k simple paths exist, false when k are listed, null when interrupted; an interrupted search lists a prefix of the order. The ranking is not certified, so revalidation answers unknown (not_certified). A Codex adversarial review found that settled keys kept every edge-ID prefix, quadratic on a long path (248 MiB on an 8,000-node chain), and that the contract reader accepted a misordered or repeated list; settled labels are now released and the contract checks the order, with regressions. Tests (tests/test_k_shortest_paths.py): 700 random cases (several sources and targets, ties, zero costs, both scope directions) list exactly the brute force's first k; networkx's shortest_simple_paths agrees on costs; forgeries are refused; interruptions list a prefix of the order; 2 hand-worked conformance cases. Benchmark (git log ffd474a): 2,000 nodes and 10,000 edges, k = 50, 0.32 s (networkx 0.18 s); 20,000 nodes and 100,000 edges, k = 20, 3.07 s (networkx 0.30 s, with bidirectional searches that the strict tie order does not allow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docs/API_CONTRACT.md §4: Support, Derivation; git log 5e61ca0, eeadc6a, 297ca1e.
support: What falls when nodes fail. Theory: A node with no support stands; an all_of node needs every support, any other node one. What stands is the least fixpoint, so support in a circle grounds nothing. Algorithm: Two fixpoints by counting standing supports, before and after the failures, over only the region they reach: lost and weakened nodes, with their causes. Certificate: Both fixpoints' ranks: a ranked node meets its rule on lower ranks; the unranked fail theirs on unranked supports, an unfounded set. Generalizes SCALE's "rests on a retraction".
derivation: The best route from feedstocks to each product. Theory: Lightest derivations: a reaction needs all its reactants, a species any reaction that makes it. Cheapest (min_sum), lowest highest barrier (min_max), fastest slowest step (max_min). Algorithm: Knuth's generalization of Dijkstra's algorithm (1977); the lightest derivation problem of Felzenszwalb and McAllester (2007). A settled value is final. Certificate proves: Values no rule improves on, over the targets' region, prove the best values and the underivable targets at once. The derivation DAG is the witness.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docs/API_CONTRACT.md §4: Critical path, d-separation; git log 1d6dbbf, 83f9ffe.
critical_path: Schedule, makespan and slack, or a cycle. Theory: A hop from u to v means u comes first. Kelley and Walker's critical path method (1959): earliest times by the longest-path recurrence, the makespan, a critical path, latest times and slack. A graph with a cycle gives a cycle instead. Algorithm: Kahn's algorithm (1962), taking the smallest ready node first: the lexicographically smallest topological order. Costs are exact; without them, earliest times are layers. Certificate proves: The order with earliest times: every hop goes forward and the recurrence holds exactly, which proves the makespan, the path and the schedule.
d_separation: Causal independence, or the trail that breaks it. Theory: A hop from u to v means u is a parent of v. x and y are d-separated given Z when no trail between them is active (Pearl, 1988; Geiger, Verma and Pearl, 1990). Algorithm: Shachter's Bayes-ball (1998), as Koller and Friedman's Algorithm 3.1: the given nodes' ancestors, then a breadth-first search over (node, going up or down) states. Certificate proves: Not separated: the active trail, with a directed path from each collider down to Z. Separated: the ancestor set and visited states, closed under the moves, holding no node of 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docs/API_CONTRACT.md §4: Pattern, Injective patterns; §6; tests/test_injective_pattern.py; git log 8b79971, 7b39f7d, b7e4f12.
pattern · trees: Tree patterns without dead ends. Theory: Variables bound by types (through the hierarchy) or IDs, then steps, each one hop from an earlier variable; optional steps keep their row. Algorithm: Yannakakis' semi-join reduction: discover down, prune up, prune down. Totals are counted exactly without listing the rows. Checked by: verify_result checks every row; rows and totals match a brute-force enumerator (400 random patterns) and SCALE's own engine. Rows come in canonical order; counting without listing handles 60⁴ rows in well under a second (git log 8b79971).
pattern · cycles: Corroboration and contradiction motifs. Theory: A step may close a cycle between bound variables: two supports of a claim from one dataset, a triangle of citations. Algorithm: Worst-case optimal join (Ngo, Porat, Ré and Rudra; Leapfrog Triejoin): candidates meet what every closing step allows. Checked by: Row for row against a brute-force enumerator (300 random cyclic patterns). An interruption keeps a prefix of the rows, never denies. The join intersects a variable's candidates with what every closing step allows, iterating the smallest set first (Veldhuizen's Leapfrog Triejoin).
pattern · injective: Substructure search. Theory: injective: true: distinct variables bind distinct nodes, distinct steps distinct edges. Motifs, catalytic sites, rings. No optional steps yet. Algorithm: Over the same Yannakakis-pruned candidates, skipping held nodes and used edges. NP-complete: budget-bounded; exact totals when done. Checked by: Brute force filtered for distinctness, row for row (400 random patterns); networkx's monomorphisms. Interrupted: no absence claimed. Subgraph monomorphism (docs/API_CONTRACT.md §4, Injective patterns): it counts every binding, so a pattern with automorphisms matches one subgraph several times (a hexagon twelve times). The rows are those of the same pattern without injective that use no node or edge twice, in the same canonical order. Distinctness is global, so no count along the kept hops respects it: an injective pattern, tree or cycle, is enumerated as a cycle's is, over the same semi-join-reduced candidates (a match with distinct nodes is a match). Totals are exact when the enumeration ends; an interruption leaves total null and claims no absence. No optional steps yet (unsupported, unsupported_mode): which node an optional step would bind among those left is not yet defined. The verifier and the contract checks reject a row that repeats a node or an edge. Every pattern request now states injective, so earlier pattern requests have new request and result IDs with the same answers (the golden workload's 160 pattern results regenerated). Row enumeration (cycles, injective patterns, tree rows) runs on an explicit stack: a Codex adversarial review found a 1,100-step chain hit Python's recursion limit. Tests (tests/test_injective_pattern.py): 400 random patterns row for row against the brute-force oracle filtered for distinctness; five shapes (a path, a star, a triangle, a square with a chord, a two-cycle) agree with networkx's subgraph monomorphisms (DiGraphMatcher); 3 hand-worked conformance cases. Benchmark (git log b7e4f12): 7,200 hexagon matches (600 rings × 12 symmetries) in a 1,300-atom graphene-like sheet in 0.05 s; networkx's GraphMatcher 0.54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docs/API_CONTRACT.md §4: Personalized PageRank; git log 0d4d2b3.
personalized_pagerank: A relevance ranking whose every number is proven. Theory: Personalized PageRank (Page and Brin; Jeh and Widom): the probability that a walk from the sources, stopping with probability α at each step, stops at v. The retrieval step of graph-based retrieval such as HippoRAG. Algorithm: The local push of Andersen, Chung and Lang (2006), in exact integer units of 2⁻⁶⁴. Its invariant holds exactly, so whenever the push stops: p(v) ≤ π(v) ≤ p(v) + r(v) + (1 − α)(R − r(v)). Certificate proves: The estimates alone: a checker recomputes every residual exactly; if none is negative, every interval, the residual and the certified top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docs/API_CONTRACT.md §4: Incidence; git log 05d3ea5; the worked example run on the runtime.
incidence: Exact rank and canonical kernel bases. Theory: The matrix of edge coefficients between row and column nodes. For a stoichiometric matrix the left kernel holds the conservation laws and the right the steady combinations; with the linkage classes the rank gives Feinberg's deficiency (1987). For a Petri net: place and transition invariants. Algorithm: Exact fraction-free elimination over the integers: the rank and a nonsingular minor, then back elimination only for the kernels asked for. Each basis is canonical: reduced row echelon, primitive integer vectors. Certificate proves: A nonsingular minor (rank at least r), shown by elimination modulo 2⁶¹ − 1 with Bareiss as fallback, and the smaller kernel (rank at most r): the rank and the kernels' completeness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docs/API_CONTRACT.md §1 (Periodic projections), §4 (Periodicity); docs/STATES_INTEGRATION.md; git log 699d263.
periodic projection: Crystals and slabs without a box of images. Theory: One cell of an infinite periodic graph, each edge with an integer image shift (a voltage graph; a crystal net's quotient graph). Algorithm: Reachability and impact read only the images they reach, named atom@i,j,k; answers equal a finite lift's (600 random periodic graphs). Checked by: verify_result checks periodic results against the cell's records, image by image.
periodicity: How each component repeats. Theory: The translation lattice of a periodic net (Chung, Hahn and Klee, 1984; Delgado-Friedrichs and O'Keeffe, 2003). Algorithm: A spanning tree gives each node a potential; each other edge closes a cycle whose net shift is a translation. Basis: the nets' Hermite normal form. Certificate proves: Witnesses write each basis row from cycle nets; the verifier checks every hop's net lies in the lattice, so the basis is exactly the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docs/API_CONTRACT.md §4: Components, Biconnectivity; git log 99fb868.
components: How a graph falls into pieces. Theory: Weak (hops either way: fragments) or strong (a walk each way: feedback loops, circular derivations), flagged initial, terminal and cyclic. A terminal class is one a walk never leaves. Algorithm: Breadth-first search (weak) or Tarjan's depth-first search (1972) for strong components. Linear time. Certificate proves: Spanning trees prove each listed component connected (strong: one out, one in); a closed partition in topological order proves nothing outside belongs with it.
biconnectivity: Where a single failure splits a structure. Theory: Articulation points (with the pieces each leaves), bridges and blocks. Parallel edges are distinct links, so two between the same nodes are never bridges. Algorithm: One depth-first search with low points (Hopcroft and Tarjan, 1973). Linear time. Certificate proves: The depth-first forest: a checker confirms it is one, recomputes every low point from the records, and each claim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docs/API_CONTRACT.md §4: Spanning forest, Cycle basis; §6; §7; tests/test_spanning_forest.py, tests/test_cycle_basis.py; git log 741c2dd, a482dbf.
spanning_forest: Backbones, single-linkage clusters. Theory: The minimum (or maximum) spanning forest: one tree per connected piece, each link read either way. Weights are any finite numbers, exact; ties go to the smaller edge ID. Algorithm: Kruskal (1956) with a union-find, taking the links in the order of (weight, edge ID): the forest is unique in that order. Proves itself by: Tarjan's cycle property: no cycle, every piece spanned, and each link left out after every edge of its tree path (path maxima by binary lifting). Revalidation re-checks it. docs/API_CONTRACT.md §4, Spanning forest: each edge in scope is a link between its ends, whichever way the scope follows it; a loop never joins anything; a node with no link is a tree of its own. Weights are compared exactly (floats as exact rationals, negatives allowed); without weights every link weighs 1 and the forest is the first in edge ID order. objective max takes weights descending, then edge ID. Reading each node's links is one expansion; an interrupted search claims nothing (every field null). Answer: the forest's edges in ascending ID, their count, the number of trees and the exact total weight. No certificate is needed: links in scope with no cycle, spanning every piece, and every link left out after every edge of its tree path in that order, are the forest Kruskal's algorithm keeps; the verifier finds those path maxima by binary lifting in O((n + m) log n). Revalidation (§7) re-verifies these claims on the new records, so a lighter or earlier new link refutes a cached forest. A Codex adversarial review found that the verifier skipped a forest given as a tuple (a Result's frozen answer), which let a stale forest revalidate as holding; fixed, with regression tests (a Result, a plain dict, a frozen answer). Tests (tests/test_spanning_forest.py): 800 random cases agree with an independent Kruskal; weights and trees agree with networkx's minimum and maximum spanning edges; forged forests are refused (ties, gaps, cycles, loops, weights, objective); revalidation agrees with fresh runs on 400 random edits; 4 hand-worked conformance cases. Benchmark (git log 741c2dd): 100,000 nodes and 300,000 edges in 0.89 s (networkx minimum_spanning_edges: 0.92 s); the verifier proves the forest in 3.05 s.
cycle_basis: Ring perception: a minimum cycle basis. Theory: Rank (links − nodes + pieces) independent simple cycles of least total weight. With every link 1: chemistry's smallest set of smallest rings: naphthalene has two six-rings, cubane five four-rings. Algorithm: De Pina (1995; Kavitha et al., 2004): cycle i is a lightest cycle meeting witness S_i oddly, a shortest path in the parity graph; each later witness odd on it takes S_i in. Certificate proves: The witnesses: cycle i is odd on witness i and every earlier cycle even, so the cycles are independent; a checker finds no lighter odd cycle, so the basis is minimum. docs/API_CONTRACT.md §4, Cycle basis: each edge in scope is a link, read undirected; a loop is a cycle of one link and two parallel links a cycle of two. The cycle space over GF(2) has dimension rank = links less nodes plus connected pieces. With every link 1 the basis is chemistry's smallest set of smallest rings (SSSR), one minimum basis among possibly several; weights are as costs, non-negative and exact. De Pina's algorithm runs from a spanning forest by edge ID, whose rank links outside it give the first witnesses. A lightest S-odd cycle is a shortest path from (v, 0) to (v, 1) in the parity graph (two copies of the links, those in S crossing between the copies), from each end v of a link of S, read mod 2 and split into simple cycles. Witnesses are sparse sets with an edge index, so an exhausted budget allocates nothing quadratic. Each cycle is final once found, so an interrupted search lists a proven prefix of the basis. With certificate: true the witnesses prove the basis minimum (de Pina's theorem); the verifier also checks each cycle against the records, independence by GF(2) elimination, and the rank from the records. Revalidated by certificate (§7). A Codex adversarial review found three problems, all fixed with regressions: a witness naming a link twice let a non-minimum basis pass (parity counted two ways; repeated links are now refused by the verifier, the contract and the schema); an exhausted budget still allocated every witness as a bitset; a total beyond the floats was rejected instead of written as null beside its exact value. It also noted that forged-answer tests stopped at the result_id check: the forgeries in the negative-cost, injective, forest and basis tests are now resealed, so they test the semantic checks. Tests (tests/test_cycle_basis.py): 500 random multigraphs agree with a brute-force oracle (every simple cycle, then the matroid greedy) on rank and least weight; networkx agrees on simple graphs; naphthalene gives two 6-rings and cubane five 4-rings; 2 hand-traced conformance cases. Benchmark (git log a482dbf): a 1,300-atom graphene-like sheet (networkx hexagonal_lattice_graph(20, 30)), 600 six-rings in 0.16 s, proven in 0.07 s; networkx minimum_cycle_basis needs 0.59 s for a 124-atom sheet (6 × 8 hexagons).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docs/API_CONTRACT.md §4: Max flow, Minimum-cost flow, Matching (and its Costs); §6; tests/test_min_cost_flow.py, tests/test_weighted_matching.py; git log 573ce2b, 70ff8b4, 066dbab.
max_flow: Throughput, and the cut that limits it. Theory: As much as the capacities let through from sources to targets (Ford and Fulkerson, 1956). Unit capacities count disjoint paths. Algorithm: Dinic (1970) in exact integers: breadth-first levels in the residual graph, then a blocking flow, built only where read. Certificate proves: The cut's source side: a checker confirms the flow and recomputes a cut of the same value, so both are optimal. Unit capacities count edge- or node-disjoint paths (Menger, 1927). Dinic's algorithm (1970) in exact integers: breadth-first levels in the residual graph, then a blocking flow; the residual graph is built only where the search reads it. Certificate: the cut's source side; a checker confirms the flow and recomputes a cut of the same value from the records, so both are optimal (max-flow min-cut theorem).
min_cost_flow: A throughput at least cost. Theory: Send a value, or as much as possible, at least total cost: supply chains, the cheapest routes. Exact capacities and costs. Algorithm: Successive shortest paths: Dijkstra on costs reduced by potentials, then augment along the cheapest path (Edmonds and Karp). Certificate proves: Potentials leave no residual arc negative, so none is cheaper; for a maximum flow, a minimum cut shows none is larger. docs/API_CONTRACT.md §4, Minimum-cost flow: each hop in scope carries at most its edge's capacity at its edge's cost per unit (an edge in scope both ways carries flow either way, up to its capacity each way); a loop carries nothing. Capacities, costs and the value are exact (floats as exact rationals); costs are non-negative. Successive shortest paths (Jewell, 1958; Busacker and Gowen, 1960; with potentials, Edmonds and Karp, 1972, and Tomizawa, 1971): a virtual source feeds the sources and a virtual sink drains the targets; each phase is Dijkstra's search over the residual network on costs reduced by potentials, an augmentation along the cheapest path, and the potentials raised by the search's distances. The flow of each value reached is a cheapest one of that value. When the value asked for cannot be sent, the answer is a maximum flow at least cost, feasible false. An interrupted search keeps the flow sent, valid but never claimed cheapest or largest. Certificate (kind potentials): potentials for every node with a hop in scope and for the virtual source and sink; every residual arc costs nothing negative once reduced, so no flow of the same value is cheaper; for a maximum flow, source_side is a minimum cut's (every source and no target, every hop out full and every hop in empty), so no flow is larger. The verifier checks all of it from the records; revalidated by certificate (§7). A Codex adversarial review found that a flow's stated relation went unchecked (a relabelled edge revalidated as holding) and that an interrupted answer could send more than was asked; both fixed with regressions. Tests (tests/test_min_cost_flow.py): 500 random cases agree with networkx (a middle-node network, so parallel edges and two-way scopes stay distinct) on value and least cost, or on the maximum flow's least cost when infeasible; rational capacities, costs and values are exact; forgeries are refused; 3 hand-worked conformance cases. Benchmark (git log 70ff8b4): 500 nodes and 3,000 edges, 0.04 s (networkx max_flow_min_cost 0.17 s); 5,000 nodes and 30,000 edges, 0.61 s (networkx 4.25 s), proven in 0.11 s.
matching: Distinct pairings, at least cost. Theory: A maximum matching of a left set to partners outside it, no node twice. With costs, the cheapest of the largest: the assignment problem. Algorithm: Hopcroft and Karp (1973); with costs, the Hungarian method: successive shortest paths on costs reduced by potentials. Certificate proves: König's vertex cover (1931): as many nodes as pairs, so none is larger; with costs, potentials leave no residual arc negative. Samples to instruments, claims to reviewers. Without costs: phases of a breadth-first search from the unpaired left nodes along alternating paths, then augmentation along the shortest ones. When pairs fall short, Hall's condition shows why: the uncovered left nodes and their candidates, all in the cover, have fewer candidates than nodes. Costs (docs/API_CONTRACT.md §4, Matching, Costs; git log 066dbab): any finite numbers, by relation or by edge (for a heaviest matching, negate the weights); a left node's candidate for a partner is its cheapest hop to it. The search is Kuhn and Munkres's Hungarian method with Dijkstra's searches on reduced costs (after Edmonds and Karp and Tomizawa) in the network source -&gt; left node -&gt; partner -&gt; sink, with potentials kept non-negative on every residual arc. Certificate cover_and_potentials: König's cover proves the size, and the potentials of every left node and partner, the source and the sink leave no residual arc negative once reduced, so no matching of that size is cheaper. Unweighted matching is unchanged, but every matching request now states costs, so its request_id differs. A Codex adversarial review found that an integer-cost certificate could carry floats (1e100 potentials swallowed a negative reduced cost); every potential, the source and the sink must now be exact, with a regression. Tests (tests/test_weighted_matching.py): 600 random cases agree with brute force over every matching on size and least cost; networkx's maximum-cardinality weighted matching agrees on 30 × 25 assignments; forged matchings and certificates are refused; 1 hand-traced conformance case. Benchmark (git log 066dbab): 300 + 300 nodes and 6,000 hops in 0.25 s (networkx max_weight_matching with maxcardinality: 0.81 s), proven in 0.02 s; 2,000 + 2,000 nodes and 40,000 hops in 13.9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docs/API_CONTRACT.md §4: Dominators; git log 1e8678d.
dominators: Unavoidable intermediates, single points of failure. Theory: Node d dominates v when every walk from the sources to v passes through d (Prosser, 1959; Lowry and Medlock, 1969). The immediate dominators form a tree: the whole tree, or each target's chain. Algorithm: A depth-first search from the sources, then Lengauer and Tarjan's algorithm (1979), the simple version with path compression. Dominance is a claim about every walk, so an interrupted search claims nothing. Certificate proves: A low-high order of the tree (Georgiadis and Tarjan, 2016), checked arc by arc in linear time, without computing dominators again. It is built from two independent spanning trees (their Algorithms 8, 7 and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git log e365fdc, 0a58767, 05d3ea5, 1d6dbbf, 83f9ffe, 297ca1e, 741c2dd; README.md (Revalidation); docs/API_CONTRACT.md §7 (a spanning forest holds while its links, the cycle property and the pieces it spans still check, as verify_result checks them; an edit that breaks any of these refutes it. Cycle bases, matchings with costs and minimum-cost flows are revalidated by their certificates; k shortest paths are not certified, so they are unknown, not_certified) (verdicts and reasons). With one diff of the projections, each result is checked in time proportional to the edit (binary search in the answer's canonical lists). On 700 random edits the diff and full checks give the same record and every 'holds' matches a fresh run. Measured on a heavily loaded machine. Revalidation by certificate (0a58767, extended in 05d3ea5): components, biconnectivity, max_flow, matching, dominators and incidence are always checked in full: a node or edge the answer names that is gone refutes it (node_gone, witness_gone); a claim the new records contradict refutes it (answer_refuted); otherwise it holds exactly when the certificate still checks (as verify_result checks it), and is unknown (certificate_broken) when it does not, or (no_certificate) when it has none. Tested on 600 random edits: whenever a result holds, a fresh run gives the same canonical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as of this build: python3 -m pytest (613 pass), src/graph_runtime/conformance/cases.json (188 cases), SCALE parity (16 tests) and STATES parity (6 tests) in their environments; 73 / 73 real consumer requests answer the same with both engines (git log f144c48). Oracles: tests/oracle.py; regular paths against Brzozowski derivatives on 1,500 random graphs (git log f65497b); PageRank against the exact linear system over fractions on 500 graphs (git log 0d4d2b3); negative costs against an independent fixpoint on 1,500 random graphs (tests/test_negative_costs.py). Parity: docs/SCALE_INTEGRATION.md, docs/STATES_INTEGRATION.md. Reviews: git log 8917563, 7ff04db; Codex adversarial reviews before commit: 99fb868 (a request field named kind was overwritten by the digest's record kind, now connectivity; unlisted groups and stray trees in the components certificate), 573ce2b (an interrupted max flow's upper bound was not verified), 1e8678d, 05d3ea5, 1d6dbbf, 04532ba, 107dc68, 297ca1e; 97723bb and 260d7b2 (negative costs and the faster projection identity, reviewed together: no soundness or identity counterexample, 12,000 larger random graphs all matching an independent oracle; one medium issue, diff-based revalidation reading the whole certificate even for an unrelated edit, fixed, and a regression test now forbids it); b7e4f12 (injective patterns: a 1,100-step chain hit Python's recursion limit, so row enumeration for cycles, injective patterns and tree rows now runs on an explicit stack, with a regression test covering rows, count and exists); 741c2dd (spanning forests: the verifier skipped a forest given as a tuple, a Result's frozen answer, which let a stale forest revalidate as holding; it now checks tuples and refuses a missing edge list, and so do three other list-only checks; regression tests cover a Result, a plain dict and a frozen answer); a482dbf (cycle bases: a witness naming a link twice let a non-minimum basis pass, because parity was counted two ways, now refused by the verifier, the contract and the schema; an exhausted budget still allocated every witness as a bitset; a total beyond the floats was rejected instead of written as null beside its exact value; and forged-answer tests stopped at the result_id check, so the forgeries in the negative-cost, injective, forest and basis tests are now resealed to test the semantic checks); 066dbab (weighted matching: an integer-cost certificate could carry floats, 1e100 potentials swallowing a negative reduced cost; every potential, the source and the sink must now be exact); ffd474a (k shortest paths: settled keys kept every edge-ID prefix, quadratic on a long path, 248 MiB on an 8,000-node chain, now released; the contract reader accepted a misordered or repeated list, now checked). Earlier findings shown on previous builds of this slide: a stale nearest cut held and contradicted answers left unknown (incidence, 05d3ea5); exact fields beside false values and unpolled controls (critical path, 1d6dbbf); a nonuniform PageRank start, a lenient ranking revalidation and a quadratic cyclic join (107dc68, the review of 26 October's increments together); the negative-cost review was otherwise sound on 12,000 random graphs against an oracle. 70ff8b4 (minimum-cost flows: a flow's stated relation went unchecked, so a relabelled edge revalidated as holding; an interrupted answer could send more than was asked; both fixed with regressions).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1.3–1.9× faster searches (Compiled per-scope hop lists; 100k nodes, 500k edges). Source: git log f65497b.
4.5× faster float-cost shortest paths (Exact rationals held as scaled integers). Source: git log f65497b.
0.66 s lightest derivations (AND/OR graph of 60,000 nodes and 105,000 edges). Source: git log eeadc6a.
0.2 s certified top 10 by PageRank (10k nodes, tolerance 1/1000; 100k nodes to residual 1/100 in 1.6 s). Source: git log 0d4d2b3.
0.36 s 22,086 triangles (Around a 2,500-degree hub, by the worst-case optimal join). Source: git log 7b39f7d.
2.4 s exact rank and conservation laws (Random 2000 × 3000 network, verified in 5.4 s (first version: 163 s)). Source: git log 05d3ea5; measured on the owner's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docs/STATES_INTEGRATION.md, Cost (benchmarks/consumers.py, 26 October 2026). Mean of 42 contexts: STATES's extract_context 58.5 ms; GRAPH through a lift 305 ms (222 ms lift + 0.34 ms query); GRAPH on the cell 17.1 ms (10.6 ms projection + 0.76 ms query). The cell's projection depends only on the record, so it can be built once and reused. Heavily loaded machine: compare ratios. Right: Structure benchmark (99fb868 increment), git log 573ce2b, 1e8678d and 1d6dbbf; flows, matching, dominators and critical path measured on the owner's machine. Also: weak components 0.45 s, unit-capacity max flow 3.8 s. Negative costs (git log 97723bb; measured on an Apple M4): 20,000 nodes and 100,000 edges, 31% negative, no negative cycle; GRAPH 0.10 s with its feasible-potentials certificate, networkx bellman_ford 0.13 s and goldberg_radzik 0.39 s, the same cost. With a negative cycle planted near the source, networkx find_negative_cycle takes 0.002 s and GRAPH 0.042 s: GRAPH first computes the corridor between the sources and the targets (one linear pass), so that a cycle that cannot reach a target is ignored. Hexagon search (git log b7e4f12): an injective six-ring pattern counted in a graphene-like sheet of 1,300 atoms (networkx hexagonal_lattice_graph(20, 30)), 7,200 matches, 600 rings × 12 symmetries, GRAPH 0.05 s, networkx GraphMatcher's subgraph monomorphisms 0.54 s. Spanning forest (git log 741c2dd): 100,000 nodes and 300,000 random edges with integer weights, GRAPH 0.89 s, networkx minimum_spanning_edges (Kruskal) 0.92 s on the same multigraph; GRAPH's verifier proves the forest in 3.05 s. Weighted matching (git log 066dbab): 300 + 300 nodes and 6,000 random hops with integer costs, GRAPH 0.25 s with its cover-and-potentials certificate (proven in 0.02 s), networkx max_weight_matching (maxcardinality, costs turned into weights) 0.81 s; 2,000 + 2,000 nodes and 40,000 hops: GRAPH 13.9 s. k shortest paths (git log ffd474a): 20,000 nodes and 100,000 edges, k = 20, GRAPH 3.07 s, networkx shortest_simple_paths 0.30 s, the same costs; on 2,000 nodes and 10,000 edges, k = 50, GRAPH 0.32 s, networkx 0.18 s. networkx's spur searches are bidirectional, which GRAPH's strict order of ties (cost, hops, start node and edge IDs) does not allow here. Cycle basis (git log a482dbf), not charted because the sizes differ: GRAPH 0.16 s for 600 six-rings of a 1,300-atom graphene-like sheet, proven in 0.07 s; networkx minimum_cycle_basis 0.59 s for a 124-atom sheet. Min-cost flow (git log 70ff8b4): 5,000 nodes and 30,000 random edges, capacities 1 to 10 and costs 0 to 20, 5 sources and 5 targets, as much as possible: GRAPH 0.61 s with its certificate, proven in 0.11 s; networkx max_flow_min_cost 4.25 s on the same network with a middle node per edge (so parallel edges stay distinct); on 500 nodes and 3,000 edges, GRAPH 0.04 s, networkx 0.17 s. Machine load for the last six was not recorded in the commits. Articulation points: GRAPH's biconnectivity (which also finds bridges) against networkx's articulation_points; max flow: 5 sources, 5 targets, integer capacities, against networkx maximum_flow_value; matching: against networkx hopcroft_karp_matching; dominators: against networkx immediate_dominators (GRAPH 0.65 s, 1.37 s with the low-high certificate). GRAPH's answers come with certificates.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 benchmark run on 26 October 2026, kept outside the repository: scale.pgraph_query.run against GRAPH's pattern operation through the SCALE adapter (integrations/scale/scale_graph_adapter.py) on SCALE's documents, row-for-row parity asserted on every query. Times are each query's best of several runs; machine load was not recorded, so compare ratios. Competency questions: the 39 question-document pairs with a plan, medians per query. Methanol synthesis (SCALE's public example, 2,851 nodes, 9,335 links): every generated one- and two-step plan (1,052), totals 5.6 s against 0.61 s listing rows (9.2×) and 0.34 s counting (16×); its largest answer, 10,470 rows, 475 ms against 21 ms (23×, rounded), 0.6 ms counting. Three steps: the plan with the most intermediate rows per answer among 4,673 three-step candidates. 16 copies of the document: 17.1 s against 1.14 s (15×; 33× counting). 1,131 queries = 39 + 1,052 + 40 three-step plans. SCALE without per-row evidence and the deep copy of its answer (pgraph_query._run): methanol 2.27 s, still 3.7× GRAPH's time; 16 copies 7.2 s, 6.3×. SCALE's index (pgraph_query.Graph) 2.2 ms; GRAPH's projection 20 ms with the document's binding digests computed once. Retraction workflows: benchmarks/consumers.py scale (SCALE lifecycle.resting 0.04 ms; GRAPH 0.36 ms for resting on retractions, 0.32 ms for support) and docs/SCALE_INTEGRATION.md (Cost). Why: docs/API_CONTRACT.md §4, Pattern (Yannakakis' semi-join reduction; evaluation never meets a dead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git log, 550c362 (25 October, 17:17) to 70ff8b4 (26 October, 23:59): 46 commits, slide commits included; some rows group neighbouring commits (17:17 is v0 with the independent review's fixes at 17:36, 8917563, and the Codex review behind contract v0.1 at 20:46, 7ff04db; 10:29 is flows and matching, 573ce2b, with dominators at 10:43, 1e8678d, and revalidation by certificate at 10:47, 0a58767; 11:16 is incidence, 05d3ea5, with critical paths at 11:32, 1d6dbbf, and d-separation at 11:44, 83f9ffe; 17:45 is the fixes from a review of the day's increments, 107dc68, with support certificates at 18:23, 297ca1e; 22:38 is injective patterns, b7e4f12, with spanning forests at 22:55, 741c2dd; 23:11 is cycle bases, a482dbf, with weighted matching at 23:25, 066dbab; 23:40 is k shortest paths, ffd474a; 23:59 is minimum-cost flows, 70ff8b4), and 22:11 is two (260d7b2, the projection identity hashed with each node ID, relation and type encoded once: 61 to 34 ms, the build 245 to 206 ms on 50,000 nodes and 150,000 edges, identity bytes unchanged on 400 random projections; 97723bb, negative costs). Conformance case counts are from the commit messages (34 at v0, then 49, 54, 62, 70, 74, 78, 91, 100, 112, 116, 121, 133, 143, 148, 153, 158, 165, 168, 173, 176, 180, 182, 183, 185) and cases.json now (188). Tests: 178 → 613. Commit times are local (-0400).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 Codex literature survey of 26 October 2026, kept outside the repository; its recommended order weighs scientific usefulness, implementation effort and the cost of independently proving each answer. Seven of its items have shipped: negative-cost shortest paths (97723bb); injective patterns (b7e4f12: the survey suggested VF2++-style backtracking with Glasgow-style filtering and refutation trees for negatives; GRAPH enumerates over its Yannakakis-pruned candidates, budget-bounded, and an interrupted search claims no absence); the minimum spanning forest (741c2dd: Kruskal, the forest its own certificate by the cycle property); the minimum cycle basis (a482dbf: de Pina's algorithm, minimality proven by its witnesses; relevant cycles, after Vismara, not yet); weighted matching (066dbab: successive shortest paths, the survey's first slice of item 5, proven by König's cover and residual potentials); k shortest simple paths (ffd474a: Yen with Lawler's rule; the survey's certificate, a Lawler partition tree proving the ranking, is not built: each path is a checked witness and the ranking is tested against an oracle); and min-cost flow (70ff8b4: successive shortest paths with potentials, the rest of item 5; costs non-negative, so the survey's pseudoflow start for negative arcs is not needed; proven by residual potentials and, for a maximum flow, a minimum cut). Survey notes per row: cyclic pattern counting (variable elimination, FAQ InsideOut; a decomposition and dynamic-programming transcript); reachability index (strong components condensed, then pruned landmark 2-hop labels; Cohen, Halperin, Kaplan and Zwick 2003; Akiba, Iwata and Yoshida 2013; a positive expands hub routing pointers into ordinary hops, checked in the walk's length; disjoint labels alone do not prove a negative, which needs a closed set); positive Datalog (range-restricted, function-free, semi-naive evaluation; a derivation tree or DAG with strictly increasing ranks, checked in the proof's size; Abiteboul, Hull and Vianu 1995; Green, Karvounarakis and Tannen 2007, provenance semirings); isomorphism and canonical labeling (individualization-refinement; a vertex and edge bijection proves isomorphism in linear time; non-isomorphism and canonical forms need an independently checked individualization-refinement trace, possibly exponential; McKay and Piperno 2014; useful for scientific deduplication); elementary flux modes (exact double description over the incidence operation's stoichiometric matrix, small networks first; each mode's exact balance, and rank(S_J) = |J| - 1 shown by a nonsingular minor, prove its support minimal; completeness needs a full transcript; Gagneur and Klamt 2004; Terzer and Stelling 2008). Each increment is planned to ship with code, docs/API_CONTRACT.md, the schema, hand-worked conformance cases, tests against an independent oracle, verification and revalidation, and a Codex adversarial review of its diff.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codex_domains.md (section 3, things GRAPH should deliberately not do; section 4, open questions) and codex_literature.md (considered and rejected or deferred; open questions). These are the surveys' recommendations, not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Commands from README.md and CLAUDE.md (run from the repository with PYTHONPATH=src, or after installing the package). 'RATES and Cathanor to follow' reflects README.md's list of applications; neither has an adapter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RAPH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6583680" cy="1188720"/>
          </a:xfrm>
          <a:prstGeom prst="rect">
            <a:avLst/>
          </a:prstGeom>
          <a:noFill/>
          <a:ln/>
        </p:spPr>
        <p:txBody>
          <a:bodyPr wrap="square" rtlCol="0"/>
          <a:lstStyle>
            <a:lvl1pPr algn="l" indent="0" marL="0">
              <a:buNone/>
              <a:defRPr lang="en-US" sz="7200" b="1" dirty="0">
                <a:solidFill>
                  <a:schemeClr val="bg1"/>
                </a:solidFill>
              </a:defRPr>
            </a:lvl1pPr>
          </a:lstStyle>
          <a:p>
            <a:pPr algn="l" indent="0" marL="0">
              <a:buNone/>
            </a:pPr>
            <a:endParaRPr lang="en-US" sz="7200" dirty="0"/>
          </a:p>
        </p:txBody>
      </p:sp>
      <p:sp>
        <p:nvSpPr>
          <p:cNvPr id="3" name="Text 0"/>
          <p:cNvSpPr/>
          <p:nvPr>
            <p:ph idx="101" type="body" hasCustomPrompt="1"/>
          </p:nvPr>
        </p:nvSpPr>
        <p:spPr>
          <a:xfrm>
            <a:off x="731520" y="2514600"/>
            <a:ext cx="6400800" cy="1737360"/>
          </a:xfrm>
          <a:prstGeom prst="rect">
            <a:avLst/>
          </a:prstGeom>
          <a:noFill/>
          <a:ln/>
        </p:spPr>
        <p:txBody>
          <a:bodyPr wrap="square" rtlCol="0"/>
          <a:lstStyle>
            <a:lvl1pPr indent="0" marL="0">
              <a:buNone/>
              <a:defRPr lang="en-US" sz="2400" dirty="0">
                <a:solidFill>
                  <a:schemeClr val="bg1"/>
                </a:solidFill>
              </a:defRPr>
            </a:lvl1pPr>
          </a:lstStyle>
          <a:p>
            <a:pPr indent="0" marL="0">
              <a:buNone/>
            </a:pPr>
            <a:endParaRPr lang="en-US" sz="2400" dirty="0"/>
          </a:p>
        </p:txBody>
      </p:sp>
      <p:sp>
        <p:nvSpPr>
          <p:cNvPr id="4" name="Text 0"/>
          <p:cNvSpPr/>
          <p:nvPr>
            <p:ph idx="102" type="body" hasCustomPrompt="1"/>
          </p:nvPr>
        </p:nvSpPr>
        <p:spPr>
          <a:xfrm>
            <a:off x="731520" y="4983480"/>
            <a:ext cx="6400800" cy="822960"/>
          </a:xfrm>
          <a:prstGeom prst="rect">
            <a:avLst/>
          </a:prstGeom>
          <a:noFill/>
          <a:ln/>
        </p:spPr>
        <p:txBody>
          <a:bodyPr wrap="square" rtlCol="0"/>
          <a:lstStyle>
            <a:lvl1pPr indent="0" marL="0">
              <a:buNone/>
              <a:defRPr lang="en-US" sz="1400" dirty="0">
                <a:solidFill>
                  <a:schemeClr val="accent5"/>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APH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GRAPH · graph-runtime/v0.2 · October 2026</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GRAPH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6949440" cy="14630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731520" y="2606040"/>
            <a:ext cx="6766560" cy="274320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C5B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3.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5" Type="http://schemas.openxmlformats.org/officeDocument/2006/relationships/slideLayout" Target="../slideLayouts/slideLayout3.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3.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3.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3.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3.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6583680" cy="1188720"/>
          </a:xfrm>
          <a:prstGeom prst="rect">
            <a:avLst/>
          </a:prstGeom>
          <a:noFill/>
          <a:ln/>
        </p:spPr>
        <p:txBody>
          <a:bodyPr wrap="square" lIns="0" tIns="0" rIns="0" bIns="0" rtlCol="0" anchor="b"/>
          <a:lstStyle/>
          <a:p>
            <a:pPr algn="l" indent="0" marL="0">
              <a:buNone/>
            </a:pPr>
            <a:r>
              <a:rPr lang="en-US" sz="7200" b="1" dirty="0">
                <a:solidFill>
                  <a:schemeClr val="bg1"/>
                </a:solidFill>
              </a:rPr>
              <a:t>GRAPH</a:t>
            </a:r>
            <a:endParaRPr lang="en-US" sz="7200" dirty="0"/>
          </a:p>
        </p:txBody>
      </p:sp>
      <p:sp>
        <p:nvSpPr>
          <p:cNvPr id="3" name="Text 0"/>
          <p:cNvSpPr/>
          <p:nvPr>
            <p:ph idx="101" type="body" hasCustomPrompt="1"/>
          </p:nvPr>
        </p:nvSpPr>
        <p:spPr>
          <a:xfrm>
            <a:off x="731520" y="2514600"/>
            <a:ext cx="6400800" cy="1737360"/>
          </a:xfrm>
          <a:prstGeom prst="rect">
            <a:avLst/>
          </a:prstGeom>
          <a:noFill/>
          <a:ln/>
        </p:spPr>
        <p:txBody>
          <a:bodyPr wrap="square" lIns="0" tIns="0" rIns="0" bIns="0" rtlCol="0" anchor="t"/>
          <a:lstStyle/>
          <a:p>
            <a:pPr indent="0" marL="0">
              <a:spcAft>
                <a:spcPts val="1400"/>
              </a:spcAft>
              <a:buNone/>
            </a:pPr>
            <a:r>
              <a:rPr lang="en-US" sz="2400" dirty="0">
                <a:solidFill>
                  <a:schemeClr val="bg1"/>
                </a:solidFill>
              </a:rPr>
              <a:t>Graph Runtime for Analysis, Provenance, Hypotheses</a:t>
            </a:r>
            <a:endParaRPr lang="en-US" sz="2400" dirty="0"/>
          </a:p>
          <a:p>
            <a:pPr indent="0" marL="0">
              <a:buNone/>
            </a:pPr>
            <a:r>
              <a:rPr lang="en-US" sz="1800" dirty="0">
                <a:solidFill>
                  <a:schemeClr val="accent5"/>
                </a:solidFill>
              </a:rPr>
              <a:t>Exact graph reasoning with witnesses and certificates, shared by the group's scientific software</a:t>
            </a:r>
            <a:endParaRPr lang="en-US" sz="2400" dirty="0"/>
          </a:p>
        </p:txBody>
      </p:sp>
      <p:sp>
        <p:nvSpPr>
          <p:cNvPr id="4" name="Text 0"/>
          <p:cNvSpPr/>
          <p:nvPr>
            <p:ph idx="102" type="body" hasCustomPrompt="1"/>
          </p:nvPr>
        </p:nvSpPr>
        <p:spPr>
          <a:xfrm>
            <a:off x="731520" y="4983480"/>
            <a:ext cx="6400800" cy="822960"/>
          </a:xfrm>
          <a:prstGeom prst="rect">
            <a:avLst/>
          </a:prstGeom>
          <a:noFill/>
          <a:ln/>
        </p:spPr>
        <p:txBody>
          <a:bodyPr wrap="square" lIns="0" tIns="0" rIns="0" bIns="0" rtlCol="0" anchor="t"/>
          <a:lstStyle/>
          <a:p>
            <a:pPr indent="0" marL="0">
              <a:buNone/>
            </a:pPr>
            <a:r>
              <a:rPr lang="en-US" sz="1400" dirty="0">
                <a:solidFill>
                  <a:schemeClr val="accent5"/>
                </a:solidFill>
              </a:rPr>
              <a:t>Hongliang Xin · Virginia Tech</a:t>
            </a:r>
            <a:endParaRPr lang="en-US" sz="1400" dirty="0"/>
          </a:p>
          <a:p>
            <a:pPr indent="0" marL="0">
              <a:buNone/>
            </a:pPr>
            <a:r>
              <a:rPr lang="en-US" sz="1400" dirty="0">
                <a:solidFill>
                  <a:schemeClr val="accent5"/>
                </a:solidFill>
              </a:rPr>
              <a:t>October 2026 · version 0.1.0.dev0 · contract graph-runtime/v0.2</a:t>
            </a:r>
            <a:endParaRPr lang="en-US" sz="1400" dirty="0"/>
          </a:p>
        </p:txBody>
      </p:sp>
      <p:sp>
        <p:nvSpPr>
          <p:cNvPr id="5" name="Shape 3"/>
          <p:cNvSpPr/>
          <p:nvPr/>
        </p:nvSpPr>
        <p:spPr>
          <a:xfrm flipV="1">
            <a:off x="8183880" y="1161288"/>
            <a:ext cx="1170432" cy="345643"/>
          </a:xfrm>
          <a:prstGeom prst="line">
            <a:avLst/>
          </a:prstGeom>
          <a:noFill/>
          <a:ln w="15875">
            <a:solidFill>
              <a:schemeClr val="accent5"/>
            </a:solidFill>
            <a:prstDash val="solid"/>
          </a:ln>
        </p:spPr>
      </p:sp>
      <p:sp>
        <p:nvSpPr>
          <p:cNvPr id="6" name="Shape 4"/>
          <p:cNvSpPr/>
          <p:nvPr/>
        </p:nvSpPr>
        <p:spPr>
          <a:xfrm>
            <a:off x="9354312" y="1161288"/>
            <a:ext cx="1389888" cy="493776"/>
          </a:xfrm>
          <a:prstGeom prst="line">
            <a:avLst/>
          </a:prstGeom>
          <a:noFill/>
          <a:ln w="15875">
            <a:solidFill>
              <a:schemeClr val="accent5"/>
            </a:solidFill>
            <a:prstDash val="solid"/>
          </a:ln>
        </p:spPr>
      </p:sp>
      <p:sp>
        <p:nvSpPr>
          <p:cNvPr id="7" name="Shape 5"/>
          <p:cNvSpPr/>
          <p:nvPr/>
        </p:nvSpPr>
        <p:spPr>
          <a:xfrm>
            <a:off x="9354312" y="1161288"/>
            <a:ext cx="585216" cy="1382573"/>
          </a:xfrm>
          <a:prstGeom prst="line">
            <a:avLst/>
          </a:prstGeom>
          <a:noFill/>
          <a:ln w="15875">
            <a:solidFill>
              <a:schemeClr val="accent5"/>
            </a:solidFill>
            <a:prstDash val="solid"/>
          </a:ln>
        </p:spPr>
      </p:sp>
      <p:sp>
        <p:nvSpPr>
          <p:cNvPr id="8" name="Shape 6"/>
          <p:cNvSpPr/>
          <p:nvPr/>
        </p:nvSpPr>
        <p:spPr>
          <a:xfrm flipH="1">
            <a:off x="9939528" y="1655064"/>
            <a:ext cx="804672" cy="888797"/>
          </a:xfrm>
          <a:prstGeom prst="line">
            <a:avLst/>
          </a:prstGeom>
          <a:noFill/>
          <a:ln w="15875">
            <a:solidFill>
              <a:schemeClr val="accent5"/>
            </a:solidFill>
            <a:prstDash val="solid"/>
          </a:ln>
        </p:spPr>
      </p:sp>
      <p:sp>
        <p:nvSpPr>
          <p:cNvPr id="9" name="Shape 7"/>
          <p:cNvSpPr/>
          <p:nvPr/>
        </p:nvSpPr>
        <p:spPr>
          <a:xfrm>
            <a:off x="10744200" y="1655064"/>
            <a:ext cx="475488" cy="1431950"/>
          </a:xfrm>
          <a:prstGeom prst="line">
            <a:avLst/>
          </a:prstGeom>
          <a:noFill/>
          <a:ln w="15875">
            <a:solidFill>
              <a:schemeClr val="accent5"/>
            </a:solidFill>
            <a:prstDash val="solid"/>
          </a:ln>
        </p:spPr>
      </p:sp>
      <p:sp>
        <p:nvSpPr>
          <p:cNvPr id="10" name="Shape 8"/>
          <p:cNvSpPr/>
          <p:nvPr/>
        </p:nvSpPr>
        <p:spPr>
          <a:xfrm flipH="1">
            <a:off x="8074152" y="2790749"/>
            <a:ext cx="621792" cy="1382573"/>
          </a:xfrm>
          <a:prstGeom prst="line">
            <a:avLst/>
          </a:prstGeom>
          <a:noFill/>
          <a:ln w="15875">
            <a:solidFill>
              <a:schemeClr val="accent5"/>
            </a:solidFill>
            <a:prstDash val="solid"/>
          </a:ln>
        </p:spPr>
      </p:sp>
      <p:sp>
        <p:nvSpPr>
          <p:cNvPr id="11" name="Shape 9"/>
          <p:cNvSpPr/>
          <p:nvPr/>
        </p:nvSpPr>
        <p:spPr>
          <a:xfrm>
            <a:off x="8695944" y="2790749"/>
            <a:ext cx="585216" cy="1086307"/>
          </a:xfrm>
          <a:prstGeom prst="line">
            <a:avLst/>
          </a:prstGeom>
          <a:noFill/>
          <a:ln w="15875">
            <a:solidFill>
              <a:schemeClr val="accent5"/>
            </a:solidFill>
            <a:prstDash val="solid"/>
          </a:ln>
        </p:spPr>
      </p:sp>
      <p:sp>
        <p:nvSpPr>
          <p:cNvPr id="12" name="Shape 10"/>
          <p:cNvSpPr/>
          <p:nvPr/>
        </p:nvSpPr>
        <p:spPr>
          <a:xfrm flipH="1">
            <a:off x="9281160" y="2543861"/>
            <a:ext cx="658368" cy="1333195"/>
          </a:xfrm>
          <a:prstGeom prst="line">
            <a:avLst/>
          </a:prstGeom>
          <a:noFill/>
          <a:ln w="15875">
            <a:solidFill>
              <a:schemeClr val="accent5"/>
            </a:solidFill>
            <a:prstDash val="solid"/>
          </a:ln>
        </p:spPr>
      </p:sp>
      <p:sp>
        <p:nvSpPr>
          <p:cNvPr id="13" name="Shape 11"/>
          <p:cNvSpPr/>
          <p:nvPr/>
        </p:nvSpPr>
        <p:spPr>
          <a:xfrm flipH="1">
            <a:off x="10451592" y="3087014"/>
            <a:ext cx="768096" cy="1185062"/>
          </a:xfrm>
          <a:prstGeom prst="line">
            <a:avLst/>
          </a:prstGeom>
          <a:noFill/>
          <a:ln w="15875">
            <a:solidFill>
              <a:schemeClr val="accent5"/>
            </a:solidFill>
            <a:prstDash val="solid"/>
          </a:ln>
        </p:spPr>
      </p:sp>
      <p:sp>
        <p:nvSpPr>
          <p:cNvPr id="14" name="Shape 12"/>
          <p:cNvSpPr/>
          <p:nvPr/>
        </p:nvSpPr>
        <p:spPr>
          <a:xfrm flipV="1">
            <a:off x="8074152" y="3877056"/>
            <a:ext cx="1207008" cy="296266"/>
          </a:xfrm>
          <a:prstGeom prst="line">
            <a:avLst/>
          </a:prstGeom>
          <a:noFill/>
          <a:ln w="15875">
            <a:solidFill>
              <a:schemeClr val="accent5"/>
            </a:solidFill>
            <a:prstDash val="solid"/>
          </a:ln>
        </p:spPr>
      </p:sp>
      <p:sp>
        <p:nvSpPr>
          <p:cNvPr id="15" name="Shape 13"/>
          <p:cNvSpPr/>
          <p:nvPr/>
        </p:nvSpPr>
        <p:spPr>
          <a:xfrm>
            <a:off x="8074152" y="4173322"/>
            <a:ext cx="768096" cy="1283818"/>
          </a:xfrm>
          <a:prstGeom prst="line">
            <a:avLst/>
          </a:prstGeom>
          <a:noFill/>
          <a:ln w="15875">
            <a:solidFill>
              <a:schemeClr val="accent5"/>
            </a:solidFill>
            <a:prstDash val="solid"/>
          </a:ln>
        </p:spPr>
      </p:sp>
      <p:sp>
        <p:nvSpPr>
          <p:cNvPr id="16" name="Shape 14"/>
          <p:cNvSpPr/>
          <p:nvPr/>
        </p:nvSpPr>
        <p:spPr>
          <a:xfrm flipH="1">
            <a:off x="8842248" y="3877056"/>
            <a:ext cx="438912" cy="1580083"/>
          </a:xfrm>
          <a:prstGeom prst="line">
            <a:avLst/>
          </a:prstGeom>
          <a:noFill/>
          <a:ln w="15875">
            <a:solidFill>
              <a:schemeClr val="accent5"/>
            </a:solidFill>
            <a:prstDash val="solid"/>
          </a:ln>
        </p:spPr>
      </p:sp>
      <p:sp>
        <p:nvSpPr>
          <p:cNvPr id="17" name="Shape 15"/>
          <p:cNvSpPr/>
          <p:nvPr/>
        </p:nvSpPr>
        <p:spPr>
          <a:xfrm>
            <a:off x="9281160" y="3877056"/>
            <a:ext cx="731520" cy="1728216"/>
          </a:xfrm>
          <a:prstGeom prst="line">
            <a:avLst/>
          </a:prstGeom>
          <a:noFill/>
          <a:ln w="15875">
            <a:solidFill>
              <a:schemeClr val="accent5"/>
            </a:solidFill>
            <a:prstDash val="solid"/>
          </a:ln>
        </p:spPr>
      </p:sp>
      <p:sp>
        <p:nvSpPr>
          <p:cNvPr id="18" name="Shape 16"/>
          <p:cNvSpPr/>
          <p:nvPr/>
        </p:nvSpPr>
        <p:spPr>
          <a:xfrm flipH="1">
            <a:off x="10012680" y="4272077"/>
            <a:ext cx="438912" cy="1333195"/>
          </a:xfrm>
          <a:prstGeom prst="line">
            <a:avLst/>
          </a:prstGeom>
          <a:noFill/>
          <a:ln w="15875">
            <a:solidFill>
              <a:schemeClr val="accent5"/>
            </a:solidFill>
            <a:prstDash val="solid"/>
          </a:ln>
        </p:spPr>
      </p:sp>
      <p:sp>
        <p:nvSpPr>
          <p:cNvPr id="19" name="Shape 17"/>
          <p:cNvSpPr/>
          <p:nvPr/>
        </p:nvSpPr>
        <p:spPr>
          <a:xfrm>
            <a:off x="11219688" y="3087014"/>
            <a:ext cx="73152" cy="2073859"/>
          </a:xfrm>
          <a:prstGeom prst="line">
            <a:avLst/>
          </a:prstGeom>
          <a:noFill/>
          <a:ln w="15875">
            <a:solidFill>
              <a:schemeClr val="accent5"/>
            </a:solidFill>
            <a:prstDash val="solid"/>
          </a:ln>
        </p:spPr>
      </p:sp>
      <p:sp>
        <p:nvSpPr>
          <p:cNvPr id="20" name="Shape 18"/>
          <p:cNvSpPr/>
          <p:nvPr/>
        </p:nvSpPr>
        <p:spPr>
          <a:xfrm>
            <a:off x="8842248" y="5457139"/>
            <a:ext cx="1170432" cy="148133"/>
          </a:xfrm>
          <a:prstGeom prst="line">
            <a:avLst/>
          </a:prstGeom>
          <a:noFill/>
          <a:ln w="15875">
            <a:solidFill>
              <a:schemeClr val="accent5"/>
            </a:solidFill>
            <a:prstDash val="solid"/>
          </a:ln>
        </p:spPr>
      </p:sp>
      <p:sp>
        <p:nvSpPr>
          <p:cNvPr id="21" name="Shape 19"/>
          <p:cNvSpPr/>
          <p:nvPr/>
        </p:nvSpPr>
        <p:spPr>
          <a:xfrm>
            <a:off x="8183880" y="1506931"/>
            <a:ext cx="512064" cy="1283818"/>
          </a:xfrm>
          <a:prstGeom prst="line">
            <a:avLst/>
          </a:prstGeom>
          <a:noFill/>
          <a:ln w="44450">
            <a:solidFill>
              <a:schemeClr val="accent2"/>
            </a:solidFill>
            <a:prstDash val="solid"/>
          </a:ln>
        </p:spPr>
      </p:sp>
      <p:sp>
        <p:nvSpPr>
          <p:cNvPr id="22" name="Shape 20"/>
          <p:cNvSpPr/>
          <p:nvPr/>
        </p:nvSpPr>
        <p:spPr>
          <a:xfrm flipV="1">
            <a:off x="8695944" y="2543861"/>
            <a:ext cx="1243584" cy="246888"/>
          </a:xfrm>
          <a:prstGeom prst="line">
            <a:avLst/>
          </a:prstGeom>
          <a:noFill/>
          <a:ln w="44450">
            <a:solidFill>
              <a:schemeClr val="accent2"/>
            </a:solidFill>
            <a:prstDash val="solid"/>
          </a:ln>
        </p:spPr>
      </p:sp>
      <p:sp>
        <p:nvSpPr>
          <p:cNvPr id="23" name="Shape 21"/>
          <p:cNvSpPr/>
          <p:nvPr/>
        </p:nvSpPr>
        <p:spPr>
          <a:xfrm>
            <a:off x="9939528" y="2543861"/>
            <a:ext cx="512064" cy="1728216"/>
          </a:xfrm>
          <a:prstGeom prst="line">
            <a:avLst/>
          </a:prstGeom>
          <a:noFill/>
          <a:ln w="44450">
            <a:solidFill>
              <a:schemeClr val="accent2"/>
            </a:solidFill>
            <a:prstDash val="solid"/>
          </a:ln>
        </p:spPr>
      </p:sp>
      <p:sp>
        <p:nvSpPr>
          <p:cNvPr id="24" name="Shape 22"/>
          <p:cNvSpPr/>
          <p:nvPr/>
        </p:nvSpPr>
        <p:spPr>
          <a:xfrm>
            <a:off x="10451592" y="4272077"/>
            <a:ext cx="841248" cy="888797"/>
          </a:xfrm>
          <a:prstGeom prst="line">
            <a:avLst/>
          </a:prstGeom>
          <a:noFill/>
          <a:ln w="44450">
            <a:solidFill>
              <a:schemeClr val="accent2"/>
            </a:solidFill>
            <a:prstDash val="solid"/>
          </a:ln>
        </p:spPr>
      </p:sp>
      <p:sp>
        <p:nvSpPr>
          <p:cNvPr id="25" name="witness node"/>
          <p:cNvSpPr/>
          <p:nvPr/>
        </p:nvSpPr>
        <p:spPr>
          <a:xfrm>
            <a:off x="8046720" y="1369771"/>
            <a:ext cx="274320" cy="274320"/>
          </a:xfrm>
          <a:prstGeom prst="ellipse">
            <a:avLst/>
          </a:prstGeom>
          <a:solidFill>
            <a:schemeClr val="accent2"/>
          </a:solidFill>
          <a:ln w="19050">
            <a:solidFill>
              <a:schemeClr val="tx2"/>
            </a:solidFill>
            <a:prstDash val="solid"/>
          </a:ln>
        </p:spPr>
      </p:sp>
      <p:sp>
        <p:nvSpPr>
          <p:cNvPr id="26" name="node"/>
          <p:cNvSpPr/>
          <p:nvPr/>
        </p:nvSpPr>
        <p:spPr>
          <a:xfrm>
            <a:off x="9262872" y="1069848"/>
            <a:ext cx="182880" cy="182880"/>
          </a:xfrm>
          <a:prstGeom prst="ellipse">
            <a:avLst/>
          </a:prstGeom>
          <a:solidFill>
            <a:schemeClr val="accent5"/>
          </a:solidFill>
          <a:ln w="19050">
            <a:solidFill>
              <a:schemeClr val="tx2"/>
            </a:solidFill>
            <a:prstDash val="solid"/>
          </a:ln>
        </p:spPr>
      </p:sp>
      <p:sp>
        <p:nvSpPr>
          <p:cNvPr id="27" name="node"/>
          <p:cNvSpPr/>
          <p:nvPr/>
        </p:nvSpPr>
        <p:spPr>
          <a:xfrm>
            <a:off x="10652760" y="1563624"/>
            <a:ext cx="182880" cy="182880"/>
          </a:xfrm>
          <a:prstGeom prst="ellipse">
            <a:avLst/>
          </a:prstGeom>
          <a:solidFill>
            <a:schemeClr val="accent5"/>
          </a:solidFill>
          <a:ln w="19050">
            <a:solidFill>
              <a:schemeClr val="tx2"/>
            </a:solidFill>
            <a:prstDash val="solid"/>
          </a:ln>
        </p:spPr>
      </p:sp>
      <p:sp>
        <p:nvSpPr>
          <p:cNvPr id="28" name="witness node"/>
          <p:cNvSpPr/>
          <p:nvPr/>
        </p:nvSpPr>
        <p:spPr>
          <a:xfrm>
            <a:off x="8558784" y="2653589"/>
            <a:ext cx="274320" cy="274320"/>
          </a:xfrm>
          <a:prstGeom prst="ellipse">
            <a:avLst/>
          </a:prstGeom>
          <a:solidFill>
            <a:schemeClr val="accent2"/>
          </a:solidFill>
          <a:ln w="19050">
            <a:solidFill>
              <a:schemeClr val="tx2"/>
            </a:solidFill>
            <a:prstDash val="solid"/>
          </a:ln>
        </p:spPr>
      </p:sp>
      <p:sp>
        <p:nvSpPr>
          <p:cNvPr id="29" name="witness node"/>
          <p:cNvSpPr/>
          <p:nvPr/>
        </p:nvSpPr>
        <p:spPr>
          <a:xfrm>
            <a:off x="9802368" y="2406701"/>
            <a:ext cx="274320" cy="274320"/>
          </a:xfrm>
          <a:prstGeom prst="ellipse">
            <a:avLst/>
          </a:prstGeom>
          <a:solidFill>
            <a:schemeClr val="accent2"/>
          </a:solidFill>
          <a:ln w="19050">
            <a:solidFill>
              <a:schemeClr val="tx2"/>
            </a:solidFill>
            <a:prstDash val="solid"/>
          </a:ln>
        </p:spPr>
      </p:sp>
      <p:sp>
        <p:nvSpPr>
          <p:cNvPr id="30" name="node"/>
          <p:cNvSpPr/>
          <p:nvPr/>
        </p:nvSpPr>
        <p:spPr>
          <a:xfrm>
            <a:off x="11128248" y="2995574"/>
            <a:ext cx="182880" cy="182880"/>
          </a:xfrm>
          <a:prstGeom prst="ellipse">
            <a:avLst/>
          </a:prstGeom>
          <a:solidFill>
            <a:schemeClr val="accent5"/>
          </a:solidFill>
          <a:ln w="19050">
            <a:solidFill>
              <a:schemeClr val="tx2"/>
            </a:solidFill>
            <a:prstDash val="solid"/>
          </a:ln>
        </p:spPr>
      </p:sp>
      <p:sp>
        <p:nvSpPr>
          <p:cNvPr id="31" name="node"/>
          <p:cNvSpPr/>
          <p:nvPr/>
        </p:nvSpPr>
        <p:spPr>
          <a:xfrm>
            <a:off x="7982712" y="4081882"/>
            <a:ext cx="182880" cy="182880"/>
          </a:xfrm>
          <a:prstGeom prst="ellipse">
            <a:avLst/>
          </a:prstGeom>
          <a:solidFill>
            <a:schemeClr val="accent5"/>
          </a:solidFill>
          <a:ln w="19050">
            <a:solidFill>
              <a:schemeClr val="tx2"/>
            </a:solidFill>
            <a:prstDash val="solid"/>
          </a:ln>
        </p:spPr>
      </p:sp>
      <p:sp>
        <p:nvSpPr>
          <p:cNvPr id="32" name="node"/>
          <p:cNvSpPr/>
          <p:nvPr/>
        </p:nvSpPr>
        <p:spPr>
          <a:xfrm>
            <a:off x="9189720" y="3785616"/>
            <a:ext cx="182880" cy="182880"/>
          </a:xfrm>
          <a:prstGeom prst="ellipse">
            <a:avLst/>
          </a:prstGeom>
          <a:solidFill>
            <a:schemeClr val="accent5"/>
          </a:solidFill>
          <a:ln w="19050">
            <a:solidFill>
              <a:schemeClr val="tx2"/>
            </a:solidFill>
            <a:prstDash val="solid"/>
          </a:ln>
        </p:spPr>
      </p:sp>
      <p:sp>
        <p:nvSpPr>
          <p:cNvPr id="33" name="witness node"/>
          <p:cNvSpPr/>
          <p:nvPr/>
        </p:nvSpPr>
        <p:spPr>
          <a:xfrm>
            <a:off x="10314432" y="4134917"/>
            <a:ext cx="274320" cy="274320"/>
          </a:xfrm>
          <a:prstGeom prst="ellipse">
            <a:avLst/>
          </a:prstGeom>
          <a:solidFill>
            <a:schemeClr val="accent2"/>
          </a:solidFill>
          <a:ln w="19050">
            <a:solidFill>
              <a:schemeClr val="tx2"/>
            </a:solidFill>
            <a:prstDash val="solid"/>
          </a:ln>
        </p:spPr>
      </p:sp>
      <p:sp>
        <p:nvSpPr>
          <p:cNvPr id="34" name="node"/>
          <p:cNvSpPr/>
          <p:nvPr/>
        </p:nvSpPr>
        <p:spPr>
          <a:xfrm>
            <a:off x="8750808" y="5365699"/>
            <a:ext cx="182880" cy="182880"/>
          </a:xfrm>
          <a:prstGeom prst="ellipse">
            <a:avLst/>
          </a:prstGeom>
          <a:solidFill>
            <a:schemeClr val="accent5"/>
          </a:solidFill>
          <a:ln w="19050">
            <a:solidFill>
              <a:schemeClr val="tx2"/>
            </a:solidFill>
            <a:prstDash val="solid"/>
          </a:ln>
        </p:spPr>
      </p:sp>
      <p:sp>
        <p:nvSpPr>
          <p:cNvPr id="35" name="node"/>
          <p:cNvSpPr/>
          <p:nvPr/>
        </p:nvSpPr>
        <p:spPr>
          <a:xfrm>
            <a:off x="9921240" y="5513832"/>
            <a:ext cx="182880" cy="182880"/>
          </a:xfrm>
          <a:prstGeom prst="ellipse">
            <a:avLst/>
          </a:prstGeom>
          <a:solidFill>
            <a:schemeClr val="accent5"/>
          </a:solidFill>
          <a:ln w="19050">
            <a:solidFill>
              <a:schemeClr val="tx2"/>
            </a:solidFill>
            <a:prstDash val="solid"/>
          </a:ln>
        </p:spPr>
      </p:sp>
      <p:sp>
        <p:nvSpPr>
          <p:cNvPr id="36" name="witness node"/>
          <p:cNvSpPr/>
          <p:nvPr/>
        </p:nvSpPr>
        <p:spPr>
          <a:xfrm>
            <a:off x="11155680" y="5023714"/>
            <a:ext cx="274320" cy="274320"/>
          </a:xfrm>
          <a:prstGeom prst="ellipse">
            <a:avLst/>
          </a:prstGeom>
          <a:solidFill>
            <a:schemeClr val="accent2"/>
          </a:solidFill>
          <a:ln w="19050">
            <a:solidFill>
              <a:schemeClr val="tx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One graph library for the group's projects</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Every project asks graph questions. GRAPH answers them once, exactly and with proof; each application keeps its science.</a:t>
            </a:r>
            <a:endParaRPr lang="en-US" sz="1600" dirty="0"/>
          </a:p>
        </p:txBody>
      </p:sp>
      <p:sp>
        <p:nvSpPr>
          <p:cNvPr id="4" name="The questions are graph questions."/>
          <p:cNvSpPr txBox="1"/>
          <p:nvPr/>
        </p:nvSpPr>
        <p:spPr>
          <a:xfrm>
            <a:off x="548640" y="1737360"/>
            <a:ext cx="4572000" cy="1035558"/>
          </a:xfrm>
          <a:prstGeom prst="rect">
            <a:avLst/>
          </a:prstGeom>
          <a:noFill/>
          <a:ln/>
        </p:spPr>
        <p:txBody>
          <a:bodyPr wrap="square" lIns="0" tIns="0" rIns="0" bIns="0" rtlCol="0" anchor="t"/>
          <a:lstStyle/>
          <a:p>
            <a:pPr indent="0" marL="0">
              <a:spcAft>
                <a:spcPts val="400"/>
              </a:spcAft>
              <a:buNone/>
            </a:pPr>
            <a:r>
              <a:rPr lang="en-US" sz="1700" b="1" dirty="0">
                <a:solidFill>
                  <a:schemeClr val="accent1"/>
                </a:solidFill>
              </a:rPr>
              <a:t>The questions are graph questions.</a:t>
            </a:r>
            <a:endParaRPr lang="en-US" sz="1700" dirty="0"/>
          </a:p>
          <a:p>
            <a:pPr indent="0" marL="0">
              <a:buNone/>
            </a:pPr>
            <a:r>
              <a:rPr lang="en-US" sz="1500" dirty="0">
                <a:solidFill>
                  <a:schemeClr val="tx1"/>
                </a:solidFill>
              </a:rPr>
              <a:t>Which evidence supports a claim; what rests on a retraction; which atoms surround a binding site; which route makes a product.</a:t>
            </a:r>
            <a:endParaRPr lang="en-US" sz="1700" dirty="0"/>
          </a:p>
        </p:txBody>
      </p:sp>
      <p:sp>
        <p:nvSpPr>
          <p:cNvPr id="5" name="Each project had its own graph code."/>
          <p:cNvSpPr txBox="1"/>
          <p:nvPr/>
        </p:nvSpPr>
        <p:spPr>
          <a:xfrm>
            <a:off x="548640" y="3092958"/>
            <a:ext cx="4572000" cy="803148"/>
          </a:xfrm>
          <a:prstGeom prst="rect">
            <a:avLst/>
          </a:prstGeom>
          <a:noFill/>
          <a:ln/>
        </p:spPr>
        <p:txBody>
          <a:bodyPr wrap="square" lIns="0" tIns="0" rIns="0" bIns="0" rtlCol="0" anchor="t"/>
          <a:lstStyle/>
          <a:p>
            <a:pPr indent="0" marL="0">
              <a:spcAft>
                <a:spcPts val="400"/>
              </a:spcAft>
              <a:buNone/>
            </a:pPr>
            <a:r>
              <a:rPr lang="en-US" sz="1700" b="1" dirty="0">
                <a:solidFill>
                  <a:schemeClr val="accent1"/>
                </a:solidFill>
              </a:rPr>
              <a:t>Each project had its own graph code.</a:t>
            </a:r>
            <a:endParaRPr lang="en-US" sz="1700" dirty="0"/>
          </a:p>
          <a:p>
            <a:pPr indent="0" marL="0">
              <a:buNone/>
            </a:pPr>
            <a:r>
              <a:rPr lang="en-US" sz="1500" dirty="0">
                <a:solidFill>
                  <a:schemeClr val="tx1"/>
                </a:solidFill>
              </a:rPr>
              <a:t>SCALE's query engine, lifecycle and passage search; STATES's context extraction.</a:t>
            </a:r>
            <a:endParaRPr lang="en-US" sz="1700" dirty="0"/>
          </a:p>
        </p:txBody>
      </p:sp>
      <p:sp>
        <p:nvSpPr>
          <p:cNvPr id="6" name="One library, one contract."/>
          <p:cNvSpPr txBox="1"/>
          <p:nvPr/>
        </p:nvSpPr>
        <p:spPr>
          <a:xfrm>
            <a:off x="548640" y="4216146"/>
            <a:ext cx="4572000" cy="1035558"/>
          </a:xfrm>
          <a:prstGeom prst="rect">
            <a:avLst/>
          </a:prstGeom>
          <a:noFill/>
          <a:ln/>
        </p:spPr>
        <p:txBody>
          <a:bodyPr wrap="square" lIns="0" tIns="0" rIns="0" bIns="0" rtlCol="0" anchor="t"/>
          <a:lstStyle/>
          <a:p>
            <a:pPr indent="0" marL="0">
              <a:spcAft>
                <a:spcPts val="400"/>
              </a:spcAft>
              <a:buNone/>
            </a:pPr>
            <a:r>
              <a:rPr lang="en-US" sz="1700" b="1" dirty="0">
                <a:solidFill>
                  <a:schemeClr val="accent1"/>
                </a:solidFill>
              </a:rPr>
              <a:t>One library, one contract.</a:t>
            </a:r>
            <a:endParaRPr lang="en-US" sz="1700" dirty="0"/>
          </a:p>
          <a:p>
            <a:pPr indent="0" marL="0">
              <a:buNone/>
            </a:pPr>
            <a:r>
              <a:rPr lang="en-US" sz="1500" dirty="0">
                <a:solidFill>
                  <a:schemeClr val="tx1"/>
                </a:solidFill>
              </a:rPr>
              <a:t>GRAPH takes over the generic parts, with parity tests against each application's own code, and aims to be the graph library every graph-related project uses.</a:t>
            </a:r>
            <a:endParaRPr lang="en-US" sz="1700" dirty="0"/>
          </a:p>
        </p:txBody>
      </p:sp>
      <p:sp>
        <p:nvSpPr>
          <p:cNvPr id="7" name="Shape 5"/>
          <p:cNvSpPr/>
          <p:nvPr/>
        </p:nvSpPr>
        <p:spPr>
          <a:xfrm flipH="1" flipV="1">
            <a:off x="6926580" y="2377440"/>
            <a:ext cx="1641348" cy="1581912"/>
          </a:xfrm>
          <a:prstGeom prst="line">
            <a:avLst/>
          </a:prstGeom>
          <a:noFill/>
          <a:ln w="25400">
            <a:solidFill>
              <a:schemeClr val="accent5"/>
            </a:solidFill>
            <a:prstDash val="solid"/>
          </a:ln>
        </p:spPr>
      </p:sp>
      <p:sp>
        <p:nvSpPr>
          <p:cNvPr id="8" name="Shape 6"/>
          <p:cNvSpPr/>
          <p:nvPr/>
        </p:nvSpPr>
        <p:spPr>
          <a:xfrm flipV="1">
            <a:off x="8567928" y="2377440"/>
            <a:ext cx="1677924" cy="1581912"/>
          </a:xfrm>
          <a:prstGeom prst="line">
            <a:avLst/>
          </a:prstGeom>
          <a:noFill/>
          <a:ln w="25400">
            <a:solidFill>
              <a:schemeClr val="accent5"/>
            </a:solidFill>
            <a:prstDash val="solid"/>
          </a:ln>
        </p:spPr>
      </p:sp>
      <p:sp>
        <p:nvSpPr>
          <p:cNvPr id="9" name="Shape 7"/>
          <p:cNvSpPr/>
          <p:nvPr/>
        </p:nvSpPr>
        <p:spPr>
          <a:xfrm flipH="1">
            <a:off x="6926580" y="3959352"/>
            <a:ext cx="1641348" cy="1572768"/>
          </a:xfrm>
          <a:prstGeom prst="line">
            <a:avLst/>
          </a:prstGeom>
          <a:noFill/>
          <a:ln w="25400">
            <a:solidFill>
              <a:schemeClr val="accent5"/>
            </a:solidFill>
            <a:prstDash val="solid"/>
          </a:ln>
        </p:spPr>
      </p:sp>
      <p:sp>
        <p:nvSpPr>
          <p:cNvPr id="10" name="Shape 8"/>
          <p:cNvSpPr/>
          <p:nvPr/>
        </p:nvSpPr>
        <p:spPr>
          <a:xfrm>
            <a:off x="8567928" y="3959352"/>
            <a:ext cx="1677924" cy="1572768"/>
          </a:xfrm>
          <a:prstGeom prst="line">
            <a:avLst/>
          </a:prstGeom>
          <a:noFill/>
          <a:ln w="25400">
            <a:solidFill>
              <a:schemeClr val="accent5"/>
            </a:solidFill>
            <a:prstDash val="solid"/>
          </a:ln>
        </p:spPr>
      </p:sp>
      <p:sp>
        <p:nvSpPr>
          <p:cNvPr id="11" name="consumer SCALE"/>
          <p:cNvSpPr/>
          <p:nvPr/>
        </p:nvSpPr>
        <p:spPr>
          <a:xfrm>
            <a:off x="5532120" y="1691640"/>
            <a:ext cx="2788920" cy="1371600"/>
          </a:xfrm>
          <a:prstGeom prst="roundRect">
            <a:avLst>
              <a:gd name="adj" fmla="val 6667"/>
            </a:avLst>
          </a:prstGeom>
          <a:solidFill>
            <a:schemeClr val="bg2"/>
          </a:solidFill>
          <a:ln/>
        </p:spPr>
      </p:sp>
      <p:sp>
        <p:nvSpPr>
          <p:cNvPr id="12" name="Text 10"/>
          <p:cNvSpPr txBox="1"/>
          <p:nvPr/>
        </p:nvSpPr>
        <p:spPr>
          <a:xfrm>
            <a:off x="5715000" y="1819656"/>
            <a:ext cx="1463040" cy="292608"/>
          </a:xfrm>
          <a:prstGeom prst="rect">
            <a:avLst/>
          </a:prstGeom>
          <a:noFill/>
          <a:ln/>
        </p:spPr>
        <p:txBody>
          <a:bodyPr wrap="square" lIns="0" tIns="0" rIns="0" bIns="0" rtlCol="0" anchor="t"/>
          <a:lstStyle/>
          <a:p>
            <a:pPr indent="0" marL="0">
              <a:buNone/>
            </a:pPr>
            <a:r>
              <a:rPr lang="en-US" sz="1700" b="1" dirty="0">
                <a:solidFill>
                  <a:schemeClr val="tx1"/>
                </a:solidFill>
              </a:rPr>
              <a:t>SCALE</a:t>
            </a:r>
            <a:endParaRPr lang="en-US" sz="1700" dirty="0"/>
          </a:p>
        </p:txBody>
      </p:sp>
      <p:sp>
        <p:nvSpPr>
          <p:cNvPr id="13" name="pill parity-tested"/>
          <p:cNvSpPr/>
          <p:nvPr/>
        </p:nvSpPr>
        <p:spPr>
          <a:xfrm>
            <a:off x="6899148" y="1847088"/>
            <a:ext cx="1239012" cy="237744"/>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50" kern="0" dirty="0">
                <a:solidFill>
                  <a:schemeClr val="bg1"/>
                </a:solidFill>
              </a:rPr>
              <a:t>parity-tested</a:t>
            </a:r>
            <a:endParaRPr lang="en-US" sz="1000" dirty="0"/>
          </a:p>
        </p:txBody>
      </p:sp>
      <p:sp>
        <p:nvSpPr>
          <p:cNvPr id="14" name="Text 12"/>
          <p:cNvSpPr txBox="1"/>
          <p:nvPr/>
        </p:nvSpPr>
        <p:spPr>
          <a:xfrm>
            <a:off x="5715000" y="2167128"/>
            <a:ext cx="2423160" cy="804672"/>
          </a:xfrm>
          <a:prstGeom prst="rect">
            <a:avLst/>
          </a:prstGeom>
          <a:noFill/>
          <a:ln/>
        </p:spPr>
        <p:txBody>
          <a:bodyPr wrap="square" lIns="0" tIns="0" rIns="0" bIns="0" rtlCol="0" anchor="t"/>
          <a:lstStyle/>
          <a:p>
            <a:pPr indent="0" marL="0">
              <a:buNone/>
            </a:pPr>
            <a:r>
              <a:rPr lang="en-US" sz="1400" dirty="0">
                <a:solidFill>
                  <a:schemeClr val="tx1"/>
                </a:solidFill>
              </a:rPr>
              <a:t>Scientific claims and evidence</a:t>
            </a:r>
            <a:endParaRPr lang="en-US" sz="1400" dirty="0"/>
          </a:p>
          <a:p>
            <a:pPr indent="0" marL="0">
              <a:buNone/>
            </a:pPr>
            <a:r>
              <a:rPr lang="en-US" sz="1300" i="1" dirty="0">
                <a:solidFill>
                  <a:schemeClr val="accent6"/>
                </a:solidFill>
              </a:rPr>
              <a:t>typed paths, impact, patterns, support, retrieval</a:t>
            </a:r>
            <a:endParaRPr lang="en-US" sz="1400" dirty="0"/>
          </a:p>
        </p:txBody>
      </p:sp>
      <p:sp>
        <p:nvSpPr>
          <p:cNvPr id="15" name="consumer STATES"/>
          <p:cNvSpPr/>
          <p:nvPr/>
        </p:nvSpPr>
        <p:spPr>
          <a:xfrm>
            <a:off x="8851392" y="1691640"/>
            <a:ext cx="2788920" cy="1371600"/>
          </a:xfrm>
          <a:prstGeom prst="roundRect">
            <a:avLst>
              <a:gd name="adj" fmla="val 6667"/>
            </a:avLst>
          </a:prstGeom>
          <a:solidFill>
            <a:schemeClr val="bg2"/>
          </a:solidFill>
          <a:ln/>
        </p:spPr>
      </p:sp>
      <p:sp>
        <p:nvSpPr>
          <p:cNvPr id="16" name="Text 14"/>
          <p:cNvSpPr txBox="1"/>
          <p:nvPr/>
        </p:nvSpPr>
        <p:spPr>
          <a:xfrm>
            <a:off x="9034272" y="1819656"/>
            <a:ext cx="1463040" cy="292608"/>
          </a:xfrm>
          <a:prstGeom prst="rect">
            <a:avLst/>
          </a:prstGeom>
          <a:noFill/>
          <a:ln/>
        </p:spPr>
        <p:txBody>
          <a:bodyPr wrap="square" lIns="0" tIns="0" rIns="0" bIns="0" rtlCol="0" anchor="t"/>
          <a:lstStyle/>
          <a:p>
            <a:pPr indent="0" marL="0">
              <a:buNone/>
            </a:pPr>
            <a:r>
              <a:rPr lang="en-US" sz="1700" b="1" dirty="0">
                <a:solidFill>
                  <a:schemeClr val="tx1"/>
                </a:solidFill>
              </a:rPr>
              <a:t>STATES</a:t>
            </a:r>
            <a:endParaRPr lang="en-US" sz="1700" dirty="0"/>
          </a:p>
        </p:txBody>
      </p:sp>
      <p:sp>
        <p:nvSpPr>
          <p:cNvPr id="17" name="pill parity-tested"/>
          <p:cNvSpPr/>
          <p:nvPr/>
        </p:nvSpPr>
        <p:spPr>
          <a:xfrm>
            <a:off x="10218420" y="1847088"/>
            <a:ext cx="1239012" cy="237744"/>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50" kern="0" dirty="0">
                <a:solidFill>
                  <a:schemeClr val="bg1"/>
                </a:solidFill>
              </a:rPr>
              <a:t>parity-tested</a:t>
            </a:r>
            <a:endParaRPr lang="en-US" sz="1000" dirty="0"/>
          </a:p>
        </p:txBody>
      </p:sp>
      <p:sp>
        <p:nvSpPr>
          <p:cNvPr id="18" name="Text 16"/>
          <p:cNvSpPr txBox="1"/>
          <p:nvPr/>
        </p:nvSpPr>
        <p:spPr>
          <a:xfrm>
            <a:off x="9034272" y="2167128"/>
            <a:ext cx="2423160" cy="804672"/>
          </a:xfrm>
          <a:prstGeom prst="rect">
            <a:avLst/>
          </a:prstGeom>
          <a:noFill/>
          <a:ln/>
        </p:spPr>
        <p:txBody>
          <a:bodyPr wrap="square" lIns="0" tIns="0" rIns="0" bIns="0" rtlCol="0" anchor="t"/>
          <a:lstStyle/>
          <a:p>
            <a:pPr indent="0" marL="0">
              <a:buNone/>
            </a:pPr>
            <a:r>
              <a:rPr lang="en-US" sz="1400" dirty="0">
                <a:solidFill>
                  <a:schemeClr val="tx1"/>
                </a:solidFill>
              </a:rPr>
              <a:t>Atomistic structures, crystal graphs</a:t>
            </a:r>
            <a:endParaRPr lang="en-US" sz="1400" dirty="0"/>
          </a:p>
          <a:p>
            <a:pPr indent="0" marL="0">
              <a:buNone/>
            </a:pPr>
            <a:r>
              <a:rPr lang="en-US" sz="1300" i="1" dirty="0">
                <a:solidFill>
                  <a:schemeClr val="accent6"/>
                </a:solidFill>
              </a:rPr>
              <a:t>periodic reachability, periodicity</a:t>
            </a:r>
            <a:endParaRPr lang="en-US" sz="1400" dirty="0"/>
          </a:p>
        </p:txBody>
      </p:sp>
      <p:sp>
        <p:nvSpPr>
          <p:cNvPr id="19" name="consumer RATES"/>
          <p:cNvSpPr/>
          <p:nvPr/>
        </p:nvSpPr>
        <p:spPr>
          <a:xfrm>
            <a:off x="5532120" y="4846320"/>
            <a:ext cx="2788920" cy="1371600"/>
          </a:xfrm>
          <a:prstGeom prst="roundRect">
            <a:avLst>
              <a:gd name="adj" fmla="val 6667"/>
            </a:avLst>
          </a:prstGeom>
          <a:solidFill>
            <a:schemeClr val="bg2"/>
          </a:solidFill>
          <a:ln/>
        </p:spPr>
      </p:sp>
      <p:sp>
        <p:nvSpPr>
          <p:cNvPr id="20" name="Text 18"/>
          <p:cNvSpPr txBox="1"/>
          <p:nvPr/>
        </p:nvSpPr>
        <p:spPr>
          <a:xfrm>
            <a:off x="5715000" y="4974336"/>
            <a:ext cx="1463040" cy="292608"/>
          </a:xfrm>
          <a:prstGeom prst="rect">
            <a:avLst/>
          </a:prstGeom>
          <a:noFill/>
          <a:ln/>
        </p:spPr>
        <p:txBody>
          <a:bodyPr wrap="square" lIns="0" tIns="0" rIns="0" bIns="0" rtlCol="0" anchor="t"/>
          <a:lstStyle/>
          <a:p>
            <a:pPr indent="0" marL="0">
              <a:buNone/>
            </a:pPr>
            <a:r>
              <a:rPr lang="en-US" sz="1700" b="1" dirty="0">
                <a:solidFill>
                  <a:schemeClr val="tx1"/>
                </a:solidFill>
              </a:rPr>
              <a:t>RATES</a:t>
            </a:r>
            <a:endParaRPr lang="en-US" sz="1700" dirty="0"/>
          </a:p>
        </p:txBody>
      </p:sp>
      <p:sp>
        <p:nvSpPr>
          <p:cNvPr id="21" name="pill planned"/>
          <p:cNvSpPr/>
          <p:nvPr/>
        </p:nvSpPr>
        <p:spPr>
          <a:xfrm>
            <a:off x="7365492" y="5001768"/>
            <a:ext cx="772668" cy="237744"/>
          </a:xfrm>
          <a:prstGeom prst="roundRect">
            <a:avLst>
              <a:gd name="adj" fmla="val 50000"/>
            </a:avLst>
          </a:prstGeom>
          <a:solidFill>
            <a:schemeClr val="accent6"/>
          </a:solidFill>
          <a:ln/>
        </p:spPr>
        <p:txBody>
          <a:bodyPr wrap="square" lIns="0" tIns="0" rIns="0" bIns="0" rtlCol="0" anchor="ctr"/>
          <a:lstStyle/>
          <a:p>
            <a:pPr algn="ctr" indent="0" marL="0">
              <a:buNone/>
            </a:pPr>
            <a:r>
              <a:rPr lang="en-US" sz="1000" b="1" spc="50" kern="0" dirty="0">
                <a:solidFill>
                  <a:schemeClr val="bg1"/>
                </a:solidFill>
              </a:rPr>
              <a:t>planned</a:t>
            </a:r>
            <a:endParaRPr lang="en-US" sz="1000" dirty="0"/>
          </a:p>
        </p:txBody>
      </p:sp>
      <p:sp>
        <p:nvSpPr>
          <p:cNvPr id="22" name="Text 20"/>
          <p:cNvSpPr txBox="1"/>
          <p:nvPr/>
        </p:nvSpPr>
        <p:spPr>
          <a:xfrm>
            <a:off x="5715000" y="5321808"/>
            <a:ext cx="2423160" cy="804672"/>
          </a:xfrm>
          <a:prstGeom prst="rect">
            <a:avLst/>
          </a:prstGeom>
          <a:noFill/>
          <a:ln/>
        </p:spPr>
        <p:txBody>
          <a:bodyPr wrap="square" lIns="0" tIns="0" rIns="0" bIns="0" rtlCol="0" anchor="t"/>
          <a:lstStyle/>
          <a:p>
            <a:pPr indent="0" marL="0">
              <a:buNone/>
            </a:pPr>
            <a:r>
              <a:rPr lang="en-US" sz="1400" dirty="0">
                <a:solidFill>
                  <a:schemeClr val="tx1"/>
                </a:solidFill>
              </a:rPr>
              <a:t>Reaction kinetics</a:t>
            </a:r>
            <a:endParaRPr lang="en-US" sz="1400" dirty="0"/>
          </a:p>
          <a:p>
            <a:pPr indent="0" marL="0">
              <a:buNone/>
            </a:pPr>
            <a:r>
              <a:rPr lang="en-US" sz="1300" i="1" dirty="0">
                <a:solidFill>
                  <a:schemeClr val="accent6"/>
                </a:solidFill>
              </a:rPr>
              <a:t>incidence, derivation, bottleneck paths</a:t>
            </a:r>
            <a:endParaRPr lang="en-US" sz="1400" dirty="0"/>
          </a:p>
        </p:txBody>
      </p:sp>
      <p:sp>
        <p:nvSpPr>
          <p:cNvPr id="23" name="consumer Cathanor"/>
          <p:cNvSpPr/>
          <p:nvPr/>
        </p:nvSpPr>
        <p:spPr>
          <a:xfrm>
            <a:off x="8851392" y="4846320"/>
            <a:ext cx="2788920" cy="1371600"/>
          </a:xfrm>
          <a:prstGeom prst="roundRect">
            <a:avLst>
              <a:gd name="adj" fmla="val 6667"/>
            </a:avLst>
          </a:prstGeom>
          <a:solidFill>
            <a:schemeClr val="bg2"/>
          </a:solidFill>
          <a:ln/>
        </p:spPr>
      </p:sp>
      <p:sp>
        <p:nvSpPr>
          <p:cNvPr id="24" name="Text 22"/>
          <p:cNvSpPr txBox="1"/>
          <p:nvPr/>
        </p:nvSpPr>
        <p:spPr>
          <a:xfrm>
            <a:off x="9034272" y="4974336"/>
            <a:ext cx="1463040" cy="292608"/>
          </a:xfrm>
          <a:prstGeom prst="rect">
            <a:avLst/>
          </a:prstGeom>
          <a:noFill/>
          <a:ln/>
        </p:spPr>
        <p:txBody>
          <a:bodyPr wrap="square" lIns="0" tIns="0" rIns="0" bIns="0" rtlCol="0" anchor="t"/>
          <a:lstStyle/>
          <a:p>
            <a:pPr indent="0" marL="0">
              <a:buNone/>
            </a:pPr>
            <a:r>
              <a:rPr lang="en-US" sz="1700" b="1" dirty="0">
                <a:solidFill>
                  <a:schemeClr val="tx1"/>
                </a:solidFill>
              </a:rPr>
              <a:t>Cathanor</a:t>
            </a:r>
            <a:endParaRPr lang="en-US" sz="1700" dirty="0"/>
          </a:p>
        </p:txBody>
      </p:sp>
      <p:sp>
        <p:nvSpPr>
          <p:cNvPr id="25" name="pill planned"/>
          <p:cNvSpPr/>
          <p:nvPr/>
        </p:nvSpPr>
        <p:spPr>
          <a:xfrm>
            <a:off x="10684764" y="5001768"/>
            <a:ext cx="772668" cy="237744"/>
          </a:xfrm>
          <a:prstGeom prst="roundRect">
            <a:avLst>
              <a:gd name="adj" fmla="val 50000"/>
            </a:avLst>
          </a:prstGeom>
          <a:solidFill>
            <a:schemeClr val="accent6"/>
          </a:solidFill>
          <a:ln/>
        </p:spPr>
        <p:txBody>
          <a:bodyPr wrap="square" lIns="0" tIns="0" rIns="0" bIns="0" rtlCol="0" anchor="ctr"/>
          <a:lstStyle/>
          <a:p>
            <a:pPr algn="ctr" indent="0" marL="0">
              <a:buNone/>
            </a:pPr>
            <a:r>
              <a:rPr lang="en-US" sz="1000" b="1" spc="50" kern="0" dirty="0">
                <a:solidFill>
                  <a:schemeClr val="bg1"/>
                </a:solidFill>
              </a:rPr>
              <a:t>planned</a:t>
            </a:r>
            <a:endParaRPr lang="en-US" sz="1000" dirty="0"/>
          </a:p>
        </p:txBody>
      </p:sp>
      <p:sp>
        <p:nvSpPr>
          <p:cNvPr id="26" name="Text 24"/>
          <p:cNvSpPr txBox="1"/>
          <p:nvPr/>
        </p:nvSpPr>
        <p:spPr>
          <a:xfrm>
            <a:off x="9034272" y="5321808"/>
            <a:ext cx="2423160" cy="804672"/>
          </a:xfrm>
          <a:prstGeom prst="rect">
            <a:avLst/>
          </a:prstGeom>
          <a:noFill/>
          <a:ln/>
        </p:spPr>
        <p:txBody>
          <a:bodyPr wrap="square" lIns="0" tIns="0" rIns="0" bIns="0" rtlCol="0" anchor="t"/>
          <a:lstStyle/>
          <a:p>
            <a:pPr indent="0" marL="0">
              <a:buNone/>
            </a:pPr>
            <a:r>
              <a:rPr lang="en-US" sz="1400" dirty="0">
                <a:solidFill>
                  <a:schemeClr val="tx1"/>
                </a:solidFill>
              </a:rPr>
              <a:t>Catalysis knowledge</a:t>
            </a:r>
            <a:endParaRPr lang="en-US" sz="1400" dirty="0"/>
          </a:p>
        </p:txBody>
      </p:sp>
      <p:sp>
        <p:nvSpPr>
          <p:cNvPr id="27" name="GRAPH hub"/>
          <p:cNvSpPr/>
          <p:nvPr/>
        </p:nvSpPr>
        <p:spPr>
          <a:xfrm>
            <a:off x="7882128" y="3273552"/>
            <a:ext cx="1371600" cy="1371600"/>
          </a:xfrm>
          <a:prstGeom prst="ellipse">
            <a:avLst/>
          </a:prstGeom>
          <a:solidFill>
            <a:schemeClr val="tx2"/>
          </a:solidFill>
          <a:ln w="38100">
            <a:solidFill>
              <a:schemeClr val="accent2"/>
            </a:solidFill>
            <a:prstDash val="solid"/>
          </a:ln>
        </p:spPr>
      </p:sp>
      <p:sp>
        <p:nvSpPr>
          <p:cNvPr id="28" name="Text 26"/>
          <p:cNvSpPr txBox="1"/>
          <p:nvPr/>
        </p:nvSpPr>
        <p:spPr>
          <a:xfrm>
            <a:off x="7882128" y="3730752"/>
            <a:ext cx="1371600" cy="45720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GRAPH</a:t>
            </a:r>
            <a:endParaRPr lang="en-US" sz="2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Five design principles</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Exact answers, with their proof, within a budget, the same every time.</a:t>
            </a:r>
            <a:endParaRPr lang="en-US" sz="1600" dirty="0"/>
          </a:p>
        </p:txBody>
      </p:sp>
      <p:sp>
        <p:nvSpPr>
          <p:cNvPr id="4" name="principle quote"/>
          <p:cNvSpPr/>
          <p:nvPr/>
        </p:nvSpPr>
        <p:spPr>
          <a:xfrm>
            <a:off x="548640" y="1691640"/>
            <a:ext cx="3749040" cy="4526280"/>
          </a:xfrm>
          <a:prstGeom prst="roundRect">
            <a:avLst>
              <a:gd name="adj" fmla="val 2439"/>
            </a:avLst>
          </a:prstGeom>
          <a:solidFill>
            <a:schemeClr val="tx2"/>
          </a:solidFill>
          <a:ln/>
        </p:spPr>
      </p:sp>
      <p:sp>
        <p:nvSpPr>
          <p:cNvPr id="5" name="Text 3"/>
          <p:cNvSpPr txBox="1"/>
          <p:nvPr/>
        </p:nvSpPr>
        <p:spPr>
          <a:xfrm>
            <a:off x="868680" y="1874520"/>
            <a:ext cx="3108960" cy="4160520"/>
          </a:xfrm>
          <a:prstGeom prst="rect">
            <a:avLst/>
          </a:prstGeom>
          <a:noFill/>
          <a:ln/>
        </p:spPr>
        <p:txBody>
          <a:bodyPr wrap="square" lIns="0" tIns="0" rIns="0" bIns="0" rtlCol="0" anchor="ctr"/>
          <a:lstStyle/>
          <a:p>
            <a:pPr indent="0" marL="0">
              <a:buNone/>
            </a:pPr>
            <a:r>
              <a:rPr lang="en-US" sz="6000" dirty="0">
                <a:solidFill>
                  <a:schemeClr val="accent2"/>
                </a:solidFill>
                <a:latin typeface="Cambria" pitchFamily="34" charset="0"/>
                <a:ea typeface="Cambria" pitchFamily="34" charset="-122"/>
                <a:cs typeface="Cambria" pitchFamily="34" charset="-120"/>
              </a:rPr>
              <a:t>“</a:t>
            </a:r>
            <a:endParaRPr lang="en-US" sz="6000" dirty="0"/>
          </a:p>
          <a:p>
            <a:pPr indent="0" marL="0">
              <a:spcAft>
                <a:spcPts val="1800"/>
              </a:spcAft>
              <a:buNone/>
            </a:pPr>
            <a:r>
              <a:rPr lang="en-US" sz="2600" dirty="0">
                <a:solidFill>
                  <a:schemeClr val="bg1"/>
                </a:solidFill>
                <a:latin typeface="Cambria" pitchFamily="34" charset="0"/>
                <a:ea typeface="Cambria" pitchFamily="34" charset="-122"/>
                <a:cs typeface="Cambria" pitchFamily="34" charset="-120"/>
              </a:rPr>
              <a:t>An interrupted result never certifies a negative.</a:t>
            </a:r>
            <a:endParaRPr lang="en-US" sz="6000" dirty="0"/>
          </a:p>
          <a:p>
            <a:pPr indent="0" marL="0">
              <a:spcAft>
                <a:spcPts val="1000"/>
              </a:spcAft>
              <a:buNone/>
            </a:pPr>
            <a:r>
              <a:rPr lang="en-US" sz="1400" dirty="0">
                <a:solidFill>
                  <a:schemeClr val="accent5"/>
                </a:solidFill>
              </a:rPr>
              <a:t>found: false, complete: true and reachable(x) is False happen only when the search finished.</a:t>
            </a:r>
            <a:endParaRPr lang="en-US" sz="6000" dirty="0"/>
          </a:p>
          <a:p>
            <a:pPr indent="0" marL="0">
              <a:buNone/>
            </a:pPr>
            <a:r>
              <a:rPr lang="en-US" sz="1200" i="1" dirty="0">
                <a:solidFill>
                  <a:schemeClr val="accent5"/>
                </a:solidFill>
              </a:rPr>
              <a:t>CLAUDE.md, invariants</a:t>
            </a:r>
            <a:endParaRPr lang="en-US" sz="6000" dirty="0"/>
          </a:p>
        </p:txBody>
      </p:sp>
      <p:sp>
        <p:nvSpPr>
          <p:cNvPr id="6" name="icon Exact only"/>
          <p:cNvSpPr/>
          <p:nvPr/>
        </p:nvSpPr>
        <p:spPr>
          <a:xfrm>
            <a:off x="4663440" y="1764792"/>
            <a:ext cx="566928" cy="566928"/>
          </a:xfrm>
          <a:prstGeom prst="ellipse">
            <a:avLst/>
          </a:prstGeom>
          <a:solidFill>
            <a:schemeClr val="accent1"/>
          </a:solidFill>
          <a:ln/>
        </p:spPr>
      </p:sp>
      <p:pic>
        <p:nvPicPr>
          <p:cNvPr id="7" name="Image 0" descr="Exact only">    </p:cNvPr>
          <p:cNvPicPr>
            <a:picLocks noChangeAspect="1"/>
          </p:cNvPicPr>
          <p:nvPr/>
        </p:nvPicPr>
        <p:blipFill>
          <a:blip r:embed="rId1"/>
          <a:stretch>
            <a:fillRect/>
          </a:stretch>
        </p:blipFill>
        <p:spPr>
          <a:xfrm>
            <a:off x="4788164" y="1889516"/>
            <a:ext cx="317480" cy="317480"/>
          </a:xfrm>
          <a:prstGeom prst="rect">
            <a:avLst/>
          </a:prstGeom>
        </p:spPr>
      </p:pic>
      <p:sp>
        <p:nvSpPr>
          <p:cNvPr id="8" name="Text 5"/>
          <p:cNvSpPr txBox="1"/>
          <p:nvPr/>
        </p:nvSpPr>
        <p:spPr>
          <a:xfrm>
            <a:off x="5486400" y="1728216"/>
            <a:ext cx="6156655" cy="859536"/>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Exact only</a:t>
            </a:r>
            <a:endParaRPr lang="en-US" sz="1700" dirty="0"/>
          </a:p>
          <a:p>
            <a:pPr indent="0" marL="0">
              <a:buNone/>
            </a:pPr>
            <a:r>
              <a:rPr lang="en-US" sz="1400" dirty="0">
                <a:solidFill>
                  <a:schemeClr val="tx1"/>
                </a:solidFill>
              </a:rPr>
              <a:t>No approximate modes or sampling: integer and exact rational arithmetic; PageRank as proven intervals.</a:t>
            </a:r>
            <a:endParaRPr lang="en-US" sz="1700" dirty="0"/>
          </a:p>
        </p:txBody>
      </p:sp>
      <p:sp>
        <p:nvSpPr>
          <p:cNvPr id="9" name="icon Witnesses and certificates"/>
          <p:cNvSpPr/>
          <p:nvPr/>
        </p:nvSpPr>
        <p:spPr>
          <a:xfrm>
            <a:off x="4663440" y="2670048"/>
            <a:ext cx="566928" cy="566928"/>
          </a:xfrm>
          <a:prstGeom prst="ellipse">
            <a:avLst/>
          </a:prstGeom>
          <a:solidFill>
            <a:schemeClr val="accent1"/>
          </a:solidFill>
          <a:ln/>
        </p:spPr>
      </p:sp>
      <p:pic>
        <p:nvPicPr>
          <p:cNvPr id="10" name="Image 1" descr="Witnesses and certificates">    </p:cNvPr>
          <p:cNvPicPr>
            <a:picLocks noChangeAspect="1"/>
          </p:cNvPicPr>
          <p:nvPr/>
        </p:nvPicPr>
        <p:blipFill>
          <a:blip r:embed="rId2"/>
          <a:stretch>
            <a:fillRect/>
          </a:stretch>
        </p:blipFill>
        <p:spPr>
          <a:xfrm>
            <a:off x="4788164" y="2794772"/>
            <a:ext cx="317480" cy="317480"/>
          </a:xfrm>
          <a:prstGeom prst="rect">
            <a:avLst/>
          </a:prstGeom>
        </p:spPr>
      </p:pic>
      <p:sp>
        <p:nvSpPr>
          <p:cNvPr id="11" name="Text 7"/>
          <p:cNvSpPr txBox="1"/>
          <p:nvPr/>
        </p:nvSpPr>
        <p:spPr>
          <a:xfrm>
            <a:off x="5486400" y="2633472"/>
            <a:ext cx="6156655" cy="859536"/>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Witnesses and certificates</a:t>
            </a:r>
            <a:endParaRPr lang="en-US" sz="1700" dirty="0"/>
          </a:p>
          <a:p>
            <a:pPr indent="0" marL="0">
              <a:buNone/>
            </a:pPr>
            <a:r>
              <a:rPr lang="en-US" sz="1400" dirty="0">
                <a:solidFill>
                  <a:schemeClr val="tx1"/>
                </a:solidFill>
              </a:rPr>
              <a:t>Every positive names the records that prove it; on request, certificates prove negatives, optima and bounds.</a:t>
            </a:r>
            <a:endParaRPr lang="en-US" sz="1700" dirty="0"/>
          </a:p>
        </p:txBody>
      </p:sp>
      <p:sp>
        <p:nvSpPr>
          <p:cNvPr id="12" name="icon Bounded, interruptible work"/>
          <p:cNvSpPr/>
          <p:nvPr/>
        </p:nvSpPr>
        <p:spPr>
          <a:xfrm>
            <a:off x="4663440" y="3575304"/>
            <a:ext cx="566928" cy="566928"/>
          </a:xfrm>
          <a:prstGeom prst="ellipse">
            <a:avLst/>
          </a:prstGeom>
          <a:solidFill>
            <a:schemeClr val="accent1"/>
          </a:solidFill>
          <a:ln/>
        </p:spPr>
      </p:sp>
      <p:pic>
        <p:nvPicPr>
          <p:cNvPr id="13" name="Image 2" descr="Bounded, interruptible work">    </p:cNvPr>
          <p:cNvPicPr>
            <a:picLocks noChangeAspect="1"/>
          </p:cNvPicPr>
          <p:nvPr/>
        </p:nvPicPr>
        <p:blipFill>
          <a:blip r:embed="rId3"/>
          <a:stretch>
            <a:fillRect/>
          </a:stretch>
        </p:blipFill>
        <p:spPr>
          <a:xfrm>
            <a:off x="4788164" y="3700028"/>
            <a:ext cx="317480" cy="317480"/>
          </a:xfrm>
          <a:prstGeom prst="rect">
            <a:avLst/>
          </a:prstGeom>
        </p:spPr>
      </p:pic>
      <p:sp>
        <p:nvSpPr>
          <p:cNvPr id="14" name="Text 9"/>
          <p:cNvSpPr txBox="1"/>
          <p:nvPr/>
        </p:nvSpPr>
        <p:spPr>
          <a:xfrm>
            <a:off x="5486400" y="3538728"/>
            <a:ext cx="6156655" cy="859536"/>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Bounded, interruptible work</a:t>
            </a:r>
            <a:endParaRPr lang="en-US" sz="1700" dirty="0"/>
          </a:p>
          <a:p>
            <a:pPr indent="0" marL="0">
              <a:buNone/>
            </a:pPr>
            <a:r>
              <a:rPr lang="en-US" sz="1400" dirty="0">
                <a:solidFill>
                  <a:schemeClr val="tx1"/>
                </a:solidFill>
              </a:rPr>
              <a:t>Expansion budget, output limit, deadline, cancellation. What is unknown is reported as unknown (None), never as False.</a:t>
            </a:r>
            <a:endParaRPr lang="en-US" sz="1700" dirty="0"/>
          </a:p>
        </p:txBody>
      </p:sp>
      <p:sp>
        <p:nvSpPr>
          <p:cNvPr id="15" name="icon Reproducible"/>
          <p:cNvSpPr/>
          <p:nvPr/>
        </p:nvSpPr>
        <p:spPr>
          <a:xfrm>
            <a:off x="4663440" y="4480560"/>
            <a:ext cx="566928" cy="566928"/>
          </a:xfrm>
          <a:prstGeom prst="ellipse">
            <a:avLst/>
          </a:prstGeom>
          <a:solidFill>
            <a:schemeClr val="accent1"/>
          </a:solidFill>
          <a:ln/>
        </p:spPr>
      </p:sp>
      <p:pic>
        <p:nvPicPr>
          <p:cNvPr id="16" name="Image 3" descr="Reproducible">    </p:cNvPr>
          <p:cNvPicPr>
            <a:picLocks noChangeAspect="1"/>
          </p:cNvPicPr>
          <p:nvPr/>
        </p:nvPicPr>
        <p:blipFill>
          <a:blip r:embed="rId4"/>
          <a:stretch>
            <a:fillRect/>
          </a:stretch>
        </p:blipFill>
        <p:spPr>
          <a:xfrm>
            <a:off x="4788164" y="4605284"/>
            <a:ext cx="317480" cy="317480"/>
          </a:xfrm>
          <a:prstGeom prst="rect">
            <a:avLst/>
          </a:prstGeom>
        </p:spPr>
      </p:pic>
      <p:sp>
        <p:nvSpPr>
          <p:cNvPr id="17" name="Text 11"/>
          <p:cNvSpPr txBox="1"/>
          <p:nvPr/>
        </p:nvSpPr>
        <p:spPr>
          <a:xfrm>
            <a:off x="5486400" y="4443984"/>
            <a:ext cx="6156655" cy="859536"/>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Reproducible</a:t>
            </a:r>
            <a:endParaRPr lang="en-US" sz="1700" dirty="0"/>
          </a:p>
          <a:p>
            <a:pPr indent="0" marL="0">
              <a:buNone/>
            </a:pPr>
            <a:r>
              <a:rPr lang="en-US" sz="1400" dirty="0">
                <a:solidFill>
                  <a:schemeClr val="tx1"/>
                </a:solidFill>
              </a:rPr>
              <a:t>Immutable projections with identity digests, normalized requests, canonical order: the same projection and request give the same result_id.</a:t>
            </a:r>
            <a:endParaRPr lang="en-US" sz="1700" dirty="0"/>
          </a:p>
        </p:txBody>
      </p:sp>
      <p:sp>
        <p:nvSpPr>
          <p:cNvPr id="18" name="icon Adapters own the science"/>
          <p:cNvSpPr/>
          <p:nvPr/>
        </p:nvSpPr>
        <p:spPr>
          <a:xfrm>
            <a:off x="4663440" y="5385816"/>
            <a:ext cx="566928" cy="566928"/>
          </a:xfrm>
          <a:prstGeom prst="ellipse">
            <a:avLst/>
          </a:prstGeom>
          <a:solidFill>
            <a:schemeClr val="accent1"/>
          </a:solidFill>
          <a:ln/>
        </p:spPr>
      </p:sp>
      <p:pic>
        <p:nvPicPr>
          <p:cNvPr id="19" name="Image 4" descr="Adapters own the science">    </p:cNvPr>
          <p:cNvPicPr>
            <a:picLocks noChangeAspect="1"/>
          </p:cNvPicPr>
          <p:nvPr/>
        </p:nvPicPr>
        <p:blipFill>
          <a:blip r:embed="rId5"/>
          <a:stretch>
            <a:fillRect/>
          </a:stretch>
        </p:blipFill>
        <p:spPr>
          <a:xfrm>
            <a:off x="4788164" y="5510540"/>
            <a:ext cx="317480" cy="317480"/>
          </a:xfrm>
          <a:prstGeom prst="rect">
            <a:avLst/>
          </a:prstGeom>
        </p:spPr>
      </p:pic>
      <p:sp>
        <p:nvSpPr>
          <p:cNvPr id="20" name="Text 13"/>
          <p:cNvSpPr txBox="1"/>
          <p:nvPr/>
        </p:nvSpPr>
        <p:spPr>
          <a:xfrm>
            <a:off x="5486400" y="5349240"/>
            <a:ext cx="6156655" cy="859536"/>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Adapters own the science</a:t>
            </a:r>
            <a:endParaRPr lang="en-US" sz="1700" dirty="0"/>
          </a:p>
          <a:p>
            <a:pPr indent="0" marL="0">
              <a:buNone/>
            </a:pPr>
            <a:r>
              <a:rPr lang="en-US" sz="1400" dirty="0">
                <a:solidFill>
                  <a:schemeClr val="tx1"/>
                </a:solidFill>
              </a:rPr>
              <a:t>Standard library only; GRAPH imports no application vocabulary. Each application reaches it through an adapter it owns.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Architecture: from records to checked results</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Every operation binds an immutable projection and a normalized request, and returns one kind of result.</a:t>
            </a:r>
            <a:endParaRPr lang="en-US" sz="1600" dirty="0"/>
          </a:p>
        </p:txBody>
      </p:sp>
      <p:sp>
        <p:nvSpPr>
          <p:cNvPr id="4" name="pipeline Adapter"/>
          <p:cNvSpPr/>
          <p:nvPr/>
        </p:nvSpPr>
        <p:spPr>
          <a:xfrm>
            <a:off x="548640" y="1691640"/>
            <a:ext cx="1892808" cy="1645920"/>
          </a:xfrm>
          <a:prstGeom prst="roundRect">
            <a:avLst>
              <a:gd name="adj" fmla="val 5556"/>
            </a:avLst>
          </a:prstGeom>
          <a:solidFill>
            <a:schemeClr val="bg1"/>
          </a:solidFill>
          <a:ln w="12700">
            <a:solidFill>
              <a:schemeClr val="accent6"/>
            </a:solidFill>
            <a:prstDash val="dash"/>
          </a:ln>
        </p:spPr>
      </p:sp>
      <p:sp>
        <p:nvSpPr>
          <p:cNvPr id="5" name="icon Adapter"/>
          <p:cNvSpPr/>
          <p:nvPr/>
        </p:nvSpPr>
        <p:spPr>
          <a:xfrm>
            <a:off x="685800" y="1828800"/>
            <a:ext cx="420624" cy="420624"/>
          </a:xfrm>
          <a:prstGeom prst="ellipse">
            <a:avLst/>
          </a:prstGeom>
          <a:solidFill>
            <a:schemeClr val="accent1"/>
          </a:solidFill>
          <a:ln/>
        </p:spPr>
      </p:sp>
      <p:pic>
        <p:nvPicPr>
          <p:cNvPr id="6" name="Image 0" descr="Adapter">    </p:cNvPr>
          <p:cNvPicPr>
            <a:picLocks noChangeAspect="1"/>
          </p:cNvPicPr>
          <p:nvPr/>
        </p:nvPicPr>
        <p:blipFill>
          <a:blip r:embed="rId1"/>
          <a:stretch>
            <a:fillRect/>
          </a:stretch>
        </p:blipFill>
        <p:spPr>
          <a:xfrm>
            <a:off x="778337" y="1921337"/>
            <a:ext cx="235549" cy="235549"/>
          </a:xfrm>
          <a:prstGeom prst="rect">
            <a:avLst/>
          </a:prstGeom>
        </p:spPr>
      </p:pic>
      <p:sp>
        <p:nvSpPr>
          <p:cNvPr id="7" name="Text 4"/>
          <p:cNvSpPr txBox="1"/>
          <p:nvPr/>
        </p:nvSpPr>
        <p:spPr>
          <a:xfrm>
            <a:off x="1188720" y="1828800"/>
            <a:ext cx="1161288" cy="420624"/>
          </a:xfrm>
          <a:prstGeom prst="rect">
            <a:avLst/>
          </a:prstGeom>
          <a:noFill/>
          <a:ln/>
        </p:spPr>
        <p:txBody>
          <a:bodyPr wrap="square" lIns="0" tIns="0" rIns="0" bIns="0" rtlCol="0" anchor="ctr"/>
          <a:lstStyle/>
          <a:p>
            <a:pPr indent="0" marL="0">
              <a:buNone/>
            </a:pPr>
            <a:r>
              <a:rPr lang="en-US" sz="1600" b="1" dirty="0">
                <a:solidFill>
                  <a:schemeClr val="tx1"/>
                </a:solidFill>
              </a:rPr>
              <a:t>Adapter</a:t>
            </a:r>
            <a:endParaRPr lang="en-US" sz="1600" dirty="0"/>
          </a:p>
        </p:txBody>
      </p:sp>
      <p:sp>
        <p:nvSpPr>
          <p:cNvPr id="8" name="Text 5"/>
          <p:cNvSpPr txBox="1"/>
          <p:nvPr/>
        </p:nvSpPr>
        <p:spPr>
          <a:xfrm>
            <a:off x="685800" y="2350008"/>
            <a:ext cx="1618488" cy="914400"/>
          </a:xfrm>
          <a:prstGeom prst="rect">
            <a:avLst/>
          </a:prstGeom>
          <a:noFill/>
          <a:ln/>
        </p:spPr>
        <p:txBody>
          <a:bodyPr wrap="square" lIns="0" tIns="0" rIns="0" bIns="0" rtlCol="0" anchor="t"/>
          <a:lstStyle/>
          <a:p>
            <a:pPr indent="0" marL="0">
              <a:buNone/>
            </a:pPr>
            <a:r>
              <a:rPr lang="en-US" sz="1400" dirty="0">
                <a:solidFill>
                  <a:schemeClr val="tx1"/>
                </a:solidFill>
              </a:rPr>
              <a:t>Owned by the application; maps its records to nodes and edges</a:t>
            </a:r>
            <a:endParaRPr lang="en-US" sz="1400" dirty="0"/>
          </a:p>
        </p:txBody>
      </p:sp>
      <p:sp>
        <p:nvSpPr>
          <p:cNvPr id="9" name="Shape 6"/>
          <p:cNvSpPr/>
          <p:nvPr/>
        </p:nvSpPr>
        <p:spPr>
          <a:xfrm>
            <a:off x="2478024" y="2514600"/>
            <a:ext cx="334442" cy="0"/>
          </a:xfrm>
          <a:prstGeom prst="line">
            <a:avLst/>
          </a:prstGeom>
          <a:noFill/>
          <a:ln w="25400">
            <a:solidFill>
              <a:schemeClr val="accent1"/>
            </a:solidFill>
            <a:prstDash val="solid"/>
            <a:tailEnd type="triangle"/>
          </a:ln>
        </p:spPr>
      </p:sp>
      <p:sp>
        <p:nvSpPr>
          <p:cNvPr id="10" name="pipeline Projection"/>
          <p:cNvSpPr/>
          <p:nvPr/>
        </p:nvSpPr>
        <p:spPr>
          <a:xfrm>
            <a:off x="2849042" y="1691640"/>
            <a:ext cx="1892808" cy="1645920"/>
          </a:xfrm>
          <a:prstGeom prst="roundRect">
            <a:avLst>
              <a:gd name="adj" fmla="val 5556"/>
            </a:avLst>
          </a:prstGeom>
          <a:solidFill>
            <a:schemeClr val="bg2"/>
          </a:solidFill>
          <a:ln/>
        </p:spPr>
      </p:sp>
      <p:sp>
        <p:nvSpPr>
          <p:cNvPr id="11" name="icon Projection"/>
          <p:cNvSpPr/>
          <p:nvPr/>
        </p:nvSpPr>
        <p:spPr>
          <a:xfrm>
            <a:off x="2986202" y="1828800"/>
            <a:ext cx="420624" cy="420624"/>
          </a:xfrm>
          <a:prstGeom prst="ellipse">
            <a:avLst/>
          </a:prstGeom>
          <a:solidFill>
            <a:schemeClr val="accent1"/>
          </a:solidFill>
          <a:ln/>
        </p:spPr>
      </p:sp>
      <p:pic>
        <p:nvPicPr>
          <p:cNvPr id="12" name="Image 1" descr="Projection">    </p:cNvPr>
          <p:cNvPicPr>
            <a:picLocks noChangeAspect="1"/>
          </p:cNvPicPr>
          <p:nvPr/>
        </p:nvPicPr>
        <p:blipFill>
          <a:blip r:embed="rId2"/>
          <a:stretch>
            <a:fillRect/>
          </a:stretch>
        </p:blipFill>
        <p:spPr>
          <a:xfrm>
            <a:off x="3078739" y="1921337"/>
            <a:ext cx="235549" cy="235549"/>
          </a:xfrm>
          <a:prstGeom prst="rect">
            <a:avLst/>
          </a:prstGeom>
        </p:spPr>
      </p:pic>
      <p:sp>
        <p:nvSpPr>
          <p:cNvPr id="13" name="Text 9"/>
          <p:cNvSpPr txBox="1"/>
          <p:nvPr/>
        </p:nvSpPr>
        <p:spPr>
          <a:xfrm>
            <a:off x="3489122" y="1828800"/>
            <a:ext cx="1161288" cy="420624"/>
          </a:xfrm>
          <a:prstGeom prst="rect">
            <a:avLst/>
          </a:prstGeom>
          <a:noFill/>
          <a:ln/>
        </p:spPr>
        <p:txBody>
          <a:bodyPr wrap="square" lIns="0" tIns="0" rIns="0" bIns="0" rtlCol="0" anchor="ctr"/>
          <a:lstStyle/>
          <a:p>
            <a:pPr indent="0" marL="0">
              <a:buNone/>
            </a:pPr>
            <a:r>
              <a:rPr lang="en-US" sz="1600" b="1" dirty="0">
                <a:solidFill>
                  <a:schemeClr val="tx1"/>
                </a:solidFill>
              </a:rPr>
              <a:t>Projection</a:t>
            </a:r>
            <a:endParaRPr lang="en-US" sz="1600" dirty="0"/>
          </a:p>
        </p:txBody>
      </p:sp>
      <p:sp>
        <p:nvSpPr>
          <p:cNvPr id="14" name="Text 10"/>
          <p:cNvSpPr txBox="1"/>
          <p:nvPr/>
        </p:nvSpPr>
        <p:spPr>
          <a:xfrm>
            <a:off x="2986202" y="2350008"/>
            <a:ext cx="1618488" cy="914400"/>
          </a:xfrm>
          <a:prstGeom prst="rect">
            <a:avLst/>
          </a:prstGeom>
          <a:noFill/>
          <a:ln/>
        </p:spPr>
        <p:txBody>
          <a:bodyPr wrap="square" lIns="0" tIns="0" rIns="0" bIns="0" rtlCol="0" anchor="t"/>
          <a:lstStyle/>
          <a:p>
            <a:pPr indent="0" marL="0">
              <a:buNone/>
            </a:pPr>
            <a:r>
              <a:rPr lang="en-US" sz="1400" dirty="0">
                <a:solidFill>
                  <a:schemeClr val="tx1"/>
                </a:solidFill>
              </a:rPr>
              <a:t>Immutable view, original IDs, hierarchies; identity digest</a:t>
            </a:r>
            <a:endParaRPr lang="en-US" sz="1400" dirty="0"/>
          </a:p>
        </p:txBody>
      </p:sp>
      <p:sp>
        <p:nvSpPr>
          <p:cNvPr id="15" name="Shape 11"/>
          <p:cNvSpPr/>
          <p:nvPr/>
        </p:nvSpPr>
        <p:spPr>
          <a:xfrm>
            <a:off x="4778426" y="2514600"/>
            <a:ext cx="334442" cy="0"/>
          </a:xfrm>
          <a:prstGeom prst="line">
            <a:avLst/>
          </a:prstGeom>
          <a:noFill/>
          <a:ln w="25400">
            <a:solidFill>
              <a:schemeClr val="accent1"/>
            </a:solidFill>
            <a:prstDash val="solid"/>
            <a:tailEnd type="triangle"/>
          </a:ln>
        </p:spPr>
      </p:sp>
      <p:sp>
        <p:nvSpPr>
          <p:cNvPr id="16" name="pipeline Request"/>
          <p:cNvSpPr/>
          <p:nvPr/>
        </p:nvSpPr>
        <p:spPr>
          <a:xfrm>
            <a:off x="5149444" y="1691640"/>
            <a:ext cx="1892808" cy="1645920"/>
          </a:xfrm>
          <a:prstGeom prst="roundRect">
            <a:avLst>
              <a:gd name="adj" fmla="val 5556"/>
            </a:avLst>
          </a:prstGeom>
          <a:solidFill>
            <a:schemeClr val="bg2"/>
          </a:solidFill>
          <a:ln/>
        </p:spPr>
      </p:sp>
      <p:sp>
        <p:nvSpPr>
          <p:cNvPr id="17" name="icon Request"/>
          <p:cNvSpPr/>
          <p:nvPr/>
        </p:nvSpPr>
        <p:spPr>
          <a:xfrm>
            <a:off x="5286604" y="1828800"/>
            <a:ext cx="420624" cy="420624"/>
          </a:xfrm>
          <a:prstGeom prst="ellipse">
            <a:avLst/>
          </a:prstGeom>
          <a:solidFill>
            <a:schemeClr val="accent1"/>
          </a:solidFill>
          <a:ln/>
        </p:spPr>
      </p:sp>
      <p:pic>
        <p:nvPicPr>
          <p:cNvPr id="18" name="Image 2" descr="Request">    </p:cNvPr>
          <p:cNvPicPr>
            <a:picLocks noChangeAspect="1"/>
          </p:cNvPicPr>
          <p:nvPr/>
        </p:nvPicPr>
        <p:blipFill>
          <a:blip r:embed="rId3"/>
          <a:stretch>
            <a:fillRect/>
          </a:stretch>
        </p:blipFill>
        <p:spPr>
          <a:xfrm>
            <a:off x="5379141" y="1921337"/>
            <a:ext cx="235549" cy="235549"/>
          </a:xfrm>
          <a:prstGeom prst="rect">
            <a:avLst/>
          </a:prstGeom>
        </p:spPr>
      </p:pic>
      <p:sp>
        <p:nvSpPr>
          <p:cNvPr id="19" name="Text 14"/>
          <p:cNvSpPr txBox="1"/>
          <p:nvPr/>
        </p:nvSpPr>
        <p:spPr>
          <a:xfrm>
            <a:off x="5789524" y="1828800"/>
            <a:ext cx="1161288" cy="420624"/>
          </a:xfrm>
          <a:prstGeom prst="rect">
            <a:avLst/>
          </a:prstGeom>
          <a:noFill/>
          <a:ln/>
        </p:spPr>
        <p:txBody>
          <a:bodyPr wrap="square" lIns="0" tIns="0" rIns="0" bIns="0" rtlCol="0" anchor="ctr"/>
          <a:lstStyle/>
          <a:p>
            <a:pPr indent="0" marL="0">
              <a:buNone/>
            </a:pPr>
            <a:r>
              <a:rPr lang="en-US" sz="1600" b="1" dirty="0">
                <a:solidFill>
                  <a:schemeClr val="tx1"/>
                </a:solidFill>
              </a:rPr>
              <a:t>Request</a:t>
            </a:r>
            <a:endParaRPr lang="en-US" sz="1600" dirty="0"/>
          </a:p>
        </p:txBody>
      </p:sp>
      <p:sp>
        <p:nvSpPr>
          <p:cNvPr id="20" name="Text 15"/>
          <p:cNvSpPr txBox="1"/>
          <p:nvPr/>
        </p:nvSpPr>
        <p:spPr>
          <a:xfrm>
            <a:off x="5286604" y="2350008"/>
            <a:ext cx="1618488" cy="914400"/>
          </a:xfrm>
          <a:prstGeom prst="rect">
            <a:avLst/>
          </a:prstGeom>
          <a:noFill/>
          <a:ln/>
        </p:spPr>
        <p:txBody>
          <a:bodyPr wrap="square" lIns="0" tIns="0" rIns="0" bIns="0" rtlCol="0" anchor="t"/>
          <a:lstStyle/>
          <a:p>
            <a:pPr indent="0" marL="0">
              <a:buNone/>
            </a:pPr>
            <a:r>
              <a:rPr lang="en-US" sz="1400" dirty="0">
                <a:solidFill>
                  <a:schemeClr val="tx1"/>
                </a:solidFill>
              </a:rPr>
              <a:t>Normalized: explicit scope, defaults and limits; request_id</a:t>
            </a:r>
            <a:endParaRPr lang="en-US" sz="1400" dirty="0"/>
          </a:p>
        </p:txBody>
      </p:sp>
      <p:sp>
        <p:nvSpPr>
          <p:cNvPr id="21" name="Shape 16"/>
          <p:cNvSpPr/>
          <p:nvPr/>
        </p:nvSpPr>
        <p:spPr>
          <a:xfrm>
            <a:off x="7078828" y="2514600"/>
            <a:ext cx="334442" cy="0"/>
          </a:xfrm>
          <a:prstGeom prst="line">
            <a:avLst/>
          </a:prstGeom>
          <a:noFill/>
          <a:ln w="25400">
            <a:solidFill>
              <a:schemeClr val="accent1"/>
            </a:solidFill>
            <a:prstDash val="solid"/>
            <a:tailEnd type="triangle"/>
          </a:ln>
        </p:spPr>
      </p:sp>
      <p:sp>
        <p:nvSpPr>
          <p:cNvPr id="22" name="pipeline Engine"/>
          <p:cNvSpPr/>
          <p:nvPr/>
        </p:nvSpPr>
        <p:spPr>
          <a:xfrm>
            <a:off x="7449845" y="1691640"/>
            <a:ext cx="1892808" cy="1645920"/>
          </a:xfrm>
          <a:prstGeom prst="roundRect">
            <a:avLst>
              <a:gd name="adj" fmla="val 5556"/>
            </a:avLst>
          </a:prstGeom>
          <a:solidFill>
            <a:schemeClr val="bg2"/>
          </a:solidFill>
          <a:ln/>
        </p:spPr>
      </p:sp>
      <p:sp>
        <p:nvSpPr>
          <p:cNvPr id="23" name="icon Engine"/>
          <p:cNvSpPr/>
          <p:nvPr/>
        </p:nvSpPr>
        <p:spPr>
          <a:xfrm>
            <a:off x="7587005" y="1828800"/>
            <a:ext cx="420624" cy="420624"/>
          </a:xfrm>
          <a:prstGeom prst="ellipse">
            <a:avLst/>
          </a:prstGeom>
          <a:solidFill>
            <a:schemeClr val="accent1"/>
          </a:solidFill>
          <a:ln/>
        </p:spPr>
      </p:sp>
      <p:pic>
        <p:nvPicPr>
          <p:cNvPr id="24" name="Image 3" descr="Engine">    </p:cNvPr>
          <p:cNvPicPr>
            <a:picLocks noChangeAspect="1"/>
          </p:cNvPicPr>
          <p:nvPr/>
        </p:nvPicPr>
        <p:blipFill>
          <a:blip r:embed="rId4"/>
          <a:stretch>
            <a:fillRect/>
          </a:stretch>
        </p:blipFill>
        <p:spPr>
          <a:xfrm>
            <a:off x="7679543" y="1921337"/>
            <a:ext cx="235549" cy="235549"/>
          </a:xfrm>
          <a:prstGeom prst="rect">
            <a:avLst/>
          </a:prstGeom>
        </p:spPr>
      </p:pic>
      <p:sp>
        <p:nvSpPr>
          <p:cNvPr id="25" name="Text 19"/>
          <p:cNvSpPr txBox="1"/>
          <p:nvPr/>
        </p:nvSpPr>
        <p:spPr>
          <a:xfrm>
            <a:off x="8089925" y="1828800"/>
            <a:ext cx="1161288" cy="420624"/>
          </a:xfrm>
          <a:prstGeom prst="rect">
            <a:avLst/>
          </a:prstGeom>
          <a:noFill/>
          <a:ln/>
        </p:spPr>
        <p:txBody>
          <a:bodyPr wrap="square" lIns="0" tIns="0" rIns="0" bIns="0" rtlCol="0" anchor="ctr"/>
          <a:lstStyle/>
          <a:p>
            <a:pPr indent="0" marL="0">
              <a:buNone/>
            </a:pPr>
            <a:r>
              <a:rPr lang="en-US" sz="1600" b="1" dirty="0">
                <a:solidFill>
                  <a:schemeClr val="tx1"/>
                </a:solidFill>
              </a:rPr>
              <a:t>Engine</a:t>
            </a:r>
            <a:endParaRPr lang="en-US" sz="1600" dirty="0"/>
          </a:p>
        </p:txBody>
      </p:sp>
      <p:sp>
        <p:nvSpPr>
          <p:cNvPr id="26" name="Text 20"/>
          <p:cNvSpPr txBox="1"/>
          <p:nvPr/>
        </p:nvSpPr>
        <p:spPr>
          <a:xfrm>
            <a:off x="7587005" y="2350008"/>
            <a:ext cx="1618488" cy="914400"/>
          </a:xfrm>
          <a:prstGeom prst="rect">
            <a:avLst/>
          </a:prstGeom>
          <a:noFill/>
          <a:ln/>
        </p:spPr>
        <p:txBody>
          <a:bodyPr wrap="square" lIns="0" tIns="0" rIns="0" bIns="0" rtlCol="0" anchor="t"/>
          <a:lstStyle/>
          <a:p>
            <a:pPr indent="0" marL="0">
              <a:buNone/>
            </a:pPr>
            <a:r>
              <a:rPr lang="en-US" sz="1400" dirty="0">
                <a:solidFill>
                  <a:schemeClr val="tx1"/>
                </a:solidFill>
              </a:rPr>
              <a:t>23 exact operations under budget, deadline, cancellation</a:t>
            </a:r>
            <a:endParaRPr lang="en-US" sz="1400" dirty="0"/>
          </a:p>
        </p:txBody>
      </p:sp>
      <p:sp>
        <p:nvSpPr>
          <p:cNvPr id="27" name="Shape 21"/>
          <p:cNvSpPr/>
          <p:nvPr/>
        </p:nvSpPr>
        <p:spPr>
          <a:xfrm>
            <a:off x="9379229" y="2514600"/>
            <a:ext cx="334442" cy="0"/>
          </a:xfrm>
          <a:prstGeom prst="line">
            <a:avLst/>
          </a:prstGeom>
          <a:noFill/>
          <a:ln w="25400">
            <a:solidFill>
              <a:schemeClr val="accent1"/>
            </a:solidFill>
            <a:prstDash val="solid"/>
            <a:tailEnd type="triangle"/>
          </a:ln>
        </p:spPr>
      </p:sp>
      <p:sp>
        <p:nvSpPr>
          <p:cNvPr id="28" name="pipeline Result"/>
          <p:cNvSpPr/>
          <p:nvPr/>
        </p:nvSpPr>
        <p:spPr>
          <a:xfrm>
            <a:off x="9750247" y="1691640"/>
            <a:ext cx="1892808" cy="1645920"/>
          </a:xfrm>
          <a:prstGeom prst="roundRect">
            <a:avLst>
              <a:gd name="adj" fmla="val 5556"/>
            </a:avLst>
          </a:prstGeom>
          <a:solidFill>
            <a:schemeClr val="bg2"/>
          </a:solidFill>
          <a:ln/>
        </p:spPr>
      </p:sp>
      <p:sp>
        <p:nvSpPr>
          <p:cNvPr id="29" name="icon Result"/>
          <p:cNvSpPr/>
          <p:nvPr/>
        </p:nvSpPr>
        <p:spPr>
          <a:xfrm>
            <a:off x="9887407" y="1828800"/>
            <a:ext cx="420624" cy="420624"/>
          </a:xfrm>
          <a:prstGeom prst="ellipse">
            <a:avLst/>
          </a:prstGeom>
          <a:solidFill>
            <a:schemeClr val="accent1"/>
          </a:solidFill>
          <a:ln/>
        </p:spPr>
      </p:sp>
      <p:pic>
        <p:nvPicPr>
          <p:cNvPr id="30" name="Image 4" descr="Result">    </p:cNvPr>
          <p:cNvPicPr>
            <a:picLocks noChangeAspect="1"/>
          </p:cNvPicPr>
          <p:nvPr/>
        </p:nvPicPr>
        <p:blipFill>
          <a:blip r:embed="rId5"/>
          <a:stretch>
            <a:fillRect/>
          </a:stretch>
        </p:blipFill>
        <p:spPr>
          <a:xfrm>
            <a:off x="9979944" y="1921337"/>
            <a:ext cx="235549" cy="235549"/>
          </a:xfrm>
          <a:prstGeom prst="rect">
            <a:avLst/>
          </a:prstGeom>
        </p:spPr>
      </p:pic>
      <p:sp>
        <p:nvSpPr>
          <p:cNvPr id="31" name="Text 24"/>
          <p:cNvSpPr txBox="1"/>
          <p:nvPr/>
        </p:nvSpPr>
        <p:spPr>
          <a:xfrm>
            <a:off x="10390327" y="1828800"/>
            <a:ext cx="1161288" cy="420624"/>
          </a:xfrm>
          <a:prstGeom prst="rect">
            <a:avLst/>
          </a:prstGeom>
          <a:noFill/>
          <a:ln/>
        </p:spPr>
        <p:txBody>
          <a:bodyPr wrap="square" lIns="0" tIns="0" rIns="0" bIns="0" rtlCol="0" anchor="ctr"/>
          <a:lstStyle/>
          <a:p>
            <a:pPr indent="0" marL="0">
              <a:buNone/>
            </a:pPr>
            <a:r>
              <a:rPr lang="en-US" sz="1600" b="1" dirty="0">
                <a:solidFill>
                  <a:schemeClr val="tx1"/>
                </a:solidFill>
              </a:rPr>
              <a:t>Result</a:t>
            </a:r>
            <a:endParaRPr lang="en-US" sz="1600" dirty="0"/>
          </a:p>
        </p:txBody>
      </p:sp>
      <p:sp>
        <p:nvSpPr>
          <p:cNvPr id="32" name="Text 25"/>
          <p:cNvSpPr txBox="1"/>
          <p:nvPr/>
        </p:nvSpPr>
        <p:spPr>
          <a:xfrm>
            <a:off x="9887407" y="2350008"/>
            <a:ext cx="1618488" cy="914400"/>
          </a:xfrm>
          <a:prstGeom prst="rect">
            <a:avLst/>
          </a:prstGeom>
          <a:noFill/>
          <a:ln/>
        </p:spPr>
        <p:txBody>
          <a:bodyPr wrap="square" lIns="0" tIns="0" rIns="0" bIns="0" rtlCol="0" anchor="t"/>
          <a:lstStyle/>
          <a:p>
            <a:pPr indent="0" marL="0">
              <a:buNone/>
            </a:pPr>
            <a:r>
              <a:rPr lang="en-US" sz="1400" dirty="0">
                <a:solidFill>
                  <a:schemeClr val="tx1"/>
                </a:solidFill>
              </a:rPr>
              <a:t>Status, answer with witnesses, reproducible result_id</a:t>
            </a:r>
            <a:endParaRPr lang="en-US" sz="1400" dirty="0"/>
          </a:p>
        </p:txBody>
      </p:sp>
      <p:sp>
        <p:nvSpPr>
          <p:cNvPr id="33" name="Shape 26"/>
          <p:cNvSpPr/>
          <p:nvPr/>
        </p:nvSpPr>
        <p:spPr>
          <a:xfrm>
            <a:off x="10696651" y="3355848"/>
            <a:ext cx="0" cy="164592"/>
          </a:xfrm>
          <a:prstGeom prst="line">
            <a:avLst/>
          </a:prstGeom>
          <a:noFill/>
          <a:ln w="25400">
            <a:solidFill>
              <a:schemeClr val="accent1"/>
            </a:solidFill>
            <a:prstDash val="solid"/>
          </a:ln>
        </p:spPr>
      </p:sp>
      <p:sp>
        <p:nvSpPr>
          <p:cNvPr id="34" name="Shape 27"/>
          <p:cNvSpPr/>
          <p:nvPr/>
        </p:nvSpPr>
        <p:spPr>
          <a:xfrm>
            <a:off x="7516940" y="3520440"/>
            <a:ext cx="3179712" cy="0"/>
          </a:xfrm>
          <a:prstGeom prst="line">
            <a:avLst/>
          </a:prstGeom>
          <a:noFill/>
          <a:ln w="25400">
            <a:solidFill>
              <a:schemeClr val="accent1"/>
            </a:solidFill>
            <a:prstDash val="solid"/>
          </a:ln>
        </p:spPr>
      </p:sp>
      <p:sp>
        <p:nvSpPr>
          <p:cNvPr id="35" name="Shape 28"/>
          <p:cNvSpPr/>
          <p:nvPr/>
        </p:nvSpPr>
        <p:spPr>
          <a:xfrm>
            <a:off x="7516940" y="3520440"/>
            <a:ext cx="0" cy="201168"/>
          </a:xfrm>
          <a:prstGeom prst="line">
            <a:avLst/>
          </a:prstGeom>
          <a:noFill/>
          <a:ln w="25400">
            <a:solidFill>
              <a:schemeClr val="accent1"/>
            </a:solidFill>
            <a:prstDash val="solid"/>
            <a:tailEnd type="triangle"/>
          </a:ln>
        </p:spPr>
      </p:sp>
      <p:sp>
        <p:nvSpPr>
          <p:cNvPr id="36" name="Shape 29"/>
          <p:cNvSpPr/>
          <p:nvPr/>
        </p:nvSpPr>
        <p:spPr>
          <a:xfrm>
            <a:off x="10359123" y="3520440"/>
            <a:ext cx="0" cy="201168"/>
          </a:xfrm>
          <a:prstGeom prst="line">
            <a:avLst/>
          </a:prstGeom>
          <a:noFill/>
          <a:ln w="25400">
            <a:solidFill>
              <a:schemeClr val="accent1"/>
            </a:solidFill>
            <a:prstDash val="solid"/>
            <a:tailEnd type="triangle"/>
          </a:ln>
        </p:spPr>
      </p:sp>
      <p:sp>
        <p:nvSpPr>
          <p:cNvPr id="37" name="component Hypotheses"/>
          <p:cNvSpPr/>
          <p:nvPr/>
        </p:nvSpPr>
        <p:spPr>
          <a:xfrm>
            <a:off x="548640" y="3749040"/>
            <a:ext cx="2567864" cy="1325880"/>
          </a:xfrm>
          <a:prstGeom prst="roundRect">
            <a:avLst>
              <a:gd name="adj" fmla="val 6897"/>
            </a:avLst>
          </a:prstGeom>
          <a:solidFill>
            <a:schemeClr val="bg2"/>
          </a:solidFill>
          <a:ln/>
        </p:spPr>
      </p:sp>
      <p:sp>
        <p:nvSpPr>
          <p:cNvPr id="38" name="icon Hypotheses"/>
          <p:cNvSpPr/>
          <p:nvPr/>
        </p:nvSpPr>
        <p:spPr>
          <a:xfrm>
            <a:off x="685800" y="3886200"/>
            <a:ext cx="384048" cy="384048"/>
          </a:xfrm>
          <a:prstGeom prst="ellipse">
            <a:avLst/>
          </a:prstGeom>
          <a:solidFill>
            <a:schemeClr val="accent3"/>
          </a:solidFill>
          <a:ln/>
        </p:spPr>
      </p:sp>
      <p:pic>
        <p:nvPicPr>
          <p:cNvPr id="39" name="Image 5" descr="Hypotheses">    </p:cNvPr>
          <p:cNvPicPr>
            <a:picLocks noChangeAspect="1"/>
          </p:cNvPicPr>
          <p:nvPr/>
        </p:nvPicPr>
        <p:blipFill>
          <a:blip r:embed="rId6"/>
          <a:stretch>
            <a:fillRect/>
          </a:stretch>
        </p:blipFill>
        <p:spPr>
          <a:xfrm>
            <a:off x="770291" y="3970691"/>
            <a:ext cx="215067" cy="215067"/>
          </a:xfrm>
          <a:prstGeom prst="rect">
            <a:avLst/>
          </a:prstGeom>
        </p:spPr>
      </p:pic>
      <p:sp>
        <p:nvSpPr>
          <p:cNvPr id="40" name="Text 32"/>
          <p:cNvSpPr txBox="1"/>
          <p:nvPr/>
        </p:nvSpPr>
        <p:spPr>
          <a:xfrm>
            <a:off x="1161288" y="3886200"/>
            <a:ext cx="1836344" cy="384048"/>
          </a:xfrm>
          <a:prstGeom prst="rect">
            <a:avLst/>
          </a:prstGeom>
          <a:noFill/>
          <a:ln/>
        </p:spPr>
        <p:txBody>
          <a:bodyPr wrap="square" lIns="0" tIns="0" rIns="0" bIns="0" rtlCol="0" anchor="ctr"/>
          <a:lstStyle/>
          <a:p>
            <a:pPr indent="0" marL="0">
              <a:buNone/>
            </a:pPr>
            <a:r>
              <a:rPr lang="en-US" sz="1600" b="1" dirty="0">
                <a:solidFill>
                  <a:schemeClr val="tx1"/>
                </a:solidFill>
              </a:rPr>
              <a:t>Hypotheses</a:t>
            </a:r>
            <a:endParaRPr lang="en-US" sz="1600" dirty="0"/>
          </a:p>
        </p:txBody>
      </p:sp>
      <p:sp>
        <p:nvSpPr>
          <p:cNvPr id="41" name="Text 33"/>
          <p:cNvSpPr txBox="1"/>
          <p:nvPr/>
        </p:nvSpPr>
        <p:spPr>
          <a:xfrm>
            <a:off x="685800" y="4343400"/>
            <a:ext cx="2293544" cy="685800"/>
          </a:xfrm>
          <a:prstGeom prst="rect">
            <a:avLst/>
          </a:prstGeom>
          <a:noFill/>
          <a:ln/>
        </p:spPr>
        <p:txBody>
          <a:bodyPr wrap="square" lIns="0" tIns="0" rIns="0" bIns="0" rtlCol="0" anchor="t"/>
          <a:lstStyle/>
          <a:p>
            <a:pPr indent="0" marL="0">
              <a:buNone/>
            </a:pPr>
            <a:r>
              <a:rPr lang="en-US" sz="1400" dirty="0">
                <a:solidFill>
                  <a:schemeClr val="tx1"/>
                </a:solidFill>
              </a:rPr>
              <a:t>Candidate records: always unverified, never traversed</a:t>
            </a:r>
            <a:endParaRPr lang="en-US" sz="1400" dirty="0"/>
          </a:p>
        </p:txBody>
      </p:sp>
      <p:sp>
        <p:nvSpPr>
          <p:cNvPr id="42" name="component Retrieval (optional)"/>
          <p:cNvSpPr/>
          <p:nvPr/>
        </p:nvSpPr>
        <p:spPr>
          <a:xfrm>
            <a:off x="3390824" y="3749040"/>
            <a:ext cx="2567864" cy="1325880"/>
          </a:xfrm>
          <a:prstGeom prst="roundRect">
            <a:avLst>
              <a:gd name="adj" fmla="val 6897"/>
            </a:avLst>
          </a:prstGeom>
          <a:solidFill>
            <a:schemeClr val="bg2"/>
          </a:solidFill>
          <a:ln/>
        </p:spPr>
      </p:sp>
      <p:sp>
        <p:nvSpPr>
          <p:cNvPr id="43" name="icon Retrieval (optional)"/>
          <p:cNvSpPr/>
          <p:nvPr/>
        </p:nvSpPr>
        <p:spPr>
          <a:xfrm>
            <a:off x="3527984" y="3886200"/>
            <a:ext cx="384048" cy="384048"/>
          </a:xfrm>
          <a:prstGeom prst="ellipse">
            <a:avLst/>
          </a:prstGeom>
          <a:solidFill>
            <a:schemeClr val="accent3"/>
          </a:solidFill>
          <a:ln/>
        </p:spPr>
      </p:sp>
      <p:pic>
        <p:nvPicPr>
          <p:cNvPr id="44" name="Image 6" descr="Retrieval (optional)">    </p:cNvPr>
          <p:cNvPicPr>
            <a:picLocks noChangeAspect="1"/>
          </p:cNvPicPr>
          <p:nvPr/>
        </p:nvPicPr>
        <p:blipFill>
          <a:blip r:embed="rId7"/>
          <a:stretch>
            <a:fillRect/>
          </a:stretch>
        </p:blipFill>
        <p:spPr>
          <a:xfrm>
            <a:off x="3612474" y="3970691"/>
            <a:ext cx="215067" cy="215067"/>
          </a:xfrm>
          <a:prstGeom prst="rect">
            <a:avLst/>
          </a:prstGeom>
        </p:spPr>
      </p:pic>
      <p:sp>
        <p:nvSpPr>
          <p:cNvPr id="45" name="Text 36"/>
          <p:cNvSpPr txBox="1"/>
          <p:nvPr/>
        </p:nvSpPr>
        <p:spPr>
          <a:xfrm>
            <a:off x="4003472" y="3886200"/>
            <a:ext cx="1836344" cy="384048"/>
          </a:xfrm>
          <a:prstGeom prst="rect">
            <a:avLst/>
          </a:prstGeom>
          <a:noFill/>
          <a:ln/>
        </p:spPr>
        <p:txBody>
          <a:bodyPr wrap="square" lIns="0" tIns="0" rIns="0" bIns="0" rtlCol="0" anchor="ctr"/>
          <a:lstStyle/>
          <a:p>
            <a:pPr indent="0" marL="0">
              <a:buNone/>
            </a:pPr>
            <a:r>
              <a:rPr lang="en-US" sz="1600" b="1" dirty="0">
                <a:solidFill>
                  <a:schemeClr val="tx1"/>
                </a:solidFill>
              </a:rPr>
              <a:t>Retrieval (optional)</a:t>
            </a:r>
            <a:endParaRPr lang="en-US" sz="1600" dirty="0"/>
          </a:p>
        </p:txBody>
      </p:sp>
      <p:sp>
        <p:nvSpPr>
          <p:cNvPr id="46" name="Text 37"/>
          <p:cNvSpPr txBox="1"/>
          <p:nvPr/>
        </p:nvSpPr>
        <p:spPr>
          <a:xfrm>
            <a:off x="3527984" y="4343400"/>
            <a:ext cx="2293544" cy="685800"/>
          </a:xfrm>
          <a:prstGeom prst="rect">
            <a:avLst/>
          </a:prstGeom>
          <a:noFill/>
          <a:ln/>
        </p:spPr>
        <p:txBody>
          <a:bodyPr wrap="square" lIns="0" tIns="0" rIns="0" bIns="0" rtlCol="0" anchor="t"/>
          <a:lstStyle/>
          <a:p>
            <a:pPr indent="0" marL="0">
              <a:buNone/>
            </a:pPr>
            <a:r>
              <a:rPr lang="en-US" sz="1400" dirty="0">
                <a:solidFill>
                  <a:schemeClr val="tx1"/>
                </a:solidFill>
              </a:rPr>
              <a:t>Exact text search; its hits name where a traversal starts</a:t>
            </a:r>
            <a:endParaRPr lang="en-US" sz="1400" dirty="0"/>
          </a:p>
        </p:txBody>
      </p:sp>
      <p:sp>
        <p:nvSpPr>
          <p:cNvPr id="47" name="component verify_result"/>
          <p:cNvSpPr/>
          <p:nvPr/>
        </p:nvSpPr>
        <p:spPr>
          <a:xfrm>
            <a:off x="6233008" y="3749040"/>
            <a:ext cx="2567864" cy="1325880"/>
          </a:xfrm>
          <a:prstGeom prst="roundRect">
            <a:avLst>
              <a:gd name="adj" fmla="val 6897"/>
            </a:avLst>
          </a:prstGeom>
          <a:solidFill>
            <a:schemeClr val="bg2"/>
          </a:solidFill>
          <a:ln/>
        </p:spPr>
      </p:sp>
      <p:sp>
        <p:nvSpPr>
          <p:cNvPr id="48" name="icon verify_result"/>
          <p:cNvSpPr/>
          <p:nvPr/>
        </p:nvSpPr>
        <p:spPr>
          <a:xfrm>
            <a:off x="6370168" y="3886200"/>
            <a:ext cx="384048" cy="384048"/>
          </a:xfrm>
          <a:prstGeom prst="ellipse">
            <a:avLst/>
          </a:prstGeom>
          <a:solidFill>
            <a:schemeClr val="accent1"/>
          </a:solidFill>
          <a:ln/>
        </p:spPr>
      </p:sp>
      <p:pic>
        <p:nvPicPr>
          <p:cNvPr id="49" name="Image 7" descr="verify_result">    </p:cNvPr>
          <p:cNvPicPr>
            <a:picLocks noChangeAspect="1"/>
          </p:cNvPicPr>
          <p:nvPr/>
        </p:nvPicPr>
        <p:blipFill>
          <a:blip r:embed="rId8"/>
          <a:stretch>
            <a:fillRect/>
          </a:stretch>
        </p:blipFill>
        <p:spPr>
          <a:xfrm>
            <a:off x="6454658" y="3970691"/>
            <a:ext cx="215067" cy="215067"/>
          </a:xfrm>
          <a:prstGeom prst="rect">
            <a:avLst/>
          </a:prstGeom>
        </p:spPr>
      </p:pic>
      <p:sp>
        <p:nvSpPr>
          <p:cNvPr id="50" name="Text 40"/>
          <p:cNvSpPr txBox="1"/>
          <p:nvPr/>
        </p:nvSpPr>
        <p:spPr>
          <a:xfrm>
            <a:off x="6845656" y="3886200"/>
            <a:ext cx="1836344" cy="384048"/>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verify_result</a:t>
            </a:r>
            <a:endParaRPr lang="en-US" sz="1600" dirty="0"/>
          </a:p>
        </p:txBody>
      </p:sp>
      <p:sp>
        <p:nvSpPr>
          <p:cNvPr id="51" name="Text 41"/>
          <p:cNvSpPr txBox="1"/>
          <p:nvPr/>
        </p:nvSpPr>
        <p:spPr>
          <a:xfrm>
            <a:off x="6370168" y="4343400"/>
            <a:ext cx="2293544" cy="685800"/>
          </a:xfrm>
          <a:prstGeom prst="rect">
            <a:avLst/>
          </a:prstGeom>
          <a:noFill/>
          <a:ln/>
        </p:spPr>
        <p:txBody>
          <a:bodyPr wrap="square" lIns="0" tIns="0" rIns="0" bIns="0" rtlCol="0" anchor="t"/>
          <a:lstStyle/>
          <a:p>
            <a:pPr indent="0" marL="0">
              <a:buNone/>
            </a:pPr>
            <a:r>
              <a:rPr lang="en-US" sz="1400" dirty="0">
                <a:solidFill>
                  <a:schemeClr val="tx1"/>
                </a:solidFill>
              </a:rPr>
              <a:t>Re-checks witnesses, closures and certificates against the records</a:t>
            </a:r>
            <a:endParaRPr lang="en-US" sz="1400" dirty="0"/>
          </a:p>
        </p:txBody>
      </p:sp>
      <p:sp>
        <p:nvSpPr>
          <p:cNvPr id="52" name="component revalidate"/>
          <p:cNvSpPr/>
          <p:nvPr/>
        </p:nvSpPr>
        <p:spPr>
          <a:xfrm>
            <a:off x="9075191" y="3749040"/>
            <a:ext cx="2567864" cy="1325880"/>
          </a:xfrm>
          <a:prstGeom prst="roundRect">
            <a:avLst>
              <a:gd name="adj" fmla="val 6897"/>
            </a:avLst>
          </a:prstGeom>
          <a:solidFill>
            <a:schemeClr val="bg2"/>
          </a:solidFill>
          <a:ln/>
        </p:spPr>
      </p:sp>
      <p:sp>
        <p:nvSpPr>
          <p:cNvPr id="53" name="icon revalidate"/>
          <p:cNvSpPr/>
          <p:nvPr/>
        </p:nvSpPr>
        <p:spPr>
          <a:xfrm>
            <a:off x="9212351" y="3886200"/>
            <a:ext cx="384048" cy="384048"/>
          </a:xfrm>
          <a:prstGeom prst="ellipse">
            <a:avLst/>
          </a:prstGeom>
          <a:solidFill>
            <a:schemeClr val="accent1"/>
          </a:solidFill>
          <a:ln/>
        </p:spPr>
      </p:sp>
      <p:pic>
        <p:nvPicPr>
          <p:cNvPr id="54" name="Image 8" descr="revalidate">    </p:cNvPr>
          <p:cNvPicPr>
            <a:picLocks noChangeAspect="1"/>
          </p:cNvPicPr>
          <p:nvPr/>
        </p:nvPicPr>
        <p:blipFill>
          <a:blip r:embed="rId9"/>
          <a:stretch>
            <a:fillRect/>
          </a:stretch>
        </p:blipFill>
        <p:spPr>
          <a:xfrm>
            <a:off x="9296842" y="3970691"/>
            <a:ext cx="215067" cy="215067"/>
          </a:xfrm>
          <a:prstGeom prst="rect">
            <a:avLst/>
          </a:prstGeom>
        </p:spPr>
      </p:pic>
      <p:sp>
        <p:nvSpPr>
          <p:cNvPr id="55" name="Text 44"/>
          <p:cNvSpPr txBox="1"/>
          <p:nvPr/>
        </p:nvSpPr>
        <p:spPr>
          <a:xfrm>
            <a:off x="9687839" y="3886200"/>
            <a:ext cx="1836344" cy="384048"/>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revalidate</a:t>
            </a:r>
            <a:endParaRPr lang="en-US" sz="1600" dirty="0"/>
          </a:p>
        </p:txBody>
      </p:sp>
      <p:sp>
        <p:nvSpPr>
          <p:cNvPr id="56" name="Text 45"/>
          <p:cNvSpPr txBox="1"/>
          <p:nvPr/>
        </p:nvSpPr>
        <p:spPr>
          <a:xfrm>
            <a:off x="9212351" y="4343400"/>
            <a:ext cx="2293544" cy="685800"/>
          </a:xfrm>
          <a:prstGeom prst="rect">
            <a:avLst/>
          </a:prstGeom>
          <a:noFill/>
          <a:ln/>
        </p:spPr>
        <p:txBody>
          <a:bodyPr wrap="square" lIns="0" tIns="0" rIns="0" bIns="0" rtlCol="0" anchor="t"/>
          <a:lstStyle/>
          <a:p>
            <a:pPr indent="0" marL="0">
              <a:buNone/>
            </a:pPr>
            <a:r>
              <a:rPr lang="en-US" sz="1400" dirty="0">
                <a:solidFill>
                  <a:schemeClr val="tx1"/>
                </a:solidFill>
              </a:rPr>
              <a:t>Does a cached result still hold after an edit? holds, fails, unknown</a:t>
            </a:r>
            <a:endParaRPr lang="en-US" sz="1400" dirty="0"/>
          </a:p>
        </p:txBody>
      </p:sp>
      <p:sp>
        <p:nvSpPr>
          <p:cNvPr id="57" name="agents"/>
          <p:cNvSpPr/>
          <p:nvPr/>
        </p:nvSpPr>
        <p:spPr>
          <a:xfrm>
            <a:off x="548640" y="5349240"/>
            <a:ext cx="11094415" cy="868680"/>
          </a:xfrm>
          <a:prstGeom prst="roundRect">
            <a:avLst>
              <a:gd name="adj" fmla="val 10526"/>
            </a:avLst>
          </a:prstGeom>
          <a:solidFill>
            <a:schemeClr val="tx2"/>
          </a:solidFill>
          <a:ln/>
        </p:spPr>
      </p:sp>
      <p:sp>
        <p:nvSpPr>
          <p:cNvPr id="58" name="icon agents"/>
          <p:cNvSpPr/>
          <p:nvPr/>
        </p:nvSpPr>
        <p:spPr>
          <a:xfrm>
            <a:off x="731520" y="5573268"/>
            <a:ext cx="420624" cy="420624"/>
          </a:xfrm>
          <a:prstGeom prst="ellipse">
            <a:avLst/>
          </a:prstGeom>
          <a:solidFill>
            <a:schemeClr val="accent2"/>
          </a:solidFill>
          <a:ln/>
        </p:spPr>
      </p:sp>
      <p:pic>
        <p:nvPicPr>
          <p:cNvPr id="59" name="Image 9" descr="agents">    </p:cNvPr>
          <p:cNvPicPr>
            <a:picLocks noChangeAspect="1"/>
          </p:cNvPicPr>
          <p:nvPr/>
        </p:nvPicPr>
        <p:blipFill>
          <a:blip r:embed="rId10"/>
          <a:stretch>
            <a:fillRect/>
          </a:stretch>
        </p:blipFill>
        <p:spPr>
          <a:xfrm>
            <a:off x="824057" y="5665805"/>
            <a:ext cx="235549" cy="235549"/>
          </a:xfrm>
          <a:prstGeom prst="rect">
            <a:avLst/>
          </a:prstGeom>
        </p:spPr>
      </p:pic>
      <p:sp>
        <p:nvSpPr>
          <p:cNvPr id="60" name="Text 48"/>
          <p:cNvSpPr txBox="1"/>
          <p:nvPr/>
        </p:nvSpPr>
        <p:spPr>
          <a:xfrm>
            <a:off x="1325880" y="5349240"/>
            <a:ext cx="10180015" cy="868680"/>
          </a:xfrm>
          <a:prstGeom prst="rect">
            <a:avLst/>
          </a:prstGeom>
          <a:noFill/>
          <a:ln/>
        </p:spPr>
        <p:txBody>
          <a:bodyPr wrap="square" lIns="0" tIns="0" rIns="0" bIns="0" rtlCol="0" anchor="ctr"/>
          <a:lstStyle/>
          <a:p>
            <a:pPr indent="0" marL="0">
              <a:buNone/>
            </a:pPr>
            <a:r>
              <a:rPr lang="en-US" sz="1600" b="1" dirty="0">
                <a:solidFill>
                  <a:schemeClr val="bg1"/>
                </a:solidFill>
              </a:rPr>
              <a:t>For agents and programs:  </a:t>
            </a:r>
            <a:pPr indent="0" marL="0">
              <a:buNone/>
            </a:pPr>
            <a:r>
              <a:rPr lang="en-US" sz="1600" dirty="0">
                <a:solidFill>
                  <a:schemeClr val="bg1"/>
                </a:solidFill>
              </a:rPr>
              <a:t>10 JSON tools · the </a:t>
            </a:r>
            <a:pPr indent="0" marL="0">
              <a:buNone/>
            </a:pPr>
            <a:r>
              <a:rPr lang="en-US" sz="1500" dirty="0">
                <a:solidFill>
                  <a:schemeClr val="bg1"/>
                </a:solidFill>
                <a:latin typeface="Courier New" pitchFamily="34" charset="0"/>
                <a:ea typeface="Courier New" pitchFamily="34" charset="-122"/>
                <a:cs typeface="Courier New" pitchFamily="34" charset="-120"/>
              </a:rPr>
              <a:t>graph-runtime</a:t>
            </a:r>
            <a:pPr indent="0" marL="0">
              <a:buNone/>
            </a:pPr>
            <a:r>
              <a:rPr lang="en-US" sz="1600" dirty="0">
                <a:solidFill>
                  <a:schemeClr val="bg1"/>
                </a:solidFill>
              </a:rPr>
              <a:t> command line · an MCP server over stdio. Results are data; nothing is written.</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A request and its result</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Plain Python: build a projection from your records, ask, and read an answer that names your IDs.</a:t>
            </a:r>
            <a:endParaRPr lang="en-US" sz="1600" dirty="0"/>
          </a:p>
        </p:txBody>
      </p:sp>
      <p:sp>
        <p:nvSpPr>
          <p:cNvPr id="4" name="code"/>
          <p:cNvSpPr/>
          <p:nvPr/>
        </p:nvSpPr>
        <p:spPr>
          <a:xfrm>
            <a:off x="548640" y="1691640"/>
            <a:ext cx="6217920" cy="4526280"/>
          </a:xfrm>
          <a:prstGeom prst="roundRect">
            <a:avLst>
              <a:gd name="adj" fmla="val 2020"/>
            </a:avLst>
          </a:prstGeom>
          <a:solidFill>
            <a:schemeClr val="tx2"/>
          </a:solidFill>
          <a:ln/>
        </p:spPr>
      </p:sp>
      <p:sp>
        <p:nvSpPr>
          <p:cNvPr id="5" name="quick start"/>
          <p:cNvSpPr txBox="1"/>
          <p:nvPr/>
        </p:nvSpPr>
        <p:spPr>
          <a:xfrm>
            <a:off x="777240" y="1874520"/>
            <a:ext cx="5760720" cy="4160520"/>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from graph_runtime import Projection, execute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 = Projection.build(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nodes=[{"id": "test:1", "types": ["Test"]},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{"id": "sample:1", "types": ["Sample"]},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"paper:1"],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edges=[{"id": "link:1", "source": "test:1",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"target": "sample:1", "relation": "USES"},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{"id": "link:2", "source": "sample:1",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"target": "paper:1", "relation": "REPORTED_IN"}],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bindings={"source": "my-document@sha256:…",</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"schema": "my-schema 1.2", "policy": "public"})</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result = execute(p, p.request(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"reachability", sources=["test:1"],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scope=[("USES", "forward"), ("REPORTED_IN", "forward")]))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result.status               </a:t>
            </a:r>
            <a:pPr indent="0" marL="0">
              <a:buNone/>
            </a:pPr>
            <a:r>
              <a:rPr lang="en-US" sz="1200" dirty="0">
                <a:solidFill>
                  <a:schemeClr val="accent5"/>
                </a:solidFill>
                <a:latin typeface="Courier New" pitchFamily="34" charset="0"/>
                <a:ea typeface="Courier New" pitchFamily="34" charset="-122"/>
                <a:cs typeface="Courier New" pitchFamily="34" charset="-120"/>
              </a:rPr>
              <a:t># 'completed'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result.reachable("paper:1") </a:t>
            </a:r>
            <a:pPr indent="0" marL="0">
              <a:buNone/>
            </a:pPr>
            <a:r>
              <a:rPr lang="en-US" sz="1200" dirty="0">
                <a:solidFill>
                  <a:schemeClr val="accent5"/>
                </a:solidFill>
                <a:latin typeface="Courier New" pitchFamily="34" charset="0"/>
                <a:ea typeface="Courier New" pitchFamily="34" charset="-122"/>
                <a:cs typeface="Courier New" pitchFamily="34" charset="-120"/>
              </a:rPr>
              <a:t># True; False only when complete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result.path_to("paper:1")   </a:t>
            </a:r>
            <a:pPr indent="0" marL="0">
              <a:buNone/>
            </a:pPr>
            <a:r>
              <a:rPr lang="en-US" sz="1200" dirty="0">
                <a:solidFill>
                  <a:schemeClr val="accent5"/>
                </a:solidFill>
                <a:latin typeface="Courier New" pitchFamily="34" charset="0"/>
                <a:ea typeface="Courier New" pitchFamily="34" charset="-122"/>
                <a:cs typeface="Courier New" pitchFamily="34" charset="-120"/>
              </a:rPr>
              <a:t># hops named by original IDs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result.to_json()            </a:t>
            </a:r>
            <a:pPr indent="0" marL="0">
              <a:buNone/>
            </a:pPr>
            <a:r>
              <a:rPr lang="en-US" sz="1200" dirty="0">
                <a:solidFill>
                  <a:schemeClr val="accent5"/>
                </a:solidFill>
                <a:latin typeface="Courier New" pitchFamily="34" charset="0"/>
                <a:ea typeface="Courier New" pitchFamily="34" charset="-122"/>
                <a:cs typeface="Courier New" pitchFamily="34" charset="-120"/>
              </a:rPr>
              <a:t># normalized request, result_id</a:t>
            </a:r>
            <a:endParaRPr lang="en-US" sz="1200" dirty="0"/>
          </a:p>
        </p:txBody>
      </p:sp>
      <p:sp>
        <p:nvSpPr>
          <p:cNvPr id="6" name="icon Original IDs"/>
          <p:cNvSpPr/>
          <p:nvPr/>
        </p:nvSpPr>
        <p:spPr>
          <a:xfrm>
            <a:off x="7132320" y="1737360"/>
            <a:ext cx="457200" cy="457200"/>
          </a:xfrm>
          <a:prstGeom prst="ellipse">
            <a:avLst/>
          </a:prstGeom>
          <a:solidFill>
            <a:schemeClr val="accent1"/>
          </a:solidFill>
          <a:ln/>
        </p:spPr>
      </p:sp>
      <p:pic>
        <p:nvPicPr>
          <p:cNvPr id="7" name="Image 0" descr="Original IDs">    </p:cNvPr>
          <p:cNvPicPr>
            <a:picLocks noChangeAspect="1"/>
          </p:cNvPicPr>
          <p:nvPr/>
        </p:nvPicPr>
        <p:blipFill>
          <a:blip r:embed="rId1"/>
          <a:stretch>
            <a:fillRect/>
          </a:stretch>
        </p:blipFill>
        <p:spPr>
          <a:xfrm>
            <a:off x="7232904" y="1837944"/>
            <a:ext cx="256032" cy="256032"/>
          </a:xfrm>
          <a:prstGeom prst="rect">
            <a:avLst/>
          </a:prstGeom>
        </p:spPr>
      </p:pic>
      <p:sp>
        <p:nvSpPr>
          <p:cNvPr id="8" name="Text 5"/>
          <p:cNvSpPr txBox="1"/>
          <p:nvPr/>
        </p:nvSpPr>
        <p:spPr>
          <a:xfrm>
            <a:off x="7772400" y="1709928"/>
            <a:ext cx="3870655" cy="108585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Original IDs</a:t>
            </a:r>
            <a:endParaRPr lang="en-US" sz="1600" dirty="0"/>
          </a:p>
          <a:p>
            <a:pPr indent="0" marL="0">
              <a:buNone/>
            </a:pPr>
            <a:r>
              <a:rPr lang="en-US" sz="1400" dirty="0">
                <a:solidFill>
                  <a:schemeClr val="tx1"/>
                </a:solidFill>
              </a:rPr>
              <a:t>Answers and witnesses name your node and edge IDs; parallel edges stay distinct.</a:t>
            </a:r>
            <a:endParaRPr lang="en-US" sz="1600" dirty="0"/>
          </a:p>
        </p:txBody>
      </p:sp>
      <p:sp>
        <p:nvSpPr>
          <p:cNvPr id="9" name="icon Three-valued"/>
          <p:cNvSpPr/>
          <p:nvPr/>
        </p:nvSpPr>
        <p:spPr>
          <a:xfrm>
            <a:off x="7132320" y="2868930"/>
            <a:ext cx="457200" cy="457200"/>
          </a:xfrm>
          <a:prstGeom prst="ellipse">
            <a:avLst/>
          </a:prstGeom>
          <a:solidFill>
            <a:schemeClr val="accent1"/>
          </a:solidFill>
          <a:ln/>
        </p:spPr>
      </p:sp>
      <p:pic>
        <p:nvPicPr>
          <p:cNvPr id="10" name="Image 1" descr="Three-valued">    </p:cNvPr>
          <p:cNvPicPr>
            <a:picLocks noChangeAspect="1"/>
          </p:cNvPicPr>
          <p:nvPr/>
        </p:nvPicPr>
        <p:blipFill>
          <a:blip r:embed="rId2"/>
          <a:stretch>
            <a:fillRect/>
          </a:stretch>
        </p:blipFill>
        <p:spPr>
          <a:xfrm>
            <a:off x="7232904" y="2969514"/>
            <a:ext cx="256032" cy="256032"/>
          </a:xfrm>
          <a:prstGeom prst="rect">
            <a:avLst/>
          </a:prstGeom>
        </p:spPr>
      </p:pic>
      <p:sp>
        <p:nvSpPr>
          <p:cNvPr id="11" name="Text 7"/>
          <p:cNvSpPr txBox="1"/>
          <p:nvPr/>
        </p:nvSpPr>
        <p:spPr>
          <a:xfrm>
            <a:off x="7772400" y="2841498"/>
            <a:ext cx="3870655" cy="108585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Three-valued</a:t>
            </a:r>
            <a:endParaRPr lang="en-US" sz="1600" dirty="0"/>
          </a:p>
          <a:p>
            <a:pPr indent="0" marL="0">
              <a:buNone/>
            </a:pPr>
            <a:r>
              <a:rPr lang="en-US" sz="1300" dirty="0">
                <a:solidFill>
                  <a:schemeClr val="tx1"/>
                </a:solidFill>
                <a:latin typeface="Courier New" pitchFamily="34" charset="0"/>
                <a:ea typeface="Courier New" pitchFamily="34" charset="-122"/>
                <a:cs typeface="Courier New" pitchFamily="34" charset="-120"/>
              </a:rPr>
              <a:t>reachable(x)</a:t>
            </a:r>
            <a:pPr indent="0" marL="0">
              <a:buNone/>
            </a:pPr>
            <a:r>
              <a:rPr lang="en-US" sz="1400" dirty="0">
                <a:solidFill>
                  <a:schemeClr val="tx1"/>
                </a:solidFill>
              </a:rPr>
              <a:t> is True with a witness, False only in a complete answer, None when unknown.</a:t>
            </a:r>
            <a:endParaRPr lang="en-US" sz="1600" dirty="0"/>
          </a:p>
        </p:txBody>
      </p:sp>
      <p:sp>
        <p:nvSpPr>
          <p:cNvPr id="12" name="icon One result contract"/>
          <p:cNvSpPr/>
          <p:nvPr/>
        </p:nvSpPr>
        <p:spPr>
          <a:xfrm>
            <a:off x="7132320" y="4000500"/>
            <a:ext cx="457200" cy="457200"/>
          </a:xfrm>
          <a:prstGeom prst="ellipse">
            <a:avLst/>
          </a:prstGeom>
          <a:solidFill>
            <a:schemeClr val="accent1"/>
          </a:solidFill>
          <a:ln/>
        </p:spPr>
      </p:sp>
      <p:pic>
        <p:nvPicPr>
          <p:cNvPr id="13" name="Image 2" descr="One result contract">    </p:cNvPr>
          <p:cNvPicPr>
            <a:picLocks noChangeAspect="1"/>
          </p:cNvPicPr>
          <p:nvPr/>
        </p:nvPicPr>
        <p:blipFill>
          <a:blip r:embed="rId3"/>
          <a:stretch>
            <a:fillRect/>
          </a:stretch>
        </p:blipFill>
        <p:spPr>
          <a:xfrm>
            <a:off x="7232904" y="4101084"/>
            <a:ext cx="256032" cy="256032"/>
          </a:xfrm>
          <a:prstGeom prst="rect">
            <a:avLst/>
          </a:prstGeom>
        </p:spPr>
      </p:pic>
      <p:sp>
        <p:nvSpPr>
          <p:cNvPr id="14" name="Text 9"/>
          <p:cNvSpPr txBox="1"/>
          <p:nvPr/>
        </p:nvSpPr>
        <p:spPr>
          <a:xfrm>
            <a:off x="7772400" y="3973068"/>
            <a:ext cx="3870655" cy="108585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One result contract</a:t>
            </a:r>
            <a:endParaRPr lang="en-US" sz="1600" dirty="0"/>
          </a:p>
          <a:p>
            <a:pPr indent="0" marL="0">
              <a:buNone/>
            </a:pPr>
            <a:r>
              <a:rPr lang="en-US" sz="1400" dirty="0">
                <a:solidFill>
                  <a:schemeClr val="tx1"/>
                </a:solidFill>
              </a:rPr>
              <a:t>Completed, interrupted, unsupported, failed or stale snapshot, always with the normalized request.</a:t>
            </a:r>
            <a:endParaRPr lang="en-US" sz="1600" dirty="0"/>
          </a:p>
        </p:txBody>
      </p:sp>
      <p:sp>
        <p:nvSpPr>
          <p:cNvPr id="15" name="icon Reproducible"/>
          <p:cNvSpPr/>
          <p:nvPr/>
        </p:nvSpPr>
        <p:spPr>
          <a:xfrm>
            <a:off x="7132320" y="5132070"/>
            <a:ext cx="457200" cy="457200"/>
          </a:xfrm>
          <a:prstGeom prst="ellipse">
            <a:avLst/>
          </a:prstGeom>
          <a:solidFill>
            <a:schemeClr val="accent1"/>
          </a:solidFill>
          <a:ln/>
        </p:spPr>
      </p:sp>
      <p:pic>
        <p:nvPicPr>
          <p:cNvPr id="16" name="Image 3" descr="Reproducible">    </p:cNvPr>
          <p:cNvPicPr>
            <a:picLocks noChangeAspect="1"/>
          </p:cNvPicPr>
          <p:nvPr/>
        </p:nvPicPr>
        <p:blipFill>
          <a:blip r:embed="rId4"/>
          <a:stretch>
            <a:fillRect/>
          </a:stretch>
        </p:blipFill>
        <p:spPr>
          <a:xfrm>
            <a:off x="7232904" y="5232654"/>
            <a:ext cx="256032" cy="256032"/>
          </a:xfrm>
          <a:prstGeom prst="rect">
            <a:avLst/>
          </a:prstGeom>
        </p:spPr>
      </p:pic>
      <p:sp>
        <p:nvSpPr>
          <p:cNvPr id="17" name="Text 11"/>
          <p:cNvSpPr txBox="1"/>
          <p:nvPr/>
        </p:nvSpPr>
        <p:spPr>
          <a:xfrm>
            <a:off x="7772400" y="5104638"/>
            <a:ext cx="3870655" cy="108585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Reproducible</a:t>
            </a:r>
            <a:endParaRPr lang="en-US" sz="1600" dirty="0"/>
          </a:p>
          <a:p>
            <a:pPr indent="0" marL="0">
              <a:buNone/>
            </a:pPr>
            <a:r>
              <a:rPr lang="en-US" sz="1400" dirty="0">
                <a:solidFill>
                  <a:schemeClr val="tx1"/>
                </a:solidFill>
              </a:rPr>
              <a:t>The same projection and request give the same </a:t>
            </a:r>
            <a:pPr indent="0" marL="0">
              <a:buNone/>
            </a:pPr>
            <a:r>
              <a:rPr lang="en-US" sz="1300" dirty="0">
                <a:solidFill>
                  <a:schemeClr val="tx1"/>
                </a:solidFill>
                <a:latin typeface="Courier New" pitchFamily="34" charset="0"/>
                <a:ea typeface="Courier New" pitchFamily="34" charset="-122"/>
                <a:cs typeface="Courier New" pitchFamily="34" charset="-120"/>
              </a:rPr>
              <a:t>result_id</a:t>
            </a:r>
            <a:pPr indent="0" marL="0">
              <a:buNone/>
            </a:pPr>
            <a:r>
              <a:rPr lang="en-US" sz="1400" dirty="0">
                <a:solidFill>
                  <a:schemeClr val="tx1"/>
                </a:solidFill>
              </a:rPr>
              <a:t>; only timing is left out of it.</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Built for agents: tools, CLI and MCP</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The same ten tools from Python, the command line and the Model Context Protocol: JSON in, JSON out.</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400800" cy="914400"/>
        </p:xfrm>
        <a:graphic>
          <a:graphicData uri="http://schemas.openxmlformats.org/drawingml/2006/table">
            <a:tbl>
              <a:tblPr/>
              <a:tblGrid>
                <a:gridCol w="2331720"/>
                <a:gridCol w="4069080"/>
              </a:tblGrid>
              <a:tr h="429768">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graph_status</a:t>
                      </a:r>
                      <a:endParaRPr lang="en-US" sz="1300" dirty="0">
                        <a:latin typeface="Courier New" charset="0"/>
                        <a:ea typeface="Courier New" charset="0"/>
                        <a:cs typeface="Courier New" charset="0"/>
                      </a:endParaRPr>
                    </a:p>
                  </a:txBody>
                  <a:tcPr marL="13716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versions, operations, what the session holds</a:t>
                      </a:r>
                      <a:endParaRPr lang="en-US" sz="1400" dirty="0"/>
                    </a:p>
                  </a:txBody>
                  <a:tcPr marL="137160" marR="91440" marT="27432" marB="27432" anchor="ctr">
                    <a:lnL w="0" cap="flat" cmpd="sng" algn="ctr">
                      <a:noFill/>
                    </a:lnL>
                    <a:lnR w="0" cap="flat" cmpd="sng" algn="ctr">
                      <a:noFill/>
                    </a:lnR>
                    <a:lnT w="0" cap="flat" cmpd="sng" algn="ctr">
                      <a:noFill/>
                    </a:lnT>
                    <a:lnB w="0" cap="flat" cmpd="sng" algn="ctr">
                      <a:noFill/>
                    </a:lnB>
                    <a:solidFill>
                      <a:schemeClr val="bg2"/>
                    </a:solidFill>
                  </a:tcPr>
                </a:tc>
              </a:tr>
              <a:tr h="429768">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graph_describe</a:t>
                      </a:r>
                      <a:endParaRPr lang="en-US" sz="1300" dirty="0">
                        <a:latin typeface="Courier New" charset="0"/>
                        <a:ea typeface="Courier New" charset="0"/>
                        <a:cs typeface="Courier New" charset="0"/>
                      </a:endParaRPr>
                    </a:p>
                  </a:txBody>
                  <a:tcPr marL="13716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the contract's JSON Schema</a:t>
                      </a:r>
                      <a:endParaRPr lang="en-US" sz="1400" dirty="0"/>
                    </a:p>
                  </a:txBody>
                  <a:tcPr marL="137160" marR="91440" marT="27432" marB="27432" anchor="ctr">
                    <a:lnL w="0" cap="flat" cmpd="sng" algn="ctr">
                      <a:noFill/>
                    </a:lnL>
                    <a:lnR w="0" cap="flat" cmpd="sng" algn="ctr">
                      <a:noFill/>
                    </a:lnR>
                    <a:lnT w="0" cap="flat" cmpd="sng" algn="ctr">
                      <a:noFill/>
                    </a:lnT>
                    <a:lnB w="0" cap="flat" cmpd="sng" algn="ctr">
                      <a:noFill/>
                    </a:lnB>
                    <a:solidFill>
                      <a:schemeClr val="bg1"/>
                    </a:solidFill>
                  </a:tcPr>
                </a:tc>
              </a:tr>
              <a:tr h="429768">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graph_projection</a:t>
                      </a:r>
                      <a:endParaRPr lang="en-US" sz="1300" dirty="0">
                        <a:latin typeface="Courier New" charset="0"/>
                        <a:ea typeface="Courier New" charset="0"/>
                        <a:cs typeface="Courier New" charset="0"/>
                      </a:endParaRPr>
                    </a:p>
                  </a:txBody>
                  <a:tcPr marL="13716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build a projection, keep it by identity</a:t>
                      </a:r>
                      <a:endParaRPr lang="en-US" sz="1400" dirty="0"/>
                    </a:p>
                  </a:txBody>
                  <a:tcPr marL="137160" marR="91440" marT="27432" marB="27432" anchor="ctr">
                    <a:lnL w="0" cap="flat" cmpd="sng" algn="ctr">
                      <a:noFill/>
                    </a:lnL>
                    <a:lnR w="0" cap="flat" cmpd="sng" algn="ctr">
                      <a:noFill/>
                    </a:lnR>
                    <a:lnT w="0" cap="flat" cmpd="sng" algn="ctr">
                      <a:noFill/>
                    </a:lnT>
                    <a:lnB w="0" cap="flat" cmpd="sng" algn="ctr">
                      <a:noFill/>
                    </a:lnB>
                    <a:solidFill>
                      <a:schemeClr val="bg2"/>
                    </a:solidFill>
                  </a:tcPr>
                </a:tc>
              </a:tr>
              <a:tr h="429768">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graph_execute</a:t>
                      </a:r>
                      <a:endParaRPr lang="en-US" sz="1300" dirty="0">
                        <a:latin typeface="Courier New" charset="0"/>
                        <a:ea typeface="Courier New" charset="0"/>
                        <a:cs typeface="Courier New" charset="0"/>
                      </a:endParaRPr>
                    </a:p>
                  </a:txBody>
                  <a:tcPr marL="13716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run a request; a summary or the whole answer</a:t>
                      </a:r>
                      <a:endParaRPr lang="en-US" sz="1400" dirty="0"/>
                    </a:p>
                  </a:txBody>
                  <a:tcPr marL="137160" marR="91440" marT="27432" marB="27432" anchor="ctr">
                    <a:lnL w="0" cap="flat" cmpd="sng" algn="ctr">
                      <a:noFill/>
                    </a:lnL>
                    <a:lnR w="0" cap="flat" cmpd="sng" algn="ctr">
                      <a:noFill/>
                    </a:lnR>
                    <a:lnT w="0" cap="flat" cmpd="sng" algn="ctr">
                      <a:noFill/>
                    </a:lnT>
                    <a:lnB w="0" cap="flat" cmpd="sng" algn="ctr">
                      <a:noFill/>
                    </a:lnB>
                    <a:solidFill>
                      <a:schemeClr val="bg1"/>
                    </a:solidFill>
                  </a:tcPr>
                </a:tc>
              </a:tr>
              <a:tr h="429768">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graph_result</a:t>
                      </a:r>
                      <a:endParaRPr lang="en-US" sz="1300" dirty="0">
                        <a:latin typeface="Courier New" charset="0"/>
                        <a:ea typeface="Courier New" charset="0"/>
                        <a:cs typeface="Courier New" charset="0"/>
                      </a:endParaRPr>
                    </a:p>
                  </a:txBody>
                  <a:tcPr marL="13716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a held result: whole, a slice, one witness</a:t>
                      </a:r>
                      <a:endParaRPr lang="en-US" sz="1400" dirty="0"/>
                    </a:p>
                  </a:txBody>
                  <a:tcPr marL="137160" marR="91440" marT="27432" marB="27432" anchor="ctr">
                    <a:lnL w="0" cap="flat" cmpd="sng" algn="ctr">
                      <a:noFill/>
                    </a:lnL>
                    <a:lnR w="0" cap="flat" cmpd="sng" algn="ctr">
                      <a:noFill/>
                    </a:lnR>
                    <a:lnT w="0" cap="flat" cmpd="sng" algn="ctr">
                      <a:noFill/>
                    </a:lnT>
                    <a:lnB w="0" cap="flat" cmpd="sng" algn="ctr">
                      <a:noFill/>
                    </a:lnB>
                    <a:solidFill>
                      <a:schemeClr val="bg2"/>
                    </a:solidFill>
                  </a:tcPr>
                </a:tc>
              </a:tr>
              <a:tr h="429768">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graph_batch</a:t>
                      </a:r>
                      <a:endParaRPr lang="en-US" sz="1300" dirty="0">
                        <a:latin typeface="Courier New" charset="0"/>
                        <a:ea typeface="Courier New" charset="0"/>
                        <a:cs typeface="Courier New" charset="0"/>
                      </a:endParaRPr>
                    </a:p>
                  </a:txBody>
                  <a:tcPr marL="13716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several requests on one projection</a:t>
                      </a:r>
                      <a:endParaRPr lang="en-US" sz="1400" dirty="0"/>
                    </a:p>
                  </a:txBody>
                  <a:tcPr marL="137160" marR="91440" marT="27432" marB="27432" anchor="ctr">
                    <a:lnL w="0" cap="flat" cmpd="sng" algn="ctr">
                      <a:noFill/>
                    </a:lnL>
                    <a:lnR w="0" cap="flat" cmpd="sng" algn="ctr">
                      <a:noFill/>
                    </a:lnR>
                    <a:lnT w="0" cap="flat" cmpd="sng" algn="ctr">
                      <a:noFill/>
                    </a:lnT>
                    <a:lnB w="0" cap="flat" cmpd="sng" algn="ctr">
                      <a:noFill/>
                    </a:lnB>
                    <a:solidFill>
                      <a:schemeClr val="bg1"/>
                    </a:solidFill>
                  </a:tcPr>
                </a:tc>
              </a:tr>
              <a:tr h="429768">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graph_verify</a:t>
                      </a:r>
                      <a:endParaRPr lang="en-US" sz="1300" dirty="0">
                        <a:latin typeface="Courier New" charset="0"/>
                        <a:ea typeface="Courier New" charset="0"/>
                        <a:cs typeface="Courier New" charset="0"/>
                      </a:endParaRPr>
                    </a:p>
                  </a:txBody>
                  <a:tcPr marL="13716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check a result against the records</a:t>
                      </a:r>
                      <a:endParaRPr lang="en-US" sz="1400" dirty="0"/>
                    </a:p>
                  </a:txBody>
                  <a:tcPr marL="137160" marR="91440" marT="27432" marB="27432" anchor="ctr">
                    <a:lnL w="0" cap="flat" cmpd="sng" algn="ctr">
                      <a:noFill/>
                    </a:lnL>
                    <a:lnR w="0" cap="flat" cmpd="sng" algn="ctr">
                      <a:noFill/>
                    </a:lnR>
                    <a:lnT w="0" cap="flat" cmpd="sng" algn="ctr">
                      <a:noFill/>
                    </a:lnT>
                    <a:lnB w="0" cap="flat" cmpd="sng" algn="ctr">
                      <a:noFill/>
                    </a:lnB>
                    <a:solidFill>
                      <a:schemeClr val="bg2"/>
                    </a:solidFill>
                  </a:tcPr>
                </a:tc>
              </a:tr>
              <a:tr h="429768">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graph_revalidate</a:t>
                      </a:r>
                      <a:endParaRPr lang="en-US" sz="1300" dirty="0">
                        <a:latin typeface="Courier New" charset="0"/>
                        <a:ea typeface="Courier New" charset="0"/>
                        <a:cs typeface="Courier New" charset="0"/>
                      </a:endParaRPr>
                    </a:p>
                  </a:txBody>
                  <a:tcPr marL="13716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which cached results still hold after edits</a:t>
                      </a:r>
                      <a:endParaRPr lang="en-US" sz="1400" dirty="0"/>
                    </a:p>
                  </a:txBody>
                  <a:tcPr marL="137160" marR="91440" marT="27432" marB="27432" anchor="ctr">
                    <a:lnL w="0" cap="flat" cmpd="sng" algn="ctr">
                      <a:noFill/>
                    </a:lnL>
                    <a:lnR w="0" cap="flat" cmpd="sng" algn="ctr">
                      <a:noFill/>
                    </a:lnR>
                    <a:lnT w="0" cap="flat" cmpd="sng" algn="ctr">
                      <a:noFill/>
                    </a:lnT>
                    <a:lnB w="0" cap="flat" cmpd="sng" algn="ctr">
                      <a:noFill/>
                    </a:lnB>
                    <a:solidFill>
                      <a:schemeClr val="bg1"/>
                    </a:solidFill>
                  </a:tcPr>
                </a:tc>
              </a:tr>
              <a:tr h="429768">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graph_search</a:t>
                      </a:r>
                      <a:endParaRPr lang="en-US" sz="1300" dirty="0">
                        <a:latin typeface="Courier New" charset="0"/>
                        <a:ea typeface="Courier New" charset="0"/>
                        <a:cs typeface="Courier New" charset="0"/>
                      </a:endParaRPr>
                    </a:p>
                  </a:txBody>
                  <a:tcPr marL="137160" marR="91440"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exact text search (needs numpy)</a:t>
                      </a:r>
                      <a:endParaRPr lang="en-US" sz="1400" dirty="0"/>
                    </a:p>
                  </a:txBody>
                  <a:tcPr marL="137160" marR="91440" marT="27432" marB="27432" anchor="ctr">
                    <a:lnL w="0" cap="flat" cmpd="sng" algn="ctr">
                      <a:noFill/>
                    </a:lnL>
                    <a:lnR w="0" cap="flat" cmpd="sng" algn="ctr">
                      <a:noFill/>
                    </a:lnR>
                    <a:lnT w="0" cap="flat" cmpd="sng" algn="ctr">
                      <a:noFill/>
                    </a:lnT>
                    <a:lnB w="0" cap="flat" cmpd="sng" algn="ctr">
                      <a:noFill/>
                    </a:lnB>
                    <a:solidFill>
                      <a:schemeClr val="bg2"/>
                    </a:solidFill>
                  </a:tcPr>
                </a:tc>
              </a:tr>
              <a:tr h="429768">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graph_conformance</a:t>
                      </a:r>
                      <a:endParaRPr lang="en-US" sz="1300" dirty="0">
                        <a:latin typeface="Courier New" charset="0"/>
                        <a:ea typeface="Courier New" charset="0"/>
                        <a:cs typeface="Courier New" charset="0"/>
                      </a:endParaRPr>
                    </a:p>
                  </a:txBody>
                  <a:tcPr marL="137160" marR="91440"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the conformance suite against this runtime</a:t>
                      </a:r>
                      <a:endParaRPr lang="en-US" sz="1400" dirty="0"/>
                    </a:p>
                  </a:txBody>
                  <a:tcPr marL="137160" marR="91440" marT="27432" marB="27432"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5" name="Answers sized for an agent"/>
          <p:cNvSpPr/>
          <p:nvPr/>
        </p:nvSpPr>
        <p:spPr>
          <a:xfrm>
            <a:off x="7269480" y="1691640"/>
            <a:ext cx="4373575" cy="1617472"/>
          </a:xfrm>
          <a:prstGeom prst="roundRect">
            <a:avLst>
              <a:gd name="adj" fmla="val 5653"/>
            </a:avLst>
          </a:prstGeom>
          <a:solidFill>
            <a:schemeClr val="bg2"/>
          </a:solidFill>
          <a:ln/>
        </p:spPr>
      </p:sp>
      <p:sp>
        <p:nvSpPr>
          <p:cNvPr id="6" name="icon Answers sized for an agent"/>
          <p:cNvSpPr/>
          <p:nvPr/>
        </p:nvSpPr>
        <p:spPr>
          <a:xfrm>
            <a:off x="7452360" y="1837944"/>
            <a:ext cx="384048" cy="384048"/>
          </a:xfrm>
          <a:prstGeom prst="ellipse">
            <a:avLst/>
          </a:prstGeom>
          <a:solidFill>
            <a:schemeClr val="accent1"/>
          </a:solidFill>
          <a:ln/>
        </p:spPr>
      </p:sp>
      <p:pic>
        <p:nvPicPr>
          <p:cNvPr id="7" name="Image 0" descr="Answers sized for an agent">    </p:cNvPr>
          <p:cNvPicPr>
            <a:picLocks noChangeAspect="1"/>
          </p:cNvPicPr>
          <p:nvPr/>
        </p:nvPicPr>
        <p:blipFill>
          <a:blip r:embed="rId1"/>
          <a:stretch>
            <a:fillRect/>
          </a:stretch>
        </p:blipFill>
        <p:spPr>
          <a:xfrm>
            <a:off x="7536851" y="1922435"/>
            <a:ext cx="215067" cy="215067"/>
          </a:xfrm>
          <a:prstGeom prst="rect">
            <a:avLst/>
          </a:prstGeom>
        </p:spPr>
      </p:pic>
      <p:sp>
        <p:nvSpPr>
          <p:cNvPr id="8" name="Text 4"/>
          <p:cNvSpPr txBox="1"/>
          <p:nvPr/>
        </p:nvSpPr>
        <p:spPr>
          <a:xfrm>
            <a:off x="7955280" y="1837944"/>
            <a:ext cx="3550615" cy="384048"/>
          </a:xfrm>
          <a:prstGeom prst="rect">
            <a:avLst/>
          </a:prstGeom>
          <a:noFill/>
          <a:ln/>
        </p:spPr>
        <p:txBody>
          <a:bodyPr wrap="square" lIns="0" tIns="0" rIns="0" bIns="0" rtlCol="0" anchor="ctr"/>
          <a:lstStyle/>
          <a:p>
            <a:pPr indent="0" marL="0">
              <a:buNone/>
            </a:pPr>
            <a:r>
              <a:rPr lang="en-US" sz="1600" b="1" dirty="0">
                <a:solidFill>
                  <a:schemeClr val="tx1"/>
                </a:solidFill>
              </a:rPr>
              <a:t>Answers sized for an agent</a:t>
            </a:r>
            <a:endParaRPr lang="en-US" sz="1600" dirty="0"/>
          </a:p>
        </p:txBody>
      </p:sp>
      <p:sp>
        <p:nvSpPr>
          <p:cNvPr id="9" name="Text 5"/>
          <p:cNvSpPr txBox="1"/>
          <p:nvPr/>
        </p:nvSpPr>
        <p:spPr>
          <a:xfrm>
            <a:off x="7452360" y="2313432"/>
            <a:ext cx="4007815" cy="940816"/>
          </a:xfrm>
          <a:prstGeom prst="rect">
            <a:avLst/>
          </a:prstGeom>
          <a:noFill/>
          <a:ln/>
        </p:spPr>
        <p:txBody>
          <a:bodyPr wrap="square" lIns="0" tIns="0" rIns="0" bIns="0" rtlCol="0" anchor="t"/>
          <a:lstStyle/>
          <a:p>
            <a:pPr indent="0" marL="0">
              <a:buNone/>
            </a:pPr>
            <a:r>
              <a:rPr lang="en-US" sz="1400" dirty="0">
                <a:solidFill>
                  <a:schemeClr val="tx1"/>
                </a:solidFill>
              </a:rPr>
              <a:t>Sessions keep projections and results by identity. </a:t>
            </a:r>
            <a:pPr indent="0" marL="0">
              <a:buNone/>
            </a:pPr>
            <a:r>
              <a:rPr lang="en-US" sz="1300" dirty="0">
                <a:solidFill>
                  <a:schemeClr val="tx1"/>
                </a:solidFill>
                <a:latin typeface="Courier New" pitchFamily="34" charset="0"/>
                <a:ea typeface="Courier New" pitchFamily="34" charset="-122"/>
                <a:cs typeface="Courier New" pitchFamily="34" charset="-120"/>
              </a:rPr>
              <a:t>view: summary</a:t>
            </a:r>
            <a:pPr indent="0" marL="0">
              <a:buNone/>
            </a:pPr>
            <a:r>
              <a:rPr lang="en-US" sz="1400" dirty="0">
                <a:solidFill>
                  <a:schemeClr val="tx1"/>
                </a:solidFill>
              </a:rPr>
              <a:t> gives status, counts and nearest items: a fifth the size of a 40-node reachability result.</a:t>
            </a:r>
            <a:endParaRPr lang="en-US" sz="1400" dirty="0"/>
          </a:p>
        </p:txBody>
      </p:sp>
      <p:sp>
        <p:nvSpPr>
          <p:cNvPr id="10" name="mcp command"/>
          <p:cNvSpPr/>
          <p:nvPr/>
        </p:nvSpPr>
        <p:spPr>
          <a:xfrm>
            <a:off x="7269480" y="3510280"/>
            <a:ext cx="4373575" cy="713232"/>
          </a:xfrm>
          <a:prstGeom prst="roundRect">
            <a:avLst>
              <a:gd name="adj" fmla="val 12821"/>
            </a:avLst>
          </a:prstGeom>
          <a:solidFill>
            <a:schemeClr val="tx2"/>
          </a:solidFill>
          <a:ln/>
        </p:spPr>
      </p:sp>
      <p:sp>
        <p:nvSpPr>
          <p:cNvPr id="11" name="mcp command text"/>
          <p:cNvSpPr txBox="1"/>
          <p:nvPr/>
        </p:nvSpPr>
        <p:spPr>
          <a:xfrm>
            <a:off x="7452360" y="3510280"/>
            <a:ext cx="4007815" cy="713232"/>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claude mcp add graph --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python -m graph_runtime mcp</a:t>
            </a:r>
            <a:endParaRPr lang="en-US" sz="1300" dirty="0"/>
          </a:p>
        </p:txBody>
      </p:sp>
      <p:sp>
        <p:nvSpPr>
          <p:cNvPr id="12" name="Search, then traverse"/>
          <p:cNvSpPr/>
          <p:nvPr/>
        </p:nvSpPr>
        <p:spPr>
          <a:xfrm>
            <a:off x="7269480" y="4424680"/>
            <a:ext cx="4373575" cy="1400556"/>
          </a:xfrm>
          <a:prstGeom prst="roundRect">
            <a:avLst>
              <a:gd name="adj" fmla="val 6529"/>
            </a:avLst>
          </a:prstGeom>
          <a:solidFill>
            <a:schemeClr val="bg2"/>
          </a:solidFill>
          <a:ln/>
        </p:spPr>
      </p:sp>
      <p:sp>
        <p:nvSpPr>
          <p:cNvPr id="13" name="icon Search, then traverse"/>
          <p:cNvSpPr/>
          <p:nvPr/>
        </p:nvSpPr>
        <p:spPr>
          <a:xfrm>
            <a:off x="7452360" y="4570984"/>
            <a:ext cx="384048" cy="384048"/>
          </a:xfrm>
          <a:prstGeom prst="ellipse">
            <a:avLst/>
          </a:prstGeom>
          <a:solidFill>
            <a:schemeClr val="accent1"/>
          </a:solidFill>
          <a:ln/>
        </p:spPr>
      </p:sp>
      <p:pic>
        <p:nvPicPr>
          <p:cNvPr id="14" name="Image 1" descr="Search, then traverse">    </p:cNvPr>
          <p:cNvPicPr>
            <a:picLocks noChangeAspect="1"/>
          </p:cNvPicPr>
          <p:nvPr/>
        </p:nvPicPr>
        <p:blipFill>
          <a:blip r:embed="rId2"/>
          <a:stretch>
            <a:fillRect/>
          </a:stretch>
        </p:blipFill>
        <p:spPr>
          <a:xfrm>
            <a:off x="7536851" y="4655475"/>
            <a:ext cx="215067" cy="215067"/>
          </a:xfrm>
          <a:prstGeom prst="rect">
            <a:avLst/>
          </a:prstGeom>
        </p:spPr>
      </p:pic>
      <p:sp>
        <p:nvSpPr>
          <p:cNvPr id="15" name="Text 10"/>
          <p:cNvSpPr txBox="1"/>
          <p:nvPr/>
        </p:nvSpPr>
        <p:spPr>
          <a:xfrm>
            <a:off x="7955280" y="4570984"/>
            <a:ext cx="3550615" cy="384048"/>
          </a:xfrm>
          <a:prstGeom prst="rect">
            <a:avLst/>
          </a:prstGeom>
          <a:noFill/>
          <a:ln/>
        </p:spPr>
        <p:txBody>
          <a:bodyPr wrap="square" lIns="0" tIns="0" rIns="0" bIns="0" rtlCol="0" anchor="ctr"/>
          <a:lstStyle/>
          <a:p>
            <a:pPr indent="0" marL="0">
              <a:buNone/>
            </a:pPr>
            <a:r>
              <a:rPr lang="en-US" sz="1600" b="1" dirty="0">
                <a:solidFill>
                  <a:schemeClr val="tx1"/>
                </a:solidFill>
              </a:rPr>
              <a:t>Search, then traverse</a:t>
            </a:r>
            <a:endParaRPr lang="en-US" sz="1600" dirty="0"/>
          </a:p>
        </p:txBody>
      </p:sp>
      <p:sp>
        <p:nvSpPr>
          <p:cNvPr id="16" name="Text 11"/>
          <p:cNvSpPr txBox="1"/>
          <p:nvPr/>
        </p:nvSpPr>
        <p:spPr>
          <a:xfrm>
            <a:off x="7452360" y="5046472"/>
            <a:ext cx="4007815" cy="723900"/>
          </a:xfrm>
          <a:prstGeom prst="rect">
            <a:avLst/>
          </a:prstGeom>
          <a:noFill/>
          <a:ln/>
        </p:spPr>
        <p:txBody>
          <a:bodyPr wrap="square" lIns="0" tIns="0" rIns="0" bIns="0" rtlCol="0" anchor="t"/>
          <a:lstStyle/>
          <a:p>
            <a:pPr indent="0" marL="0">
              <a:buNone/>
            </a:pPr>
            <a:r>
              <a:rPr lang="en-US" sz="1400" dirty="0">
                <a:solidFill>
                  <a:schemeClr val="tx1"/>
                </a:solidFill>
              </a:rPr>
              <a:t>Optional exact text search whose hits name the nodes a traversal starts from: SCALE's own hits in all 1,980 parity searches.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Twenty-three exact operations in six families</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Every operation keeps original IDs and canonical order, honours its limits and returns witnesses; most prove themselves on request.</a:t>
            </a:r>
            <a:endParaRPr lang="en-US" sz="1600" dirty="0"/>
          </a:p>
        </p:txBody>
      </p:sp>
      <p:sp>
        <p:nvSpPr>
          <p:cNvPr id="4" name="family Paths"/>
          <p:cNvSpPr/>
          <p:nvPr/>
        </p:nvSpPr>
        <p:spPr>
          <a:xfrm>
            <a:off x="548640" y="1691640"/>
            <a:ext cx="3515258" cy="2125980"/>
          </a:xfrm>
          <a:prstGeom prst="roundRect">
            <a:avLst>
              <a:gd name="adj" fmla="val 4301"/>
            </a:avLst>
          </a:prstGeom>
          <a:solidFill>
            <a:schemeClr val="bg2"/>
          </a:solidFill>
          <a:ln/>
        </p:spPr>
      </p:sp>
      <p:sp>
        <p:nvSpPr>
          <p:cNvPr id="5" name="icon Paths"/>
          <p:cNvSpPr/>
          <p:nvPr/>
        </p:nvSpPr>
        <p:spPr>
          <a:xfrm>
            <a:off x="749808" y="1892808"/>
            <a:ext cx="502920" cy="502920"/>
          </a:xfrm>
          <a:prstGeom prst="ellipse">
            <a:avLst/>
          </a:prstGeom>
          <a:solidFill>
            <a:schemeClr val="accent1"/>
          </a:solidFill>
          <a:ln/>
        </p:spPr>
      </p:sp>
      <p:pic>
        <p:nvPicPr>
          <p:cNvPr id="6" name="Image 0" descr="Paths">    </p:cNvPr>
          <p:cNvPicPr>
            <a:picLocks noChangeAspect="1"/>
          </p:cNvPicPr>
          <p:nvPr/>
        </p:nvPicPr>
        <p:blipFill>
          <a:blip r:embed="rId1"/>
          <a:stretch>
            <a:fillRect/>
          </a:stretch>
        </p:blipFill>
        <p:spPr>
          <a:xfrm>
            <a:off x="860450" y="2003450"/>
            <a:ext cx="281635" cy="281635"/>
          </a:xfrm>
          <a:prstGeom prst="rect">
            <a:avLst/>
          </a:prstGeom>
        </p:spPr>
      </p:pic>
      <p:sp>
        <p:nvSpPr>
          <p:cNvPr id="7" name="Text 4"/>
          <p:cNvSpPr txBox="1"/>
          <p:nvPr/>
        </p:nvSpPr>
        <p:spPr>
          <a:xfrm>
            <a:off x="1389888" y="1892808"/>
            <a:ext cx="2509418" cy="502920"/>
          </a:xfrm>
          <a:prstGeom prst="rect">
            <a:avLst/>
          </a:prstGeom>
          <a:noFill/>
          <a:ln/>
        </p:spPr>
        <p:txBody>
          <a:bodyPr wrap="square" lIns="0" tIns="0" rIns="0" bIns="0" rtlCol="0" anchor="ctr"/>
          <a:lstStyle/>
          <a:p>
            <a:pPr indent="0" marL="0">
              <a:buNone/>
            </a:pPr>
            <a:r>
              <a:rPr lang="en-US" sz="2000" b="1" dirty="0">
                <a:solidFill>
                  <a:schemeClr val="tx1"/>
                </a:solidFill>
              </a:rPr>
              <a:t>Paths</a:t>
            </a:r>
            <a:endParaRPr lang="en-US" sz="2000" dirty="0"/>
          </a:p>
        </p:txBody>
      </p:sp>
      <p:sp>
        <p:nvSpPr>
          <p:cNvPr id="8" name="Text 5"/>
          <p:cNvSpPr txBox="1"/>
          <p:nvPr/>
        </p:nvSpPr>
        <p:spPr>
          <a:xfrm>
            <a:off x="749808" y="2532888"/>
            <a:ext cx="3112922" cy="74676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reachability · dependency_impact · typed_path · shortest_path · bottleneck_path · regular_path · k_shortest_paths</a:t>
            </a:r>
            <a:endParaRPr lang="en-US" sz="1200" dirty="0"/>
          </a:p>
        </p:txBody>
      </p:sp>
      <p:sp>
        <p:nvSpPr>
          <p:cNvPr id="9" name="Text 6"/>
          <p:cNvSpPr txBox="1"/>
          <p:nvPr/>
        </p:nvSpPr>
        <p:spPr>
          <a:xfrm>
            <a:off x="749808" y="3371088"/>
            <a:ext cx="3112922" cy="309372"/>
          </a:xfrm>
          <a:prstGeom prst="rect">
            <a:avLst/>
          </a:prstGeom>
          <a:noFill/>
          <a:ln/>
        </p:spPr>
        <p:txBody>
          <a:bodyPr wrap="square" lIns="0" tIns="0" rIns="0" bIns="0" rtlCol="0" anchor="t"/>
          <a:lstStyle/>
          <a:p>
            <a:pPr indent="0" marL="0">
              <a:buNone/>
            </a:pPr>
            <a:r>
              <a:rPr lang="en-US" sz="1400" dirty="0">
                <a:solidFill>
                  <a:schemeClr val="tx1"/>
                </a:solidFill>
              </a:rPr>
              <a:t>What connects, and the best ways there.</a:t>
            </a:r>
            <a:endParaRPr lang="en-US" sz="1400" dirty="0"/>
          </a:p>
        </p:txBody>
      </p:sp>
      <p:sp>
        <p:nvSpPr>
          <p:cNvPr id="10" name="family Reasoning and order"/>
          <p:cNvSpPr/>
          <p:nvPr/>
        </p:nvSpPr>
        <p:spPr>
          <a:xfrm>
            <a:off x="4338218" y="1691640"/>
            <a:ext cx="3515258" cy="2125980"/>
          </a:xfrm>
          <a:prstGeom prst="roundRect">
            <a:avLst>
              <a:gd name="adj" fmla="val 4301"/>
            </a:avLst>
          </a:prstGeom>
          <a:solidFill>
            <a:schemeClr val="bg2"/>
          </a:solidFill>
          <a:ln/>
        </p:spPr>
      </p:sp>
      <p:sp>
        <p:nvSpPr>
          <p:cNvPr id="11" name="icon Reasoning and order"/>
          <p:cNvSpPr/>
          <p:nvPr/>
        </p:nvSpPr>
        <p:spPr>
          <a:xfrm>
            <a:off x="4539386" y="1892808"/>
            <a:ext cx="502920" cy="502920"/>
          </a:xfrm>
          <a:prstGeom prst="ellipse">
            <a:avLst/>
          </a:prstGeom>
          <a:solidFill>
            <a:schemeClr val="accent1"/>
          </a:solidFill>
          <a:ln/>
        </p:spPr>
      </p:sp>
      <p:pic>
        <p:nvPicPr>
          <p:cNvPr id="12" name="Image 1" descr="Reasoning and order">    </p:cNvPr>
          <p:cNvPicPr>
            <a:picLocks noChangeAspect="1"/>
          </p:cNvPicPr>
          <p:nvPr/>
        </p:nvPicPr>
        <p:blipFill>
          <a:blip r:embed="rId2"/>
          <a:stretch>
            <a:fillRect/>
          </a:stretch>
        </p:blipFill>
        <p:spPr>
          <a:xfrm>
            <a:off x="4650029" y="2003450"/>
            <a:ext cx="281635" cy="281635"/>
          </a:xfrm>
          <a:prstGeom prst="rect">
            <a:avLst/>
          </a:prstGeom>
        </p:spPr>
      </p:pic>
      <p:sp>
        <p:nvSpPr>
          <p:cNvPr id="13" name="Text 9"/>
          <p:cNvSpPr txBox="1"/>
          <p:nvPr/>
        </p:nvSpPr>
        <p:spPr>
          <a:xfrm>
            <a:off x="5179466" y="1892808"/>
            <a:ext cx="2509418" cy="502920"/>
          </a:xfrm>
          <a:prstGeom prst="rect">
            <a:avLst/>
          </a:prstGeom>
          <a:noFill/>
          <a:ln/>
        </p:spPr>
        <p:txBody>
          <a:bodyPr wrap="square" lIns="0" tIns="0" rIns="0" bIns="0" rtlCol="0" anchor="ctr"/>
          <a:lstStyle/>
          <a:p>
            <a:pPr indent="0" marL="0">
              <a:buNone/>
            </a:pPr>
            <a:r>
              <a:rPr lang="en-US" sz="2000" b="1" dirty="0">
                <a:solidFill>
                  <a:schemeClr val="tx1"/>
                </a:solidFill>
              </a:rPr>
              <a:t>Reasoning and order</a:t>
            </a:r>
            <a:endParaRPr lang="en-US" sz="2000" dirty="0"/>
          </a:p>
        </p:txBody>
      </p:sp>
      <p:sp>
        <p:nvSpPr>
          <p:cNvPr id="14" name="Text 10"/>
          <p:cNvSpPr txBox="1"/>
          <p:nvPr/>
        </p:nvSpPr>
        <p:spPr>
          <a:xfrm>
            <a:off x="4539386" y="2532888"/>
            <a:ext cx="3112922" cy="57150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support · derivation · critical_path · d_separation · dominators</a:t>
            </a:r>
            <a:endParaRPr lang="en-US" sz="1200" dirty="0"/>
          </a:p>
        </p:txBody>
      </p:sp>
      <p:sp>
        <p:nvSpPr>
          <p:cNvPr id="15" name="Text 11"/>
          <p:cNvSpPr txBox="1"/>
          <p:nvPr/>
        </p:nvSpPr>
        <p:spPr>
          <a:xfrm>
            <a:off x="4539386" y="3195828"/>
            <a:ext cx="3112922" cy="484632"/>
          </a:xfrm>
          <a:prstGeom prst="rect">
            <a:avLst/>
          </a:prstGeom>
          <a:noFill/>
          <a:ln/>
        </p:spPr>
        <p:txBody>
          <a:bodyPr wrap="square" lIns="0" tIns="0" rIns="0" bIns="0" rtlCol="0" anchor="t"/>
          <a:lstStyle/>
          <a:p>
            <a:pPr indent="0" marL="0">
              <a:buNone/>
            </a:pPr>
            <a:r>
              <a:rPr lang="en-US" sz="1400" dirty="0">
                <a:solidFill>
                  <a:schemeClr val="tx1"/>
                </a:solidFill>
              </a:rPr>
              <a:t>AND/OR rules, schedules and slack, causal independence, unavoidable nodes.</a:t>
            </a:r>
            <a:endParaRPr lang="en-US" sz="1400" dirty="0"/>
          </a:p>
        </p:txBody>
      </p:sp>
      <p:sp>
        <p:nvSpPr>
          <p:cNvPr id="16" name="family Patterns"/>
          <p:cNvSpPr/>
          <p:nvPr/>
        </p:nvSpPr>
        <p:spPr>
          <a:xfrm>
            <a:off x="8127797" y="1691640"/>
            <a:ext cx="3515258" cy="2125980"/>
          </a:xfrm>
          <a:prstGeom prst="roundRect">
            <a:avLst>
              <a:gd name="adj" fmla="val 4301"/>
            </a:avLst>
          </a:prstGeom>
          <a:solidFill>
            <a:schemeClr val="bg2"/>
          </a:solidFill>
          <a:ln/>
        </p:spPr>
      </p:sp>
      <p:sp>
        <p:nvSpPr>
          <p:cNvPr id="17" name="icon Patterns"/>
          <p:cNvSpPr/>
          <p:nvPr/>
        </p:nvSpPr>
        <p:spPr>
          <a:xfrm>
            <a:off x="8328965" y="1892808"/>
            <a:ext cx="502920" cy="502920"/>
          </a:xfrm>
          <a:prstGeom prst="ellipse">
            <a:avLst/>
          </a:prstGeom>
          <a:solidFill>
            <a:schemeClr val="accent1"/>
          </a:solidFill>
          <a:ln/>
        </p:spPr>
      </p:sp>
      <p:pic>
        <p:nvPicPr>
          <p:cNvPr id="18" name="Image 2" descr="Patterns">    </p:cNvPr>
          <p:cNvPicPr>
            <a:picLocks noChangeAspect="1"/>
          </p:cNvPicPr>
          <p:nvPr/>
        </p:nvPicPr>
        <p:blipFill>
          <a:blip r:embed="rId3"/>
          <a:stretch>
            <a:fillRect/>
          </a:stretch>
        </p:blipFill>
        <p:spPr>
          <a:xfrm>
            <a:off x="8439607" y="2003450"/>
            <a:ext cx="281635" cy="281635"/>
          </a:xfrm>
          <a:prstGeom prst="rect">
            <a:avLst/>
          </a:prstGeom>
        </p:spPr>
      </p:pic>
      <p:sp>
        <p:nvSpPr>
          <p:cNvPr id="19" name="Text 14"/>
          <p:cNvSpPr txBox="1"/>
          <p:nvPr/>
        </p:nvSpPr>
        <p:spPr>
          <a:xfrm>
            <a:off x="8969045" y="1892808"/>
            <a:ext cx="2509418" cy="502920"/>
          </a:xfrm>
          <a:prstGeom prst="rect">
            <a:avLst/>
          </a:prstGeom>
          <a:noFill/>
          <a:ln/>
        </p:spPr>
        <p:txBody>
          <a:bodyPr wrap="square" lIns="0" tIns="0" rIns="0" bIns="0" rtlCol="0" anchor="ctr"/>
          <a:lstStyle/>
          <a:p>
            <a:pPr indent="0" marL="0">
              <a:buNone/>
            </a:pPr>
            <a:r>
              <a:rPr lang="en-US" sz="2000" b="1" dirty="0">
                <a:solidFill>
                  <a:schemeClr val="tx1"/>
                </a:solidFill>
              </a:rPr>
              <a:t>Patterns</a:t>
            </a:r>
            <a:endParaRPr lang="en-US" sz="2000" dirty="0"/>
          </a:p>
        </p:txBody>
      </p:sp>
      <p:sp>
        <p:nvSpPr>
          <p:cNvPr id="20" name="Text 15"/>
          <p:cNvSpPr txBox="1"/>
          <p:nvPr/>
        </p:nvSpPr>
        <p:spPr>
          <a:xfrm>
            <a:off x="8328965" y="2532888"/>
            <a:ext cx="3112922" cy="22098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pattern</a:t>
            </a:r>
            <a:endParaRPr lang="en-US" sz="1200" dirty="0"/>
          </a:p>
        </p:txBody>
      </p:sp>
      <p:sp>
        <p:nvSpPr>
          <p:cNvPr id="21" name="Text 16"/>
          <p:cNvSpPr txBox="1"/>
          <p:nvPr/>
        </p:nvSpPr>
        <p:spPr>
          <a:xfrm>
            <a:off x="8328965" y="2845308"/>
            <a:ext cx="3112922" cy="835152"/>
          </a:xfrm>
          <a:prstGeom prst="rect">
            <a:avLst/>
          </a:prstGeom>
          <a:noFill/>
          <a:ln/>
        </p:spPr>
        <p:txBody>
          <a:bodyPr wrap="square" lIns="0" tIns="0" rIns="0" bIns="0" rtlCol="0" anchor="t"/>
          <a:lstStyle/>
          <a:p>
            <a:pPr indent="0" marL="0">
              <a:buNone/>
            </a:pPr>
            <a:r>
              <a:rPr lang="en-US" sz="1400" dirty="0">
                <a:solidFill>
                  <a:schemeClr val="tx1"/>
                </a:solidFill>
              </a:rPr>
              <a:t>Multi-step questions counted exactly, cycles by a worst-case optimal join, injective substructure search.</a:t>
            </a:r>
            <a:endParaRPr lang="en-US" sz="1400" dirty="0"/>
          </a:p>
        </p:txBody>
      </p:sp>
      <p:sp>
        <p:nvSpPr>
          <p:cNvPr id="22" name="family Ranking and algebra"/>
          <p:cNvSpPr/>
          <p:nvPr/>
        </p:nvSpPr>
        <p:spPr>
          <a:xfrm>
            <a:off x="548640" y="4091940"/>
            <a:ext cx="3515258" cy="2125980"/>
          </a:xfrm>
          <a:prstGeom prst="roundRect">
            <a:avLst>
              <a:gd name="adj" fmla="val 4301"/>
            </a:avLst>
          </a:prstGeom>
          <a:solidFill>
            <a:schemeClr val="bg2"/>
          </a:solidFill>
          <a:ln/>
        </p:spPr>
      </p:sp>
      <p:sp>
        <p:nvSpPr>
          <p:cNvPr id="23" name="icon Ranking and algebra"/>
          <p:cNvSpPr/>
          <p:nvPr/>
        </p:nvSpPr>
        <p:spPr>
          <a:xfrm>
            <a:off x="749808" y="4293108"/>
            <a:ext cx="502920" cy="502920"/>
          </a:xfrm>
          <a:prstGeom prst="ellipse">
            <a:avLst/>
          </a:prstGeom>
          <a:solidFill>
            <a:schemeClr val="accent1"/>
          </a:solidFill>
          <a:ln/>
        </p:spPr>
      </p:sp>
      <p:pic>
        <p:nvPicPr>
          <p:cNvPr id="24" name="Image 3" descr="Ranking and algebra">    </p:cNvPr>
          <p:cNvPicPr>
            <a:picLocks noChangeAspect="1"/>
          </p:cNvPicPr>
          <p:nvPr/>
        </p:nvPicPr>
        <p:blipFill>
          <a:blip r:embed="rId4"/>
          <a:stretch>
            <a:fillRect/>
          </a:stretch>
        </p:blipFill>
        <p:spPr>
          <a:xfrm>
            <a:off x="860450" y="4403750"/>
            <a:ext cx="281635" cy="281635"/>
          </a:xfrm>
          <a:prstGeom prst="rect">
            <a:avLst/>
          </a:prstGeom>
        </p:spPr>
      </p:pic>
      <p:sp>
        <p:nvSpPr>
          <p:cNvPr id="25" name="Text 19"/>
          <p:cNvSpPr txBox="1"/>
          <p:nvPr/>
        </p:nvSpPr>
        <p:spPr>
          <a:xfrm>
            <a:off x="1389888" y="4293108"/>
            <a:ext cx="2509418" cy="502920"/>
          </a:xfrm>
          <a:prstGeom prst="rect">
            <a:avLst/>
          </a:prstGeom>
          <a:noFill/>
          <a:ln/>
        </p:spPr>
        <p:txBody>
          <a:bodyPr wrap="square" lIns="0" tIns="0" rIns="0" bIns="0" rtlCol="0" anchor="ctr"/>
          <a:lstStyle/>
          <a:p>
            <a:pPr indent="0" marL="0">
              <a:buNone/>
            </a:pPr>
            <a:r>
              <a:rPr lang="en-US" sz="2000" b="1" dirty="0">
                <a:solidFill>
                  <a:schemeClr val="tx1"/>
                </a:solidFill>
              </a:rPr>
              <a:t>Ranking and algebra</a:t>
            </a:r>
            <a:endParaRPr lang="en-US" sz="2000" dirty="0"/>
          </a:p>
        </p:txBody>
      </p:sp>
      <p:sp>
        <p:nvSpPr>
          <p:cNvPr id="26" name="Text 20"/>
          <p:cNvSpPr txBox="1"/>
          <p:nvPr/>
        </p:nvSpPr>
        <p:spPr>
          <a:xfrm>
            <a:off x="749808" y="4933188"/>
            <a:ext cx="3112922" cy="22098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personalized_pagerank · incidence</a:t>
            </a:r>
            <a:endParaRPr lang="en-US" sz="1200" dirty="0"/>
          </a:p>
        </p:txBody>
      </p:sp>
      <p:sp>
        <p:nvSpPr>
          <p:cNvPr id="27" name="Text 21"/>
          <p:cNvSpPr txBox="1"/>
          <p:nvPr/>
        </p:nvSpPr>
        <p:spPr>
          <a:xfrm>
            <a:off x="749808" y="5245608"/>
            <a:ext cx="3112922" cy="835152"/>
          </a:xfrm>
          <a:prstGeom prst="rect">
            <a:avLst/>
          </a:prstGeom>
          <a:noFill/>
          <a:ln/>
        </p:spPr>
        <p:txBody>
          <a:bodyPr wrap="square" lIns="0" tIns="0" rIns="0" bIns="0" rtlCol="0" anchor="t"/>
          <a:lstStyle/>
          <a:p>
            <a:pPr indent="0" marL="0">
              <a:buNone/>
            </a:pPr>
            <a:r>
              <a:rPr lang="en-US" sz="1400" dirty="0">
                <a:solidFill>
                  <a:schemeClr val="tx1"/>
                </a:solidFill>
              </a:rPr>
              <a:t>Relevance as proven intervals; exact rank and conservation laws.</a:t>
            </a:r>
            <a:endParaRPr lang="en-US" sz="1400" dirty="0"/>
          </a:p>
        </p:txBody>
      </p:sp>
      <p:sp>
        <p:nvSpPr>
          <p:cNvPr id="28" name="family Rings and crystals"/>
          <p:cNvSpPr/>
          <p:nvPr/>
        </p:nvSpPr>
        <p:spPr>
          <a:xfrm>
            <a:off x="4338218" y="4091940"/>
            <a:ext cx="3515258" cy="2125980"/>
          </a:xfrm>
          <a:prstGeom prst="roundRect">
            <a:avLst>
              <a:gd name="adj" fmla="val 4301"/>
            </a:avLst>
          </a:prstGeom>
          <a:solidFill>
            <a:schemeClr val="bg2"/>
          </a:solidFill>
          <a:ln/>
        </p:spPr>
      </p:sp>
      <p:sp>
        <p:nvSpPr>
          <p:cNvPr id="29" name="icon Rings and crystals"/>
          <p:cNvSpPr/>
          <p:nvPr/>
        </p:nvSpPr>
        <p:spPr>
          <a:xfrm>
            <a:off x="4539386" y="4293108"/>
            <a:ext cx="502920" cy="502920"/>
          </a:xfrm>
          <a:prstGeom prst="ellipse">
            <a:avLst/>
          </a:prstGeom>
          <a:solidFill>
            <a:schemeClr val="accent1"/>
          </a:solidFill>
          <a:ln/>
        </p:spPr>
      </p:sp>
      <p:pic>
        <p:nvPicPr>
          <p:cNvPr id="30" name="Image 4" descr="Rings and crystals">    </p:cNvPr>
          <p:cNvPicPr>
            <a:picLocks noChangeAspect="1"/>
          </p:cNvPicPr>
          <p:nvPr/>
        </p:nvPicPr>
        <p:blipFill>
          <a:blip r:embed="rId5"/>
          <a:stretch>
            <a:fillRect/>
          </a:stretch>
        </p:blipFill>
        <p:spPr>
          <a:xfrm>
            <a:off x="4650029" y="4403750"/>
            <a:ext cx="281635" cy="281635"/>
          </a:xfrm>
          <a:prstGeom prst="rect">
            <a:avLst/>
          </a:prstGeom>
        </p:spPr>
      </p:pic>
      <p:sp>
        <p:nvSpPr>
          <p:cNvPr id="31" name="Text 24"/>
          <p:cNvSpPr txBox="1"/>
          <p:nvPr/>
        </p:nvSpPr>
        <p:spPr>
          <a:xfrm>
            <a:off x="5179466" y="4293108"/>
            <a:ext cx="2509418" cy="502920"/>
          </a:xfrm>
          <a:prstGeom prst="rect">
            <a:avLst/>
          </a:prstGeom>
          <a:noFill/>
          <a:ln/>
        </p:spPr>
        <p:txBody>
          <a:bodyPr wrap="square" lIns="0" tIns="0" rIns="0" bIns="0" rtlCol="0" anchor="ctr"/>
          <a:lstStyle/>
          <a:p>
            <a:pPr indent="0" marL="0">
              <a:buNone/>
            </a:pPr>
            <a:r>
              <a:rPr lang="en-US" sz="2000" b="1" dirty="0">
                <a:solidFill>
                  <a:schemeClr val="tx1"/>
                </a:solidFill>
              </a:rPr>
              <a:t>Rings and crystals</a:t>
            </a:r>
            <a:endParaRPr lang="en-US" sz="2000" dirty="0"/>
          </a:p>
        </p:txBody>
      </p:sp>
      <p:sp>
        <p:nvSpPr>
          <p:cNvPr id="32" name="Text 25"/>
          <p:cNvSpPr txBox="1"/>
          <p:nvPr/>
        </p:nvSpPr>
        <p:spPr>
          <a:xfrm>
            <a:off x="4539386" y="4933188"/>
            <a:ext cx="3112922" cy="22098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cycle_basis · periodicity</a:t>
            </a:r>
            <a:endParaRPr lang="en-US" sz="1200" dirty="0"/>
          </a:p>
        </p:txBody>
      </p:sp>
      <p:sp>
        <p:nvSpPr>
          <p:cNvPr id="33" name="Text 26"/>
          <p:cNvSpPr txBox="1"/>
          <p:nvPr/>
        </p:nvSpPr>
        <p:spPr>
          <a:xfrm>
            <a:off x="4539386" y="5245608"/>
            <a:ext cx="3112922" cy="835152"/>
          </a:xfrm>
          <a:prstGeom prst="rect">
            <a:avLst/>
          </a:prstGeom>
          <a:noFill/>
          <a:ln/>
        </p:spPr>
        <p:txBody>
          <a:bodyPr wrap="square" lIns="0" tIns="0" rIns="0" bIns="0" rtlCol="0" anchor="t"/>
          <a:lstStyle/>
          <a:p>
            <a:pPr indent="0" marL="0">
              <a:buNone/>
            </a:pPr>
            <a:r>
              <a:rPr lang="en-US" sz="1400" dirty="0">
                <a:solidFill>
                  <a:schemeClr val="tx1"/>
                </a:solidFill>
              </a:rPr>
              <a:t>Ring perception; crystals, slabs and polymers searched from one cell.</a:t>
            </a:r>
            <a:endParaRPr lang="en-US" sz="1400" dirty="0"/>
          </a:p>
        </p:txBody>
      </p:sp>
      <p:sp>
        <p:nvSpPr>
          <p:cNvPr id="34" name="family Structure and flows"/>
          <p:cNvSpPr/>
          <p:nvPr/>
        </p:nvSpPr>
        <p:spPr>
          <a:xfrm>
            <a:off x="8127797" y="4091940"/>
            <a:ext cx="3515258" cy="2125980"/>
          </a:xfrm>
          <a:prstGeom prst="roundRect">
            <a:avLst>
              <a:gd name="adj" fmla="val 4301"/>
            </a:avLst>
          </a:prstGeom>
          <a:solidFill>
            <a:schemeClr val="bg2"/>
          </a:solidFill>
          <a:ln/>
        </p:spPr>
      </p:sp>
      <p:sp>
        <p:nvSpPr>
          <p:cNvPr id="35" name="icon Structure and flows"/>
          <p:cNvSpPr/>
          <p:nvPr/>
        </p:nvSpPr>
        <p:spPr>
          <a:xfrm>
            <a:off x="8328965" y="4293108"/>
            <a:ext cx="502920" cy="502920"/>
          </a:xfrm>
          <a:prstGeom prst="ellipse">
            <a:avLst/>
          </a:prstGeom>
          <a:solidFill>
            <a:schemeClr val="accent1"/>
          </a:solidFill>
          <a:ln/>
        </p:spPr>
      </p:sp>
      <p:pic>
        <p:nvPicPr>
          <p:cNvPr id="36" name="Image 5" descr="Structure and flows">    </p:cNvPr>
          <p:cNvPicPr>
            <a:picLocks noChangeAspect="1"/>
          </p:cNvPicPr>
          <p:nvPr/>
        </p:nvPicPr>
        <p:blipFill>
          <a:blip r:embed="rId6"/>
          <a:stretch>
            <a:fillRect/>
          </a:stretch>
        </p:blipFill>
        <p:spPr>
          <a:xfrm>
            <a:off x="8439607" y="4403750"/>
            <a:ext cx="281635" cy="281635"/>
          </a:xfrm>
          <a:prstGeom prst="rect">
            <a:avLst/>
          </a:prstGeom>
        </p:spPr>
      </p:pic>
      <p:sp>
        <p:nvSpPr>
          <p:cNvPr id="37" name="Text 29"/>
          <p:cNvSpPr txBox="1"/>
          <p:nvPr/>
        </p:nvSpPr>
        <p:spPr>
          <a:xfrm>
            <a:off x="8969045" y="4293108"/>
            <a:ext cx="2509418" cy="502920"/>
          </a:xfrm>
          <a:prstGeom prst="rect">
            <a:avLst/>
          </a:prstGeom>
          <a:noFill/>
          <a:ln/>
        </p:spPr>
        <p:txBody>
          <a:bodyPr wrap="square" lIns="0" tIns="0" rIns="0" bIns="0" rtlCol="0" anchor="ctr"/>
          <a:lstStyle/>
          <a:p>
            <a:pPr indent="0" marL="0">
              <a:buNone/>
            </a:pPr>
            <a:r>
              <a:rPr lang="en-US" sz="2000" b="1" dirty="0">
                <a:solidFill>
                  <a:schemeClr val="tx1"/>
                </a:solidFill>
              </a:rPr>
              <a:t>Structure and flows</a:t>
            </a:r>
            <a:endParaRPr lang="en-US" sz="2000" dirty="0"/>
          </a:p>
        </p:txBody>
      </p:sp>
      <p:sp>
        <p:nvSpPr>
          <p:cNvPr id="38" name="Text 30"/>
          <p:cNvSpPr txBox="1"/>
          <p:nvPr/>
        </p:nvSpPr>
        <p:spPr>
          <a:xfrm>
            <a:off x="8328965" y="4933188"/>
            <a:ext cx="3112922" cy="57150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components · biconnectivity · spanning_forest · max_flow · min_cost_flow · matching</a:t>
            </a:r>
            <a:endParaRPr lang="en-US" sz="1200" dirty="0"/>
          </a:p>
        </p:txBody>
      </p:sp>
      <p:sp>
        <p:nvSpPr>
          <p:cNvPr id="39" name="Text 31"/>
          <p:cNvSpPr txBox="1"/>
          <p:nvPr/>
        </p:nvSpPr>
        <p:spPr>
          <a:xfrm>
            <a:off x="8328965" y="5596128"/>
            <a:ext cx="3112922" cy="484632"/>
          </a:xfrm>
          <a:prstGeom prst="rect">
            <a:avLst/>
          </a:prstGeom>
          <a:noFill/>
          <a:ln/>
        </p:spPr>
        <p:txBody>
          <a:bodyPr wrap="square" lIns="0" tIns="0" rIns="0" bIns="0" rtlCol="0" anchor="t"/>
          <a:lstStyle/>
          <a:p>
            <a:pPr indent="0" marL="0">
              <a:buNone/>
            </a:pPr>
            <a:r>
              <a:rPr lang="en-US" sz="1400" dirty="0">
                <a:solidFill>
                  <a:schemeClr val="tx1"/>
                </a:solidFill>
              </a:rPr>
              <a:t>Pieces, weak points, backbones, throughput at least cost, pairings.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Paths: reach, follow, optimize</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Breadth-first, Dijkstra and Bellman-Ford-Moore searches in canonical order: one request, always the same witness.</a:t>
            </a:r>
            <a:endParaRPr lang="en-US" sz="1600" dirty="0"/>
          </a:p>
        </p:txBody>
      </p:sp>
      <p:sp>
        <p:nvSpPr>
          <p:cNvPr id="4" name="operation reachability"/>
          <p:cNvSpPr/>
          <p:nvPr/>
        </p:nvSpPr>
        <p:spPr>
          <a:xfrm>
            <a:off x="548640" y="1691640"/>
            <a:ext cx="3515258" cy="4526280"/>
          </a:xfrm>
          <a:prstGeom prst="roundRect">
            <a:avLst>
              <a:gd name="adj" fmla="val 2601"/>
            </a:avLst>
          </a:prstGeom>
          <a:solidFill>
            <a:schemeClr val="bg2"/>
          </a:solidFill>
          <a:ln/>
        </p:spPr>
      </p:sp>
      <p:sp>
        <p:nvSpPr>
          <p:cNvPr id="5" name="icon reachability"/>
          <p:cNvSpPr/>
          <p:nvPr/>
        </p:nvSpPr>
        <p:spPr>
          <a:xfrm>
            <a:off x="749808" y="1892808"/>
            <a:ext cx="512064" cy="512064"/>
          </a:xfrm>
          <a:prstGeom prst="ellipse">
            <a:avLst/>
          </a:prstGeom>
          <a:solidFill>
            <a:schemeClr val="accent1"/>
          </a:solidFill>
          <a:ln/>
        </p:spPr>
      </p:sp>
      <p:pic>
        <p:nvPicPr>
          <p:cNvPr id="6" name="Image 0" descr="reachability">    </p:cNvPr>
          <p:cNvPicPr>
            <a:picLocks noChangeAspect="1"/>
          </p:cNvPicPr>
          <p:nvPr/>
        </p:nvPicPr>
        <p:blipFill>
          <a:blip r:embed="rId1"/>
          <a:stretch>
            <a:fillRect/>
          </a:stretch>
        </p:blipFill>
        <p:spPr>
          <a:xfrm>
            <a:off x="862462" y="2005462"/>
            <a:ext cx="286756" cy="286756"/>
          </a:xfrm>
          <a:prstGeom prst="rect">
            <a:avLst/>
          </a:prstGeom>
        </p:spPr>
      </p:pic>
      <p:sp>
        <p:nvSpPr>
          <p:cNvPr id="7" name="Text 4"/>
          <p:cNvSpPr txBox="1"/>
          <p:nvPr/>
        </p:nvSpPr>
        <p:spPr>
          <a:xfrm>
            <a:off x="1408176" y="1874520"/>
            <a:ext cx="2454554" cy="693801"/>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reachability</a:t>
            </a:r>
            <a:endParaRPr lang="en-US" sz="1500" dirty="0"/>
          </a:p>
          <a:p>
            <a:pPr indent="0" marL="0">
              <a:buNone/>
            </a:pPr>
            <a:r>
              <a:rPr lang="en-US" sz="1500" b="1" dirty="0">
                <a:solidFill>
                  <a:schemeClr val="tx1"/>
                </a:solidFill>
              </a:rPr>
              <a:t>Reach, and dependency impact</a:t>
            </a:r>
            <a:endParaRPr lang="en-US" sz="1500" dirty="0"/>
          </a:p>
        </p:txBody>
      </p:sp>
      <p:sp>
        <p:nvSpPr>
          <p:cNvPr id="8" name="Text 5"/>
          <p:cNvSpPr txBox="1"/>
          <p:nvPr/>
        </p:nvSpPr>
        <p:spPr>
          <a:xfrm>
            <a:off x="749808" y="2714625"/>
            <a:ext cx="3112922" cy="2066163"/>
          </a:xfrm>
          <a:prstGeom prst="rect">
            <a:avLst/>
          </a:prstGeom>
          <a:noFill/>
          <a:ln/>
        </p:spPr>
        <p:txBody>
          <a:bodyPr wrap="square" lIns="0" tIns="0" rIns="0" bIns="0" rtlCol="0" anchor="t"/>
          <a:lstStyle/>
          <a:p>
            <a:pPr indent="0" marL="0">
              <a:spcAft>
                <a:spcPts val="840"/>
              </a:spcAft>
              <a:buNone/>
            </a:pPr>
            <a:r>
              <a:rPr lang="en-US" sz="1400" b="1" dirty="0">
                <a:solidFill>
                  <a:schemeClr val="accent1"/>
                </a:solidFill>
              </a:rPr>
              <a:t>Theory. </a:t>
            </a:r>
            <a:pPr indent="0" marL="0">
              <a:spcAft>
                <a:spcPts val="840"/>
              </a:spcAft>
              <a:buNone/>
            </a:pPr>
            <a:r>
              <a:rPr lang="en-US" sz="1400" dirty="0">
                <a:solidFill>
                  <a:schemeClr val="tx1"/>
                </a:solidFill>
              </a:rPr>
              <a:t>Every node within the scope and depth, at its least hop count; </a:t>
            </a:r>
            <a:pPr indent="0" marL="0">
              <a:spcAft>
                <a:spcPts val="840"/>
              </a:spcAft>
              <a:buNone/>
            </a:pPr>
            <a:r>
              <a:rPr lang="en-US" sz="1300" dirty="0">
                <a:solidFill>
                  <a:schemeClr val="tx1"/>
                </a:solidFill>
                <a:latin typeface="Courier New" pitchFamily="34" charset="0"/>
                <a:ea typeface="Courier New" pitchFamily="34" charset="-122"/>
                <a:cs typeface="Courier New" pitchFamily="34" charset="-120"/>
              </a:rPr>
              <a:t>dependency_impact</a:t>
            </a:r>
            <a:pPr indent="0" marL="0">
              <a:spcAft>
                <a:spcPts val="840"/>
              </a:spcAft>
              <a:buNone/>
            </a:pPr>
            <a:r>
              <a:rPr lang="en-US" sz="1400" dirty="0">
                <a:solidFill>
                  <a:schemeClr val="tx1"/>
                </a:solidFill>
              </a:rPr>
              <a:t> runs the same search from changed nodes.</a:t>
            </a:r>
            <a:endParaRPr lang="en-US" sz="1400" dirty="0"/>
          </a:p>
          <a:p>
            <a:pPr indent="0" marL="0">
              <a:buNone/>
            </a:pPr>
            <a:r>
              <a:rPr lang="en-US" sz="1400" b="1" dirty="0">
                <a:solidFill>
                  <a:schemeClr val="accent1"/>
                </a:solidFill>
              </a:rPr>
              <a:t>Algorithm. </a:t>
            </a:r>
            <a:pPr indent="0" marL="0">
              <a:buNone/>
            </a:pPr>
            <a:r>
              <a:rPr lang="en-US" sz="1400" dirty="0">
                <a:solidFill>
                  <a:schemeClr val="tx1"/>
                </a:solidFill>
              </a:rPr>
              <a:t>Breadth-first search in canonical order; each node's first hop builds a witness tree.</a:t>
            </a:r>
            <a:endParaRPr lang="en-US" sz="1400" dirty="0"/>
          </a:p>
        </p:txBody>
      </p:sp>
      <p:sp>
        <p:nvSpPr>
          <p:cNvPr id="9" name="proof reachability"/>
          <p:cNvSpPr/>
          <p:nvPr/>
        </p:nvSpPr>
        <p:spPr>
          <a:xfrm>
            <a:off x="694944" y="4853940"/>
            <a:ext cx="3222650" cy="1162812"/>
          </a:xfrm>
          <a:prstGeom prst="roundRect">
            <a:avLst>
              <a:gd name="adj" fmla="val 6291"/>
            </a:avLst>
          </a:prstGeom>
          <a:solidFill>
            <a:schemeClr val="bg1"/>
          </a:solidFill>
          <a:ln w="15875">
            <a:solidFill>
              <a:schemeClr val="accent1"/>
            </a:solidFill>
            <a:prstDash val="solid"/>
          </a:ln>
        </p:spPr>
      </p:sp>
      <p:pic>
        <p:nvPicPr>
          <p:cNvPr id="10" name="Image 1" descr="certificate">    </p:cNvPr>
          <p:cNvPicPr>
            <a:picLocks noChangeAspect="1"/>
          </p:cNvPicPr>
          <p:nvPr/>
        </p:nvPicPr>
        <p:blipFill>
          <a:blip r:embed="rId2"/>
          <a:stretch>
            <a:fillRect/>
          </a:stretch>
        </p:blipFill>
        <p:spPr>
          <a:xfrm>
            <a:off x="804672" y="4945380"/>
            <a:ext cx="246888" cy="246888"/>
          </a:xfrm>
          <a:prstGeom prst="rect">
            <a:avLst/>
          </a:prstGeom>
        </p:spPr>
      </p:pic>
      <p:sp>
        <p:nvSpPr>
          <p:cNvPr id="11" name="Text 7"/>
          <p:cNvSpPr txBox="1"/>
          <p:nvPr/>
        </p:nvSpPr>
        <p:spPr>
          <a:xfrm>
            <a:off x="1133856" y="4945380"/>
            <a:ext cx="2655722"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CLOSURE PROVES</a:t>
            </a:r>
            <a:endParaRPr lang="en-US" sz="1100" dirty="0"/>
          </a:p>
        </p:txBody>
      </p:sp>
      <p:sp>
        <p:nvSpPr>
          <p:cNvPr id="12" name="Text 8"/>
          <p:cNvSpPr txBox="1"/>
          <p:nvPr/>
        </p:nvSpPr>
        <p:spPr>
          <a:xfrm>
            <a:off x="804672" y="5237988"/>
            <a:ext cx="3003194" cy="705612"/>
          </a:xfrm>
          <a:prstGeom prst="rect">
            <a:avLst/>
          </a:prstGeom>
          <a:noFill/>
          <a:ln/>
        </p:spPr>
        <p:txBody>
          <a:bodyPr wrap="square" lIns="0" tIns="0" rIns="0" bIns="0" rtlCol="0" anchor="t"/>
          <a:lstStyle/>
          <a:p>
            <a:pPr indent="0" marL="0">
              <a:buNone/>
            </a:pPr>
            <a:r>
              <a:rPr lang="en-US" sz="1400" dirty="0">
                <a:solidFill>
                  <a:schemeClr val="tx1"/>
                </a:solidFill>
              </a:rPr>
              <a:t>Every hop from an expanded node leads to a listed node at most one hop deeper: complete, and depths least.</a:t>
            </a:r>
            <a:endParaRPr lang="en-US" sz="1400" dirty="0"/>
          </a:p>
        </p:txBody>
      </p:sp>
      <p:sp>
        <p:nvSpPr>
          <p:cNvPr id="13" name="operation typed_path"/>
          <p:cNvSpPr/>
          <p:nvPr/>
        </p:nvSpPr>
        <p:spPr>
          <a:xfrm>
            <a:off x="4338218" y="1691640"/>
            <a:ext cx="3515258" cy="4526280"/>
          </a:xfrm>
          <a:prstGeom prst="roundRect">
            <a:avLst>
              <a:gd name="adj" fmla="val 2601"/>
            </a:avLst>
          </a:prstGeom>
          <a:solidFill>
            <a:schemeClr val="bg2"/>
          </a:solidFill>
          <a:ln/>
        </p:spPr>
      </p:sp>
      <p:sp>
        <p:nvSpPr>
          <p:cNvPr id="14" name="icon typed_path"/>
          <p:cNvSpPr/>
          <p:nvPr/>
        </p:nvSpPr>
        <p:spPr>
          <a:xfrm>
            <a:off x="4539386" y="1892808"/>
            <a:ext cx="512064" cy="512064"/>
          </a:xfrm>
          <a:prstGeom prst="ellipse">
            <a:avLst/>
          </a:prstGeom>
          <a:solidFill>
            <a:schemeClr val="accent1"/>
          </a:solidFill>
          <a:ln/>
        </p:spPr>
      </p:sp>
      <p:pic>
        <p:nvPicPr>
          <p:cNvPr id="15" name="Image 2" descr="typed_path">    </p:cNvPr>
          <p:cNvPicPr>
            <a:picLocks noChangeAspect="1"/>
          </p:cNvPicPr>
          <p:nvPr/>
        </p:nvPicPr>
        <p:blipFill>
          <a:blip r:embed="rId3"/>
          <a:stretch>
            <a:fillRect/>
          </a:stretch>
        </p:blipFill>
        <p:spPr>
          <a:xfrm>
            <a:off x="4652040" y="2005462"/>
            <a:ext cx="286756" cy="286756"/>
          </a:xfrm>
          <a:prstGeom prst="rect">
            <a:avLst/>
          </a:prstGeom>
        </p:spPr>
      </p:pic>
      <p:sp>
        <p:nvSpPr>
          <p:cNvPr id="16" name="Text 11"/>
          <p:cNvSpPr txBox="1"/>
          <p:nvPr/>
        </p:nvSpPr>
        <p:spPr>
          <a:xfrm>
            <a:off x="5197754" y="1874520"/>
            <a:ext cx="2454554" cy="693801"/>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typed_path</a:t>
            </a:r>
            <a:endParaRPr lang="en-US" sz="1500" dirty="0"/>
          </a:p>
          <a:p>
            <a:pPr indent="0" marL="0">
              <a:buNone/>
            </a:pPr>
            <a:r>
              <a:rPr lang="en-US" sz="1500" b="1" dirty="0">
                <a:solidFill>
                  <a:schemeClr val="tx1"/>
                </a:solidFill>
              </a:rPr>
              <a:t>A walk along a relation sequence</a:t>
            </a:r>
            <a:endParaRPr lang="en-US" sz="1500" dirty="0"/>
          </a:p>
        </p:txBody>
      </p:sp>
      <p:sp>
        <p:nvSpPr>
          <p:cNvPr id="17" name="Text 12"/>
          <p:cNvSpPr txBox="1"/>
          <p:nvPr/>
        </p:nvSpPr>
        <p:spPr>
          <a:xfrm>
            <a:off x="4539386" y="2714625"/>
            <a:ext cx="3112922" cy="2066163"/>
          </a:xfrm>
          <a:prstGeom prst="rect">
            <a:avLst/>
          </a:prstGeom>
          <a:noFill/>
          <a:ln/>
        </p:spPr>
        <p:txBody>
          <a:bodyPr wrap="square" lIns="0" tIns="0" rIns="0" bIns="0" rtlCol="0" anchor="t"/>
          <a:lstStyle/>
          <a:p>
            <a:pPr indent="0" marL="0">
              <a:spcAft>
                <a:spcPts val="840"/>
              </a:spcAft>
              <a:buNone/>
            </a:pPr>
            <a:r>
              <a:rPr lang="en-US" sz="1400" b="1" dirty="0">
                <a:solidFill>
                  <a:schemeClr val="accent1"/>
                </a:solidFill>
              </a:rPr>
              <a:t>Theory. </a:t>
            </a:r>
            <a:pPr indent="0" marL="0">
              <a:spcAft>
                <a:spcPts val="840"/>
              </a:spcAft>
              <a:buNone/>
            </a:pPr>
            <a:r>
              <a:rPr lang="en-US" sz="1400" dirty="0">
                <a:solidFill>
                  <a:schemeClr val="tx1"/>
                </a:solidFill>
              </a:rPr>
              <a:t>One walk matching a finite sequence of relations, with optional node types at each position.</a:t>
            </a:r>
            <a:endParaRPr lang="en-US" sz="1400" dirty="0"/>
          </a:p>
          <a:p>
            <a:pPr indent="0" marL="0">
              <a:buNone/>
            </a:pPr>
            <a:r>
              <a:rPr lang="en-US" sz="1400" b="1" dirty="0">
                <a:solidFill>
                  <a:schemeClr val="accent1"/>
                </a:solidFill>
              </a:rPr>
              <a:t>Algorithm. </a:t>
            </a:r>
            <a:pPr indent="0" marL="0">
              <a:buNone/>
            </a:pPr>
            <a:r>
              <a:rPr lang="en-US" sz="1400" dirty="0">
                <a:solidFill>
                  <a:schemeClr val="tx1"/>
                </a:solidFill>
              </a:rPr>
              <a:t>Breadth-first search over (node, position) states.</a:t>
            </a:r>
            <a:endParaRPr lang="en-US" sz="1400" dirty="0"/>
          </a:p>
        </p:txBody>
      </p:sp>
      <p:sp>
        <p:nvSpPr>
          <p:cNvPr id="18" name="proof typed_path"/>
          <p:cNvSpPr/>
          <p:nvPr/>
        </p:nvSpPr>
        <p:spPr>
          <a:xfrm>
            <a:off x="4484522" y="4853940"/>
            <a:ext cx="3222650" cy="1162812"/>
          </a:xfrm>
          <a:prstGeom prst="roundRect">
            <a:avLst>
              <a:gd name="adj" fmla="val 6291"/>
            </a:avLst>
          </a:prstGeom>
          <a:solidFill>
            <a:schemeClr val="bg1"/>
          </a:solidFill>
          <a:ln w="15875">
            <a:solidFill>
              <a:schemeClr val="accent1"/>
            </a:solidFill>
            <a:prstDash val="solid"/>
          </a:ln>
        </p:spPr>
      </p:sp>
      <p:pic>
        <p:nvPicPr>
          <p:cNvPr id="19" name="Image 3" descr="certificate">    </p:cNvPr>
          <p:cNvPicPr>
            <a:picLocks noChangeAspect="1"/>
          </p:cNvPicPr>
          <p:nvPr/>
        </p:nvPicPr>
        <p:blipFill>
          <a:blip r:embed="rId4"/>
          <a:stretch>
            <a:fillRect/>
          </a:stretch>
        </p:blipFill>
        <p:spPr>
          <a:xfrm>
            <a:off x="4594250" y="4945380"/>
            <a:ext cx="246888" cy="246888"/>
          </a:xfrm>
          <a:prstGeom prst="rect">
            <a:avLst/>
          </a:prstGeom>
        </p:spPr>
      </p:pic>
      <p:sp>
        <p:nvSpPr>
          <p:cNvPr id="20" name="Text 14"/>
          <p:cNvSpPr txBox="1"/>
          <p:nvPr/>
        </p:nvSpPr>
        <p:spPr>
          <a:xfrm>
            <a:off x="4923434" y="4945380"/>
            <a:ext cx="2655722"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CERTIFICATE PROVES</a:t>
            </a:r>
            <a:endParaRPr lang="en-US" sz="1100" dirty="0"/>
          </a:p>
        </p:txBody>
      </p:sp>
      <p:sp>
        <p:nvSpPr>
          <p:cNvPr id="21" name="Text 15"/>
          <p:cNvSpPr txBox="1"/>
          <p:nvPr/>
        </p:nvSpPr>
        <p:spPr>
          <a:xfrm>
            <a:off x="4594250" y="5237988"/>
            <a:ext cx="3003194" cy="705612"/>
          </a:xfrm>
          <a:prstGeom prst="rect">
            <a:avLst/>
          </a:prstGeom>
          <a:noFill/>
          <a:ln/>
        </p:spPr>
        <p:txBody>
          <a:bodyPr wrap="square" lIns="0" tIns="0" rIns="0" bIns="0" rtlCol="0" anchor="t"/>
          <a:lstStyle/>
          <a:p>
            <a:pPr indent="0" marL="0">
              <a:buNone/>
            </a:pPr>
            <a:r>
              <a:rPr lang="en-US" sz="1400" dirty="0">
                <a:solidFill>
                  <a:schemeClr val="tx1"/>
                </a:solidFill>
              </a:rPr>
              <a:t>Closed states: all states the sources reach, closed under the pattern's hops, none ending at a target.</a:t>
            </a:r>
            <a:endParaRPr lang="en-US" sz="1400" dirty="0"/>
          </a:p>
        </p:txBody>
      </p:sp>
      <p:sp>
        <p:nvSpPr>
          <p:cNvPr id="22" name="operation shortest_path"/>
          <p:cNvSpPr/>
          <p:nvPr/>
        </p:nvSpPr>
        <p:spPr>
          <a:xfrm>
            <a:off x="8127797" y="1691640"/>
            <a:ext cx="3515258" cy="4526280"/>
          </a:xfrm>
          <a:prstGeom prst="roundRect">
            <a:avLst>
              <a:gd name="adj" fmla="val 2601"/>
            </a:avLst>
          </a:prstGeom>
          <a:solidFill>
            <a:schemeClr val="bg2"/>
          </a:solidFill>
          <a:ln/>
        </p:spPr>
      </p:sp>
      <p:sp>
        <p:nvSpPr>
          <p:cNvPr id="23" name="icon shortest_path"/>
          <p:cNvSpPr/>
          <p:nvPr/>
        </p:nvSpPr>
        <p:spPr>
          <a:xfrm>
            <a:off x="8328965" y="1892808"/>
            <a:ext cx="512064" cy="512064"/>
          </a:xfrm>
          <a:prstGeom prst="ellipse">
            <a:avLst/>
          </a:prstGeom>
          <a:solidFill>
            <a:schemeClr val="accent1"/>
          </a:solidFill>
          <a:ln/>
        </p:spPr>
      </p:sp>
      <p:pic>
        <p:nvPicPr>
          <p:cNvPr id="24" name="Image 4" descr="shortest_path">    </p:cNvPr>
          <p:cNvPicPr>
            <a:picLocks noChangeAspect="1"/>
          </p:cNvPicPr>
          <p:nvPr/>
        </p:nvPicPr>
        <p:blipFill>
          <a:blip r:embed="rId5"/>
          <a:stretch>
            <a:fillRect/>
          </a:stretch>
        </p:blipFill>
        <p:spPr>
          <a:xfrm>
            <a:off x="8441619" y="2005462"/>
            <a:ext cx="286756" cy="286756"/>
          </a:xfrm>
          <a:prstGeom prst="rect">
            <a:avLst/>
          </a:prstGeom>
        </p:spPr>
      </p:pic>
      <p:sp>
        <p:nvSpPr>
          <p:cNvPr id="25" name="Text 18"/>
          <p:cNvSpPr txBox="1"/>
          <p:nvPr/>
        </p:nvSpPr>
        <p:spPr>
          <a:xfrm>
            <a:off x="8987333" y="1874520"/>
            <a:ext cx="2454554" cy="54864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shortest_path</a:t>
            </a:r>
            <a:endParaRPr lang="en-US" sz="1500" dirty="0"/>
          </a:p>
          <a:p>
            <a:pPr indent="0" marL="0">
              <a:buNone/>
            </a:pPr>
            <a:r>
              <a:rPr lang="en-US" sz="1500" b="1" dirty="0">
                <a:solidFill>
                  <a:schemeClr val="tx1"/>
                </a:solidFill>
              </a:rPr>
              <a:t>The cheapest route, exactly</a:t>
            </a:r>
            <a:endParaRPr lang="en-US" sz="1500" dirty="0"/>
          </a:p>
        </p:txBody>
      </p:sp>
      <p:sp>
        <p:nvSpPr>
          <p:cNvPr id="26" name="Text 19"/>
          <p:cNvSpPr txBox="1"/>
          <p:nvPr/>
        </p:nvSpPr>
        <p:spPr>
          <a:xfrm>
            <a:off x="8328965" y="2569464"/>
            <a:ext cx="3112922" cy="1994408"/>
          </a:xfrm>
          <a:prstGeom prst="rect">
            <a:avLst/>
          </a:prstGeom>
          <a:noFill/>
          <a:ln/>
        </p:spPr>
        <p:txBody>
          <a:bodyPr wrap="square" lIns="0" tIns="0" rIns="0" bIns="0" rtlCol="0" anchor="t"/>
          <a:lstStyle/>
          <a:p>
            <a:pPr indent="0" marL="0">
              <a:spcAft>
                <a:spcPts val="840"/>
              </a:spcAft>
              <a:buNone/>
            </a:pPr>
            <a:r>
              <a:rPr lang="en-US" sz="1400" b="1" dirty="0">
                <a:solidFill>
                  <a:schemeClr val="accent1"/>
                </a:solidFill>
              </a:rPr>
              <a:t>Theory. </a:t>
            </a:r>
            <a:pPr indent="0" marL="0">
              <a:spcAft>
                <a:spcPts val="840"/>
              </a:spcAft>
              <a:buNone/>
            </a:pPr>
            <a:r>
              <a:rPr lang="en-US" sz="1400" dirty="0">
                <a:solidFill>
                  <a:schemeClr val="tx1"/>
                </a:solidFill>
              </a:rPr>
              <a:t>A least-cost walk from a source to a target, costs of any sign (signed energies). A negative cycle on the way leaves no optimum.</a:t>
            </a:r>
            <a:endParaRPr lang="en-US" sz="1400" dirty="0"/>
          </a:p>
          <a:p>
            <a:pPr indent="0" marL="0">
              <a:buNone/>
            </a:pPr>
            <a:r>
              <a:rPr lang="en-US" sz="1400" b="1" dirty="0">
                <a:solidFill>
                  <a:schemeClr val="accent1"/>
                </a:solidFill>
              </a:rPr>
              <a:t>Algorithm. </a:t>
            </a:r>
            <a:pPr indent="0" marL="0">
              <a:buNone/>
            </a:pPr>
            <a:r>
              <a:rPr lang="en-US" sz="1400" dirty="0">
                <a:solidFill>
                  <a:schemeClr val="tx1"/>
                </a:solidFill>
              </a:rPr>
              <a:t>Dijkstra if no cost is negative; else Bellman-Ford-Moore with Tarjan's subtree disassembly, over the nodes between sources and targets.</a:t>
            </a:r>
            <a:endParaRPr lang="en-US" sz="1400" dirty="0"/>
          </a:p>
        </p:txBody>
      </p:sp>
      <p:sp>
        <p:nvSpPr>
          <p:cNvPr id="27" name="proof shortest_path"/>
          <p:cNvSpPr/>
          <p:nvPr/>
        </p:nvSpPr>
        <p:spPr>
          <a:xfrm>
            <a:off x="8274101" y="4637024"/>
            <a:ext cx="3222650" cy="1379728"/>
          </a:xfrm>
          <a:prstGeom prst="roundRect">
            <a:avLst>
              <a:gd name="adj" fmla="val 5302"/>
            </a:avLst>
          </a:prstGeom>
          <a:solidFill>
            <a:schemeClr val="bg1"/>
          </a:solidFill>
          <a:ln w="15875">
            <a:solidFill>
              <a:schemeClr val="accent1"/>
            </a:solidFill>
            <a:prstDash val="solid"/>
          </a:ln>
        </p:spPr>
      </p:sp>
      <p:pic>
        <p:nvPicPr>
          <p:cNvPr id="28" name="Image 5" descr="certificate">    </p:cNvPr>
          <p:cNvPicPr>
            <a:picLocks noChangeAspect="1"/>
          </p:cNvPicPr>
          <p:nvPr/>
        </p:nvPicPr>
        <p:blipFill>
          <a:blip r:embed="rId6"/>
          <a:stretch>
            <a:fillRect/>
          </a:stretch>
        </p:blipFill>
        <p:spPr>
          <a:xfrm>
            <a:off x="8383829" y="4728464"/>
            <a:ext cx="246888" cy="246888"/>
          </a:xfrm>
          <a:prstGeom prst="rect">
            <a:avLst/>
          </a:prstGeom>
        </p:spPr>
      </p:pic>
      <p:sp>
        <p:nvSpPr>
          <p:cNvPr id="29" name="Text 21"/>
          <p:cNvSpPr txBox="1"/>
          <p:nvPr/>
        </p:nvSpPr>
        <p:spPr>
          <a:xfrm>
            <a:off x="8713013" y="4728464"/>
            <a:ext cx="2655722"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CERTIFICATE PROVES</a:t>
            </a:r>
            <a:endParaRPr lang="en-US" sz="1100" dirty="0"/>
          </a:p>
        </p:txBody>
      </p:sp>
      <p:sp>
        <p:nvSpPr>
          <p:cNvPr id="30" name="Text 22"/>
          <p:cNvSpPr txBox="1"/>
          <p:nvPr/>
        </p:nvSpPr>
        <p:spPr>
          <a:xfrm>
            <a:off x="8383829" y="5021072"/>
            <a:ext cx="3003194" cy="922528"/>
          </a:xfrm>
          <a:prstGeom prst="rect">
            <a:avLst/>
          </a:prstGeom>
          <a:noFill/>
          <a:ln/>
        </p:spPr>
        <p:txBody>
          <a:bodyPr wrap="square" lIns="0" tIns="0" rIns="0" bIns="0" rtlCol="0" anchor="t"/>
          <a:lstStyle/>
          <a:p>
            <a:pPr indent="0" marL="0">
              <a:buNone/>
            </a:pPr>
            <a:r>
              <a:rPr lang="en-US" sz="1400" dirty="0">
                <a:solidFill>
                  <a:schemeClr val="tx1"/>
                </a:solidFill>
              </a:rPr>
              <a:t>Potentials prove an optimum (with the dead ends if a cost is negative); three walks, a negative cycle; a closure, no path.</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Paths: bottlenecks, expressions, alternatives</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What one shortest path cannot answer: the best weakest link, walks shaped by an expression, the next k paths.</a:t>
            </a:r>
            <a:endParaRPr lang="en-US" sz="1600" dirty="0"/>
          </a:p>
        </p:txBody>
      </p:sp>
      <p:sp>
        <p:nvSpPr>
          <p:cNvPr id="4" name="operation bottleneck_path"/>
          <p:cNvSpPr/>
          <p:nvPr/>
        </p:nvSpPr>
        <p:spPr>
          <a:xfrm>
            <a:off x="548640" y="1691640"/>
            <a:ext cx="3515258" cy="4526280"/>
          </a:xfrm>
          <a:prstGeom prst="roundRect">
            <a:avLst>
              <a:gd name="adj" fmla="val 2601"/>
            </a:avLst>
          </a:prstGeom>
          <a:solidFill>
            <a:schemeClr val="bg2"/>
          </a:solidFill>
          <a:ln/>
        </p:spPr>
      </p:sp>
      <p:sp>
        <p:nvSpPr>
          <p:cNvPr id="5" name="icon bottleneck_path"/>
          <p:cNvSpPr/>
          <p:nvPr/>
        </p:nvSpPr>
        <p:spPr>
          <a:xfrm>
            <a:off x="749808" y="1892808"/>
            <a:ext cx="512064" cy="512064"/>
          </a:xfrm>
          <a:prstGeom prst="ellipse">
            <a:avLst/>
          </a:prstGeom>
          <a:solidFill>
            <a:schemeClr val="accent1"/>
          </a:solidFill>
          <a:ln/>
        </p:spPr>
      </p:sp>
      <p:pic>
        <p:nvPicPr>
          <p:cNvPr id="6" name="Image 0" descr="bottleneck_path">    </p:cNvPr>
          <p:cNvPicPr>
            <a:picLocks noChangeAspect="1"/>
          </p:cNvPicPr>
          <p:nvPr/>
        </p:nvPicPr>
        <p:blipFill>
          <a:blip r:embed="rId1"/>
          <a:stretch>
            <a:fillRect/>
          </a:stretch>
        </p:blipFill>
        <p:spPr>
          <a:xfrm>
            <a:off x="862462" y="2005462"/>
            <a:ext cx="286756" cy="286756"/>
          </a:xfrm>
          <a:prstGeom prst="rect">
            <a:avLst/>
          </a:prstGeom>
        </p:spPr>
      </p:pic>
      <p:sp>
        <p:nvSpPr>
          <p:cNvPr id="7" name="Text 4"/>
          <p:cNvSpPr txBox="1"/>
          <p:nvPr/>
        </p:nvSpPr>
        <p:spPr>
          <a:xfrm>
            <a:off x="1408176" y="1874520"/>
            <a:ext cx="2454554" cy="693801"/>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bottleneck_path</a:t>
            </a:r>
            <a:endParaRPr lang="en-US" sz="1500" dirty="0"/>
          </a:p>
          <a:p>
            <a:pPr indent="0" marL="0">
              <a:buNone/>
            </a:pPr>
            <a:r>
              <a:rPr lang="en-US" sz="1500" b="1" dirty="0">
                <a:solidFill>
                  <a:schemeClr val="tx1"/>
                </a:solidFill>
              </a:rPr>
              <a:t>Fastest rate-limiting step, lowest barrier</a:t>
            </a:r>
            <a:endParaRPr lang="en-US" sz="1500" dirty="0"/>
          </a:p>
        </p:txBody>
      </p:sp>
      <p:sp>
        <p:nvSpPr>
          <p:cNvPr id="8" name="Text 5"/>
          <p:cNvSpPr txBox="1"/>
          <p:nvPr/>
        </p:nvSpPr>
        <p:spPr>
          <a:xfrm>
            <a:off x="749808" y="2714625"/>
            <a:ext cx="3112922" cy="1849247"/>
          </a:xfrm>
          <a:prstGeom prst="rect">
            <a:avLst/>
          </a:prstGeom>
          <a:noFill/>
          <a:ln/>
        </p:spPr>
        <p:txBody>
          <a:bodyPr wrap="square" lIns="0" tIns="0" rIns="0" bIns="0" rtlCol="0" anchor="t"/>
          <a:lstStyle/>
          <a:p>
            <a:pPr indent="0" marL="0">
              <a:spcAft>
                <a:spcPts val="840"/>
              </a:spcAft>
              <a:buNone/>
            </a:pPr>
            <a:r>
              <a:rPr lang="en-US" sz="1400" b="1" dirty="0">
                <a:solidFill>
                  <a:schemeClr val="accent1"/>
                </a:solidFill>
              </a:rPr>
              <a:t>Theory. </a:t>
            </a:r>
            <a:pPr indent="0" marL="0">
              <a:spcAft>
                <a:spcPts val="840"/>
              </a:spcAft>
              <a:buNone/>
            </a:pPr>
            <a:r>
              <a:rPr lang="en-US" sz="1400" dirty="0">
                <a:solidFill>
                  <a:schemeClr val="tx1"/>
                </a:solidFill>
              </a:rPr>
              <a:t>The path whose weakest edge is strongest (</a:t>
            </a:r>
            <a:pPr indent="0" marL="0">
              <a:spcAft>
                <a:spcPts val="840"/>
              </a:spcAft>
              <a:buNone/>
            </a:pPr>
            <a:r>
              <a:rPr lang="en-US" sz="1300" dirty="0">
                <a:solidFill>
                  <a:schemeClr val="tx1"/>
                </a:solidFill>
                <a:latin typeface="Courier New" pitchFamily="34" charset="0"/>
                <a:ea typeface="Courier New" pitchFamily="34" charset="-122"/>
                <a:cs typeface="Courier New" pitchFamily="34" charset="-120"/>
              </a:rPr>
              <a:t>max_min</a:t>
            </a:r>
            <a:pPr indent="0" marL="0">
              <a:spcAft>
                <a:spcPts val="840"/>
              </a:spcAft>
              <a:buNone/>
            </a:pPr>
            <a:r>
              <a:rPr lang="en-US" sz="1400" dirty="0">
                <a:solidFill>
                  <a:schemeClr val="tx1"/>
                </a:solidFill>
              </a:rPr>
              <a:t>: rates) or highest edge lowest (</a:t>
            </a:r>
            <a:pPr indent="0" marL="0">
              <a:spcAft>
                <a:spcPts val="840"/>
              </a:spcAft>
              <a:buNone/>
            </a:pPr>
            <a:r>
              <a:rPr lang="en-US" sz="1300" dirty="0">
                <a:solidFill>
                  <a:schemeClr val="tx1"/>
                </a:solidFill>
                <a:latin typeface="Courier New" pitchFamily="34" charset="0"/>
                <a:ea typeface="Courier New" pitchFamily="34" charset="-122"/>
                <a:cs typeface="Courier New" pitchFamily="34" charset="-120"/>
              </a:rPr>
              <a:t>min_max</a:t>
            </a:r>
            <a:pPr indent="0" marL="0">
              <a:spcAft>
                <a:spcPts val="840"/>
              </a:spcAft>
              <a:buNone/>
            </a:pPr>
            <a:r>
              <a:rPr lang="en-US" sz="1400" dirty="0">
                <a:solidFill>
                  <a:schemeClr val="tx1"/>
                </a:solidFill>
              </a:rPr>
              <a:t>: barriers); fewest hops among those.</a:t>
            </a:r>
            <a:endParaRPr lang="en-US" sz="1400" dirty="0"/>
          </a:p>
          <a:p>
            <a:pPr indent="0" marL="0">
              <a:buNone/>
            </a:pPr>
            <a:r>
              <a:rPr lang="en-US" sz="1400" b="1" dirty="0">
                <a:solidFill>
                  <a:schemeClr val="accent1"/>
                </a:solidFill>
              </a:rPr>
              <a:t>Algorithm. </a:t>
            </a:r>
            <a:pPr indent="0" marL="0">
              <a:buNone/>
            </a:pPr>
            <a:r>
              <a:rPr lang="en-US" sz="1400" dirty="0">
                <a:solidFill>
                  <a:schemeClr val="tx1"/>
                </a:solidFill>
              </a:rPr>
              <a:t>Settle nodes best value first, as Dijkstra settles costs; then a breadth-first search over hops as good finds the fewest hops.</a:t>
            </a:r>
            <a:endParaRPr lang="en-US" sz="1400" dirty="0"/>
          </a:p>
        </p:txBody>
      </p:sp>
      <p:sp>
        <p:nvSpPr>
          <p:cNvPr id="9" name="proof bottleneck_path"/>
          <p:cNvSpPr/>
          <p:nvPr/>
        </p:nvSpPr>
        <p:spPr>
          <a:xfrm>
            <a:off x="694944" y="4637024"/>
            <a:ext cx="3222650" cy="1379728"/>
          </a:xfrm>
          <a:prstGeom prst="roundRect">
            <a:avLst>
              <a:gd name="adj" fmla="val 5302"/>
            </a:avLst>
          </a:prstGeom>
          <a:solidFill>
            <a:schemeClr val="bg1"/>
          </a:solidFill>
          <a:ln w="15875">
            <a:solidFill>
              <a:schemeClr val="accent1"/>
            </a:solidFill>
            <a:prstDash val="solid"/>
          </a:ln>
        </p:spPr>
      </p:sp>
      <p:pic>
        <p:nvPicPr>
          <p:cNvPr id="10" name="Image 1" descr="certificate">    </p:cNvPr>
          <p:cNvPicPr>
            <a:picLocks noChangeAspect="1"/>
          </p:cNvPicPr>
          <p:nvPr/>
        </p:nvPicPr>
        <p:blipFill>
          <a:blip r:embed="rId2"/>
          <a:stretch>
            <a:fillRect/>
          </a:stretch>
        </p:blipFill>
        <p:spPr>
          <a:xfrm>
            <a:off x="804672" y="4728464"/>
            <a:ext cx="246888" cy="246888"/>
          </a:xfrm>
          <a:prstGeom prst="rect">
            <a:avLst/>
          </a:prstGeom>
        </p:spPr>
      </p:pic>
      <p:sp>
        <p:nvSpPr>
          <p:cNvPr id="11" name="Text 7"/>
          <p:cNvSpPr txBox="1"/>
          <p:nvPr/>
        </p:nvSpPr>
        <p:spPr>
          <a:xfrm>
            <a:off x="1133856" y="4728464"/>
            <a:ext cx="2655722"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CERTIFICATE PROVES</a:t>
            </a:r>
            <a:endParaRPr lang="en-US" sz="1100" dirty="0"/>
          </a:p>
        </p:txBody>
      </p:sp>
      <p:sp>
        <p:nvSpPr>
          <p:cNvPr id="12" name="Text 8"/>
          <p:cNvSpPr txBox="1"/>
          <p:nvPr/>
        </p:nvSpPr>
        <p:spPr>
          <a:xfrm>
            <a:off x="804672" y="5021072"/>
            <a:ext cx="3003194" cy="922528"/>
          </a:xfrm>
          <a:prstGeom prst="rect">
            <a:avLst/>
          </a:prstGeom>
          <a:noFill/>
          <a:ln/>
        </p:spPr>
        <p:txBody>
          <a:bodyPr wrap="square" lIns="0" tIns="0" rIns="0" bIns="0" rtlCol="0" anchor="t"/>
          <a:lstStyle/>
          <a:p>
            <a:pPr indent="0" marL="0">
              <a:buNone/>
            </a:pPr>
            <a:r>
              <a:rPr lang="en-US" sz="1400" dirty="0">
                <a:solidFill>
                  <a:schemeClr val="tx1"/>
                </a:solidFill>
              </a:rPr>
              <a:t>Threshold: what the sources reach by strictly better hops is closed and holds no target. A closure proves a negative.</a:t>
            </a:r>
            <a:endParaRPr lang="en-US" sz="1400" dirty="0"/>
          </a:p>
        </p:txBody>
      </p:sp>
      <p:sp>
        <p:nvSpPr>
          <p:cNvPr id="13" name="operation regular_path"/>
          <p:cNvSpPr/>
          <p:nvPr/>
        </p:nvSpPr>
        <p:spPr>
          <a:xfrm>
            <a:off x="4338218" y="1691640"/>
            <a:ext cx="3515258" cy="4526280"/>
          </a:xfrm>
          <a:prstGeom prst="roundRect">
            <a:avLst>
              <a:gd name="adj" fmla="val 2601"/>
            </a:avLst>
          </a:prstGeom>
          <a:solidFill>
            <a:schemeClr val="bg2"/>
          </a:solidFill>
          <a:ln/>
        </p:spPr>
      </p:sp>
      <p:sp>
        <p:nvSpPr>
          <p:cNvPr id="14" name="icon regular_path"/>
          <p:cNvSpPr/>
          <p:nvPr/>
        </p:nvSpPr>
        <p:spPr>
          <a:xfrm>
            <a:off x="4539386" y="1892808"/>
            <a:ext cx="512064" cy="512064"/>
          </a:xfrm>
          <a:prstGeom prst="ellipse">
            <a:avLst/>
          </a:prstGeom>
          <a:solidFill>
            <a:schemeClr val="accent1"/>
          </a:solidFill>
          <a:ln/>
        </p:spPr>
      </p:sp>
      <p:pic>
        <p:nvPicPr>
          <p:cNvPr id="15" name="Image 2" descr="regular_path">    </p:cNvPr>
          <p:cNvPicPr>
            <a:picLocks noChangeAspect="1"/>
          </p:cNvPicPr>
          <p:nvPr/>
        </p:nvPicPr>
        <p:blipFill>
          <a:blip r:embed="rId3"/>
          <a:stretch>
            <a:fillRect/>
          </a:stretch>
        </p:blipFill>
        <p:spPr>
          <a:xfrm>
            <a:off x="4652040" y="2005462"/>
            <a:ext cx="286756" cy="286756"/>
          </a:xfrm>
          <a:prstGeom prst="rect">
            <a:avLst/>
          </a:prstGeom>
        </p:spPr>
      </p:pic>
      <p:sp>
        <p:nvSpPr>
          <p:cNvPr id="16" name="Text 11"/>
          <p:cNvSpPr txBox="1"/>
          <p:nvPr/>
        </p:nvSpPr>
        <p:spPr>
          <a:xfrm>
            <a:off x="5197754" y="1874520"/>
            <a:ext cx="2454554" cy="693801"/>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regular_path</a:t>
            </a:r>
            <a:endParaRPr lang="en-US" sz="1500" dirty="0"/>
          </a:p>
          <a:p>
            <a:pPr indent="0" marL="0">
              <a:buNone/>
            </a:pPr>
            <a:r>
              <a:rPr lang="en-US" sz="1500" b="1" dirty="0">
                <a:solidFill>
                  <a:schemeClr val="tx1"/>
                </a:solidFill>
              </a:rPr>
              <a:t>Walks matching a regular expression</a:t>
            </a:r>
            <a:endParaRPr lang="en-US" sz="1500" dirty="0"/>
          </a:p>
        </p:txBody>
      </p:sp>
      <p:sp>
        <p:nvSpPr>
          <p:cNvPr id="17" name="Text 12"/>
          <p:cNvSpPr txBox="1"/>
          <p:nvPr/>
        </p:nvSpPr>
        <p:spPr>
          <a:xfrm>
            <a:off x="4539386" y="2714625"/>
            <a:ext cx="3112922" cy="1849247"/>
          </a:xfrm>
          <a:prstGeom prst="rect">
            <a:avLst/>
          </a:prstGeom>
          <a:noFill/>
          <a:ln/>
        </p:spPr>
        <p:txBody>
          <a:bodyPr wrap="square" lIns="0" tIns="0" rIns="0" bIns="0" rtlCol="0" anchor="t"/>
          <a:lstStyle/>
          <a:p>
            <a:pPr indent="0" marL="0">
              <a:spcAft>
                <a:spcPts val="840"/>
              </a:spcAft>
              <a:buNone/>
            </a:pPr>
            <a:r>
              <a:rPr lang="en-US" sz="1400" b="1" dirty="0">
                <a:solidFill>
                  <a:schemeClr val="accent1"/>
                </a:solidFill>
              </a:rPr>
              <a:t>Theory. </a:t>
            </a:r>
            <a:pPr indent="0" marL="0">
              <a:spcAft>
                <a:spcPts val="840"/>
              </a:spcAft>
              <a:buNone/>
            </a:pPr>
            <a:r>
              <a:rPr lang="en-US" sz="1400" dirty="0">
                <a:solidFill>
                  <a:schemeClr val="tx1"/>
                </a:solidFill>
              </a:rPr>
              <a:t>Regular path queries (Mendelzon and Wood, 1995), as SPARQL property paths and GQL write them: </a:t>
            </a:r>
            <a:pPr indent="0" marL="0">
              <a:spcAft>
                <a:spcPts val="840"/>
              </a:spcAft>
              <a:buNone/>
            </a:pPr>
            <a:r>
              <a:rPr lang="en-US" sz="1300" dirty="0">
                <a:solidFill>
                  <a:schemeClr val="tx1"/>
                </a:solidFill>
                <a:latin typeface="Courier New" pitchFamily="34" charset="0"/>
                <a:ea typeface="Courier New" pitchFamily="34" charset="-122"/>
                <a:cs typeface="Courier New" pitchFamily="34" charset="-120"/>
              </a:rPr>
              <a:t>DERIVED_FROM*/SUPPORTED_BY</a:t>
            </a:r>
            <a:endParaRPr lang="en-US" sz="1400" dirty="0"/>
          </a:p>
          <a:p>
            <a:pPr indent="0" marL="0">
              <a:buNone/>
            </a:pPr>
            <a:r>
              <a:rPr lang="en-US" sz="1400" b="1" dirty="0">
                <a:solidFill>
                  <a:schemeClr val="accent1"/>
                </a:solidFill>
              </a:rPr>
              <a:t>Algorithm. </a:t>
            </a:r>
            <a:pPr indent="0" marL="0">
              <a:buNone/>
            </a:pPr>
            <a:r>
              <a:rPr lang="en-US" sz="1400" dirty="0">
                <a:solidFill>
                  <a:schemeClr val="tx1"/>
                </a:solidFill>
              </a:rPr>
              <a:t>Breadth-first search over the graph times the expression's Glushkov automaton: one fewest-hop walk, or every node reached.</a:t>
            </a:r>
            <a:endParaRPr lang="en-US" sz="1400" dirty="0"/>
          </a:p>
        </p:txBody>
      </p:sp>
      <p:sp>
        <p:nvSpPr>
          <p:cNvPr id="18" name="proof regular_path"/>
          <p:cNvSpPr/>
          <p:nvPr/>
        </p:nvSpPr>
        <p:spPr>
          <a:xfrm>
            <a:off x="4484522" y="4637024"/>
            <a:ext cx="3222650" cy="1379728"/>
          </a:xfrm>
          <a:prstGeom prst="roundRect">
            <a:avLst>
              <a:gd name="adj" fmla="val 5302"/>
            </a:avLst>
          </a:prstGeom>
          <a:solidFill>
            <a:schemeClr val="bg1"/>
          </a:solidFill>
          <a:ln w="15875">
            <a:solidFill>
              <a:schemeClr val="accent1"/>
            </a:solidFill>
            <a:prstDash val="solid"/>
          </a:ln>
        </p:spPr>
      </p:sp>
      <p:pic>
        <p:nvPicPr>
          <p:cNvPr id="19" name="Image 3" descr="certificate">    </p:cNvPr>
          <p:cNvPicPr>
            <a:picLocks noChangeAspect="1"/>
          </p:cNvPicPr>
          <p:nvPr/>
        </p:nvPicPr>
        <p:blipFill>
          <a:blip r:embed="rId4"/>
          <a:stretch>
            <a:fillRect/>
          </a:stretch>
        </p:blipFill>
        <p:spPr>
          <a:xfrm>
            <a:off x="4594250" y="4728464"/>
            <a:ext cx="246888" cy="246888"/>
          </a:xfrm>
          <a:prstGeom prst="rect">
            <a:avLst/>
          </a:prstGeom>
        </p:spPr>
      </p:pic>
      <p:sp>
        <p:nvSpPr>
          <p:cNvPr id="20" name="Text 14"/>
          <p:cNvSpPr txBox="1"/>
          <p:nvPr/>
        </p:nvSpPr>
        <p:spPr>
          <a:xfrm>
            <a:off x="4923434" y="4728464"/>
            <a:ext cx="2655722"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CERTIFICATE PROVES</a:t>
            </a:r>
            <a:endParaRPr lang="en-US" sz="1100" dirty="0"/>
          </a:p>
        </p:txBody>
      </p:sp>
      <p:sp>
        <p:nvSpPr>
          <p:cNvPr id="21" name="Text 15"/>
          <p:cNvSpPr txBox="1"/>
          <p:nvPr/>
        </p:nvSpPr>
        <p:spPr>
          <a:xfrm>
            <a:off x="4594250" y="5021072"/>
            <a:ext cx="3003194" cy="922528"/>
          </a:xfrm>
          <a:prstGeom prst="rect">
            <a:avLst/>
          </a:prstGeom>
          <a:noFill/>
          <a:ln/>
        </p:spPr>
        <p:txBody>
          <a:bodyPr wrap="square" lIns="0" tIns="0" rIns="0" bIns="0" rtlCol="0" anchor="t"/>
          <a:lstStyle/>
          <a:p>
            <a:pPr indent="0" marL="0">
              <a:buNone/>
            </a:pPr>
            <a:r>
              <a:rPr lang="en-US" sz="1400" dirty="0">
                <a:solidFill>
                  <a:schemeClr val="tx1"/>
                </a:solidFill>
              </a:rPr>
              <a:t>Closed product states below a bound prove the fewest hops, a negative or a reached set. The verifier builds its own automaton.</a:t>
            </a:r>
            <a:endParaRPr lang="en-US" sz="1400" dirty="0"/>
          </a:p>
        </p:txBody>
      </p:sp>
      <p:sp>
        <p:nvSpPr>
          <p:cNvPr id="22" name="operation k_shortest_paths"/>
          <p:cNvSpPr/>
          <p:nvPr/>
        </p:nvSpPr>
        <p:spPr>
          <a:xfrm>
            <a:off x="8127797" y="1691640"/>
            <a:ext cx="3515258" cy="4526280"/>
          </a:xfrm>
          <a:prstGeom prst="roundRect">
            <a:avLst>
              <a:gd name="adj" fmla="val 2601"/>
            </a:avLst>
          </a:prstGeom>
          <a:solidFill>
            <a:schemeClr val="bg2"/>
          </a:solidFill>
          <a:ln/>
        </p:spPr>
      </p:sp>
      <p:sp>
        <p:nvSpPr>
          <p:cNvPr id="23" name="icon k_shortest_paths"/>
          <p:cNvSpPr/>
          <p:nvPr/>
        </p:nvSpPr>
        <p:spPr>
          <a:xfrm>
            <a:off x="8328965" y="1892808"/>
            <a:ext cx="512064" cy="512064"/>
          </a:xfrm>
          <a:prstGeom prst="ellipse">
            <a:avLst/>
          </a:prstGeom>
          <a:solidFill>
            <a:schemeClr val="accent1"/>
          </a:solidFill>
          <a:ln/>
        </p:spPr>
      </p:sp>
      <p:pic>
        <p:nvPicPr>
          <p:cNvPr id="24" name="Image 4" descr="k_shortest_paths">    </p:cNvPr>
          <p:cNvPicPr>
            <a:picLocks noChangeAspect="1"/>
          </p:cNvPicPr>
          <p:nvPr/>
        </p:nvPicPr>
        <p:blipFill>
          <a:blip r:embed="rId5"/>
          <a:stretch>
            <a:fillRect/>
          </a:stretch>
        </p:blipFill>
        <p:spPr>
          <a:xfrm>
            <a:off x="8441619" y="2005462"/>
            <a:ext cx="286756" cy="286756"/>
          </a:xfrm>
          <a:prstGeom prst="rect">
            <a:avLst/>
          </a:prstGeom>
        </p:spPr>
      </p:pic>
      <p:sp>
        <p:nvSpPr>
          <p:cNvPr id="25" name="Text 18"/>
          <p:cNvSpPr txBox="1"/>
          <p:nvPr/>
        </p:nvSpPr>
        <p:spPr>
          <a:xfrm>
            <a:off x="8987333" y="1874520"/>
            <a:ext cx="2454554" cy="693801"/>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k_shortest_paths</a:t>
            </a:r>
            <a:endParaRPr lang="en-US" sz="1500" dirty="0"/>
          </a:p>
          <a:p>
            <a:pPr indent="0" marL="0">
              <a:buNone/>
            </a:pPr>
            <a:r>
              <a:rPr lang="en-US" sz="1500" b="1" dirty="0">
                <a:solidFill>
                  <a:schemeClr val="tx1"/>
                </a:solidFill>
              </a:rPr>
              <a:t>Alternatives: the first k simple paths</a:t>
            </a:r>
            <a:endParaRPr lang="en-US" sz="1500" dirty="0"/>
          </a:p>
        </p:txBody>
      </p:sp>
      <p:sp>
        <p:nvSpPr>
          <p:cNvPr id="26" name="Text 19"/>
          <p:cNvSpPr txBox="1"/>
          <p:nvPr/>
        </p:nvSpPr>
        <p:spPr>
          <a:xfrm>
            <a:off x="8328965" y="2714625"/>
            <a:ext cx="3112922" cy="1849247"/>
          </a:xfrm>
          <a:prstGeom prst="rect">
            <a:avLst/>
          </a:prstGeom>
          <a:noFill/>
          <a:ln/>
        </p:spPr>
        <p:txBody>
          <a:bodyPr wrap="square" lIns="0" tIns="0" rIns="0" bIns="0" rtlCol="0" anchor="t"/>
          <a:lstStyle/>
          <a:p>
            <a:pPr indent="0" marL="0">
              <a:spcAft>
                <a:spcPts val="840"/>
              </a:spcAft>
              <a:buNone/>
            </a:pPr>
            <a:r>
              <a:rPr lang="en-US" sz="1400" b="1" dirty="0">
                <a:solidFill>
                  <a:schemeClr val="accent1"/>
                </a:solidFill>
              </a:rPr>
              <a:t>Theory. </a:t>
            </a:r>
            <a:pPr indent="0" marL="0">
              <a:spcAft>
                <a:spcPts val="840"/>
              </a:spcAft>
              <a:buNone/>
            </a:pPr>
            <a:r>
              <a:rPr lang="en-US" sz="1400" dirty="0">
                <a:solidFill>
                  <a:schemeClr val="tx1"/>
                </a:solidFill>
              </a:rPr>
              <a:t>Alternative pathways, backup routes: k simple paths ranked by cost, hops, then IDs, so ties have one order and parallel edges differ.</a:t>
            </a:r>
            <a:endParaRPr lang="en-US" sz="1400" dirty="0"/>
          </a:p>
          <a:p>
            <a:pPr indent="0" marL="0">
              <a:buNone/>
            </a:pPr>
            <a:r>
              <a:rPr lang="en-US" sz="1400" b="1" dirty="0">
                <a:solidFill>
                  <a:schemeClr val="accent1"/>
                </a:solidFill>
              </a:rPr>
              <a:t>Algorithm. </a:t>
            </a:r>
            <a:pPr indent="0" marL="0">
              <a:buNone/>
            </a:pPr>
            <a:r>
              <a:rPr lang="en-US" sz="1400" dirty="0">
                <a:solidFill>
                  <a:schemeClr val="tx1"/>
                </a:solidFill>
              </a:rPr>
              <a:t>Yen (1971) with Lawler's rule: spur only from where a path left its parent; each least path a Dijkstra search on the full order.</a:t>
            </a:r>
            <a:endParaRPr lang="en-US" sz="1400" dirty="0"/>
          </a:p>
        </p:txBody>
      </p:sp>
      <p:sp>
        <p:nvSpPr>
          <p:cNvPr id="27" name="proof k_shortest_paths"/>
          <p:cNvSpPr/>
          <p:nvPr/>
        </p:nvSpPr>
        <p:spPr>
          <a:xfrm>
            <a:off x="8274101" y="4637024"/>
            <a:ext cx="3222650" cy="1379728"/>
          </a:xfrm>
          <a:prstGeom prst="roundRect">
            <a:avLst>
              <a:gd name="adj" fmla="val 5302"/>
            </a:avLst>
          </a:prstGeom>
          <a:solidFill>
            <a:schemeClr val="bg1"/>
          </a:solidFill>
          <a:ln w="15875">
            <a:solidFill>
              <a:schemeClr val="accent1"/>
            </a:solidFill>
            <a:prstDash val="solid"/>
          </a:ln>
        </p:spPr>
      </p:sp>
      <p:pic>
        <p:nvPicPr>
          <p:cNvPr id="28" name="Image 5" descr="certificate">    </p:cNvPr>
          <p:cNvPicPr>
            <a:picLocks noChangeAspect="1"/>
          </p:cNvPicPr>
          <p:nvPr/>
        </p:nvPicPr>
        <p:blipFill>
          <a:blip r:embed="rId6"/>
          <a:stretch>
            <a:fillRect/>
          </a:stretch>
        </p:blipFill>
        <p:spPr>
          <a:xfrm>
            <a:off x="8383829" y="4728464"/>
            <a:ext cx="246888" cy="246888"/>
          </a:xfrm>
          <a:prstGeom prst="rect">
            <a:avLst/>
          </a:prstGeom>
        </p:spPr>
      </p:pic>
      <p:sp>
        <p:nvSpPr>
          <p:cNvPr id="29" name="Text 21"/>
          <p:cNvSpPr txBox="1"/>
          <p:nvPr/>
        </p:nvSpPr>
        <p:spPr>
          <a:xfrm>
            <a:off x="8713013" y="4728464"/>
            <a:ext cx="2655722"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CHECKED BY</a:t>
            </a:r>
            <a:endParaRPr lang="en-US" sz="1100" dirty="0"/>
          </a:p>
        </p:txBody>
      </p:sp>
      <p:sp>
        <p:nvSpPr>
          <p:cNvPr id="30" name="Text 22"/>
          <p:cNvSpPr txBox="1"/>
          <p:nvPr/>
        </p:nvSpPr>
        <p:spPr>
          <a:xfrm>
            <a:off x="8383829" y="5021072"/>
            <a:ext cx="3003194" cy="922528"/>
          </a:xfrm>
          <a:prstGeom prst="rect">
            <a:avLst/>
          </a:prstGeom>
          <a:noFill/>
          <a:ln/>
        </p:spPr>
        <p:txBody>
          <a:bodyPr wrap="square" lIns="0" tIns="0" rIns="0" bIns="0" rtlCol="0" anchor="t"/>
          <a:lstStyle/>
          <a:p>
            <a:pPr indent="0" marL="0">
              <a:buNone/>
            </a:pPr>
            <a:r>
              <a:rPr lang="en-US" sz="1400" dirty="0">
                <a:solidFill>
                  <a:schemeClr val="tx1"/>
                </a:solidFill>
              </a:rPr>
              <a:t>Each path is a witness a checker confirms. The ranking is Yen's theorem, tested on 700 random cases: not certified or revalidated.</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Reasoning: AND/OR rules</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A node of an </a:t>
            </a:r>
            <a:pPr indent="0" marL="0">
              <a:buNone/>
            </a:pPr>
            <a:r>
              <a:rPr lang="en-US" sz="1600" dirty="0">
                <a:solidFill>
                  <a:schemeClr val="accent6"/>
                </a:solidFill>
                <a:latin typeface="Courier New" pitchFamily="34" charset="0"/>
                <a:ea typeface="Courier New" pitchFamily="34" charset="-122"/>
                <a:cs typeface="Courier New" pitchFamily="34" charset="-120"/>
              </a:rPr>
              <a:t>all_of</a:t>
            </a:r>
            <a:pPr indent="0" marL="0">
              <a:buNone/>
            </a:pPr>
            <a:r>
              <a:rPr lang="en-US" sz="1600" dirty="0">
                <a:solidFill>
                  <a:schemeClr val="accent6"/>
                </a:solidFill>
              </a:rPr>
              <a:t> type needs every input, any other node one: evidence that must all hold, reactions that need all reactants.</a:t>
            </a:r>
            <a:endParaRPr lang="en-US" sz="1600" dirty="0"/>
          </a:p>
        </p:txBody>
      </p:sp>
      <p:sp>
        <p:nvSpPr>
          <p:cNvPr id="4" name="operation support"/>
          <p:cNvSpPr/>
          <p:nvPr/>
        </p:nvSpPr>
        <p:spPr>
          <a:xfrm>
            <a:off x="548640" y="1691640"/>
            <a:ext cx="5410048" cy="4526280"/>
          </a:xfrm>
          <a:prstGeom prst="roundRect">
            <a:avLst>
              <a:gd name="adj" fmla="val 2020"/>
            </a:avLst>
          </a:prstGeom>
          <a:solidFill>
            <a:schemeClr val="bg2"/>
          </a:solidFill>
          <a:ln/>
        </p:spPr>
      </p:sp>
      <p:sp>
        <p:nvSpPr>
          <p:cNvPr id="5" name="icon support"/>
          <p:cNvSpPr/>
          <p:nvPr/>
        </p:nvSpPr>
        <p:spPr>
          <a:xfrm>
            <a:off x="749808" y="1892808"/>
            <a:ext cx="512064" cy="512064"/>
          </a:xfrm>
          <a:prstGeom prst="ellipse">
            <a:avLst/>
          </a:prstGeom>
          <a:solidFill>
            <a:schemeClr val="accent1"/>
          </a:solidFill>
          <a:ln/>
        </p:spPr>
      </p:sp>
      <p:pic>
        <p:nvPicPr>
          <p:cNvPr id="6" name="Image 0" descr="support">    </p:cNvPr>
          <p:cNvPicPr>
            <a:picLocks noChangeAspect="1"/>
          </p:cNvPicPr>
          <p:nvPr/>
        </p:nvPicPr>
        <p:blipFill>
          <a:blip r:embed="rId1"/>
          <a:stretch>
            <a:fillRect/>
          </a:stretch>
        </p:blipFill>
        <p:spPr>
          <a:xfrm>
            <a:off x="862462" y="2005462"/>
            <a:ext cx="286756" cy="286756"/>
          </a:xfrm>
          <a:prstGeom prst="rect">
            <a:avLst/>
          </a:prstGeom>
        </p:spPr>
      </p:pic>
      <p:sp>
        <p:nvSpPr>
          <p:cNvPr id="7" name="Text 4"/>
          <p:cNvSpPr txBox="1"/>
          <p:nvPr/>
        </p:nvSpPr>
        <p:spPr>
          <a:xfrm>
            <a:off x="1408176" y="1874520"/>
            <a:ext cx="4349344" cy="54864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support</a:t>
            </a:r>
            <a:endParaRPr lang="en-US" sz="1500" dirty="0"/>
          </a:p>
          <a:p>
            <a:pPr indent="0" marL="0">
              <a:buNone/>
            </a:pPr>
            <a:r>
              <a:rPr lang="en-US" sz="1500" b="1" dirty="0">
                <a:solidFill>
                  <a:schemeClr val="tx1"/>
                </a:solidFill>
              </a:rPr>
              <a:t>What falls when nodes fail</a:t>
            </a:r>
            <a:endParaRPr lang="en-US" sz="1500" dirty="0"/>
          </a:p>
        </p:txBody>
      </p:sp>
      <p:sp>
        <p:nvSpPr>
          <p:cNvPr id="8" name="Text 5"/>
          <p:cNvSpPr txBox="1"/>
          <p:nvPr/>
        </p:nvSpPr>
        <p:spPr>
          <a:xfrm>
            <a:off x="749808" y="2569464"/>
            <a:ext cx="5007712" cy="2164842"/>
          </a:xfrm>
          <a:prstGeom prst="rect">
            <a:avLst/>
          </a:prstGeom>
          <a:noFill/>
          <a:ln/>
        </p:spPr>
        <p:txBody>
          <a:bodyPr wrap="square" lIns="0" tIns="0" rIns="0" bIns="0" rtlCol="0" anchor="t"/>
          <a:lstStyle/>
          <a:p>
            <a:pPr indent="0" marL="0">
              <a:spcAft>
                <a:spcPts val="900"/>
              </a:spcAft>
              <a:buNone/>
            </a:pPr>
            <a:r>
              <a:rPr lang="en-US" sz="1500" b="1" dirty="0">
                <a:solidFill>
                  <a:schemeClr val="accent1"/>
                </a:solidFill>
              </a:rPr>
              <a:t>Theory. </a:t>
            </a:r>
            <a:pPr indent="0" marL="0">
              <a:spcAft>
                <a:spcPts val="900"/>
              </a:spcAft>
              <a:buNone/>
            </a:pPr>
            <a:r>
              <a:rPr lang="en-US" sz="1500" dirty="0">
                <a:solidFill>
                  <a:schemeClr val="tx1"/>
                </a:solidFill>
              </a:rPr>
              <a:t>A node with no support stands; an </a:t>
            </a:r>
            <a:pPr indent="0" marL="0">
              <a:spcAft>
                <a:spcPts val="900"/>
              </a:spcAft>
              <a:buNone/>
            </a:pPr>
            <a:r>
              <a:rPr lang="en-US" sz="1400" dirty="0">
                <a:solidFill>
                  <a:schemeClr val="tx1"/>
                </a:solidFill>
                <a:latin typeface="Courier New" pitchFamily="34" charset="0"/>
                <a:ea typeface="Courier New" pitchFamily="34" charset="-122"/>
                <a:cs typeface="Courier New" pitchFamily="34" charset="-120"/>
              </a:rPr>
              <a:t>all_of</a:t>
            </a:r>
            <a:pPr indent="0" marL="0">
              <a:spcAft>
                <a:spcPts val="900"/>
              </a:spcAft>
              <a:buNone/>
            </a:pPr>
            <a:r>
              <a:rPr lang="en-US" sz="1500" dirty="0">
                <a:solidFill>
                  <a:schemeClr val="tx1"/>
                </a:solidFill>
              </a:rPr>
              <a:t> node needs every support, any other node one. What stands is the least fixpoint, so support in a circle grounds nothing.</a:t>
            </a:r>
            <a:endParaRPr lang="en-US" sz="1500" dirty="0"/>
          </a:p>
          <a:p>
            <a:pPr indent="0" marL="0">
              <a:buNone/>
            </a:pPr>
            <a:r>
              <a:rPr lang="en-US" sz="1500" b="1" dirty="0">
                <a:solidFill>
                  <a:schemeClr val="accent1"/>
                </a:solidFill>
              </a:rPr>
              <a:t>Algorithm. </a:t>
            </a:r>
            <a:pPr indent="0" marL="0">
              <a:buNone/>
            </a:pPr>
            <a:r>
              <a:rPr lang="en-US" sz="1500" dirty="0">
                <a:solidFill>
                  <a:schemeClr val="tx1"/>
                </a:solidFill>
              </a:rPr>
              <a:t>Two fixpoints by counting standing supports, before and after the failures, over only the region they reach: lost and weakened nodes, with their causes.</a:t>
            </a:r>
            <a:endParaRPr lang="en-US" sz="1500" dirty="0"/>
          </a:p>
        </p:txBody>
      </p:sp>
      <p:sp>
        <p:nvSpPr>
          <p:cNvPr id="9" name="proof support"/>
          <p:cNvSpPr/>
          <p:nvPr/>
        </p:nvSpPr>
        <p:spPr>
          <a:xfrm>
            <a:off x="694944" y="4807458"/>
            <a:ext cx="5117440" cy="1209294"/>
          </a:xfrm>
          <a:prstGeom prst="roundRect">
            <a:avLst>
              <a:gd name="adj" fmla="val 6049"/>
            </a:avLst>
          </a:prstGeom>
          <a:solidFill>
            <a:schemeClr val="bg1"/>
          </a:solidFill>
          <a:ln w="15875">
            <a:solidFill>
              <a:schemeClr val="accent1"/>
            </a:solidFill>
            <a:prstDash val="solid"/>
          </a:ln>
        </p:spPr>
      </p:sp>
      <p:pic>
        <p:nvPicPr>
          <p:cNvPr id="10" name="Image 1" descr="certificate">    </p:cNvPr>
          <p:cNvPicPr>
            <a:picLocks noChangeAspect="1"/>
          </p:cNvPicPr>
          <p:nvPr/>
        </p:nvPicPr>
        <p:blipFill>
          <a:blip r:embed="rId2"/>
          <a:stretch>
            <a:fillRect/>
          </a:stretch>
        </p:blipFill>
        <p:spPr>
          <a:xfrm>
            <a:off x="804672" y="4898898"/>
            <a:ext cx="246888" cy="246888"/>
          </a:xfrm>
          <a:prstGeom prst="rect">
            <a:avLst/>
          </a:prstGeom>
        </p:spPr>
      </p:pic>
      <p:sp>
        <p:nvSpPr>
          <p:cNvPr id="11" name="Text 7"/>
          <p:cNvSpPr txBox="1"/>
          <p:nvPr/>
        </p:nvSpPr>
        <p:spPr>
          <a:xfrm>
            <a:off x="1133856" y="4898898"/>
            <a:ext cx="4550512"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CERTIFICATE</a:t>
            </a:r>
            <a:endParaRPr lang="en-US" sz="1100" dirty="0"/>
          </a:p>
        </p:txBody>
      </p:sp>
      <p:sp>
        <p:nvSpPr>
          <p:cNvPr id="12" name="Text 8"/>
          <p:cNvSpPr txBox="1"/>
          <p:nvPr/>
        </p:nvSpPr>
        <p:spPr>
          <a:xfrm>
            <a:off x="804672" y="5191506"/>
            <a:ext cx="4897984" cy="752094"/>
          </a:xfrm>
          <a:prstGeom prst="rect">
            <a:avLst/>
          </a:prstGeom>
          <a:noFill/>
          <a:ln/>
        </p:spPr>
        <p:txBody>
          <a:bodyPr wrap="square" lIns="0" tIns="0" rIns="0" bIns="0" rtlCol="0" anchor="t"/>
          <a:lstStyle/>
          <a:p>
            <a:pPr indent="0" marL="0">
              <a:buNone/>
            </a:pPr>
            <a:r>
              <a:rPr lang="en-US" sz="1500" dirty="0">
                <a:solidFill>
                  <a:schemeClr val="tx1"/>
                </a:solidFill>
              </a:rPr>
              <a:t>Both fixpoints' ranks: a ranked node meets its rule on lower ranks; the unranked fail theirs on unranked supports, an unfounded set. Generalizes SCALE's "rests on a retraction".</a:t>
            </a:r>
            <a:endParaRPr lang="en-US" sz="1500" dirty="0"/>
          </a:p>
        </p:txBody>
      </p:sp>
      <p:sp>
        <p:nvSpPr>
          <p:cNvPr id="13" name="operation derivation"/>
          <p:cNvSpPr/>
          <p:nvPr/>
        </p:nvSpPr>
        <p:spPr>
          <a:xfrm>
            <a:off x="6233008" y="1691640"/>
            <a:ext cx="5410048" cy="4526280"/>
          </a:xfrm>
          <a:prstGeom prst="roundRect">
            <a:avLst>
              <a:gd name="adj" fmla="val 2020"/>
            </a:avLst>
          </a:prstGeom>
          <a:solidFill>
            <a:schemeClr val="bg2"/>
          </a:solidFill>
          <a:ln/>
        </p:spPr>
      </p:sp>
      <p:sp>
        <p:nvSpPr>
          <p:cNvPr id="14" name="icon derivation"/>
          <p:cNvSpPr/>
          <p:nvPr/>
        </p:nvSpPr>
        <p:spPr>
          <a:xfrm>
            <a:off x="6434176" y="1892808"/>
            <a:ext cx="512064" cy="512064"/>
          </a:xfrm>
          <a:prstGeom prst="ellipse">
            <a:avLst/>
          </a:prstGeom>
          <a:solidFill>
            <a:schemeClr val="accent1"/>
          </a:solidFill>
          <a:ln/>
        </p:spPr>
      </p:sp>
      <p:pic>
        <p:nvPicPr>
          <p:cNvPr id="15" name="Image 2" descr="derivation">    </p:cNvPr>
          <p:cNvPicPr>
            <a:picLocks noChangeAspect="1"/>
          </p:cNvPicPr>
          <p:nvPr/>
        </p:nvPicPr>
        <p:blipFill>
          <a:blip r:embed="rId3"/>
          <a:stretch>
            <a:fillRect/>
          </a:stretch>
        </p:blipFill>
        <p:spPr>
          <a:xfrm>
            <a:off x="6546830" y="2005462"/>
            <a:ext cx="286756" cy="286756"/>
          </a:xfrm>
          <a:prstGeom prst="rect">
            <a:avLst/>
          </a:prstGeom>
        </p:spPr>
      </p:pic>
      <p:sp>
        <p:nvSpPr>
          <p:cNvPr id="16" name="Text 11"/>
          <p:cNvSpPr txBox="1"/>
          <p:nvPr/>
        </p:nvSpPr>
        <p:spPr>
          <a:xfrm>
            <a:off x="7092544" y="1874520"/>
            <a:ext cx="4349344" cy="54864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derivation</a:t>
            </a:r>
            <a:endParaRPr lang="en-US" sz="1500" dirty="0"/>
          </a:p>
          <a:p>
            <a:pPr indent="0" marL="0">
              <a:buNone/>
            </a:pPr>
            <a:r>
              <a:rPr lang="en-US" sz="1500" b="1" dirty="0">
                <a:solidFill>
                  <a:schemeClr val="tx1"/>
                </a:solidFill>
              </a:rPr>
              <a:t>The best route from feedstocks to each product</a:t>
            </a:r>
            <a:endParaRPr lang="en-US" sz="1500" dirty="0"/>
          </a:p>
        </p:txBody>
      </p:sp>
      <p:sp>
        <p:nvSpPr>
          <p:cNvPr id="17" name="Text 12"/>
          <p:cNvSpPr txBox="1"/>
          <p:nvPr/>
        </p:nvSpPr>
        <p:spPr>
          <a:xfrm>
            <a:off x="6434176" y="2569464"/>
            <a:ext cx="5007712" cy="2164842"/>
          </a:xfrm>
          <a:prstGeom prst="rect">
            <a:avLst/>
          </a:prstGeom>
          <a:noFill/>
          <a:ln/>
        </p:spPr>
        <p:txBody>
          <a:bodyPr wrap="square" lIns="0" tIns="0" rIns="0" bIns="0" rtlCol="0" anchor="t"/>
          <a:lstStyle/>
          <a:p>
            <a:pPr indent="0" marL="0">
              <a:spcAft>
                <a:spcPts val="900"/>
              </a:spcAft>
              <a:buNone/>
            </a:pPr>
            <a:r>
              <a:rPr lang="en-US" sz="1500" b="1" dirty="0">
                <a:solidFill>
                  <a:schemeClr val="accent1"/>
                </a:solidFill>
              </a:rPr>
              <a:t>Theory. </a:t>
            </a:r>
            <a:pPr indent="0" marL="0">
              <a:spcAft>
                <a:spcPts val="900"/>
              </a:spcAft>
              <a:buNone/>
            </a:pPr>
            <a:r>
              <a:rPr lang="en-US" sz="1500" dirty="0">
                <a:solidFill>
                  <a:schemeClr val="tx1"/>
                </a:solidFill>
              </a:rPr>
              <a:t>Lightest derivations: a reaction needs all its reactants, a species any reaction that makes it. Cheapest (</a:t>
            </a:r>
            <a:pPr indent="0" marL="0">
              <a:spcAft>
                <a:spcPts val="900"/>
              </a:spcAft>
              <a:buNone/>
            </a:pPr>
            <a:r>
              <a:rPr lang="en-US" sz="1400" dirty="0">
                <a:solidFill>
                  <a:schemeClr val="tx1"/>
                </a:solidFill>
                <a:latin typeface="Courier New" pitchFamily="34" charset="0"/>
                <a:ea typeface="Courier New" pitchFamily="34" charset="-122"/>
                <a:cs typeface="Courier New" pitchFamily="34" charset="-120"/>
              </a:rPr>
              <a:t>min_sum</a:t>
            </a:r>
            <a:pPr indent="0" marL="0">
              <a:spcAft>
                <a:spcPts val="900"/>
              </a:spcAft>
              <a:buNone/>
            </a:pPr>
            <a:r>
              <a:rPr lang="en-US" sz="1500" dirty="0">
                <a:solidFill>
                  <a:schemeClr val="tx1"/>
                </a:solidFill>
              </a:rPr>
              <a:t>), lowest highest barrier (</a:t>
            </a:r>
            <a:pPr indent="0" marL="0">
              <a:spcAft>
                <a:spcPts val="900"/>
              </a:spcAft>
              <a:buNone/>
            </a:pPr>
            <a:r>
              <a:rPr lang="en-US" sz="1400" dirty="0">
                <a:solidFill>
                  <a:schemeClr val="tx1"/>
                </a:solidFill>
                <a:latin typeface="Courier New" pitchFamily="34" charset="0"/>
                <a:ea typeface="Courier New" pitchFamily="34" charset="-122"/>
                <a:cs typeface="Courier New" pitchFamily="34" charset="-120"/>
              </a:rPr>
              <a:t>min_max</a:t>
            </a:r>
            <a:pPr indent="0" marL="0">
              <a:spcAft>
                <a:spcPts val="900"/>
              </a:spcAft>
              <a:buNone/>
            </a:pPr>
            <a:r>
              <a:rPr lang="en-US" sz="1500" dirty="0">
                <a:solidFill>
                  <a:schemeClr val="tx1"/>
                </a:solidFill>
              </a:rPr>
              <a:t>), fastest slowest step (</a:t>
            </a:r>
            <a:pPr indent="0" marL="0">
              <a:spcAft>
                <a:spcPts val="900"/>
              </a:spcAft>
              <a:buNone/>
            </a:pPr>
            <a:r>
              <a:rPr lang="en-US" sz="1400" dirty="0">
                <a:solidFill>
                  <a:schemeClr val="tx1"/>
                </a:solidFill>
                <a:latin typeface="Courier New" pitchFamily="34" charset="0"/>
                <a:ea typeface="Courier New" pitchFamily="34" charset="-122"/>
                <a:cs typeface="Courier New" pitchFamily="34" charset="-120"/>
              </a:rPr>
              <a:t>max_min</a:t>
            </a:r>
            <a:pPr indent="0" marL="0">
              <a:spcAft>
                <a:spcPts val="900"/>
              </a:spcAft>
              <a:buNone/>
            </a:pPr>
            <a:r>
              <a:rPr lang="en-US" sz="1500" dirty="0">
                <a:solidFill>
                  <a:schemeClr val="tx1"/>
                </a:solidFill>
              </a:rPr>
              <a:t>).</a:t>
            </a:r>
            <a:endParaRPr lang="en-US" sz="1500" dirty="0"/>
          </a:p>
          <a:p>
            <a:pPr indent="0" marL="0">
              <a:buNone/>
            </a:pPr>
            <a:r>
              <a:rPr lang="en-US" sz="1500" b="1" dirty="0">
                <a:solidFill>
                  <a:schemeClr val="accent1"/>
                </a:solidFill>
              </a:rPr>
              <a:t>Algorithm. </a:t>
            </a:r>
            <a:pPr indent="0" marL="0">
              <a:buNone/>
            </a:pPr>
            <a:r>
              <a:rPr lang="en-US" sz="1500" dirty="0">
                <a:solidFill>
                  <a:schemeClr val="tx1"/>
                </a:solidFill>
              </a:rPr>
              <a:t>Knuth's generalization of Dijkstra's algorithm (1977); the lightest derivation problem of Felzenszwalb and McAllester (2007). A settled value is final.</a:t>
            </a:r>
            <a:endParaRPr lang="en-US" sz="1500" dirty="0"/>
          </a:p>
        </p:txBody>
      </p:sp>
      <p:sp>
        <p:nvSpPr>
          <p:cNvPr id="18" name="proof derivation"/>
          <p:cNvSpPr/>
          <p:nvPr/>
        </p:nvSpPr>
        <p:spPr>
          <a:xfrm>
            <a:off x="6379312" y="4807458"/>
            <a:ext cx="5117440" cy="1209294"/>
          </a:xfrm>
          <a:prstGeom prst="roundRect">
            <a:avLst>
              <a:gd name="adj" fmla="val 6049"/>
            </a:avLst>
          </a:prstGeom>
          <a:solidFill>
            <a:schemeClr val="bg1"/>
          </a:solidFill>
          <a:ln w="15875">
            <a:solidFill>
              <a:schemeClr val="accent1"/>
            </a:solidFill>
            <a:prstDash val="solid"/>
          </a:ln>
        </p:spPr>
      </p:sp>
      <p:pic>
        <p:nvPicPr>
          <p:cNvPr id="19" name="Image 3" descr="certificate">    </p:cNvPr>
          <p:cNvPicPr>
            <a:picLocks noChangeAspect="1"/>
          </p:cNvPicPr>
          <p:nvPr/>
        </p:nvPicPr>
        <p:blipFill>
          <a:blip r:embed="rId4"/>
          <a:stretch>
            <a:fillRect/>
          </a:stretch>
        </p:blipFill>
        <p:spPr>
          <a:xfrm>
            <a:off x="6489040" y="4898898"/>
            <a:ext cx="246888" cy="246888"/>
          </a:xfrm>
          <a:prstGeom prst="rect">
            <a:avLst/>
          </a:prstGeom>
        </p:spPr>
      </p:pic>
      <p:sp>
        <p:nvSpPr>
          <p:cNvPr id="20" name="Text 14"/>
          <p:cNvSpPr txBox="1"/>
          <p:nvPr/>
        </p:nvSpPr>
        <p:spPr>
          <a:xfrm>
            <a:off x="6818224" y="4898898"/>
            <a:ext cx="4550512"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CERTIFICATE PROVES</a:t>
            </a:r>
            <a:endParaRPr lang="en-US" sz="1100" dirty="0"/>
          </a:p>
        </p:txBody>
      </p:sp>
      <p:sp>
        <p:nvSpPr>
          <p:cNvPr id="21" name="Text 15"/>
          <p:cNvSpPr txBox="1"/>
          <p:nvPr/>
        </p:nvSpPr>
        <p:spPr>
          <a:xfrm>
            <a:off x="6489040" y="5191506"/>
            <a:ext cx="4897984" cy="752094"/>
          </a:xfrm>
          <a:prstGeom prst="rect">
            <a:avLst/>
          </a:prstGeom>
          <a:noFill/>
          <a:ln/>
        </p:spPr>
        <p:txBody>
          <a:bodyPr wrap="square" lIns="0" tIns="0" rIns="0" bIns="0" rtlCol="0" anchor="t"/>
          <a:lstStyle/>
          <a:p>
            <a:pPr indent="0" marL="0">
              <a:buNone/>
            </a:pPr>
            <a:r>
              <a:rPr lang="en-US" sz="1500" dirty="0">
                <a:solidFill>
                  <a:schemeClr val="tx1"/>
                </a:solidFill>
              </a:rPr>
              <a:t>Values no rule improves on, over the targets' region, prove the best values and the underivable targets at once. The derivation DAG is the witness.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Order and causality: schedules and independence</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Two readings of a directed graph: precedence for schedules, causation for causal claims and adjustment for confounding.</a:t>
            </a:r>
            <a:endParaRPr lang="en-US" sz="1600" dirty="0"/>
          </a:p>
        </p:txBody>
      </p:sp>
      <p:sp>
        <p:nvSpPr>
          <p:cNvPr id="4" name="operation critical_path"/>
          <p:cNvSpPr/>
          <p:nvPr/>
        </p:nvSpPr>
        <p:spPr>
          <a:xfrm>
            <a:off x="548640" y="1691640"/>
            <a:ext cx="5410048" cy="4526280"/>
          </a:xfrm>
          <a:prstGeom prst="roundRect">
            <a:avLst>
              <a:gd name="adj" fmla="val 2020"/>
            </a:avLst>
          </a:prstGeom>
          <a:solidFill>
            <a:schemeClr val="bg2"/>
          </a:solidFill>
          <a:ln/>
        </p:spPr>
      </p:sp>
      <p:sp>
        <p:nvSpPr>
          <p:cNvPr id="5" name="icon critical_path"/>
          <p:cNvSpPr/>
          <p:nvPr/>
        </p:nvSpPr>
        <p:spPr>
          <a:xfrm>
            <a:off x="749808" y="1892808"/>
            <a:ext cx="512064" cy="512064"/>
          </a:xfrm>
          <a:prstGeom prst="ellipse">
            <a:avLst/>
          </a:prstGeom>
          <a:solidFill>
            <a:schemeClr val="accent1"/>
          </a:solidFill>
          <a:ln/>
        </p:spPr>
      </p:sp>
      <p:pic>
        <p:nvPicPr>
          <p:cNvPr id="6" name="Image 0" descr="critical_path">    </p:cNvPr>
          <p:cNvPicPr>
            <a:picLocks noChangeAspect="1"/>
          </p:cNvPicPr>
          <p:nvPr/>
        </p:nvPicPr>
        <p:blipFill>
          <a:blip r:embed="rId1"/>
          <a:stretch>
            <a:fillRect/>
          </a:stretch>
        </p:blipFill>
        <p:spPr>
          <a:xfrm>
            <a:off x="862462" y="2005462"/>
            <a:ext cx="286756" cy="286756"/>
          </a:xfrm>
          <a:prstGeom prst="rect">
            <a:avLst/>
          </a:prstGeom>
        </p:spPr>
      </p:pic>
      <p:sp>
        <p:nvSpPr>
          <p:cNvPr id="7" name="Text 4"/>
          <p:cNvSpPr txBox="1"/>
          <p:nvPr/>
        </p:nvSpPr>
        <p:spPr>
          <a:xfrm>
            <a:off x="1408176" y="1874520"/>
            <a:ext cx="4349344" cy="54864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critical_path</a:t>
            </a:r>
            <a:endParaRPr lang="en-US" sz="1500" dirty="0"/>
          </a:p>
          <a:p>
            <a:pPr indent="0" marL="0">
              <a:buNone/>
            </a:pPr>
            <a:r>
              <a:rPr lang="en-US" sz="1500" b="1" dirty="0">
                <a:solidFill>
                  <a:schemeClr val="tx1"/>
                </a:solidFill>
              </a:rPr>
              <a:t>Schedule, makespan and slack, or a cycle</a:t>
            </a:r>
            <a:endParaRPr lang="en-US" sz="1500" dirty="0"/>
          </a:p>
        </p:txBody>
      </p:sp>
      <p:sp>
        <p:nvSpPr>
          <p:cNvPr id="8" name="Text 5"/>
          <p:cNvSpPr txBox="1"/>
          <p:nvPr/>
        </p:nvSpPr>
        <p:spPr>
          <a:xfrm>
            <a:off x="749808" y="2569464"/>
            <a:ext cx="5007712" cy="2211324"/>
          </a:xfrm>
          <a:prstGeom prst="rect">
            <a:avLst/>
          </a:prstGeom>
          <a:noFill/>
          <a:ln/>
        </p:spPr>
        <p:txBody>
          <a:bodyPr wrap="square" lIns="0" tIns="0" rIns="0" bIns="0" rtlCol="0" anchor="t"/>
          <a:lstStyle/>
          <a:p>
            <a:pPr indent="0" marL="0">
              <a:spcAft>
                <a:spcPts val="840"/>
              </a:spcAft>
              <a:buNone/>
            </a:pPr>
            <a:r>
              <a:rPr lang="en-US" sz="1400" b="1" dirty="0">
                <a:solidFill>
                  <a:schemeClr val="accent1"/>
                </a:solidFill>
              </a:rPr>
              <a:t>Theory. </a:t>
            </a:r>
            <a:pPr indent="0" marL="0">
              <a:spcAft>
                <a:spcPts val="840"/>
              </a:spcAft>
              <a:buNone/>
            </a:pPr>
            <a:r>
              <a:rPr lang="en-US" sz="1400" dirty="0">
                <a:solidFill>
                  <a:schemeClr val="tx1"/>
                </a:solidFill>
              </a:rPr>
              <a:t>A hop from u to v means u comes first. Kelley and Walker's critical path method (1959): earliest times by the longest-path recurrence, the makespan, a critical path, latest times and slack. A graph with a cycle gives a cycle instead.</a:t>
            </a:r>
            <a:endParaRPr lang="en-US" sz="1400" dirty="0"/>
          </a:p>
          <a:p>
            <a:pPr indent="0" marL="0">
              <a:buNone/>
            </a:pPr>
            <a:r>
              <a:rPr lang="en-US" sz="1400" b="1" dirty="0">
                <a:solidFill>
                  <a:schemeClr val="accent1"/>
                </a:solidFill>
              </a:rPr>
              <a:t>Algorithm. </a:t>
            </a:r>
            <a:pPr indent="0" marL="0">
              <a:buNone/>
            </a:pPr>
            <a:r>
              <a:rPr lang="en-US" sz="1400" dirty="0">
                <a:solidFill>
                  <a:schemeClr val="tx1"/>
                </a:solidFill>
              </a:rPr>
              <a:t>Kahn's algorithm (1962), taking the smallest ready node first: the lexicographically smallest topological order. Costs are exact; without them, earliest times are layers.</a:t>
            </a:r>
            <a:endParaRPr lang="en-US" sz="1400" dirty="0"/>
          </a:p>
        </p:txBody>
      </p:sp>
      <p:sp>
        <p:nvSpPr>
          <p:cNvPr id="9" name="proof critical_path"/>
          <p:cNvSpPr/>
          <p:nvPr/>
        </p:nvSpPr>
        <p:spPr>
          <a:xfrm>
            <a:off x="694944" y="4853940"/>
            <a:ext cx="5117440" cy="1162812"/>
          </a:xfrm>
          <a:prstGeom prst="roundRect">
            <a:avLst>
              <a:gd name="adj" fmla="val 6291"/>
            </a:avLst>
          </a:prstGeom>
          <a:solidFill>
            <a:schemeClr val="bg1"/>
          </a:solidFill>
          <a:ln w="15875">
            <a:solidFill>
              <a:schemeClr val="accent1"/>
            </a:solidFill>
            <a:prstDash val="solid"/>
          </a:ln>
        </p:spPr>
      </p:sp>
      <p:pic>
        <p:nvPicPr>
          <p:cNvPr id="10" name="Image 1" descr="certificate">    </p:cNvPr>
          <p:cNvPicPr>
            <a:picLocks noChangeAspect="1"/>
          </p:cNvPicPr>
          <p:nvPr/>
        </p:nvPicPr>
        <p:blipFill>
          <a:blip r:embed="rId2"/>
          <a:stretch>
            <a:fillRect/>
          </a:stretch>
        </p:blipFill>
        <p:spPr>
          <a:xfrm>
            <a:off x="804672" y="4945380"/>
            <a:ext cx="246888" cy="246888"/>
          </a:xfrm>
          <a:prstGeom prst="rect">
            <a:avLst/>
          </a:prstGeom>
        </p:spPr>
      </p:pic>
      <p:sp>
        <p:nvSpPr>
          <p:cNvPr id="11" name="Text 7"/>
          <p:cNvSpPr txBox="1"/>
          <p:nvPr/>
        </p:nvSpPr>
        <p:spPr>
          <a:xfrm>
            <a:off x="1133856" y="4945380"/>
            <a:ext cx="4550512"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CERTIFICATE PROVES</a:t>
            </a:r>
            <a:endParaRPr lang="en-US" sz="1100" dirty="0"/>
          </a:p>
        </p:txBody>
      </p:sp>
      <p:sp>
        <p:nvSpPr>
          <p:cNvPr id="12" name="Text 8"/>
          <p:cNvSpPr txBox="1"/>
          <p:nvPr/>
        </p:nvSpPr>
        <p:spPr>
          <a:xfrm>
            <a:off x="804672" y="5237988"/>
            <a:ext cx="4897984" cy="705612"/>
          </a:xfrm>
          <a:prstGeom prst="rect">
            <a:avLst/>
          </a:prstGeom>
          <a:noFill/>
          <a:ln/>
        </p:spPr>
        <p:txBody>
          <a:bodyPr wrap="square" lIns="0" tIns="0" rIns="0" bIns="0" rtlCol="0" anchor="t"/>
          <a:lstStyle/>
          <a:p>
            <a:pPr indent="0" marL="0">
              <a:buNone/>
            </a:pPr>
            <a:r>
              <a:rPr lang="en-US" sz="1400" dirty="0">
                <a:solidFill>
                  <a:schemeClr val="tx1"/>
                </a:solidFill>
              </a:rPr>
              <a:t>The order with earliest times: every hop goes forward and the recurrence holds exactly, which proves the makespan, the path and the schedule.</a:t>
            </a:r>
            <a:endParaRPr lang="en-US" sz="1400" dirty="0"/>
          </a:p>
        </p:txBody>
      </p:sp>
      <p:sp>
        <p:nvSpPr>
          <p:cNvPr id="13" name="operation d_separation"/>
          <p:cNvSpPr/>
          <p:nvPr/>
        </p:nvSpPr>
        <p:spPr>
          <a:xfrm>
            <a:off x="6233008" y="1691640"/>
            <a:ext cx="5410048" cy="4526280"/>
          </a:xfrm>
          <a:prstGeom prst="roundRect">
            <a:avLst>
              <a:gd name="adj" fmla="val 2020"/>
            </a:avLst>
          </a:prstGeom>
          <a:solidFill>
            <a:schemeClr val="bg2"/>
          </a:solidFill>
          <a:ln/>
        </p:spPr>
      </p:sp>
      <p:sp>
        <p:nvSpPr>
          <p:cNvPr id="14" name="icon d_separation"/>
          <p:cNvSpPr/>
          <p:nvPr/>
        </p:nvSpPr>
        <p:spPr>
          <a:xfrm>
            <a:off x="6434176" y="1892808"/>
            <a:ext cx="512064" cy="512064"/>
          </a:xfrm>
          <a:prstGeom prst="ellipse">
            <a:avLst/>
          </a:prstGeom>
          <a:solidFill>
            <a:schemeClr val="accent1"/>
          </a:solidFill>
          <a:ln/>
        </p:spPr>
      </p:sp>
      <p:pic>
        <p:nvPicPr>
          <p:cNvPr id="15" name="Image 2" descr="d_separation">    </p:cNvPr>
          <p:cNvPicPr>
            <a:picLocks noChangeAspect="1"/>
          </p:cNvPicPr>
          <p:nvPr/>
        </p:nvPicPr>
        <p:blipFill>
          <a:blip r:embed="rId3"/>
          <a:stretch>
            <a:fillRect/>
          </a:stretch>
        </p:blipFill>
        <p:spPr>
          <a:xfrm>
            <a:off x="6546830" y="2005462"/>
            <a:ext cx="286756" cy="286756"/>
          </a:xfrm>
          <a:prstGeom prst="rect">
            <a:avLst/>
          </a:prstGeom>
        </p:spPr>
      </p:pic>
      <p:sp>
        <p:nvSpPr>
          <p:cNvPr id="16" name="Text 11"/>
          <p:cNvSpPr txBox="1"/>
          <p:nvPr/>
        </p:nvSpPr>
        <p:spPr>
          <a:xfrm>
            <a:off x="7092544" y="1874520"/>
            <a:ext cx="4349344" cy="54864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d_separation</a:t>
            </a:r>
            <a:endParaRPr lang="en-US" sz="1500" dirty="0"/>
          </a:p>
          <a:p>
            <a:pPr indent="0" marL="0">
              <a:buNone/>
            </a:pPr>
            <a:r>
              <a:rPr lang="en-US" sz="1500" b="1" dirty="0">
                <a:solidFill>
                  <a:schemeClr val="tx1"/>
                </a:solidFill>
              </a:rPr>
              <a:t>Causal independence, or the trail that breaks it</a:t>
            </a:r>
            <a:endParaRPr lang="en-US" sz="1500" dirty="0"/>
          </a:p>
        </p:txBody>
      </p:sp>
      <p:sp>
        <p:nvSpPr>
          <p:cNvPr id="17" name="Text 12"/>
          <p:cNvSpPr txBox="1"/>
          <p:nvPr/>
        </p:nvSpPr>
        <p:spPr>
          <a:xfrm>
            <a:off x="6434176" y="2569464"/>
            <a:ext cx="5007712" cy="2211324"/>
          </a:xfrm>
          <a:prstGeom prst="rect">
            <a:avLst/>
          </a:prstGeom>
          <a:noFill/>
          <a:ln/>
        </p:spPr>
        <p:txBody>
          <a:bodyPr wrap="square" lIns="0" tIns="0" rIns="0" bIns="0" rtlCol="0" anchor="t"/>
          <a:lstStyle/>
          <a:p>
            <a:pPr indent="0" marL="0">
              <a:spcAft>
                <a:spcPts val="840"/>
              </a:spcAft>
              <a:buNone/>
            </a:pPr>
            <a:r>
              <a:rPr lang="en-US" sz="1400" b="1" dirty="0">
                <a:solidFill>
                  <a:schemeClr val="accent1"/>
                </a:solidFill>
              </a:rPr>
              <a:t>Theory. </a:t>
            </a:r>
            <a:pPr indent="0" marL="0">
              <a:spcAft>
                <a:spcPts val="840"/>
              </a:spcAft>
              <a:buNone/>
            </a:pPr>
            <a:r>
              <a:rPr lang="en-US" sz="1400" dirty="0">
                <a:solidFill>
                  <a:schemeClr val="tx1"/>
                </a:solidFill>
              </a:rPr>
              <a:t>A hop from u to v means u is a parent of v. x and y are d-separated given Z when no trail between them is active (Pearl, 1988; Geiger, Verma and Pearl, 1990).</a:t>
            </a:r>
            <a:endParaRPr lang="en-US" sz="1400" dirty="0"/>
          </a:p>
          <a:p>
            <a:pPr indent="0" marL="0">
              <a:buNone/>
            </a:pPr>
            <a:r>
              <a:rPr lang="en-US" sz="1400" b="1" dirty="0">
                <a:solidFill>
                  <a:schemeClr val="accent1"/>
                </a:solidFill>
              </a:rPr>
              <a:t>Algorithm. </a:t>
            </a:r>
            <a:pPr indent="0" marL="0">
              <a:buNone/>
            </a:pPr>
            <a:r>
              <a:rPr lang="en-US" sz="1400" dirty="0">
                <a:solidFill>
                  <a:schemeClr val="tx1"/>
                </a:solidFill>
              </a:rPr>
              <a:t>Shachter's Bayes-ball (1998), as Koller and Friedman's Algorithm 3.1: the given nodes' ancestors, then a breadth-first search over (node, going up or down) states.</a:t>
            </a:r>
            <a:endParaRPr lang="en-US" sz="1400" dirty="0"/>
          </a:p>
        </p:txBody>
      </p:sp>
      <p:sp>
        <p:nvSpPr>
          <p:cNvPr id="18" name="proof d_separation"/>
          <p:cNvSpPr/>
          <p:nvPr/>
        </p:nvSpPr>
        <p:spPr>
          <a:xfrm>
            <a:off x="6379312" y="4853940"/>
            <a:ext cx="5117440" cy="1162812"/>
          </a:xfrm>
          <a:prstGeom prst="roundRect">
            <a:avLst>
              <a:gd name="adj" fmla="val 6291"/>
            </a:avLst>
          </a:prstGeom>
          <a:solidFill>
            <a:schemeClr val="bg1"/>
          </a:solidFill>
          <a:ln w="15875">
            <a:solidFill>
              <a:schemeClr val="accent1"/>
            </a:solidFill>
            <a:prstDash val="solid"/>
          </a:ln>
        </p:spPr>
      </p:sp>
      <p:pic>
        <p:nvPicPr>
          <p:cNvPr id="19" name="Image 3" descr="certificate">    </p:cNvPr>
          <p:cNvPicPr>
            <a:picLocks noChangeAspect="1"/>
          </p:cNvPicPr>
          <p:nvPr/>
        </p:nvPicPr>
        <p:blipFill>
          <a:blip r:embed="rId4"/>
          <a:stretch>
            <a:fillRect/>
          </a:stretch>
        </p:blipFill>
        <p:spPr>
          <a:xfrm>
            <a:off x="6489040" y="4945380"/>
            <a:ext cx="246888" cy="246888"/>
          </a:xfrm>
          <a:prstGeom prst="rect">
            <a:avLst/>
          </a:prstGeom>
        </p:spPr>
      </p:pic>
      <p:sp>
        <p:nvSpPr>
          <p:cNvPr id="20" name="Text 14"/>
          <p:cNvSpPr txBox="1"/>
          <p:nvPr/>
        </p:nvSpPr>
        <p:spPr>
          <a:xfrm>
            <a:off x="6818224" y="4945380"/>
            <a:ext cx="4550512"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CERTIFICATE PROVES</a:t>
            </a:r>
            <a:endParaRPr lang="en-US" sz="1100" dirty="0"/>
          </a:p>
        </p:txBody>
      </p:sp>
      <p:sp>
        <p:nvSpPr>
          <p:cNvPr id="21" name="Text 15"/>
          <p:cNvSpPr txBox="1"/>
          <p:nvPr/>
        </p:nvSpPr>
        <p:spPr>
          <a:xfrm>
            <a:off x="6489040" y="5237988"/>
            <a:ext cx="4897984" cy="705612"/>
          </a:xfrm>
          <a:prstGeom prst="rect">
            <a:avLst/>
          </a:prstGeom>
          <a:noFill/>
          <a:ln/>
        </p:spPr>
        <p:txBody>
          <a:bodyPr wrap="square" lIns="0" tIns="0" rIns="0" bIns="0" rtlCol="0" anchor="t"/>
          <a:lstStyle/>
          <a:p>
            <a:pPr indent="0" marL="0">
              <a:buNone/>
            </a:pPr>
            <a:r>
              <a:rPr lang="en-US" sz="1400" dirty="0">
                <a:solidFill>
                  <a:schemeClr val="tx1"/>
                </a:solidFill>
              </a:rPr>
              <a:t>Not separated: the active trail, with a directed path from each collider down to Z. Separated: the ancestor set and visited states, closed under the moves, holding no node of y.</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Patterns: multi-step questions, substructures</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SCALE's query plans in generic form: variables, steps, optional steps; trees, cycles and injective matches.</a:t>
            </a:r>
            <a:endParaRPr lang="en-US" sz="1600" dirty="0"/>
          </a:p>
        </p:txBody>
      </p:sp>
      <p:sp>
        <p:nvSpPr>
          <p:cNvPr id="4" name="operation pattern · trees"/>
          <p:cNvSpPr/>
          <p:nvPr/>
        </p:nvSpPr>
        <p:spPr>
          <a:xfrm>
            <a:off x="548640" y="1691640"/>
            <a:ext cx="3515258" cy="4526280"/>
          </a:xfrm>
          <a:prstGeom prst="roundRect">
            <a:avLst>
              <a:gd name="adj" fmla="val 2601"/>
            </a:avLst>
          </a:prstGeom>
          <a:solidFill>
            <a:schemeClr val="bg2"/>
          </a:solidFill>
          <a:ln/>
        </p:spPr>
      </p:sp>
      <p:sp>
        <p:nvSpPr>
          <p:cNvPr id="5" name="icon pattern · trees"/>
          <p:cNvSpPr/>
          <p:nvPr/>
        </p:nvSpPr>
        <p:spPr>
          <a:xfrm>
            <a:off x="749808" y="1892808"/>
            <a:ext cx="512064" cy="512064"/>
          </a:xfrm>
          <a:prstGeom prst="ellipse">
            <a:avLst/>
          </a:prstGeom>
          <a:solidFill>
            <a:schemeClr val="accent1"/>
          </a:solidFill>
          <a:ln/>
        </p:spPr>
      </p:sp>
      <p:pic>
        <p:nvPicPr>
          <p:cNvPr id="6" name="Image 0" descr="pattern · trees">    </p:cNvPr>
          <p:cNvPicPr>
            <a:picLocks noChangeAspect="1"/>
          </p:cNvPicPr>
          <p:nvPr/>
        </p:nvPicPr>
        <p:blipFill>
          <a:blip r:embed="rId1"/>
          <a:stretch>
            <a:fillRect/>
          </a:stretch>
        </p:blipFill>
        <p:spPr>
          <a:xfrm>
            <a:off x="862462" y="2005462"/>
            <a:ext cx="286756" cy="286756"/>
          </a:xfrm>
          <a:prstGeom prst="rect">
            <a:avLst/>
          </a:prstGeom>
        </p:spPr>
      </p:pic>
      <p:sp>
        <p:nvSpPr>
          <p:cNvPr id="7" name="Text 4"/>
          <p:cNvSpPr txBox="1"/>
          <p:nvPr/>
        </p:nvSpPr>
        <p:spPr>
          <a:xfrm>
            <a:off x="1408176" y="1874520"/>
            <a:ext cx="2454554" cy="693801"/>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pattern · trees</a:t>
            </a:r>
            <a:endParaRPr lang="en-US" sz="1500" dirty="0"/>
          </a:p>
          <a:p>
            <a:pPr indent="0" marL="0">
              <a:buNone/>
            </a:pPr>
            <a:r>
              <a:rPr lang="en-US" sz="1500" b="1" dirty="0">
                <a:solidFill>
                  <a:schemeClr val="tx1"/>
                </a:solidFill>
              </a:rPr>
              <a:t>Tree patterns without dead ends</a:t>
            </a:r>
            <a:endParaRPr lang="en-US" sz="1500" dirty="0"/>
          </a:p>
        </p:txBody>
      </p:sp>
      <p:sp>
        <p:nvSpPr>
          <p:cNvPr id="8" name="Text 5"/>
          <p:cNvSpPr txBox="1"/>
          <p:nvPr/>
        </p:nvSpPr>
        <p:spPr>
          <a:xfrm>
            <a:off x="749808" y="2714625"/>
            <a:ext cx="3112922" cy="1849247"/>
          </a:xfrm>
          <a:prstGeom prst="rect">
            <a:avLst/>
          </a:prstGeom>
          <a:noFill/>
          <a:ln/>
        </p:spPr>
        <p:txBody>
          <a:bodyPr wrap="square" lIns="0" tIns="0" rIns="0" bIns="0" rtlCol="0" anchor="t"/>
          <a:lstStyle/>
          <a:p>
            <a:pPr indent="0" marL="0">
              <a:spcAft>
                <a:spcPts val="840"/>
              </a:spcAft>
              <a:buNone/>
            </a:pPr>
            <a:r>
              <a:rPr lang="en-US" sz="1400" b="1" dirty="0">
                <a:solidFill>
                  <a:schemeClr val="accent1"/>
                </a:solidFill>
              </a:rPr>
              <a:t>Theory. </a:t>
            </a:r>
            <a:pPr indent="0" marL="0">
              <a:spcAft>
                <a:spcPts val="840"/>
              </a:spcAft>
              <a:buNone/>
            </a:pPr>
            <a:r>
              <a:rPr lang="en-US" sz="1400" dirty="0">
                <a:solidFill>
                  <a:schemeClr val="tx1"/>
                </a:solidFill>
              </a:rPr>
              <a:t>Variables bound by types (through the hierarchy) or IDs, then steps, each one hop from an earlier variable; optional steps keep their row.</a:t>
            </a:r>
            <a:endParaRPr lang="en-US" sz="1400" dirty="0"/>
          </a:p>
          <a:p>
            <a:pPr indent="0" marL="0">
              <a:buNone/>
            </a:pPr>
            <a:r>
              <a:rPr lang="en-US" sz="1400" b="1" dirty="0">
                <a:solidFill>
                  <a:schemeClr val="accent1"/>
                </a:solidFill>
              </a:rPr>
              <a:t>Algorithm. </a:t>
            </a:r>
            <a:pPr indent="0" marL="0">
              <a:buNone/>
            </a:pPr>
            <a:r>
              <a:rPr lang="en-US" sz="1400" dirty="0">
                <a:solidFill>
                  <a:schemeClr val="tx1"/>
                </a:solidFill>
              </a:rPr>
              <a:t>Yannakakis' semi-join reduction: discover down, prune up, prune down. Totals are counted exactly without listing the rows.</a:t>
            </a:r>
            <a:endParaRPr lang="en-US" sz="1400" dirty="0"/>
          </a:p>
        </p:txBody>
      </p:sp>
      <p:sp>
        <p:nvSpPr>
          <p:cNvPr id="9" name="proof pattern · trees"/>
          <p:cNvSpPr/>
          <p:nvPr/>
        </p:nvSpPr>
        <p:spPr>
          <a:xfrm>
            <a:off x="694944" y="4637024"/>
            <a:ext cx="3222650" cy="1379728"/>
          </a:xfrm>
          <a:prstGeom prst="roundRect">
            <a:avLst>
              <a:gd name="adj" fmla="val 5302"/>
            </a:avLst>
          </a:prstGeom>
          <a:solidFill>
            <a:schemeClr val="bg1"/>
          </a:solidFill>
          <a:ln w="15875">
            <a:solidFill>
              <a:schemeClr val="accent1"/>
            </a:solidFill>
            <a:prstDash val="solid"/>
          </a:ln>
        </p:spPr>
      </p:sp>
      <p:pic>
        <p:nvPicPr>
          <p:cNvPr id="10" name="Image 1" descr="certificate">    </p:cNvPr>
          <p:cNvPicPr>
            <a:picLocks noChangeAspect="1"/>
          </p:cNvPicPr>
          <p:nvPr/>
        </p:nvPicPr>
        <p:blipFill>
          <a:blip r:embed="rId2"/>
          <a:stretch>
            <a:fillRect/>
          </a:stretch>
        </p:blipFill>
        <p:spPr>
          <a:xfrm>
            <a:off x="804672" y="4728464"/>
            <a:ext cx="246888" cy="246888"/>
          </a:xfrm>
          <a:prstGeom prst="rect">
            <a:avLst/>
          </a:prstGeom>
        </p:spPr>
      </p:pic>
      <p:sp>
        <p:nvSpPr>
          <p:cNvPr id="11" name="Text 7"/>
          <p:cNvSpPr txBox="1"/>
          <p:nvPr/>
        </p:nvSpPr>
        <p:spPr>
          <a:xfrm>
            <a:off x="1133856" y="4728464"/>
            <a:ext cx="2655722"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CHECKED BY</a:t>
            </a:r>
            <a:endParaRPr lang="en-US" sz="1100" dirty="0"/>
          </a:p>
        </p:txBody>
      </p:sp>
      <p:sp>
        <p:nvSpPr>
          <p:cNvPr id="12" name="Text 8"/>
          <p:cNvSpPr txBox="1"/>
          <p:nvPr/>
        </p:nvSpPr>
        <p:spPr>
          <a:xfrm>
            <a:off x="804672" y="5021072"/>
            <a:ext cx="3003194" cy="922528"/>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verify_result</a:t>
            </a:r>
            <a:pPr indent="0" marL="0">
              <a:buNone/>
            </a:pPr>
            <a:r>
              <a:rPr lang="en-US" sz="1400" dirty="0">
                <a:solidFill>
                  <a:schemeClr val="tx1"/>
                </a:solidFill>
              </a:rPr>
              <a:t> checks every row; rows and totals match a brute-force enumerator (400 random patterns) and SCALE's own engine.</a:t>
            </a:r>
            <a:endParaRPr lang="en-US" sz="1300" dirty="0"/>
          </a:p>
        </p:txBody>
      </p:sp>
      <p:sp>
        <p:nvSpPr>
          <p:cNvPr id="13" name="operation pattern · cycles"/>
          <p:cNvSpPr/>
          <p:nvPr/>
        </p:nvSpPr>
        <p:spPr>
          <a:xfrm>
            <a:off x="4338218" y="1691640"/>
            <a:ext cx="3515258" cy="4526280"/>
          </a:xfrm>
          <a:prstGeom prst="roundRect">
            <a:avLst>
              <a:gd name="adj" fmla="val 2601"/>
            </a:avLst>
          </a:prstGeom>
          <a:solidFill>
            <a:schemeClr val="bg2"/>
          </a:solidFill>
          <a:ln/>
        </p:spPr>
      </p:sp>
      <p:sp>
        <p:nvSpPr>
          <p:cNvPr id="14" name="icon pattern · cycles"/>
          <p:cNvSpPr/>
          <p:nvPr/>
        </p:nvSpPr>
        <p:spPr>
          <a:xfrm>
            <a:off x="4539386" y="1892808"/>
            <a:ext cx="512064" cy="512064"/>
          </a:xfrm>
          <a:prstGeom prst="ellipse">
            <a:avLst/>
          </a:prstGeom>
          <a:solidFill>
            <a:schemeClr val="accent1"/>
          </a:solidFill>
          <a:ln/>
        </p:spPr>
      </p:sp>
      <p:pic>
        <p:nvPicPr>
          <p:cNvPr id="15" name="Image 2" descr="pattern · cycles">    </p:cNvPr>
          <p:cNvPicPr>
            <a:picLocks noChangeAspect="1"/>
          </p:cNvPicPr>
          <p:nvPr/>
        </p:nvPicPr>
        <p:blipFill>
          <a:blip r:embed="rId3"/>
          <a:stretch>
            <a:fillRect/>
          </a:stretch>
        </p:blipFill>
        <p:spPr>
          <a:xfrm>
            <a:off x="4652040" y="2005462"/>
            <a:ext cx="286756" cy="286756"/>
          </a:xfrm>
          <a:prstGeom prst="rect">
            <a:avLst/>
          </a:prstGeom>
        </p:spPr>
      </p:pic>
      <p:sp>
        <p:nvSpPr>
          <p:cNvPr id="16" name="Text 11"/>
          <p:cNvSpPr txBox="1"/>
          <p:nvPr/>
        </p:nvSpPr>
        <p:spPr>
          <a:xfrm>
            <a:off x="5197754" y="1874520"/>
            <a:ext cx="2454554" cy="693801"/>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pattern · cycles</a:t>
            </a:r>
            <a:endParaRPr lang="en-US" sz="1500" dirty="0"/>
          </a:p>
          <a:p>
            <a:pPr indent="0" marL="0">
              <a:buNone/>
            </a:pPr>
            <a:r>
              <a:rPr lang="en-US" sz="1500" b="1" dirty="0">
                <a:solidFill>
                  <a:schemeClr val="tx1"/>
                </a:solidFill>
              </a:rPr>
              <a:t>Corroboration and contradiction motifs</a:t>
            </a:r>
            <a:endParaRPr lang="en-US" sz="1500" dirty="0"/>
          </a:p>
        </p:txBody>
      </p:sp>
      <p:sp>
        <p:nvSpPr>
          <p:cNvPr id="17" name="Text 12"/>
          <p:cNvSpPr txBox="1"/>
          <p:nvPr/>
        </p:nvSpPr>
        <p:spPr>
          <a:xfrm>
            <a:off x="4539386" y="2714625"/>
            <a:ext cx="3112922" cy="1849247"/>
          </a:xfrm>
          <a:prstGeom prst="rect">
            <a:avLst/>
          </a:prstGeom>
          <a:noFill/>
          <a:ln/>
        </p:spPr>
        <p:txBody>
          <a:bodyPr wrap="square" lIns="0" tIns="0" rIns="0" bIns="0" rtlCol="0" anchor="t"/>
          <a:lstStyle/>
          <a:p>
            <a:pPr indent="0" marL="0">
              <a:spcAft>
                <a:spcPts val="840"/>
              </a:spcAft>
              <a:buNone/>
            </a:pPr>
            <a:r>
              <a:rPr lang="en-US" sz="1400" b="1" dirty="0">
                <a:solidFill>
                  <a:schemeClr val="accent1"/>
                </a:solidFill>
              </a:rPr>
              <a:t>Theory. </a:t>
            </a:r>
            <a:pPr indent="0" marL="0">
              <a:spcAft>
                <a:spcPts val="840"/>
              </a:spcAft>
              <a:buNone/>
            </a:pPr>
            <a:r>
              <a:rPr lang="en-US" sz="1400" dirty="0">
                <a:solidFill>
                  <a:schemeClr val="tx1"/>
                </a:solidFill>
              </a:rPr>
              <a:t>A step may close a cycle between bound variables: two supports of a claim from one dataset, a triangle of citations.</a:t>
            </a:r>
            <a:endParaRPr lang="en-US" sz="1400" dirty="0"/>
          </a:p>
          <a:p>
            <a:pPr indent="0" marL="0">
              <a:buNone/>
            </a:pPr>
            <a:r>
              <a:rPr lang="en-US" sz="1400" b="1" dirty="0">
                <a:solidFill>
                  <a:schemeClr val="accent1"/>
                </a:solidFill>
              </a:rPr>
              <a:t>Algorithm. </a:t>
            </a:r>
            <a:pPr indent="0" marL="0">
              <a:buNone/>
            </a:pPr>
            <a:r>
              <a:rPr lang="en-US" sz="1400" dirty="0">
                <a:solidFill>
                  <a:schemeClr val="tx1"/>
                </a:solidFill>
              </a:rPr>
              <a:t>Worst-case optimal join (Ngo, Porat, Ré and Rudra; Leapfrog Triejoin): candidates meet what every closing step allows.</a:t>
            </a:r>
            <a:endParaRPr lang="en-US" sz="1400" dirty="0"/>
          </a:p>
        </p:txBody>
      </p:sp>
      <p:sp>
        <p:nvSpPr>
          <p:cNvPr id="18" name="proof pattern · cycles"/>
          <p:cNvSpPr/>
          <p:nvPr/>
        </p:nvSpPr>
        <p:spPr>
          <a:xfrm>
            <a:off x="4484522" y="4637024"/>
            <a:ext cx="3222650" cy="1379728"/>
          </a:xfrm>
          <a:prstGeom prst="roundRect">
            <a:avLst>
              <a:gd name="adj" fmla="val 5302"/>
            </a:avLst>
          </a:prstGeom>
          <a:solidFill>
            <a:schemeClr val="bg1"/>
          </a:solidFill>
          <a:ln w="15875">
            <a:solidFill>
              <a:schemeClr val="accent1"/>
            </a:solidFill>
            <a:prstDash val="solid"/>
          </a:ln>
        </p:spPr>
      </p:sp>
      <p:pic>
        <p:nvPicPr>
          <p:cNvPr id="19" name="Image 3" descr="certificate">    </p:cNvPr>
          <p:cNvPicPr>
            <a:picLocks noChangeAspect="1"/>
          </p:cNvPicPr>
          <p:nvPr/>
        </p:nvPicPr>
        <p:blipFill>
          <a:blip r:embed="rId4"/>
          <a:stretch>
            <a:fillRect/>
          </a:stretch>
        </p:blipFill>
        <p:spPr>
          <a:xfrm>
            <a:off x="4594250" y="4728464"/>
            <a:ext cx="246888" cy="246888"/>
          </a:xfrm>
          <a:prstGeom prst="rect">
            <a:avLst/>
          </a:prstGeom>
        </p:spPr>
      </p:pic>
      <p:sp>
        <p:nvSpPr>
          <p:cNvPr id="20" name="Text 14"/>
          <p:cNvSpPr txBox="1"/>
          <p:nvPr/>
        </p:nvSpPr>
        <p:spPr>
          <a:xfrm>
            <a:off x="4923434" y="4728464"/>
            <a:ext cx="2655722"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CHECKED BY</a:t>
            </a:r>
            <a:endParaRPr lang="en-US" sz="1100" dirty="0"/>
          </a:p>
        </p:txBody>
      </p:sp>
      <p:sp>
        <p:nvSpPr>
          <p:cNvPr id="21" name="Text 15"/>
          <p:cNvSpPr txBox="1"/>
          <p:nvPr/>
        </p:nvSpPr>
        <p:spPr>
          <a:xfrm>
            <a:off x="4594250" y="5021072"/>
            <a:ext cx="3003194" cy="922528"/>
          </a:xfrm>
          <a:prstGeom prst="rect">
            <a:avLst/>
          </a:prstGeom>
          <a:noFill/>
          <a:ln/>
        </p:spPr>
        <p:txBody>
          <a:bodyPr wrap="square" lIns="0" tIns="0" rIns="0" bIns="0" rtlCol="0" anchor="t"/>
          <a:lstStyle/>
          <a:p>
            <a:pPr indent="0" marL="0">
              <a:buNone/>
            </a:pPr>
            <a:r>
              <a:rPr lang="en-US" sz="1400" dirty="0">
                <a:solidFill>
                  <a:schemeClr val="tx1"/>
                </a:solidFill>
              </a:rPr>
              <a:t>Row for row against a brute-force enumerator (300 random cyclic patterns). An interruption keeps a prefix of the rows, never denies.</a:t>
            </a:r>
            <a:endParaRPr lang="en-US" sz="1400" dirty="0"/>
          </a:p>
        </p:txBody>
      </p:sp>
      <p:sp>
        <p:nvSpPr>
          <p:cNvPr id="22" name="operation pattern · injective"/>
          <p:cNvSpPr/>
          <p:nvPr/>
        </p:nvSpPr>
        <p:spPr>
          <a:xfrm>
            <a:off x="8127797" y="1691640"/>
            <a:ext cx="3515258" cy="4526280"/>
          </a:xfrm>
          <a:prstGeom prst="roundRect">
            <a:avLst>
              <a:gd name="adj" fmla="val 2601"/>
            </a:avLst>
          </a:prstGeom>
          <a:solidFill>
            <a:schemeClr val="bg2"/>
          </a:solidFill>
          <a:ln/>
        </p:spPr>
      </p:sp>
      <p:sp>
        <p:nvSpPr>
          <p:cNvPr id="23" name="icon pattern · injective"/>
          <p:cNvSpPr/>
          <p:nvPr/>
        </p:nvSpPr>
        <p:spPr>
          <a:xfrm>
            <a:off x="8328965" y="1892808"/>
            <a:ext cx="512064" cy="512064"/>
          </a:xfrm>
          <a:prstGeom prst="ellipse">
            <a:avLst/>
          </a:prstGeom>
          <a:solidFill>
            <a:schemeClr val="accent1"/>
          </a:solidFill>
          <a:ln/>
        </p:spPr>
      </p:sp>
      <p:pic>
        <p:nvPicPr>
          <p:cNvPr id="24" name="Image 4" descr="pattern · injective">    </p:cNvPr>
          <p:cNvPicPr>
            <a:picLocks noChangeAspect="1"/>
          </p:cNvPicPr>
          <p:nvPr/>
        </p:nvPicPr>
        <p:blipFill>
          <a:blip r:embed="rId5"/>
          <a:stretch>
            <a:fillRect/>
          </a:stretch>
        </p:blipFill>
        <p:spPr>
          <a:xfrm>
            <a:off x="8441619" y="2005462"/>
            <a:ext cx="286756" cy="286756"/>
          </a:xfrm>
          <a:prstGeom prst="rect">
            <a:avLst/>
          </a:prstGeom>
        </p:spPr>
      </p:pic>
      <p:sp>
        <p:nvSpPr>
          <p:cNvPr id="25" name="Text 18"/>
          <p:cNvSpPr txBox="1"/>
          <p:nvPr/>
        </p:nvSpPr>
        <p:spPr>
          <a:xfrm>
            <a:off x="8987333" y="1874520"/>
            <a:ext cx="2454554" cy="54864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pattern · injective</a:t>
            </a:r>
            <a:endParaRPr lang="en-US" sz="1500" dirty="0"/>
          </a:p>
          <a:p>
            <a:pPr indent="0" marL="0">
              <a:buNone/>
            </a:pPr>
            <a:r>
              <a:rPr lang="en-US" sz="1500" b="1" dirty="0">
                <a:solidFill>
                  <a:schemeClr val="tx1"/>
                </a:solidFill>
              </a:rPr>
              <a:t>Substructure search</a:t>
            </a:r>
            <a:endParaRPr lang="en-US" sz="1500" dirty="0"/>
          </a:p>
        </p:txBody>
      </p:sp>
      <p:sp>
        <p:nvSpPr>
          <p:cNvPr id="26" name="Text 19"/>
          <p:cNvSpPr txBox="1"/>
          <p:nvPr/>
        </p:nvSpPr>
        <p:spPr>
          <a:xfrm>
            <a:off x="8328965" y="2569464"/>
            <a:ext cx="3112922" cy="1994408"/>
          </a:xfrm>
          <a:prstGeom prst="rect">
            <a:avLst/>
          </a:prstGeom>
          <a:noFill/>
          <a:ln/>
        </p:spPr>
        <p:txBody>
          <a:bodyPr wrap="square" lIns="0" tIns="0" rIns="0" bIns="0" rtlCol="0" anchor="t"/>
          <a:lstStyle/>
          <a:p>
            <a:pPr indent="0" marL="0">
              <a:spcAft>
                <a:spcPts val="840"/>
              </a:spcAft>
              <a:buNone/>
            </a:pPr>
            <a:r>
              <a:rPr lang="en-US" sz="1400" b="1" dirty="0">
                <a:solidFill>
                  <a:schemeClr val="accent1"/>
                </a:solidFill>
              </a:rPr>
              <a:t>Theory. </a:t>
            </a:r>
            <a:pPr indent="0" marL="0">
              <a:spcAft>
                <a:spcPts val="840"/>
              </a:spcAft>
              <a:buNone/>
            </a:pPr>
            <a:r>
              <a:rPr lang="en-US" sz="1300" dirty="0">
                <a:solidFill>
                  <a:schemeClr val="tx1"/>
                </a:solidFill>
                <a:latin typeface="Courier New" pitchFamily="34" charset="0"/>
                <a:ea typeface="Courier New" pitchFamily="34" charset="-122"/>
                <a:cs typeface="Courier New" pitchFamily="34" charset="-120"/>
              </a:rPr>
              <a:t>injective: true</a:t>
            </a:r>
            <a:pPr indent="0" marL="0">
              <a:spcAft>
                <a:spcPts val="840"/>
              </a:spcAft>
              <a:buNone/>
            </a:pPr>
            <a:r>
              <a:rPr lang="en-US" sz="1400" dirty="0">
                <a:solidFill>
                  <a:schemeClr val="tx1"/>
                </a:solidFill>
              </a:rPr>
              <a:t>: distinct variables bind distinct nodes, distinct steps distinct edges. Motifs, catalytic sites, rings. No optional steps yet.</a:t>
            </a:r>
            <a:endParaRPr lang="en-US" sz="1400" dirty="0"/>
          </a:p>
          <a:p>
            <a:pPr indent="0" marL="0">
              <a:buNone/>
            </a:pPr>
            <a:r>
              <a:rPr lang="en-US" sz="1400" b="1" dirty="0">
                <a:solidFill>
                  <a:schemeClr val="accent1"/>
                </a:solidFill>
              </a:rPr>
              <a:t>Algorithm. </a:t>
            </a:r>
            <a:pPr indent="0" marL="0">
              <a:buNone/>
            </a:pPr>
            <a:r>
              <a:rPr lang="en-US" sz="1400" dirty="0">
                <a:solidFill>
                  <a:schemeClr val="tx1"/>
                </a:solidFill>
              </a:rPr>
              <a:t>Over the same Yannakakis-pruned candidates, skipping held nodes and used edges. NP-complete: budget-bounded; exact totals when done.</a:t>
            </a:r>
            <a:endParaRPr lang="en-US" sz="1400" dirty="0"/>
          </a:p>
        </p:txBody>
      </p:sp>
      <p:sp>
        <p:nvSpPr>
          <p:cNvPr id="27" name="proof pattern · injective"/>
          <p:cNvSpPr/>
          <p:nvPr/>
        </p:nvSpPr>
        <p:spPr>
          <a:xfrm>
            <a:off x="8274101" y="4637024"/>
            <a:ext cx="3222650" cy="1379728"/>
          </a:xfrm>
          <a:prstGeom prst="roundRect">
            <a:avLst>
              <a:gd name="adj" fmla="val 5302"/>
            </a:avLst>
          </a:prstGeom>
          <a:solidFill>
            <a:schemeClr val="bg1"/>
          </a:solidFill>
          <a:ln w="15875">
            <a:solidFill>
              <a:schemeClr val="accent1"/>
            </a:solidFill>
            <a:prstDash val="solid"/>
          </a:ln>
        </p:spPr>
      </p:sp>
      <p:pic>
        <p:nvPicPr>
          <p:cNvPr id="28" name="Image 5" descr="certificate">    </p:cNvPr>
          <p:cNvPicPr>
            <a:picLocks noChangeAspect="1"/>
          </p:cNvPicPr>
          <p:nvPr/>
        </p:nvPicPr>
        <p:blipFill>
          <a:blip r:embed="rId6"/>
          <a:stretch>
            <a:fillRect/>
          </a:stretch>
        </p:blipFill>
        <p:spPr>
          <a:xfrm>
            <a:off x="8383829" y="4728464"/>
            <a:ext cx="246888" cy="246888"/>
          </a:xfrm>
          <a:prstGeom prst="rect">
            <a:avLst/>
          </a:prstGeom>
        </p:spPr>
      </p:pic>
      <p:sp>
        <p:nvSpPr>
          <p:cNvPr id="29" name="Text 21"/>
          <p:cNvSpPr txBox="1"/>
          <p:nvPr/>
        </p:nvSpPr>
        <p:spPr>
          <a:xfrm>
            <a:off x="8713013" y="4728464"/>
            <a:ext cx="2655722"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CHECKED BY</a:t>
            </a:r>
            <a:endParaRPr lang="en-US" sz="1100" dirty="0"/>
          </a:p>
        </p:txBody>
      </p:sp>
      <p:sp>
        <p:nvSpPr>
          <p:cNvPr id="30" name="Text 22"/>
          <p:cNvSpPr txBox="1"/>
          <p:nvPr/>
        </p:nvSpPr>
        <p:spPr>
          <a:xfrm>
            <a:off x="8383829" y="5021072"/>
            <a:ext cx="3003194" cy="922528"/>
          </a:xfrm>
          <a:prstGeom prst="rect">
            <a:avLst/>
          </a:prstGeom>
          <a:noFill/>
          <a:ln/>
        </p:spPr>
        <p:txBody>
          <a:bodyPr wrap="square" lIns="0" tIns="0" rIns="0" bIns="0" rtlCol="0" anchor="t"/>
          <a:lstStyle/>
          <a:p>
            <a:pPr indent="0" marL="0">
              <a:buNone/>
            </a:pPr>
            <a:r>
              <a:rPr lang="en-US" sz="1400" dirty="0">
                <a:solidFill>
                  <a:schemeClr val="tx1"/>
                </a:solidFill>
              </a:rPr>
              <a:t>Brute force filtered for distinctness, row for row (400 random patterns); networkx's monomorphisms. Interrupted: no absence claimed.</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Ranking: certified personalized PageRank</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PageRank cannot be computed exactly by a finite push, so every score is an interval proven to contain it.</a:t>
            </a:r>
            <a:endParaRPr lang="en-US" sz="1600" dirty="0"/>
          </a:p>
        </p:txBody>
      </p:sp>
      <p:sp>
        <p:nvSpPr>
          <p:cNvPr id="4" name="operation personalized_pagerank"/>
          <p:cNvSpPr/>
          <p:nvPr/>
        </p:nvSpPr>
        <p:spPr>
          <a:xfrm>
            <a:off x="548640" y="1691640"/>
            <a:ext cx="6248095" cy="4526280"/>
          </a:xfrm>
          <a:prstGeom prst="roundRect">
            <a:avLst>
              <a:gd name="adj" fmla="val 2020"/>
            </a:avLst>
          </a:prstGeom>
          <a:solidFill>
            <a:schemeClr val="bg2"/>
          </a:solidFill>
          <a:ln/>
        </p:spPr>
      </p:sp>
      <p:sp>
        <p:nvSpPr>
          <p:cNvPr id="5" name="icon personalized_pagerank"/>
          <p:cNvSpPr/>
          <p:nvPr/>
        </p:nvSpPr>
        <p:spPr>
          <a:xfrm>
            <a:off x="749808" y="1892808"/>
            <a:ext cx="512064" cy="512064"/>
          </a:xfrm>
          <a:prstGeom prst="ellipse">
            <a:avLst/>
          </a:prstGeom>
          <a:solidFill>
            <a:schemeClr val="accent1"/>
          </a:solidFill>
          <a:ln/>
        </p:spPr>
      </p:sp>
      <p:pic>
        <p:nvPicPr>
          <p:cNvPr id="6" name="Image 0" descr="personalized_pagerank">    </p:cNvPr>
          <p:cNvPicPr>
            <a:picLocks noChangeAspect="1"/>
          </p:cNvPicPr>
          <p:nvPr/>
        </p:nvPicPr>
        <p:blipFill>
          <a:blip r:embed="rId1"/>
          <a:stretch>
            <a:fillRect/>
          </a:stretch>
        </p:blipFill>
        <p:spPr>
          <a:xfrm>
            <a:off x="862462" y="2005462"/>
            <a:ext cx="286756" cy="286756"/>
          </a:xfrm>
          <a:prstGeom prst="rect">
            <a:avLst/>
          </a:prstGeom>
        </p:spPr>
      </p:pic>
      <p:sp>
        <p:nvSpPr>
          <p:cNvPr id="7" name="Text 4"/>
          <p:cNvSpPr txBox="1"/>
          <p:nvPr/>
        </p:nvSpPr>
        <p:spPr>
          <a:xfrm>
            <a:off x="1408176" y="1874520"/>
            <a:ext cx="5187391" cy="54864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personalized_pagerank</a:t>
            </a:r>
            <a:endParaRPr lang="en-US" sz="1500" dirty="0"/>
          </a:p>
          <a:p>
            <a:pPr indent="0" marL="0">
              <a:buNone/>
            </a:pPr>
            <a:r>
              <a:rPr lang="en-US" sz="1500" b="1" dirty="0">
                <a:solidFill>
                  <a:schemeClr val="tx1"/>
                </a:solidFill>
              </a:rPr>
              <a:t>A relevance ranking whose every number is proven</a:t>
            </a:r>
            <a:endParaRPr lang="en-US" sz="1500" dirty="0"/>
          </a:p>
        </p:txBody>
      </p:sp>
      <p:sp>
        <p:nvSpPr>
          <p:cNvPr id="8" name="Text 5"/>
          <p:cNvSpPr txBox="1"/>
          <p:nvPr/>
        </p:nvSpPr>
        <p:spPr>
          <a:xfrm>
            <a:off x="749808" y="2569464"/>
            <a:ext cx="5845759" cy="2164842"/>
          </a:xfrm>
          <a:prstGeom prst="rect">
            <a:avLst/>
          </a:prstGeom>
          <a:noFill/>
          <a:ln/>
        </p:spPr>
        <p:txBody>
          <a:bodyPr wrap="square" lIns="0" tIns="0" rIns="0" bIns="0" rtlCol="0" anchor="t"/>
          <a:lstStyle/>
          <a:p>
            <a:pPr indent="0" marL="0">
              <a:spcAft>
                <a:spcPts val="900"/>
              </a:spcAft>
              <a:buNone/>
            </a:pPr>
            <a:r>
              <a:rPr lang="en-US" sz="1500" b="1" dirty="0">
                <a:solidFill>
                  <a:schemeClr val="accent1"/>
                </a:solidFill>
              </a:rPr>
              <a:t>Theory. </a:t>
            </a:r>
            <a:pPr indent="0" marL="0">
              <a:spcAft>
                <a:spcPts val="900"/>
              </a:spcAft>
              <a:buNone/>
            </a:pPr>
            <a:r>
              <a:rPr lang="en-US" sz="1500" dirty="0">
                <a:solidFill>
                  <a:schemeClr val="tx1"/>
                </a:solidFill>
              </a:rPr>
              <a:t>Personalized PageRank (Page and Brin; Jeh and Widom): the probability that a walk from the sources, stopping with probability α at each step, stops at v. The retrieval step of graph-based retrieval such as HippoRAG.</a:t>
            </a:r>
            <a:endParaRPr lang="en-US" sz="1500" dirty="0"/>
          </a:p>
          <a:p>
            <a:pPr indent="0" marL="0">
              <a:buNone/>
            </a:pPr>
            <a:r>
              <a:rPr lang="en-US" sz="1500" b="1" dirty="0">
                <a:solidFill>
                  <a:schemeClr val="accent1"/>
                </a:solidFill>
              </a:rPr>
              <a:t>Algorithm. </a:t>
            </a:r>
            <a:pPr indent="0" marL="0">
              <a:buNone/>
            </a:pPr>
            <a:r>
              <a:rPr lang="en-US" sz="1500" dirty="0">
                <a:solidFill>
                  <a:schemeClr val="tx1"/>
                </a:solidFill>
              </a:rPr>
              <a:t>The local push of Andersen, Chung and Lang (2006), in exact integer units of 2⁻⁶⁴. Its invariant holds exactly, so whenever the push stops: p(v) ≤ π(v) ≤ p(v) + r(v) + (1 − α)(R − r(v)).</a:t>
            </a:r>
            <a:endParaRPr lang="en-US" sz="1500" dirty="0"/>
          </a:p>
        </p:txBody>
      </p:sp>
      <p:sp>
        <p:nvSpPr>
          <p:cNvPr id="9" name="proof personalized_pagerank"/>
          <p:cNvSpPr/>
          <p:nvPr/>
        </p:nvSpPr>
        <p:spPr>
          <a:xfrm>
            <a:off x="694944" y="4807458"/>
            <a:ext cx="5955487" cy="1209294"/>
          </a:xfrm>
          <a:prstGeom prst="roundRect">
            <a:avLst>
              <a:gd name="adj" fmla="val 6049"/>
            </a:avLst>
          </a:prstGeom>
          <a:solidFill>
            <a:schemeClr val="bg1"/>
          </a:solidFill>
          <a:ln w="15875">
            <a:solidFill>
              <a:schemeClr val="accent1"/>
            </a:solidFill>
            <a:prstDash val="solid"/>
          </a:ln>
        </p:spPr>
      </p:sp>
      <p:pic>
        <p:nvPicPr>
          <p:cNvPr id="10" name="Image 1" descr="certificate">    </p:cNvPr>
          <p:cNvPicPr>
            <a:picLocks noChangeAspect="1"/>
          </p:cNvPicPr>
          <p:nvPr/>
        </p:nvPicPr>
        <p:blipFill>
          <a:blip r:embed="rId2"/>
          <a:stretch>
            <a:fillRect/>
          </a:stretch>
        </p:blipFill>
        <p:spPr>
          <a:xfrm>
            <a:off x="804672" y="4898898"/>
            <a:ext cx="246888" cy="246888"/>
          </a:xfrm>
          <a:prstGeom prst="rect">
            <a:avLst/>
          </a:prstGeom>
        </p:spPr>
      </p:pic>
      <p:sp>
        <p:nvSpPr>
          <p:cNvPr id="11" name="Text 7"/>
          <p:cNvSpPr txBox="1"/>
          <p:nvPr/>
        </p:nvSpPr>
        <p:spPr>
          <a:xfrm>
            <a:off x="1133856" y="4898898"/>
            <a:ext cx="5388559"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CERTIFICATE PROVES</a:t>
            </a:r>
            <a:endParaRPr lang="en-US" sz="1100" dirty="0"/>
          </a:p>
        </p:txBody>
      </p:sp>
      <p:sp>
        <p:nvSpPr>
          <p:cNvPr id="12" name="Text 8"/>
          <p:cNvSpPr txBox="1"/>
          <p:nvPr/>
        </p:nvSpPr>
        <p:spPr>
          <a:xfrm>
            <a:off x="804672" y="5191506"/>
            <a:ext cx="5736031" cy="752094"/>
          </a:xfrm>
          <a:prstGeom prst="rect">
            <a:avLst/>
          </a:prstGeom>
          <a:noFill/>
          <a:ln/>
        </p:spPr>
        <p:txBody>
          <a:bodyPr wrap="square" lIns="0" tIns="0" rIns="0" bIns="0" rtlCol="0" anchor="t"/>
          <a:lstStyle/>
          <a:p>
            <a:pPr indent="0" marL="0">
              <a:buNone/>
            </a:pPr>
            <a:r>
              <a:rPr lang="en-US" sz="1500" dirty="0">
                <a:solidFill>
                  <a:schemeClr val="tx1"/>
                </a:solidFill>
              </a:rPr>
              <a:t>The estimates alone: a checker recomputes every residual exactly; if none is negative, every interval, the residual and the certified top follow.</a:t>
            </a:r>
            <a:endParaRPr lang="en-US" sz="1500" dirty="0"/>
          </a:p>
        </p:txBody>
      </p:sp>
      <p:sp>
        <p:nvSpPr>
          <p:cNvPr id="13" name="ranking schematic"/>
          <p:cNvSpPr/>
          <p:nvPr/>
        </p:nvSpPr>
        <p:spPr>
          <a:xfrm>
            <a:off x="7071055" y="1691640"/>
            <a:ext cx="4572000" cy="4526280"/>
          </a:xfrm>
          <a:prstGeom prst="roundRect">
            <a:avLst>
              <a:gd name="adj" fmla="val 2020"/>
            </a:avLst>
          </a:prstGeom>
          <a:solidFill>
            <a:schemeClr val="bg1"/>
          </a:solidFill>
          <a:ln w="19050">
            <a:solidFill>
              <a:schemeClr val="bg2"/>
            </a:solidFill>
            <a:prstDash val="solid"/>
          </a:ln>
        </p:spPr>
      </p:sp>
      <p:sp>
        <p:nvSpPr>
          <p:cNvPr id="14" name="Text 10"/>
          <p:cNvSpPr txBox="1"/>
          <p:nvPr/>
        </p:nvSpPr>
        <p:spPr>
          <a:xfrm>
            <a:off x="7345375" y="1920240"/>
            <a:ext cx="4023360" cy="594360"/>
          </a:xfrm>
          <a:prstGeom prst="rect">
            <a:avLst/>
          </a:prstGeom>
          <a:noFill/>
          <a:ln/>
        </p:spPr>
        <p:txBody>
          <a:bodyPr wrap="square" lIns="0" tIns="0" rIns="0" bIns="0" rtlCol="0" anchor="t"/>
          <a:lstStyle/>
          <a:p>
            <a:pPr indent="0" marL="0">
              <a:buNone/>
            </a:pPr>
            <a:r>
              <a:rPr lang="en-US" sz="1100" b="1" spc="100" kern="0" dirty="0">
                <a:solidFill>
                  <a:schemeClr val="accent6"/>
                </a:solidFill>
              </a:rPr>
              <a:t>SCHEMATIC</a:t>
            </a:r>
            <a:endParaRPr lang="en-US" sz="1100" dirty="0"/>
          </a:p>
          <a:p>
            <a:pPr indent="0" marL="0">
              <a:buNone/>
            </a:pPr>
            <a:r>
              <a:rPr lang="en-US" sz="1600" b="1" dirty="0">
                <a:solidFill>
                  <a:schemeClr val="tx1"/>
                </a:solidFill>
              </a:rPr>
              <a:t>Each node's PageRank lies in its interval</a:t>
            </a:r>
            <a:endParaRPr lang="en-US" sz="1100" dirty="0"/>
          </a:p>
        </p:txBody>
      </p:sp>
      <p:sp>
        <p:nvSpPr>
          <p:cNvPr id="15" name="Text 11"/>
          <p:cNvSpPr txBox="1"/>
          <p:nvPr/>
        </p:nvSpPr>
        <p:spPr>
          <a:xfrm>
            <a:off x="7345375" y="2743200"/>
            <a:ext cx="548640" cy="27432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v1</a:t>
            </a:r>
            <a:endParaRPr lang="en-US" sz="1300" dirty="0"/>
          </a:p>
        </p:txBody>
      </p:sp>
      <p:sp>
        <p:nvSpPr>
          <p:cNvPr id="16" name="interval v1"/>
          <p:cNvSpPr/>
          <p:nvPr/>
        </p:nvSpPr>
        <p:spPr>
          <a:xfrm>
            <a:off x="10618927" y="2798064"/>
            <a:ext cx="559613" cy="164592"/>
          </a:xfrm>
          <a:prstGeom prst="roundRect">
            <a:avLst>
              <a:gd name="adj" fmla="val 50000"/>
            </a:avLst>
          </a:prstGeom>
          <a:solidFill>
            <a:schemeClr val="accent1"/>
          </a:solidFill>
          <a:ln/>
        </p:spPr>
      </p:sp>
      <p:sp>
        <p:nvSpPr>
          <p:cNvPr id="17" name="Text 13"/>
          <p:cNvSpPr txBox="1"/>
          <p:nvPr/>
        </p:nvSpPr>
        <p:spPr>
          <a:xfrm>
            <a:off x="7345375" y="3108960"/>
            <a:ext cx="548640" cy="27432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v2</a:t>
            </a:r>
            <a:endParaRPr lang="en-US" sz="1300" dirty="0"/>
          </a:p>
        </p:txBody>
      </p:sp>
      <p:sp>
        <p:nvSpPr>
          <p:cNvPr id="18" name="interval v2"/>
          <p:cNvSpPr/>
          <p:nvPr/>
        </p:nvSpPr>
        <p:spPr>
          <a:xfrm>
            <a:off x="10092233" y="3163824"/>
            <a:ext cx="592531" cy="164592"/>
          </a:xfrm>
          <a:prstGeom prst="roundRect">
            <a:avLst>
              <a:gd name="adj" fmla="val 50000"/>
            </a:avLst>
          </a:prstGeom>
          <a:solidFill>
            <a:schemeClr val="accent1"/>
          </a:solidFill>
          <a:ln/>
        </p:spPr>
      </p:sp>
      <p:sp>
        <p:nvSpPr>
          <p:cNvPr id="19" name="Text 15"/>
          <p:cNvSpPr txBox="1"/>
          <p:nvPr/>
        </p:nvSpPr>
        <p:spPr>
          <a:xfrm>
            <a:off x="7345375" y="3474720"/>
            <a:ext cx="548640" cy="27432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v3</a:t>
            </a:r>
            <a:endParaRPr lang="en-US" sz="1300" dirty="0"/>
          </a:p>
        </p:txBody>
      </p:sp>
      <p:sp>
        <p:nvSpPr>
          <p:cNvPr id="20" name="interval v3"/>
          <p:cNvSpPr/>
          <p:nvPr/>
        </p:nvSpPr>
        <p:spPr>
          <a:xfrm>
            <a:off x="9828886" y="3529584"/>
            <a:ext cx="395021" cy="164592"/>
          </a:xfrm>
          <a:prstGeom prst="roundRect">
            <a:avLst>
              <a:gd name="adj" fmla="val 50000"/>
            </a:avLst>
          </a:prstGeom>
          <a:solidFill>
            <a:schemeClr val="accent1"/>
          </a:solidFill>
          <a:ln/>
        </p:spPr>
      </p:sp>
      <p:sp>
        <p:nvSpPr>
          <p:cNvPr id="21" name="Text 17"/>
          <p:cNvSpPr txBox="1"/>
          <p:nvPr/>
        </p:nvSpPr>
        <p:spPr>
          <a:xfrm>
            <a:off x="7345375" y="3840480"/>
            <a:ext cx="548640" cy="27432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v4</a:t>
            </a:r>
            <a:endParaRPr lang="en-US" sz="1300" dirty="0"/>
          </a:p>
        </p:txBody>
      </p:sp>
      <p:sp>
        <p:nvSpPr>
          <p:cNvPr id="22" name="interval v4"/>
          <p:cNvSpPr/>
          <p:nvPr/>
        </p:nvSpPr>
        <p:spPr>
          <a:xfrm>
            <a:off x="9038844" y="3895344"/>
            <a:ext cx="658368" cy="164592"/>
          </a:xfrm>
          <a:prstGeom prst="roundRect">
            <a:avLst>
              <a:gd name="adj" fmla="val 50000"/>
            </a:avLst>
          </a:prstGeom>
          <a:solidFill>
            <a:schemeClr val="accent6"/>
          </a:solidFill>
          <a:ln/>
        </p:spPr>
      </p:sp>
      <p:sp>
        <p:nvSpPr>
          <p:cNvPr id="23" name="Text 19"/>
          <p:cNvSpPr txBox="1"/>
          <p:nvPr/>
        </p:nvSpPr>
        <p:spPr>
          <a:xfrm>
            <a:off x="7345375" y="4206240"/>
            <a:ext cx="548640" cy="27432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v5</a:t>
            </a:r>
            <a:endParaRPr lang="en-US" sz="1300" dirty="0"/>
          </a:p>
        </p:txBody>
      </p:sp>
      <p:sp>
        <p:nvSpPr>
          <p:cNvPr id="24" name="interval v5"/>
          <p:cNvSpPr/>
          <p:nvPr/>
        </p:nvSpPr>
        <p:spPr>
          <a:xfrm>
            <a:off x="8841334" y="4261104"/>
            <a:ext cx="724205" cy="164592"/>
          </a:xfrm>
          <a:prstGeom prst="roundRect">
            <a:avLst>
              <a:gd name="adj" fmla="val 50000"/>
            </a:avLst>
          </a:prstGeom>
          <a:solidFill>
            <a:schemeClr val="accent6"/>
          </a:solidFill>
          <a:ln/>
        </p:spPr>
      </p:sp>
      <p:sp>
        <p:nvSpPr>
          <p:cNvPr id="25" name="Text 21"/>
          <p:cNvSpPr txBox="1"/>
          <p:nvPr/>
        </p:nvSpPr>
        <p:spPr>
          <a:xfrm>
            <a:off x="7345375" y="4572000"/>
            <a:ext cx="548640" cy="27432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v6</a:t>
            </a:r>
            <a:endParaRPr lang="en-US" sz="1300" dirty="0"/>
          </a:p>
        </p:txBody>
      </p:sp>
      <p:sp>
        <p:nvSpPr>
          <p:cNvPr id="26" name="interval v6"/>
          <p:cNvSpPr/>
          <p:nvPr/>
        </p:nvSpPr>
        <p:spPr>
          <a:xfrm>
            <a:off x="8248802" y="4626864"/>
            <a:ext cx="1053389" cy="164592"/>
          </a:xfrm>
          <a:prstGeom prst="roundRect">
            <a:avLst>
              <a:gd name="adj" fmla="val 50000"/>
            </a:avLst>
          </a:prstGeom>
          <a:solidFill>
            <a:schemeClr val="accent6"/>
          </a:solidFill>
          <a:ln/>
        </p:spPr>
      </p:sp>
      <p:sp>
        <p:nvSpPr>
          <p:cNvPr id="27" name="Shape 23"/>
          <p:cNvSpPr/>
          <p:nvPr/>
        </p:nvSpPr>
        <p:spPr>
          <a:xfrm>
            <a:off x="9828886" y="2651760"/>
            <a:ext cx="0" cy="2286000"/>
          </a:xfrm>
          <a:prstGeom prst="line">
            <a:avLst/>
          </a:prstGeom>
          <a:noFill/>
          <a:ln w="25400">
            <a:solidFill>
              <a:schemeClr val="accent2"/>
            </a:solidFill>
            <a:prstDash val="dash"/>
          </a:ln>
        </p:spPr>
      </p:sp>
      <p:sp>
        <p:nvSpPr>
          <p:cNvPr id="28" name="Text 24"/>
          <p:cNvSpPr txBox="1"/>
          <p:nvPr/>
        </p:nvSpPr>
        <p:spPr>
          <a:xfrm>
            <a:off x="7954366" y="4983480"/>
            <a:ext cx="1828800" cy="274320"/>
          </a:xfrm>
          <a:prstGeom prst="rect">
            <a:avLst/>
          </a:prstGeom>
          <a:noFill/>
          <a:ln/>
        </p:spPr>
        <p:txBody>
          <a:bodyPr wrap="square" lIns="0" tIns="0" rIns="0" bIns="0" rtlCol="0" anchor="t"/>
          <a:lstStyle/>
          <a:p>
            <a:pPr algn="r" indent="0" marL="0">
              <a:buNone/>
            </a:pPr>
            <a:r>
              <a:rPr lang="en-US" sz="1300" b="1" dirty="0">
                <a:solidFill>
                  <a:schemeClr val="accent2"/>
                </a:solidFill>
                <a:latin typeface="Courier New" pitchFamily="34" charset="0"/>
                <a:ea typeface="Courier New" pitchFamily="34" charset="-122"/>
                <a:cs typeface="Courier New" pitchFamily="34" charset="-120"/>
              </a:rPr>
              <a:t>certified_top = 3</a:t>
            </a:r>
            <a:endParaRPr lang="en-US" sz="1300" dirty="0"/>
          </a:p>
        </p:txBody>
      </p:sp>
      <p:sp>
        <p:nvSpPr>
          <p:cNvPr id="29" name="Text 25"/>
          <p:cNvSpPr txBox="1"/>
          <p:nvPr/>
        </p:nvSpPr>
        <p:spPr>
          <a:xfrm>
            <a:off x="7345375" y="5349240"/>
            <a:ext cx="4023360" cy="685800"/>
          </a:xfrm>
          <a:prstGeom prst="rect">
            <a:avLst/>
          </a:prstGeom>
          <a:noFill/>
          <a:ln/>
        </p:spPr>
        <p:txBody>
          <a:bodyPr wrap="square" lIns="0" tIns="0" rIns="0" bIns="0" rtlCol="0" anchor="t"/>
          <a:lstStyle/>
          <a:p>
            <a:pPr indent="0" marL="0">
              <a:buNone/>
            </a:pPr>
            <a:r>
              <a:rPr lang="en-US" sz="1400" dirty="0">
                <a:solidFill>
                  <a:schemeClr val="tx1"/>
                </a:solidFill>
              </a:rPr>
              <a:t>The lowest lower bound of v1–v3 exceeds every other upper bound, so they are proven to be the top three as a set. v4 and v5 overlap: their order is not claimed.</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Incidence: exact rank and conservation laws</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The first operation aimed squarely at RATES: what a reaction network conserves, and what leaves it unchanged.</a:t>
            </a:r>
            <a:endParaRPr lang="en-US" sz="1600" dirty="0"/>
          </a:p>
        </p:txBody>
      </p:sp>
      <p:sp>
        <p:nvSpPr>
          <p:cNvPr id="4" name="operation incidence"/>
          <p:cNvSpPr/>
          <p:nvPr/>
        </p:nvSpPr>
        <p:spPr>
          <a:xfrm>
            <a:off x="548640" y="1691640"/>
            <a:ext cx="6248095" cy="4526280"/>
          </a:xfrm>
          <a:prstGeom prst="roundRect">
            <a:avLst>
              <a:gd name="adj" fmla="val 2020"/>
            </a:avLst>
          </a:prstGeom>
          <a:solidFill>
            <a:schemeClr val="bg2"/>
          </a:solidFill>
          <a:ln/>
        </p:spPr>
      </p:sp>
      <p:sp>
        <p:nvSpPr>
          <p:cNvPr id="5" name="icon incidence"/>
          <p:cNvSpPr/>
          <p:nvPr/>
        </p:nvSpPr>
        <p:spPr>
          <a:xfrm>
            <a:off x="749808" y="1892808"/>
            <a:ext cx="512064" cy="512064"/>
          </a:xfrm>
          <a:prstGeom prst="ellipse">
            <a:avLst/>
          </a:prstGeom>
          <a:solidFill>
            <a:schemeClr val="accent1"/>
          </a:solidFill>
          <a:ln/>
        </p:spPr>
      </p:sp>
      <p:pic>
        <p:nvPicPr>
          <p:cNvPr id="6" name="Image 0" descr="incidence">    </p:cNvPr>
          <p:cNvPicPr>
            <a:picLocks noChangeAspect="1"/>
          </p:cNvPicPr>
          <p:nvPr/>
        </p:nvPicPr>
        <p:blipFill>
          <a:blip r:embed="rId1"/>
          <a:stretch>
            <a:fillRect/>
          </a:stretch>
        </p:blipFill>
        <p:spPr>
          <a:xfrm>
            <a:off x="862462" y="2005462"/>
            <a:ext cx="286756" cy="286756"/>
          </a:xfrm>
          <a:prstGeom prst="rect">
            <a:avLst/>
          </a:prstGeom>
        </p:spPr>
      </p:pic>
      <p:sp>
        <p:nvSpPr>
          <p:cNvPr id="7" name="Text 4"/>
          <p:cNvSpPr txBox="1"/>
          <p:nvPr/>
        </p:nvSpPr>
        <p:spPr>
          <a:xfrm>
            <a:off x="1408176" y="1874520"/>
            <a:ext cx="5187391" cy="54864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incidence</a:t>
            </a:r>
            <a:endParaRPr lang="en-US" sz="1500" dirty="0"/>
          </a:p>
          <a:p>
            <a:pPr indent="0" marL="0">
              <a:buNone/>
            </a:pPr>
            <a:r>
              <a:rPr lang="en-US" sz="1500" b="1" dirty="0">
                <a:solidFill>
                  <a:schemeClr val="tx1"/>
                </a:solidFill>
              </a:rPr>
              <a:t>Exact rank and canonical kernel bases</a:t>
            </a:r>
            <a:endParaRPr lang="en-US" sz="1500" dirty="0"/>
          </a:p>
        </p:txBody>
      </p:sp>
      <p:sp>
        <p:nvSpPr>
          <p:cNvPr id="8" name="Text 5"/>
          <p:cNvSpPr txBox="1"/>
          <p:nvPr/>
        </p:nvSpPr>
        <p:spPr>
          <a:xfrm>
            <a:off x="749808" y="2569464"/>
            <a:ext cx="5845759" cy="2211324"/>
          </a:xfrm>
          <a:prstGeom prst="rect">
            <a:avLst/>
          </a:prstGeom>
          <a:noFill/>
          <a:ln/>
        </p:spPr>
        <p:txBody>
          <a:bodyPr wrap="square" lIns="0" tIns="0" rIns="0" bIns="0" rtlCol="0" anchor="t"/>
          <a:lstStyle/>
          <a:p>
            <a:pPr indent="0" marL="0">
              <a:spcAft>
                <a:spcPts val="840"/>
              </a:spcAft>
              <a:buNone/>
            </a:pPr>
            <a:r>
              <a:rPr lang="en-US" sz="1400" b="1" dirty="0">
                <a:solidFill>
                  <a:schemeClr val="accent1"/>
                </a:solidFill>
              </a:rPr>
              <a:t>Theory. </a:t>
            </a:r>
            <a:pPr indent="0" marL="0">
              <a:spcAft>
                <a:spcPts val="840"/>
              </a:spcAft>
              <a:buNone/>
            </a:pPr>
            <a:r>
              <a:rPr lang="en-US" sz="1400" dirty="0">
                <a:solidFill>
                  <a:schemeClr val="tx1"/>
                </a:solidFill>
              </a:rPr>
              <a:t>The matrix of edge coefficients between row and column nodes. For a stoichiometric matrix the left kernel holds the conservation laws and the right the steady combinations; with the linkage classes the rank gives Feinberg's deficiency (1987). For a Petri net: place and transition invariants.</a:t>
            </a:r>
            <a:endParaRPr lang="en-US" sz="1400" dirty="0"/>
          </a:p>
          <a:p>
            <a:pPr indent="0" marL="0">
              <a:buNone/>
            </a:pPr>
            <a:r>
              <a:rPr lang="en-US" sz="1400" b="1" dirty="0">
                <a:solidFill>
                  <a:schemeClr val="accent1"/>
                </a:solidFill>
              </a:rPr>
              <a:t>Algorithm. </a:t>
            </a:r>
            <a:pPr indent="0" marL="0">
              <a:buNone/>
            </a:pPr>
            <a:r>
              <a:rPr lang="en-US" sz="1400" dirty="0">
                <a:solidFill>
                  <a:schemeClr val="tx1"/>
                </a:solidFill>
              </a:rPr>
              <a:t>Exact fraction-free elimination over the integers: the rank and a nonsingular minor, then back elimination only for the kernels asked for. Each basis is canonical: reduced row echelon, primitive integer vectors.</a:t>
            </a:r>
            <a:endParaRPr lang="en-US" sz="1400" dirty="0"/>
          </a:p>
        </p:txBody>
      </p:sp>
      <p:sp>
        <p:nvSpPr>
          <p:cNvPr id="9" name="proof incidence"/>
          <p:cNvSpPr/>
          <p:nvPr/>
        </p:nvSpPr>
        <p:spPr>
          <a:xfrm>
            <a:off x="694944" y="4853940"/>
            <a:ext cx="5955487" cy="1162812"/>
          </a:xfrm>
          <a:prstGeom prst="roundRect">
            <a:avLst>
              <a:gd name="adj" fmla="val 6291"/>
            </a:avLst>
          </a:prstGeom>
          <a:solidFill>
            <a:schemeClr val="bg1"/>
          </a:solidFill>
          <a:ln w="15875">
            <a:solidFill>
              <a:schemeClr val="accent1"/>
            </a:solidFill>
            <a:prstDash val="solid"/>
          </a:ln>
        </p:spPr>
      </p:sp>
      <p:pic>
        <p:nvPicPr>
          <p:cNvPr id="10" name="Image 1" descr="certificate">    </p:cNvPr>
          <p:cNvPicPr>
            <a:picLocks noChangeAspect="1"/>
          </p:cNvPicPr>
          <p:nvPr/>
        </p:nvPicPr>
        <p:blipFill>
          <a:blip r:embed="rId2"/>
          <a:stretch>
            <a:fillRect/>
          </a:stretch>
        </p:blipFill>
        <p:spPr>
          <a:xfrm>
            <a:off x="804672" y="4945380"/>
            <a:ext cx="246888" cy="246888"/>
          </a:xfrm>
          <a:prstGeom prst="rect">
            <a:avLst/>
          </a:prstGeom>
        </p:spPr>
      </p:pic>
      <p:sp>
        <p:nvSpPr>
          <p:cNvPr id="11" name="Text 7"/>
          <p:cNvSpPr txBox="1"/>
          <p:nvPr/>
        </p:nvSpPr>
        <p:spPr>
          <a:xfrm>
            <a:off x="1133856" y="4945380"/>
            <a:ext cx="5388559"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CERTIFICATE PROVES</a:t>
            </a:r>
            <a:endParaRPr lang="en-US" sz="1100" dirty="0"/>
          </a:p>
        </p:txBody>
      </p:sp>
      <p:sp>
        <p:nvSpPr>
          <p:cNvPr id="12" name="Text 8"/>
          <p:cNvSpPr txBox="1"/>
          <p:nvPr/>
        </p:nvSpPr>
        <p:spPr>
          <a:xfrm>
            <a:off x="804672" y="5237988"/>
            <a:ext cx="5736031" cy="705612"/>
          </a:xfrm>
          <a:prstGeom prst="rect">
            <a:avLst/>
          </a:prstGeom>
          <a:noFill/>
          <a:ln/>
        </p:spPr>
        <p:txBody>
          <a:bodyPr wrap="square" lIns="0" tIns="0" rIns="0" bIns="0" rtlCol="0" anchor="t"/>
          <a:lstStyle/>
          <a:p>
            <a:pPr indent="0" marL="0">
              <a:buNone/>
            </a:pPr>
            <a:r>
              <a:rPr lang="en-US" sz="1400" dirty="0">
                <a:solidFill>
                  <a:schemeClr val="tx1"/>
                </a:solidFill>
              </a:rPr>
              <a:t>A nonsingular minor (rank at least r), shown by elimination modulo 2⁶¹ − 1 with Bareiss as fallback, and the smaller kernel (rank at most r): the rank and the kernels' completeness follow.</a:t>
            </a:r>
            <a:endParaRPr lang="en-US" sz="1400" dirty="0"/>
          </a:p>
        </p:txBody>
      </p:sp>
      <p:sp>
        <p:nvSpPr>
          <p:cNvPr id="13" name="incidence example"/>
          <p:cNvSpPr/>
          <p:nvPr/>
        </p:nvSpPr>
        <p:spPr>
          <a:xfrm>
            <a:off x="7071055" y="1691640"/>
            <a:ext cx="4572000" cy="4526280"/>
          </a:xfrm>
          <a:prstGeom prst="roundRect">
            <a:avLst>
              <a:gd name="adj" fmla="val 2020"/>
            </a:avLst>
          </a:prstGeom>
          <a:solidFill>
            <a:schemeClr val="bg1"/>
          </a:solidFill>
          <a:ln w="19050">
            <a:solidFill>
              <a:schemeClr val="bg2"/>
            </a:solidFill>
            <a:prstDash val="solid"/>
          </a:ln>
        </p:spPr>
      </p:sp>
      <p:sp>
        <p:nvSpPr>
          <p:cNvPr id="14" name="Text 10"/>
          <p:cNvSpPr txBox="1"/>
          <p:nvPr/>
        </p:nvSpPr>
        <p:spPr>
          <a:xfrm>
            <a:off x="7345375" y="1920240"/>
            <a:ext cx="4023360" cy="594360"/>
          </a:xfrm>
          <a:prstGeom prst="rect">
            <a:avLst/>
          </a:prstGeom>
          <a:noFill/>
          <a:ln/>
        </p:spPr>
        <p:txBody>
          <a:bodyPr wrap="square" lIns="0" tIns="0" rIns="0" bIns="0" rtlCol="0" anchor="t"/>
          <a:lstStyle/>
          <a:p>
            <a:pPr indent="0" marL="0">
              <a:buNone/>
            </a:pPr>
            <a:r>
              <a:rPr lang="en-US" sz="1100" b="1" spc="100" kern="0" dirty="0">
                <a:solidFill>
                  <a:schemeClr val="accent6"/>
                </a:solidFill>
              </a:rPr>
              <a:t>WORKED EXAMPLE</a:t>
            </a:r>
            <a:endParaRPr lang="en-US" sz="1100" dirty="0"/>
          </a:p>
          <a:p>
            <a:pPr indent="0" marL="0">
              <a:buNone/>
            </a:pPr>
            <a:r>
              <a:rPr lang="en-US" sz="1500" b="1" dirty="0">
                <a:solidFill>
                  <a:schemeClr val="tx1"/>
                </a:solidFill>
              </a:rPr>
              <a:t>R1: A + B → C    R2: C → A + B    R3: C → D</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985455" y="2606040"/>
          <a:ext cx="2743200" cy="914400"/>
        </p:xfrm>
        <a:graphic>
          <a:graphicData uri="http://schemas.openxmlformats.org/drawingml/2006/table">
            <a:tbl>
              <a:tblPr/>
              <a:tblGrid>
                <a:gridCol w="685800"/>
                <a:gridCol w="685800"/>
                <a:gridCol w="685800"/>
                <a:gridCol w="685800"/>
              </a:tblGrid>
              <a:tr h="310896">
                <a:tc>
                  <a:txBody>
                    <a:bodyPr/>
                    <a:lstStyle/>
                    <a:p>
                      <a:pPr algn="ctr" indent="0" marL="0">
                        <a:buNone/>
                      </a:pPr>
                      <a:r>
                        <a:rPr lang="en-US" sz="1400" b="1" dirty="0">
                          <a:solidFill>
                            <a:schemeClr val="accent1"/>
                          </a:solidFill>
                          <a:latin typeface="Courier New" pitchFamily="34" charset="0"/>
                          <a:ea typeface="Courier New" pitchFamily="34" charset="-122"/>
                          <a:cs typeface="Courier New" pitchFamily="34" charset="-120"/>
                        </a:rPr>
                        <a:t>N</a:t>
                      </a:r>
                      <a:endParaRPr lang="en-US" sz="1400" dirty="0">
                        <a:latin typeface="Courier New" charset="0"/>
                        <a:ea typeface="Courier New" charset="0"/>
                        <a:cs typeface="Courier New" charset="0"/>
                      </a:endParaRPr>
                    </a:p>
                  </a:txBody>
                  <a:tcPr marL="36576" marR="36576" marT="18288" marB="18288" anchor="ctr">
                    <a:lnL w="12700" cap="flat" cmpd="sng" algn="ctr">
                      <a:solidFill>
                        <a:srgbClr val="EDF3F1"/>
                      </a:solidFill>
                      <a:prstDash val="solid"/>
                      <a:round/>
                      <a:headEnd type="none" w="med" len="med"/>
                      <a:tailEnd type="none" w="med" len="med"/>
                    </a:lnL>
                    <a:lnR w="12700" cap="flat" cmpd="sng" algn="ctr">
                      <a:solidFill>
                        <a:srgbClr val="EDF3F1"/>
                      </a:solidFill>
                      <a:prstDash val="solid"/>
                      <a:round/>
                      <a:headEnd type="none" w="med" len="med"/>
                      <a:tailEnd type="none" w="med" len="med"/>
                    </a:lnR>
                    <a:lnT w="12700" cap="flat" cmpd="sng" algn="ctr">
                      <a:solidFill>
                        <a:srgbClr val="EDF3F1"/>
                      </a:solidFill>
                      <a:prstDash val="solid"/>
                      <a:round/>
                      <a:headEnd type="none" w="med" len="med"/>
                      <a:tailEnd type="none" w="med" len="med"/>
                    </a:lnT>
                    <a:lnB w="12700" cap="flat" cmpd="sng" algn="ctr">
                      <a:solidFill>
                        <a:srgbClr val="EDF3F1"/>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latin typeface="Courier New" pitchFamily="34" charset="0"/>
                          <a:ea typeface="Courier New" pitchFamily="34" charset="-122"/>
                          <a:cs typeface="Courier New" pitchFamily="34" charset="-120"/>
                        </a:rPr>
                        <a:t>R1</a:t>
                      </a:r>
                      <a:endParaRPr lang="en-US" sz="1400" dirty="0">
                        <a:latin typeface="Courier New" charset="0"/>
                        <a:ea typeface="Courier New" charset="0"/>
                        <a:cs typeface="Courier New" charset="0"/>
                      </a:endParaRPr>
                    </a:p>
                  </a:txBody>
                  <a:tcPr marL="36576" marR="36576" marT="18288" marB="18288" anchor="ctr">
                    <a:lnL w="12700" cap="flat" cmpd="sng" algn="ctr">
                      <a:solidFill>
                        <a:srgbClr val="EDF3F1"/>
                      </a:solidFill>
                      <a:prstDash val="solid"/>
                      <a:round/>
                      <a:headEnd type="none" w="med" len="med"/>
                      <a:tailEnd type="none" w="med" len="med"/>
                    </a:lnL>
                    <a:lnR w="12700" cap="flat" cmpd="sng" algn="ctr">
                      <a:solidFill>
                        <a:srgbClr val="EDF3F1"/>
                      </a:solidFill>
                      <a:prstDash val="solid"/>
                      <a:round/>
                      <a:headEnd type="none" w="med" len="med"/>
                      <a:tailEnd type="none" w="med" len="med"/>
                    </a:lnR>
                    <a:lnT w="12700" cap="flat" cmpd="sng" algn="ctr">
                      <a:solidFill>
                        <a:srgbClr val="EDF3F1"/>
                      </a:solidFill>
                      <a:prstDash val="solid"/>
                      <a:round/>
                      <a:headEnd type="none" w="med" len="med"/>
                      <a:tailEnd type="none" w="med" len="med"/>
                    </a:lnT>
                    <a:lnB w="12700" cap="flat" cmpd="sng" algn="ctr">
                      <a:solidFill>
                        <a:srgbClr val="EDF3F1"/>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latin typeface="Courier New" pitchFamily="34" charset="0"/>
                          <a:ea typeface="Courier New" pitchFamily="34" charset="-122"/>
                          <a:cs typeface="Courier New" pitchFamily="34" charset="-120"/>
                        </a:rPr>
                        <a:t>R2</a:t>
                      </a:r>
                      <a:endParaRPr lang="en-US" sz="1400" dirty="0">
                        <a:latin typeface="Courier New" charset="0"/>
                        <a:ea typeface="Courier New" charset="0"/>
                        <a:cs typeface="Courier New" charset="0"/>
                      </a:endParaRPr>
                    </a:p>
                  </a:txBody>
                  <a:tcPr marL="36576" marR="36576" marT="18288" marB="18288" anchor="ctr">
                    <a:lnL w="12700" cap="flat" cmpd="sng" algn="ctr">
                      <a:solidFill>
                        <a:srgbClr val="EDF3F1"/>
                      </a:solidFill>
                      <a:prstDash val="solid"/>
                      <a:round/>
                      <a:headEnd type="none" w="med" len="med"/>
                      <a:tailEnd type="none" w="med" len="med"/>
                    </a:lnL>
                    <a:lnR w="12700" cap="flat" cmpd="sng" algn="ctr">
                      <a:solidFill>
                        <a:srgbClr val="EDF3F1"/>
                      </a:solidFill>
                      <a:prstDash val="solid"/>
                      <a:round/>
                      <a:headEnd type="none" w="med" len="med"/>
                      <a:tailEnd type="none" w="med" len="med"/>
                    </a:lnR>
                    <a:lnT w="12700" cap="flat" cmpd="sng" algn="ctr">
                      <a:solidFill>
                        <a:srgbClr val="EDF3F1"/>
                      </a:solidFill>
                      <a:prstDash val="solid"/>
                      <a:round/>
                      <a:headEnd type="none" w="med" len="med"/>
                      <a:tailEnd type="none" w="med" len="med"/>
                    </a:lnT>
                    <a:lnB w="12700" cap="flat" cmpd="sng" algn="ctr">
                      <a:solidFill>
                        <a:srgbClr val="EDF3F1"/>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latin typeface="Courier New" pitchFamily="34" charset="0"/>
                          <a:ea typeface="Courier New" pitchFamily="34" charset="-122"/>
                          <a:cs typeface="Courier New" pitchFamily="34" charset="-120"/>
                        </a:rPr>
                        <a:t>R3</a:t>
                      </a:r>
                      <a:endParaRPr lang="en-US" sz="1400" dirty="0">
                        <a:latin typeface="Courier New" charset="0"/>
                        <a:ea typeface="Courier New" charset="0"/>
                        <a:cs typeface="Courier New" charset="0"/>
                      </a:endParaRPr>
                    </a:p>
                  </a:txBody>
                  <a:tcPr marL="36576" marR="36576" marT="18288" marB="18288" anchor="ctr">
                    <a:lnL w="12700" cap="flat" cmpd="sng" algn="ctr">
                      <a:solidFill>
                        <a:srgbClr val="EDF3F1"/>
                      </a:solidFill>
                      <a:prstDash val="solid"/>
                      <a:round/>
                      <a:headEnd type="none" w="med" len="med"/>
                      <a:tailEnd type="none" w="med" len="med"/>
                    </a:lnL>
                    <a:lnR w="12700" cap="flat" cmpd="sng" algn="ctr">
                      <a:solidFill>
                        <a:srgbClr val="EDF3F1"/>
                      </a:solidFill>
                      <a:prstDash val="solid"/>
                      <a:round/>
                      <a:headEnd type="none" w="med" len="med"/>
                      <a:tailEnd type="none" w="med" len="med"/>
                    </a:lnR>
                    <a:lnT w="12700" cap="flat" cmpd="sng" algn="ctr">
                      <a:solidFill>
                        <a:srgbClr val="EDF3F1"/>
                      </a:solidFill>
                      <a:prstDash val="solid"/>
                      <a:round/>
                      <a:headEnd type="none" w="med" len="med"/>
                      <a:tailEnd type="none" w="med" len="med"/>
                    </a:lnT>
                    <a:lnB w="12700" cap="flat" cmpd="sng" algn="ctr">
                      <a:solidFill>
                        <a:srgbClr val="EDF3F1"/>
                      </a:solidFill>
                      <a:prstDash val="solid"/>
                      <a:round/>
                      <a:headEnd type="none" w="med" len="med"/>
                      <a:tailEnd type="none" w="med" len="med"/>
                    </a:lnB>
                    <a:solidFill>
                      <a:schemeClr val="bg2"/>
                    </a:solidFill>
                  </a:tcPr>
                </a:tc>
              </a:tr>
              <a:tr h="310896">
                <a:tc>
                  <a:txBody>
                    <a:bodyPr/>
                    <a:lstStyle/>
                    <a:p>
                      <a:pPr algn="ctr" indent="0" marL="0">
                        <a:buNone/>
                      </a:pPr>
                      <a:r>
                        <a:rPr lang="en-US" sz="1400" b="1" dirty="0">
                          <a:solidFill>
                            <a:schemeClr val="accent1"/>
                          </a:solidFill>
                          <a:latin typeface="Courier New" pitchFamily="34" charset="0"/>
                          <a:ea typeface="Courier New" pitchFamily="34" charset="-122"/>
                          <a:cs typeface="Courier New" pitchFamily="34" charset="-120"/>
                        </a:rPr>
                        <a:t>A</a:t>
                      </a:r>
                      <a:endParaRPr lang="en-US" sz="1400" dirty="0">
                        <a:latin typeface="Courier New" charset="0"/>
                        <a:ea typeface="Courier New" charset="0"/>
                        <a:cs typeface="Courier New" charset="0"/>
                      </a:endParaRPr>
                    </a:p>
                  </a:txBody>
                  <a:tcPr marL="36576" marR="36576" marT="18288" marB="18288" anchor="ctr">
                    <a:lnL w="12700" cap="flat" cmpd="sng" algn="ctr">
                      <a:solidFill>
                        <a:srgbClr val="EDF3F1"/>
                      </a:solidFill>
                      <a:prstDash val="solid"/>
                      <a:round/>
                      <a:headEnd type="none" w="med" len="med"/>
                      <a:tailEnd type="none" w="med" len="med"/>
                    </a:lnL>
                    <a:lnR w="12700" cap="flat" cmpd="sng" algn="ctr">
                      <a:solidFill>
                        <a:srgbClr val="EDF3F1"/>
                      </a:solidFill>
                      <a:prstDash val="solid"/>
                      <a:round/>
                      <a:headEnd type="none" w="med" len="med"/>
                      <a:tailEnd type="none" w="med" len="med"/>
                    </a:lnR>
                    <a:lnT w="12700" cap="flat" cmpd="sng" algn="ctr">
                      <a:solidFill>
                        <a:srgbClr val="EDF3F1"/>
                      </a:solidFill>
                      <a:prstDash val="solid"/>
                      <a:round/>
                      <a:headEnd type="none" w="med" len="med"/>
                      <a:tailEnd type="none" w="med" len="med"/>
                    </a:lnT>
                    <a:lnB w="12700" cap="flat" cmpd="sng" algn="ctr">
                      <a:solidFill>
                        <a:srgbClr val="EDF3F1"/>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36576" marR="36576" marT="18288" marB="18288" anchor="ctr">
                    <a:lnL w="12700" cap="flat" cmpd="sng" algn="ctr">
                      <a:solidFill>
                        <a:srgbClr val="EDF3F1"/>
                      </a:solidFill>
                      <a:prstDash val="solid"/>
                      <a:round/>
                      <a:headEnd type="none" w="med" len="med"/>
                      <a:tailEnd type="none" w="med" len="med"/>
                    </a:lnL>
                    <a:lnR w="12700" cap="flat" cmpd="sng" algn="ctr">
                      <a:solidFill>
                        <a:srgbClr val="EDF3F1"/>
                      </a:solidFill>
                      <a:prstDash val="solid"/>
                      <a:round/>
                      <a:headEnd type="none" w="med" len="med"/>
                      <a:tailEnd type="none" w="med" len="med"/>
                    </a:lnR>
                    <a:lnT w="12700" cap="flat" cmpd="sng" algn="ctr">
                      <a:solidFill>
                        <a:srgbClr val="EDF3F1"/>
                      </a:solidFill>
                      <a:prstDash val="solid"/>
                      <a:round/>
                      <a:headEnd type="none" w="med" len="med"/>
                      <a:tailEnd type="none" w="med" len="med"/>
                    </a:lnT>
                    <a:lnB w="12700" cap="flat" cmpd="sng" algn="ctr">
                      <a:solidFill>
                        <a:srgbClr val="EDF3F1"/>
                      </a:solidFill>
                      <a:prstDash val="solid"/>
                      <a:round/>
                      <a:headEnd type="none" w="med" len="med"/>
                      <a:tailEnd type="none" w="med" len="med"/>
                    </a:lnB>
                  </a:tcPr>
                </a:tc>
                <a:tc>
                  <a:txBody>
                    <a:bodyP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36576" marR="36576" marT="18288" marB="18288" anchor="ctr">
                    <a:lnL w="12700" cap="flat" cmpd="sng" algn="ctr">
                      <a:solidFill>
                        <a:srgbClr val="EDF3F1"/>
                      </a:solidFill>
                      <a:prstDash val="solid"/>
                      <a:round/>
                      <a:headEnd type="none" w="med" len="med"/>
                      <a:tailEnd type="none" w="med" len="med"/>
                    </a:lnL>
                    <a:lnR w="12700" cap="flat" cmpd="sng" algn="ctr">
                      <a:solidFill>
                        <a:srgbClr val="EDF3F1"/>
                      </a:solidFill>
                      <a:prstDash val="solid"/>
                      <a:round/>
                      <a:headEnd type="none" w="med" len="med"/>
                      <a:tailEnd type="none" w="med" len="med"/>
                    </a:lnR>
                    <a:lnT w="12700" cap="flat" cmpd="sng" algn="ctr">
                      <a:solidFill>
                        <a:srgbClr val="EDF3F1"/>
                      </a:solidFill>
                      <a:prstDash val="solid"/>
                      <a:round/>
                      <a:headEnd type="none" w="med" len="med"/>
                      <a:tailEnd type="none" w="med" len="med"/>
                    </a:lnT>
                    <a:lnB w="12700" cap="flat" cmpd="sng" algn="ctr">
                      <a:solidFill>
                        <a:srgbClr val="EDF3F1"/>
                      </a:solidFill>
                      <a:prstDash val="solid"/>
                      <a:round/>
                      <a:headEnd type="none" w="med" len="med"/>
                      <a:tailEnd type="none" w="med" len="med"/>
                    </a:lnB>
                  </a:tcPr>
                </a:tc>
                <a:tc>
                  <a:txBody>
                    <a:bodyP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36576" marR="36576" marT="18288" marB="18288" anchor="ctr">
                    <a:lnL w="12700" cap="flat" cmpd="sng" algn="ctr">
                      <a:solidFill>
                        <a:srgbClr val="EDF3F1"/>
                      </a:solidFill>
                      <a:prstDash val="solid"/>
                      <a:round/>
                      <a:headEnd type="none" w="med" len="med"/>
                      <a:tailEnd type="none" w="med" len="med"/>
                    </a:lnL>
                    <a:lnR w="12700" cap="flat" cmpd="sng" algn="ctr">
                      <a:solidFill>
                        <a:srgbClr val="EDF3F1"/>
                      </a:solidFill>
                      <a:prstDash val="solid"/>
                      <a:round/>
                      <a:headEnd type="none" w="med" len="med"/>
                      <a:tailEnd type="none" w="med" len="med"/>
                    </a:lnR>
                    <a:lnT w="12700" cap="flat" cmpd="sng" algn="ctr">
                      <a:solidFill>
                        <a:srgbClr val="EDF3F1"/>
                      </a:solidFill>
                      <a:prstDash val="solid"/>
                      <a:round/>
                      <a:headEnd type="none" w="med" len="med"/>
                      <a:tailEnd type="none" w="med" len="med"/>
                    </a:lnT>
                    <a:lnB w="12700" cap="flat" cmpd="sng" algn="ctr">
                      <a:solidFill>
                        <a:srgbClr val="EDF3F1"/>
                      </a:solidFill>
                      <a:prstDash val="solid"/>
                      <a:round/>
                      <a:headEnd type="none" w="med" len="med"/>
                      <a:tailEnd type="none" w="med" len="med"/>
                    </a:lnB>
                  </a:tcPr>
                </a:tc>
              </a:tr>
              <a:tr h="310896">
                <a:tc>
                  <a:txBody>
                    <a:bodyPr/>
                    <a:lstStyle/>
                    <a:p>
                      <a:pPr algn="ctr" indent="0" marL="0">
                        <a:buNone/>
                      </a:pPr>
                      <a:r>
                        <a:rPr lang="en-US" sz="1400" b="1" dirty="0">
                          <a:solidFill>
                            <a:schemeClr val="accent1"/>
                          </a:solidFill>
                          <a:latin typeface="Courier New" pitchFamily="34" charset="0"/>
                          <a:ea typeface="Courier New" pitchFamily="34" charset="-122"/>
                          <a:cs typeface="Courier New" pitchFamily="34" charset="-120"/>
                        </a:rPr>
                        <a:t>B</a:t>
                      </a:r>
                      <a:endParaRPr lang="en-US" sz="1400" dirty="0">
                        <a:latin typeface="Courier New" charset="0"/>
                        <a:ea typeface="Courier New" charset="0"/>
                        <a:cs typeface="Courier New" charset="0"/>
                      </a:endParaRPr>
                    </a:p>
                  </a:txBody>
                  <a:tcPr marL="36576" marR="36576" marT="18288" marB="18288" anchor="ctr">
                    <a:lnL w="12700" cap="flat" cmpd="sng" algn="ctr">
                      <a:solidFill>
                        <a:srgbClr val="EDF3F1"/>
                      </a:solidFill>
                      <a:prstDash val="solid"/>
                      <a:round/>
                      <a:headEnd type="none" w="med" len="med"/>
                      <a:tailEnd type="none" w="med" len="med"/>
                    </a:lnL>
                    <a:lnR w="12700" cap="flat" cmpd="sng" algn="ctr">
                      <a:solidFill>
                        <a:srgbClr val="EDF3F1"/>
                      </a:solidFill>
                      <a:prstDash val="solid"/>
                      <a:round/>
                      <a:headEnd type="none" w="med" len="med"/>
                      <a:tailEnd type="none" w="med" len="med"/>
                    </a:lnR>
                    <a:lnT w="12700" cap="flat" cmpd="sng" algn="ctr">
                      <a:solidFill>
                        <a:srgbClr val="EDF3F1"/>
                      </a:solidFill>
                      <a:prstDash val="solid"/>
                      <a:round/>
                      <a:headEnd type="none" w="med" len="med"/>
                      <a:tailEnd type="none" w="med" len="med"/>
                    </a:lnT>
                    <a:lnB w="12700" cap="flat" cmpd="sng" algn="ctr">
                      <a:solidFill>
                        <a:srgbClr val="EDF3F1"/>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36576" marR="36576" marT="18288" marB="18288" anchor="ctr">
                    <a:lnL w="12700" cap="flat" cmpd="sng" algn="ctr">
                      <a:solidFill>
                        <a:srgbClr val="EDF3F1"/>
                      </a:solidFill>
                      <a:prstDash val="solid"/>
                      <a:round/>
                      <a:headEnd type="none" w="med" len="med"/>
                      <a:tailEnd type="none" w="med" len="med"/>
                    </a:lnL>
                    <a:lnR w="12700" cap="flat" cmpd="sng" algn="ctr">
                      <a:solidFill>
                        <a:srgbClr val="EDF3F1"/>
                      </a:solidFill>
                      <a:prstDash val="solid"/>
                      <a:round/>
                      <a:headEnd type="none" w="med" len="med"/>
                      <a:tailEnd type="none" w="med" len="med"/>
                    </a:lnR>
                    <a:lnT w="12700" cap="flat" cmpd="sng" algn="ctr">
                      <a:solidFill>
                        <a:srgbClr val="EDF3F1"/>
                      </a:solidFill>
                      <a:prstDash val="solid"/>
                      <a:round/>
                      <a:headEnd type="none" w="med" len="med"/>
                      <a:tailEnd type="none" w="med" len="med"/>
                    </a:lnT>
                    <a:lnB w="12700" cap="flat" cmpd="sng" algn="ctr">
                      <a:solidFill>
                        <a:srgbClr val="EDF3F1"/>
                      </a:solidFill>
                      <a:prstDash val="solid"/>
                      <a:round/>
                      <a:headEnd type="none" w="med" len="med"/>
                      <a:tailEnd type="none" w="med" len="med"/>
                    </a:lnB>
                  </a:tcPr>
                </a:tc>
                <a:tc>
                  <a:txBody>
                    <a:bodyP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36576" marR="36576" marT="18288" marB="18288" anchor="ctr">
                    <a:lnL w="12700" cap="flat" cmpd="sng" algn="ctr">
                      <a:solidFill>
                        <a:srgbClr val="EDF3F1"/>
                      </a:solidFill>
                      <a:prstDash val="solid"/>
                      <a:round/>
                      <a:headEnd type="none" w="med" len="med"/>
                      <a:tailEnd type="none" w="med" len="med"/>
                    </a:lnL>
                    <a:lnR w="12700" cap="flat" cmpd="sng" algn="ctr">
                      <a:solidFill>
                        <a:srgbClr val="EDF3F1"/>
                      </a:solidFill>
                      <a:prstDash val="solid"/>
                      <a:round/>
                      <a:headEnd type="none" w="med" len="med"/>
                      <a:tailEnd type="none" w="med" len="med"/>
                    </a:lnR>
                    <a:lnT w="12700" cap="flat" cmpd="sng" algn="ctr">
                      <a:solidFill>
                        <a:srgbClr val="EDF3F1"/>
                      </a:solidFill>
                      <a:prstDash val="solid"/>
                      <a:round/>
                      <a:headEnd type="none" w="med" len="med"/>
                      <a:tailEnd type="none" w="med" len="med"/>
                    </a:lnT>
                    <a:lnB w="12700" cap="flat" cmpd="sng" algn="ctr">
                      <a:solidFill>
                        <a:srgbClr val="EDF3F1"/>
                      </a:solidFill>
                      <a:prstDash val="solid"/>
                      <a:round/>
                      <a:headEnd type="none" w="med" len="med"/>
                      <a:tailEnd type="none" w="med" len="med"/>
                    </a:lnB>
                  </a:tcPr>
                </a:tc>
                <a:tc>
                  <a:txBody>
                    <a:bodyP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36576" marR="36576" marT="18288" marB="18288" anchor="ctr">
                    <a:lnL w="12700" cap="flat" cmpd="sng" algn="ctr">
                      <a:solidFill>
                        <a:srgbClr val="EDF3F1"/>
                      </a:solidFill>
                      <a:prstDash val="solid"/>
                      <a:round/>
                      <a:headEnd type="none" w="med" len="med"/>
                      <a:tailEnd type="none" w="med" len="med"/>
                    </a:lnL>
                    <a:lnR w="12700" cap="flat" cmpd="sng" algn="ctr">
                      <a:solidFill>
                        <a:srgbClr val="EDF3F1"/>
                      </a:solidFill>
                      <a:prstDash val="solid"/>
                      <a:round/>
                      <a:headEnd type="none" w="med" len="med"/>
                      <a:tailEnd type="none" w="med" len="med"/>
                    </a:lnR>
                    <a:lnT w="12700" cap="flat" cmpd="sng" algn="ctr">
                      <a:solidFill>
                        <a:srgbClr val="EDF3F1"/>
                      </a:solidFill>
                      <a:prstDash val="solid"/>
                      <a:round/>
                      <a:headEnd type="none" w="med" len="med"/>
                      <a:tailEnd type="none" w="med" len="med"/>
                    </a:lnT>
                    <a:lnB w="12700" cap="flat" cmpd="sng" algn="ctr">
                      <a:solidFill>
                        <a:srgbClr val="EDF3F1"/>
                      </a:solidFill>
                      <a:prstDash val="solid"/>
                      <a:round/>
                      <a:headEnd type="none" w="med" len="med"/>
                      <a:tailEnd type="none" w="med" len="med"/>
                    </a:lnB>
                  </a:tcPr>
                </a:tc>
              </a:tr>
              <a:tr h="310896">
                <a:tc>
                  <a:txBody>
                    <a:bodyPr/>
                    <a:lstStyle/>
                    <a:p>
                      <a:pPr algn="ctr" indent="0" marL="0">
                        <a:buNone/>
                      </a:pPr>
                      <a:r>
                        <a:rPr lang="en-US" sz="1400" b="1" dirty="0">
                          <a:solidFill>
                            <a:schemeClr val="accent1"/>
                          </a:solidFill>
                          <a:latin typeface="Courier New" pitchFamily="34" charset="0"/>
                          <a:ea typeface="Courier New" pitchFamily="34" charset="-122"/>
                          <a:cs typeface="Courier New" pitchFamily="34" charset="-120"/>
                        </a:rPr>
                        <a:t>C</a:t>
                      </a:r>
                      <a:endParaRPr lang="en-US" sz="1400" dirty="0">
                        <a:latin typeface="Courier New" charset="0"/>
                        <a:ea typeface="Courier New" charset="0"/>
                        <a:cs typeface="Courier New" charset="0"/>
                      </a:endParaRPr>
                    </a:p>
                  </a:txBody>
                  <a:tcPr marL="36576" marR="36576" marT="18288" marB="18288" anchor="ctr">
                    <a:lnL w="12700" cap="flat" cmpd="sng" algn="ctr">
                      <a:solidFill>
                        <a:srgbClr val="EDF3F1"/>
                      </a:solidFill>
                      <a:prstDash val="solid"/>
                      <a:round/>
                      <a:headEnd type="none" w="med" len="med"/>
                      <a:tailEnd type="none" w="med" len="med"/>
                    </a:lnL>
                    <a:lnR w="12700" cap="flat" cmpd="sng" algn="ctr">
                      <a:solidFill>
                        <a:srgbClr val="EDF3F1"/>
                      </a:solidFill>
                      <a:prstDash val="solid"/>
                      <a:round/>
                      <a:headEnd type="none" w="med" len="med"/>
                      <a:tailEnd type="none" w="med" len="med"/>
                    </a:lnR>
                    <a:lnT w="12700" cap="flat" cmpd="sng" algn="ctr">
                      <a:solidFill>
                        <a:srgbClr val="EDF3F1"/>
                      </a:solidFill>
                      <a:prstDash val="solid"/>
                      <a:round/>
                      <a:headEnd type="none" w="med" len="med"/>
                      <a:tailEnd type="none" w="med" len="med"/>
                    </a:lnT>
                    <a:lnB w="12700" cap="flat" cmpd="sng" algn="ctr">
                      <a:solidFill>
                        <a:srgbClr val="EDF3F1"/>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36576" marR="36576" marT="18288" marB="18288" anchor="ctr">
                    <a:lnL w="12700" cap="flat" cmpd="sng" algn="ctr">
                      <a:solidFill>
                        <a:srgbClr val="EDF3F1"/>
                      </a:solidFill>
                      <a:prstDash val="solid"/>
                      <a:round/>
                      <a:headEnd type="none" w="med" len="med"/>
                      <a:tailEnd type="none" w="med" len="med"/>
                    </a:lnL>
                    <a:lnR w="12700" cap="flat" cmpd="sng" algn="ctr">
                      <a:solidFill>
                        <a:srgbClr val="EDF3F1"/>
                      </a:solidFill>
                      <a:prstDash val="solid"/>
                      <a:round/>
                      <a:headEnd type="none" w="med" len="med"/>
                      <a:tailEnd type="none" w="med" len="med"/>
                    </a:lnR>
                    <a:lnT w="12700" cap="flat" cmpd="sng" algn="ctr">
                      <a:solidFill>
                        <a:srgbClr val="EDF3F1"/>
                      </a:solidFill>
                      <a:prstDash val="solid"/>
                      <a:round/>
                      <a:headEnd type="none" w="med" len="med"/>
                      <a:tailEnd type="none" w="med" len="med"/>
                    </a:lnT>
                    <a:lnB w="12700" cap="flat" cmpd="sng" algn="ctr">
                      <a:solidFill>
                        <a:srgbClr val="EDF3F1"/>
                      </a:solidFill>
                      <a:prstDash val="solid"/>
                      <a:round/>
                      <a:headEnd type="none" w="med" len="med"/>
                      <a:tailEnd type="none" w="med" len="med"/>
                    </a:lnB>
                  </a:tcPr>
                </a:tc>
                <a:tc>
                  <a:txBody>
                    <a:bodyP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36576" marR="36576" marT="18288" marB="18288" anchor="ctr">
                    <a:lnL w="12700" cap="flat" cmpd="sng" algn="ctr">
                      <a:solidFill>
                        <a:srgbClr val="EDF3F1"/>
                      </a:solidFill>
                      <a:prstDash val="solid"/>
                      <a:round/>
                      <a:headEnd type="none" w="med" len="med"/>
                      <a:tailEnd type="none" w="med" len="med"/>
                    </a:lnL>
                    <a:lnR w="12700" cap="flat" cmpd="sng" algn="ctr">
                      <a:solidFill>
                        <a:srgbClr val="EDF3F1"/>
                      </a:solidFill>
                      <a:prstDash val="solid"/>
                      <a:round/>
                      <a:headEnd type="none" w="med" len="med"/>
                      <a:tailEnd type="none" w="med" len="med"/>
                    </a:lnR>
                    <a:lnT w="12700" cap="flat" cmpd="sng" algn="ctr">
                      <a:solidFill>
                        <a:srgbClr val="EDF3F1"/>
                      </a:solidFill>
                      <a:prstDash val="solid"/>
                      <a:round/>
                      <a:headEnd type="none" w="med" len="med"/>
                      <a:tailEnd type="none" w="med" len="med"/>
                    </a:lnT>
                    <a:lnB w="12700" cap="flat" cmpd="sng" algn="ctr">
                      <a:solidFill>
                        <a:srgbClr val="EDF3F1"/>
                      </a:solidFill>
                      <a:prstDash val="solid"/>
                      <a:round/>
                      <a:headEnd type="none" w="med" len="med"/>
                      <a:tailEnd type="none" w="med" len="med"/>
                    </a:lnB>
                  </a:tcPr>
                </a:tc>
                <a:tc>
                  <a:txBody>
                    <a:bodyP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36576" marR="36576" marT="18288" marB="18288" anchor="ctr">
                    <a:lnL w="12700" cap="flat" cmpd="sng" algn="ctr">
                      <a:solidFill>
                        <a:srgbClr val="EDF3F1"/>
                      </a:solidFill>
                      <a:prstDash val="solid"/>
                      <a:round/>
                      <a:headEnd type="none" w="med" len="med"/>
                      <a:tailEnd type="none" w="med" len="med"/>
                    </a:lnL>
                    <a:lnR w="12700" cap="flat" cmpd="sng" algn="ctr">
                      <a:solidFill>
                        <a:srgbClr val="EDF3F1"/>
                      </a:solidFill>
                      <a:prstDash val="solid"/>
                      <a:round/>
                      <a:headEnd type="none" w="med" len="med"/>
                      <a:tailEnd type="none" w="med" len="med"/>
                    </a:lnR>
                    <a:lnT w="12700" cap="flat" cmpd="sng" algn="ctr">
                      <a:solidFill>
                        <a:srgbClr val="EDF3F1"/>
                      </a:solidFill>
                      <a:prstDash val="solid"/>
                      <a:round/>
                      <a:headEnd type="none" w="med" len="med"/>
                      <a:tailEnd type="none" w="med" len="med"/>
                    </a:lnT>
                    <a:lnB w="12700" cap="flat" cmpd="sng" algn="ctr">
                      <a:solidFill>
                        <a:srgbClr val="EDF3F1"/>
                      </a:solidFill>
                      <a:prstDash val="solid"/>
                      <a:round/>
                      <a:headEnd type="none" w="med" len="med"/>
                      <a:tailEnd type="none" w="med" len="med"/>
                    </a:lnB>
                  </a:tcPr>
                </a:tc>
              </a:tr>
              <a:tr h="310896">
                <a:tc>
                  <a:txBody>
                    <a:bodyPr/>
                    <a:lstStyle/>
                    <a:p>
                      <a:pPr algn="ctr" indent="0" marL="0">
                        <a:buNone/>
                      </a:pPr>
                      <a:r>
                        <a:rPr lang="en-US" sz="1400" b="1" dirty="0">
                          <a:solidFill>
                            <a:schemeClr val="accent1"/>
                          </a:solidFill>
                          <a:latin typeface="Courier New" pitchFamily="34" charset="0"/>
                          <a:ea typeface="Courier New" pitchFamily="34" charset="-122"/>
                          <a:cs typeface="Courier New" pitchFamily="34" charset="-120"/>
                        </a:rPr>
                        <a:t>D</a:t>
                      </a:r>
                      <a:endParaRPr lang="en-US" sz="1400" dirty="0">
                        <a:latin typeface="Courier New" charset="0"/>
                        <a:ea typeface="Courier New" charset="0"/>
                        <a:cs typeface="Courier New" charset="0"/>
                      </a:endParaRPr>
                    </a:p>
                  </a:txBody>
                  <a:tcPr marL="36576" marR="36576" marT="18288" marB="18288" anchor="ctr">
                    <a:lnL w="12700" cap="flat" cmpd="sng" algn="ctr">
                      <a:solidFill>
                        <a:srgbClr val="EDF3F1"/>
                      </a:solidFill>
                      <a:prstDash val="solid"/>
                      <a:round/>
                      <a:headEnd type="none" w="med" len="med"/>
                      <a:tailEnd type="none" w="med" len="med"/>
                    </a:lnL>
                    <a:lnR w="12700" cap="flat" cmpd="sng" algn="ctr">
                      <a:solidFill>
                        <a:srgbClr val="EDF3F1"/>
                      </a:solidFill>
                      <a:prstDash val="solid"/>
                      <a:round/>
                      <a:headEnd type="none" w="med" len="med"/>
                      <a:tailEnd type="none" w="med" len="med"/>
                    </a:lnR>
                    <a:lnT w="12700" cap="flat" cmpd="sng" algn="ctr">
                      <a:solidFill>
                        <a:srgbClr val="EDF3F1"/>
                      </a:solidFill>
                      <a:prstDash val="solid"/>
                      <a:round/>
                      <a:headEnd type="none" w="med" len="med"/>
                      <a:tailEnd type="none" w="med" len="med"/>
                    </a:lnT>
                    <a:lnB w="12700" cap="flat" cmpd="sng" algn="ctr">
                      <a:solidFill>
                        <a:srgbClr val="EDF3F1"/>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36576" marR="36576" marT="18288" marB="18288" anchor="ctr">
                    <a:lnL w="12700" cap="flat" cmpd="sng" algn="ctr">
                      <a:solidFill>
                        <a:srgbClr val="EDF3F1"/>
                      </a:solidFill>
                      <a:prstDash val="solid"/>
                      <a:round/>
                      <a:headEnd type="none" w="med" len="med"/>
                      <a:tailEnd type="none" w="med" len="med"/>
                    </a:lnL>
                    <a:lnR w="12700" cap="flat" cmpd="sng" algn="ctr">
                      <a:solidFill>
                        <a:srgbClr val="EDF3F1"/>
                      </a:solidFill>
                      <a:prstDash val="solid"/>
                      <a:round/>
                      <a:headEnd type="none" w="med" len="med"/>
                      <a:tailEnd type="none" w="med" len="med"/>
                    </a:lnR>
                    <a:lnT w="12700" cap="flat" cmpd="sng" algn="ctr">
                      <a:solidFill>
                        <a:srgbClr val="EDF3F1"/>
                      </a:solidFill>
                      <a:prstDash val="solid"/>
                      <a:round/>
                      <a:headEnd type="none" w="med" len="med"/>
                      <a:tailEnd type="none" w="med" len="med"/>
                    </a:lnT>
                    <a:lnB w="12700" cap="flat" cmpd="sng" algn="ctr">
                      <a:solidFill>
                        <a:srgbClr val="EDF3F1"/>
                      </a:solidFill>
                      <a:prstDash val="solid"/>
                      <a:round/>
                      <a:headEnd type="none" w="med" len="med"/>
                      <a:tailEnd type="none" w="med" len="med"/>
                    </a:lnB>
                  </a:tcPr>
                </a:tc>
                <a:tc>
                  <a:txBody>
                    <a:bodyP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36576" marR="36576" marT="18288" marB="18288" anchor="ctr">
                    <a:lnL w="12700" cap="flat" cmpd="sng" algn="ctr">
                      <a:solidFill>
                        <a:srgbClr val="EDF3F1"/>
                      </a:solidFill>
                      <a:prstDash val="solid"/>
                      <a:round/>
                      <a:headEnd type="none" w="med" len="med"/>
                      <a:tailEnd type="none" w="med" len="med"/>
                    </a:lnL>
                    <a:lnR w="12700" cap="flat" cmpd="sng" algn="ctr">
                      <a:solidFill>
                        <a:srgbClr val="EDF3F1"/>
                      </a:solidFill>
                      <a:prstDash val="solid"/>
                      <a:round/>
                      <a:headEnd type="none" w="med" len="med"/>
                      <a:tailEnd type="none" w="med" len="med"/>
                    </a:lnR>
                    <a:lnT w="12700" cap="flat" cmpd="sng" algn="ctr">
                      <a:solidFill>
                        <a:srgbClr val="EDF3F1"/>
                      </a:solidFill>
                      <a:prstDash val="solid"/>
                      <a:round/>
                      <a:headEnd type="none" w="med" len="med"/>
                      <a:tailEnd type="none" w="med" len="med"/>
                    </a:lnT>
                    <a:lnB w="12700" cap="flat" cmpd="sng" algn="ctr">
                      <a:solidFill>
                        <a:srgbClr val="EDF3F1"/>
                      </a:solidFill>
                      <a:prstDash val="solid"/>
                      <a:round/>
                      <a:headEnd type="none" w="med" len="med"/>
                      <a:tailEnd type="none" w="med" len="med"/>
                    </a:lnB>
                  </a:tcPr>
                </a:tc>
                <a:tc>
                  <a:txBody>
                    <a:bodyP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36576" marR="36576" marT="18288" marB="18288" anchor="ctr">
                    <a:lnL w="12700" cap="flat" cmpd="sng" algn="ctr">
                      <a:solidFill>
                        <a:srgbClr val="EDF3F1"/>
                      </a:solidFill>
                      <a:prstDash val="solid"/>
                      <a:round/>
                      <a:headEnd type="none" w="med" len="med"/>
                      <a:tailEnd type="none" w="med" len="med"/>
                    </a:lnL>
                    <a:lnR w="12700" cap="flat" cmpd="sng" algn="ctr">
                      <a:solidFill>
                        <a:srgbClr val="EDF3F1"/>
                      </a:solidFill>
                      <a:prstDash val="solid"/>
                      <a:round/>
                      <a:headEnd type="none" w="med" len="med"/>
                      <a:tailEnd type="none" w="med" len="med"/>
                    </a:lnR>
                    <a:lnT w="12700" cap="flat" cmpd="sng" algn="ctr">
                      <a:solidFill>
                        <a:srgbClr val="EDF3F1"/>
                      </a:solidFill>
                      <a:prstDash val="solid"/>
                      <a:round/>
                      <a:headEnd type="none" w="med" len="med"/>
                      <a:tailEnd type="none" w="med" len="med"/>
                    </a:lnT>
                    <a:lnB w="12700" cap="flat" cmpd="sng" algn="ctr">
                      <a:solidFill>
                        <a:srgbClr val="EDF3F1"/>
                      </a:solidFill>
                      <a:prstDash val="solid"/>
                      <a:round/>
                      <a:headEnd type="none" w="med" len="med"/>
                      <a:tailEnd type="none" w="med" len="med"/>
                    </a:lnB>
                  </a:tcPr>
                </a:tc>
              </a:tr>
            </a:tbl>
          </a:graphicData>
        </a:graphic>
      </p:graphicFrame>
      <p:sp>
        <p:nvSpPr>
          <p:cNvPr id="16" name="Text 11"/>
          <p:cNvSpPr txBox="1"/>
          <p:nvPr/>
        </p:nvSpPr>
        <p:spPr>
          <a:xfrm>
            <a:off x="7345375" y="4389120"/>
            <a:ext cx="4023360" cy="1691640"/>
          </a:xfrm>
          <a:prstGeom prst="rect">
            <a:avLst/>
          </a:prstGeom>
          <a:noFill/>
          <a:ln/>
        </p:spPr>
        <p:txBody>
          <a:bodyPr wrap="square" lIns="0" tIns="0" rIns="0" bIns="0" rtlCol="0" anchor="t"/>
          <a:lstStyle/>
          <a:p>
            <a:pPr indent="0" marL="0">
              <a:buNone/>
            </a:pPr>
            <a:r>
              <a:rPr lang="en-US" sz="1400" b="1" dirty="0">
                <a:solidFill>
                  <a:schemeClr val="accent1"/>
                </a:solidFill>
              </a:rPr>
              <a:t>rank  </a:t>
            </a:r>
            <a:pPr indent="0" marL="0">
              <a:spcAft>
                <a:spcPts val="600"/>
              </a:spcAft>
              <a:buNone/>
            </a:pPr>
            <a:r>
              <a:rPr lang="en-US" sz="1400" dirty="0">
                <a:solidFill>
                  <a:schemeClr val="tx1"/>
                </a:solidFill>
              </a:rPr>
              <a:t>2: two independent reactions</a:t>
            </a:r>
            <a:endParaRPr lang="en-US" sz="1400" dirty="0"/>
          </a:p>
          <a:p>
            <a:pPr indent="0" marL="0">
              <a:buNone/>
            </a:pPr>
            <a:r>
              <a:rPr lang="en-US" sz="1400" b="1" dirty="0">
                <a:solidFill>
                  <a:schemeClr val="accent1"/>
                </a:solidFill>
              </a:rPr>
              <a:t>left kernel  </a:t>
            </a:r>
            <a:pPr indent="0" marL="0">
              <a:spcAft>
                <a:spcPts val="600"/>
              </a:spcAft>
              <a:buNone/>
            </a:pPr>
            <a:r>
              <a:rPr lang="en-US" sz="1400" dirty="0">
                <a:solidFill>
                  <a:schemeClr val="tx1"/>
                </a:solidFill>
              </a:rPr>
              <a:t>B − A and A + C + D: the conservation laws</a:t>
            </a:r>
            <a:endParaRPr lang="en-US" sz="1400" dirty="0"/>
          </a:p>
          <a:p>
            <a:pPr indent="0" marL="0">
              <a:buNone/>
            </a:pPr>
            <a:r>
              <a:rPr lang="en-US" sz="1400" b="1" dirty="0">
                <a:solidFill>
                  <a:schemeClr val="accent1"/>
                </a:solidFill>
              </a:rPr>
              <a:t>right kernel  </a:t>
            </a:r>
            <a:pPr indent="0" marL="0">
              <a:spcAft>
                <a:spcPts val="600"/>
              </a:spcAft>
              <a:buNone/>
            </a:pPr>
            <a:r>
              <a:rPr lang="en-US" sz="1400" dirty="0">
                <a:solidFill>
                  <a:schemeClr val="tx1"/>
                </a:solidFill>
              </a:rPr>
              <a:t>R1 + R2: a combination that changes nothing</a:t>
            </a:r>
            <a:endParaRPr lang="en-US" sz="1400" dirty="0"/>
          </a:p>
          <a:p>
            <a:pPr indent="0" marL="0">
              <a:buNone/>
            </a:pPr>
            <a:r>
              <a:rPr lang="en-US" sz="1400" b="1" dirty="0">
                <a:solidFill>
                  <a:schemeClr val="accent1"/>
                </a:solidFill>
              </a:rPr>
              <a:t>deficiency  </a:t>
            </a:r>
            <a:pPr indent="0" marL="0">
              <a:spcAft>
                <a:spcPts val="600"/>
              </a:spcAft>
              <a:buNone/>
            </a:pPr>
            <a:r>
              <a:rPr lang="en-US" sz="1400" dirty="0">
                <a:solidFill>
                  <a:schemeClr val="tx1"/>
                </a:solidFill>
              </a:rPr>
              <a:t>3 complexes − 1 linkage class − rank 2 = 0 (the adapter counts complexes and classes)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Periodic graphs: crystals as infinite graphs</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A crystal, a slab or a polymer is an infinite graph that repeats; GRAPH searches it from one cell.</a:t>
            </a:r>
            <a:endParaRPr lang="en-US" sz="1600" dirty="0"/>
          </a:p>
        </p:txBody>
      </p:sp>
      <p:sp>
        <p:nvSpPr>
          <p:cNvPr id="4" name="operation periodic projection"/>
          <p:cNvSpPr/>
          <p:nvPr/>
        </p:nvSpPr>
        <p:spPr>
          <a:xfrm>
            <a:off x="548640" y="1691640"/>
            <a:ext cx="5410048" cy="3840480"/>
          </a:xfrm>
          <a:prstGeom prst="roundRect">
            <a:avLst>
              <a:gd name="adj" fmla="val 2381"/>
            </a:avLst>
          </a:prstGeom>
          <a:solidFill>
            <a:schemeClr val="bg2"/>
          </a:solidFill>
          <a:ln/>
        </p:spPr>
      </p:sp>
      <p:sp>
        <p:nvSpPr>
          <p:cNvPr id="5" name="icon periodic projection"/>
          <p:cNvSpPr/>
          <p:nvPr/>
        </p:nvSpPr>
        <p:spPr>
          <a:xfrm>
            <a:off x="749808" y="1892808"/>
            <a:ext cx="512064" cy="512064"/>
          </a:xfrm>
          <a:prstGeom prst="ellipse">
            <a:avLst/>
          </a:prstGeom>
          <a:solidFill>
            <a:schemeClr val="accent1"/>
          </a:solidFill>
          <a:ln/>
        </p:spPr>
      </p:sp>
      <p:pic>
        <p:nvPicPr>
          <p:cNvPr id="6" name="Image 0" descr="periodic projection">    </p:cNvPr>
          <p:cNvPicPr>
            <a:picLocks noChangeAspect="1"/>
          </p:cNvPicPr>
          <p:nvPr/>
        </p:nvPicPr>
        <p:blipFill>
          <a:blip r:embed="rId1"/>
          <a:stretch>
            <a:fillRect/>
          </a:stretch>
        </p:blipFill>
        <p:spPr>
          <a:xfrm>
            <a:off x="862462" y="2005462"/>
            <a:ext cx="286756" cy="286756"/>
          </a:xfrm>
          <a:prstGeom prst="rect">
            <a:avLst/>
          </a:prstGeom>
        </p:spPr>
      </p:pic>
      <p:sp>
        <p:nvSpPr>
          <p:cNvPr id="7" name="Text 4"/>
          <p:cNvSpPr txBox="1"/>
          <p:nvPr/>
        </p:nvSpPr>
        <p:spPr>
          <a:xfrm>
            <a:off x="1408176" y="1874520"/>
            <a:ext cx="4349344" cy="54864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periodic projection</a:t>
            </a:r>
            <a:endParaRPr lang="en-US" sz="1500" dirty="0"/>
          </a:p>
          <a:p>
            <a:pPr indent="0" marL="0">
              <a:buNone/>
            </a:pPr>
            <a:r>
              <a:rPr lang="en-US" sz="1500" b="1" dirty="0">
                <a:solidFill>
                  <a:schemeClr val="tx1"/>
                </a:solidFill>
              </a:rPr>
              <a:t>Crystals and slabs without a box of images</a:t>
            </a:r>
            <a:endParaRPr lang="en-US" sz="1500" dirty="0"/>
          </a:p>
        </p:txBody>
      </p:sp>
      <p:sp>
        <p:nvSpPr>
          <p:cNvPr id="8" name="Text 5"/>
          <p:cNvSpPr txBox="1"/>
          <p:nvPr/>
        </p:nvSpPr>
        <p:spPr>
          <a:xfrm>
            <a:off x="749808" y="2569464"/>
            <a:ext cx="5007712" cy="1711452"/>
          </a:xfrm>
          <a:prstGeom prst="rect">
            <a:avLst/>
          </a:prstGeom>
          <a:noFill/>
          <a:ln/>
        </p:spPr>
        <p:txBody>
          <a:bodyPr wrap="square" lIns="0" tIns="0" rIns="0" bIns="0" rtlCol="0" anchor="t"/>
          <a:lstStyle/>
          <a:p>
            <a:pPr indent="0" marL="0">
              <a:spcAft>
                <a:spcPts val="900"/>
              </a:spcAft>
              <a:buNone/>
            </a:pPr>
            <a:r>
              <a:rPr lang="en-US" sz="1500" b="1" dirty="0">
                <a:solidFill>
                  <a:schemeClr val="accent1"/>
                </a:solidFill>
              </a:rPr>
              <a:t>Theory. </a:t>
            </a:r>
            <a:pPr indent="0" marL="0">
              <a:spcAft>
                <a:spcPts val="900"/>
              </a:spcAft>
              <a:buNone/>
            </a:pPr>
            <a:r>
              <a:rPr lang="en-US" sz="1500" dirty="0">
                <a:solidFill>
                  <a:schemeClr val="tx1"/>
                </a:solidFill>
              </a:rPr>
              <a:t>One cell of an infinite periodic graph, each edge with an integer image shift (a voltage graph; a crystal net's quotient graph).</a:t>
            </a:r>
            <a:endParaRPr lang="en-US" sz="1500" dirty="0"/>
          </a:p>
          <a:p>
            <a:pPr indent="0" marL="0">
              <a:buNone/>
            </a:pPr>
            <a:r>
              <a:rPr lang="en-US" sz="1500" b="1" dirty="0">
                <a:solidFill>
                  <a:schemeClr val="accent1"/>
                </a:solidFill>
              </a:rPr>
              <a:t>Algorithm. </a:t>
            </a:r>
            <a:pPr indent="0" marL="0">
              <a:buNone/>
            </a:pPr>
            <a:r>
              <a:rPr lang="en-US" sz="1500" dirty="0">
                <a:solidFill>
                  <a:schemeClr val="tx1"/>
                </a:solidFill>
              </a:rPr>
              <a:t>Reachability and impact read only the images they reach, named </a:t>
            </a:r>
            <a:pPr indent="0" marL="0">
              <a:buNone/>
            </a:pPr>
            <a:r>
              <a:rPr lang="en-US" sz="1400" dirty="0">
                <a:solidFill>
                  <a:schemeClr val="tx1"/>
                </a:solidFill>
                <a:latin typeface="Courier New" pitchFamily="34" charset="0"/>
                <a:ea typeface="Courier New" pitchFamily="34" charset="-122"/>
                <a:cs typeface="Courier New" pitchFamily="34" charset="-120"/>
              </a:rPr>
              <a:t>atom@i,j,k</a:t>
            </a:r>
            <a:pPr indent="0" marL="0">
              <a:buNone/>
            </a:pPr>
            <a:r>
              <a:rPr lang="en-US" sz="1500" dirty="0">
                <a:solidFill>
                  <a:schemeClr val="tx1"/>
                </a:solidFill>
              </a:rPr>
              <a:t>; answers equal a finite lift's (600 random periodic graphs).</a:t>
            </a:r>
            <a:endParaRPr lang="en-US" sz="1500" dirty="0"/>
          </a:p>
        </p:txBody>
      </p:sp>
      <p:sp>
        <p:nvSpPr>
          <p:cNvPr id="9" name="proof periodic projection"/>
          <p:cNvSpPr/>
          <p:nvPr/>
        </p:nvSpPr>
        <p:spPr>
          <a:xfrm>
            <a:off x="694944" y="4354068"/>
            <a:ext cx="5117440" cy="976884"/>
          </a:xfrm>
          <a:prstGeom prst="roundRect">
            <a:avLst>
              <a:gd name="adj" fmla="val 7488"/>
            </a:avLst>
          </a:prstGeom>
          <a:solidFill>
            <a:schemeClr val="bg1"/>
          </a:solidFill>
          <a:ln w="15875">
            <a:solidFill>
              <a:schemeClr val="accent1"/>
            </a:solidFill>
            <a:prstDash val="solid"/>
          </a:ln>
        </p:spPr>
      </p:sp>
      <p:pic>
        <p:nvPicPr>
          <p:cNvPr id="10" name="Image 1" descr="certificate">    </p:cNvPr>
          <p:cNvPicPr>
            <a:picLocks noChangeAspect="1"/>
          </p:cNvPicPr>
          <p:nvPr/>
        </p:nvPicPr>
        <p:blipFill>
          <a:blip r:embed="rId2"/>
          <a:stretch>
            <a:fillRect/>
          </a:stretch>
        </p:blipFill>
        <p:spPr>
          <a:xfrm>
            <a:off x="804672" y="4445508"/>
            <a:ext cx="246888" cy="246888"/>
          </a:xfrm>
          <a:prstGeom prst="rect">
            <a:avLst/>
          </a:prstGeom>
        </p:spPr>
      </p:pic>
      <p:sp>
        <p:nvSpPr>
          <p:cNvPr id="11" name="Text 7"/>
          <p:cNvSpPr txBox="1"/>
          <p:nvPr/>
        </p:nvSpPr>
        <p:spPr>
          <a:xfrm>
            <a:off x="1133856" y="4445508"/>
            <a:ext cx="4550512"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CHECKED BY</a:t>
            </a:r>
            <a:endParaRPr lang="en-US" sz="1100" dirty="0"/>
          </a:p>
        </p:txBody>
      </p:sp>
      <p:sp>
        <p:nvSpPr>
          <p:cNvPr id="12" name="Text 8"/>
          <p:cNvSpPr txBox="1"/>
          <p:nvPr/>
        </p:nvSpPr>
        <p:spPr>
          <a:xfrm>
            <a:off x="804672" y="4738116"/>
            <a:ext cx="4897984" cy="519684"/>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verify_result</a:t>
            </a:r>
            <a:pPr indent="0" marL="0">
              <a:buNone/>
            </a:pPr>
            <a:r>
              <a:rPr lang="en-US" sz="1500" dirty="0">
                <a:solidFill>
                  <a:schemeClr val="tx1"/>
                </a:solidFill>
              </a:rPr>
              <a:t> checks periodic results against the cell's records, image by image.</a:t>
            </a:r>
            <a:endParaRPr lang="en-US" sz="1400" dirty="0"/>
          </a:p>
        </p:txBody>
      </p:sp>
      <p:sp>
        <p:nvSpPr>
          <p:cNvPr id="13" name="operation periodicity"/>
          <p:cNvSpPr/>
          <p:nvPr/>
        </p:nvSpPr>
        <p:spPr>
          <a:xfrm>
            <a:off x="6233008" y="1691640"/>
            <a:ext cx="5410048" cy="3840480"/>
          </a:xfrm>
          <a:prstGeom prst="roundRect">
            <a:avLst>
              <a:gd name="adj" fmla="val 2381"/>
            </a:avLst>
          </a:prstGeom>
          <a:solidFill>
            <a:schemeClr val="bg2"/>
          </a:solidFill>
          <a:ln/>
        </p:spPr>
      </p:sp>
      <p:sp>
        <p:nvSpPr>
          <p:cNvPr id="14" name="icon periodicity"/>
          <p:cNvSpPr/>
          <p:nvPr/>
        </p:nvSpPr>
        <p:spPr>
          <a:xfrm>
            <a:off x="6434176" y="1892808"/>
            <a:ext cx="512064" cy="512064"/>
          </a:xfrm>
          <a:prstGeom prst="ellipse">
            <a:avLst/>
          </a:prstGeom>
          <a:solidFill>
            <a:schemeClr val="accent1"/>
          </a:solidFill>
          <a:ln/>
        </p:spPr>
      </p:sp>
      <p:pic>
        <p:nvPicPr>
          <p:cNvPr id="15" name="Image 2" descr="periodicity">    </p:cNvPr>
          <p:cNvPicPr>
            <a:picLocks noChangeAspect="1"/>
          </p:cNvPicPr>
          <p:nvPr/>
        </p:nvPicPr>
        <p:blipFill>
          <a:blip r:embed="rId3"/>
          <a:stretch>
            <a:fillRect/>
          </a:stretch>
        </p:blipFill>
        <p:spPr>
          <a:xfrm>
            <a:off x="6546830" y="2005462"/>
            <a:ext cx="286756" cy="286756"/>
          </a:xfrm>
          <a:prstGeom prst="rect">
            <a:avLst/>
          </a:prstGeom>
        </p:spPr>
      </p:pic>
      <p:sp>
        <p:nvSpPr>
          <p:cNvPr id="16" name="Text 11"/>
          <p:cNvSpPr txBox="1"/>
          <p:nvPr/>
        </p:nvSpPr>
        <p:spPr>
          <a:xfrm>
            <a:off x="7092544" y="1874520"/>
            <a:ext cx="4349344" cy="54864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periodicity</a:t>
            </a:r>
            <a:endParaRPr lang="en-US" sz="1500" dirty="0"/>
          </a:p>
          <a:p>
            <a:pPr indent="0" marL="0">
              <a:buNone/>
            </a:pPr>
            <a:r>
              <a:rPr lang="en-US" sz="1500" b="1" dirty="0">
                <a:solidFill>
                  <a:schemeClr val="tx1"/>
                </a:solidFill>
              </a:rPr>
              <a:t>How each component repeats</a:t>
            </a:r>
            <a:endParaRPr lang="en-US" sz="1500" dirty="0"/>
          </a:p>
        </p:txBody>
      </p:sp>
      <p:sp>
        <p:nvSpPr>
          <p:cNvPr id="17" name="Text 12"/>
          <p:cNvSpPr txBox="1"/>
          <p:nvPr/>
        </p:nvSpPr>
        <p:spPr>
          <a:xfrm>
            <a:off x="6434176" y="2569464"/>
            <a:ext cx="5007712" cy="1479042"/>
          </a:xfrm>
          <a:prstGeom prst="rect">
            <a:avLst/>
          </a:prstGeom>
          <a:noFill/>
          <a:ln/>
        </p:spPr>
        <p:txBody>
          <a:bodyPr wrap="square" lIns="0" tIns="0" rIns="0" bIns="0" rtlCol="0" anchor="t"/>
          <a:lstStyle/>
          <a:p>
            <a:pPr indent="0" marL="0">
              <a:spcAft>
                <a:spcPts val="900"/>
              </a:spcAft>
              <a:buNone/>
            </a:pPr>
            <a:r>
              <a:rPr lang="en-US" sz="1500" b="1" dirty="0">
                <a:solidFill>
                  <a:schemeClr val="accent1"/>
                </a:solidFill>
              </a:rPr>
              <a:t>Theory. </a:t>
            </a:r>
            <a:pPr indent="0" marL="0">
              <a:spcAft>
                <a:spcPts val="900"/>
              </a:spcAft>
              <a:buNone/>
            </a:pPr>
            <a:r>
              <a:rPr lang="en-US" sz="1500" dirty="0">
                <a:solidFill>
                  <a:schemeClr val="tx1"/>
                </a:solidFill>
              </a:rPr>
              <a:t>The translation lattice of a periodic net (Chung, Hahn and Klee, 1984; Delgado-Friedrichs and O'Keeffe, 2003).</a:t>
            </a:r>
            <a:endParaRPr lang="en-US" sz="1500" dirty="0"/>
          </a:p>
          <a:p>
            <a:pPr indent="0" marL="0">
              <a:buNone/>
            </a:pPr>
            <a:r>
              <a:rPr lang="en-US" sz="1500" b="1" dirty="0">
                <a:solidFill>
                  <a:schemeClr val="accent1"/>
                </a:solidFill>
              </a:rPr>
              <a:t>Algorithm. </a:t>
            </a:r>
            <a:pPr indent="0" marL="0">
              <a:buNone/>
            </a:pPr>
            <a:r>
              <a:rPr lang="en-US" sz="1500" dirty="0">
                <a:solidFill>
                  <a:schemeClr val="tx1"/>
                </a:solidFill>
              </a:rPr>
              <a:t>A spanning tree gives each node a potential; each other edge closes a cycle whose net shift is a translation. Basis: the nets' Hermite normal form.</a:t>
            </a:r>
            <a:endParaRPr lang="en-US" sz="1500" dirty="0"/>
          </a:p>
        </p:txBody>
      </p:sp>
      <p:sp>
        <p:nvSpPr>
          <p:cNvPr id="18" name="proof periodicity"/>
          <p:cNvSpPr/>
          <p:nvPr/>
        </p:nvSpPr>
        <p:spPr>
          <a:xfrm>
            <a:off x="6379312" y="4121658"/>
            <a:ext cx="5117440" cy="1209294"/>
          </a:xfrm>
          <a:prstGeom prst="roundRect">
            <a:avLst>
              <a:gd name="adj" fmla="val 6049"/>
            </a:avLst>
          </a:prstGeom>
          <a:solidFill>
            <a:schemeClr val="bg1"/>
          </a:solidFill>
          <a:ln w="15875">
            <a:solidFill>
              <a:schemeClr val="accent1"/>
            </a:solidFill>
            <a:prstDash val="solid"/>
          </a:ln>
        </p:spPr>
      </p:sp>
      <p:pic>
        <p:nvPicPr>
          <p:cNvPr id="19" name="Image 3" descr="certificate">    </p:cNvPr>
          <p:cNvPicPr>
            <a:picLocks noChangeAspect="1"/>
          </p:cNvPicPr>
          <p:nvPr/>
        </p:nvPicPr>
        <p:blipFill>
          <a:blip r:embed="rId4"/>
          <a:stretch>
            <a:fillRect/>
          </a:stretch>
        </p:blipFill>
        <p:spPr>
          <a:xfrm>
            <a:off x="6489040" y="4213098"/>
            <a:ext cx="246888" cy="246888"/>
          </a:xfrm>
          <a:prstGeom prst="rect">
            <a:avLst/>
          </a:prstGeom>
        </p:spPr>
      </p:pic>
      <p:sp>
        <p:nvSpPr>
          <p:cNvPr id="20" name="Text 14"/>
          <p:cNvSpPr txBox="1"/>
          <p:nvPr/>
        </p:nvSpPr>
        <p:spPr>
          <a:xfrm>
            <a:off x="6818224" y="4213098"/>
            <a:ext cx="4550512"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CERTIFICATE PROVES</a:t>
            </a:r>
            <a:endParaRPr lang="en-US" sz="1100" dirty="0"/>
          </a:p>
        </p:txBody>
      </p:sp>
      <p:sp>
        <p:nvSpPr>
          <p:cNvPr id="21" name="Text 15"/>
          <p:cNvSpPr txBox="1"/>
          <p:nvPr/>
        </p:nvSpPr>
        <p:spPr>
          <a:xfrm>
            <a:off x="6489040" y="4505706"/>
            <a:ext cx="4897984" cy="752094"/>
          </a:xfrm>
          <a:prstGeom prst="rect">
            <a:avLst/>
          </a:prstGeom>
          <a:noFill/>
          <a:ln/>
        </p:spPr>
        <p:txBody>
          <a:bodyPr wrap="square" lIns="0" tIns="0" rIns="0" bIns="0" rtlCol="0" anchor="t"/>
          <a:lstStyle/>
          <a:p>
            <a:pPr indent="0" marL="0">
              <a:buNone/>
            </a:pPr>
            <a:r>
              <a:rPr lang="en-US" sz="1500" dirty="0">
                <a:solidFill>
                  <a:schemeClr val="tx1"/>
                </a:solidFill>
              </a:rPr>
              <a:t>Witnesses write each basis row from cycle nets; the verifier checks every hop's net lies in the lattice, so the basis is exactly the component's.</a:t>
            </a:r>
            <a:endParaRPr lang="en-US" sz="1500" dirty="0"/>
          </a:p>
        </p:txBody>
      </p:sp>
      <p:sp>
        <p:nvSpPr>
          <p:cNvPr id="22" name="Text 16"/>
          <p:cNvSpPr txBox="1"/>
          <p:nvPr/>
        </p:nvSpPr>
        <p:spPr>
          <a:xfrm>
            <a:off x="548640" y="5715000"/>
            <a:ext cx="685800" cy="502920"/>
          </a:xfrm>
          <a:prstGeom prst="rect">
            <a:avLst/>
          </a:prstGeom>
          <a:noFill/>
          <a:ln/>
        </p:spPr>
        <p:txBody>
          <a:bodyPr wrap="square" lIns="0" tIns="0" rIns="0" bIns="0" rtlCol="0" anchor="ctr"/>
          <a:lstStyle/>
          <a:p>
            <a:pPr indent="0" marL="0">
              <a:buNone/>
            </a:pPr>
            <a:r>
              <a:rPr lang="en-US" sz="1100" b="1" spc="100" kern="0" dirty="0">
                <a:solidFill>
                  <a:schemeClr val="accent6"/>
                </a:solidFill>
              </a:rPr>
              <a:t>RANK</a:t>
            </a:r>
            <a:endParaRPr lang="en-US" sz="1100" dirty="0"/>
          </a:p>
        </p:txBody>
      </p:sp>
      <p:sp>
        <p:nvSpPr>
          <p:cNvPr id="23" name="rank 0"/>
          <p:cNvSpPr/>
          <p:nvPr/>
        </p:nvSpPr>
        <p:spPr>
          <a:xfrm>
            <a:off x="1234440" y="5715000"/>
            <a:ext cx="1687754" cy="502920"/>
          </a:xfrm>
          <a:prstGeom prst="roundRect">
            <a:avLst>
              <a:gd name="adj" fmla="val 18182"/>
            </a:avLst>
          </a:prstGeom>
          <a:solidFill>
            <a:schemeClr val="bg2"/>
          </a:solidFill>
          <a:ln/>
        </p:spPr>
      </p:sp>
      <p:sp>
        <p:nvSpPr>
          <p:cNvPr id="24" name="Text 18"/>
          <p:cNvSpPr txBox="1"/>
          <p:nvPr/>
        </p:nvSpPr>
        <p:spPr>
          <a:xfrm>
            <a:off x="1417320" y="5715000"/>
            <a:ext cx="1413434" cy="50292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0  </a:t>
            </a:r>
            <a:pPr indent="0" marL="0">
              <a:buNone/>
            </a:pPr>
            <a:r>
              <a:rPr lang="en-US" sz="1500" dirty="0">
                <a:solidFill>
                  <a:schemeClr val="tx1"/>
                </a:solidFill>
              </a:rPr>
              <a:t>molecule</a:t>
            </a:r>
            <a:endParaRPr lang="en-US" sz="2200" dirty="0"/>
          </a:p>
        </p:txBody>
      </p:sp>
      <p:sp>
        <p:nvSpPr>
          <p:cNvPr id="25" name="rank 1"/>
          <p:cNvSpPr/>
          <p:nvPr/>
        </p:nvSpPr>
        <p:spPr>
          <a:xfrm>
            <a:off x="3105074" y="5715000"/>
            <a:ext cx="1687754" cy="502920"/>
          </a:xfrm>
          <a:prstGeom prst="roundRect">
            <a:avLst>
              <a:gd name="adj" fmla="val 18182"/>
            </a:avLst>
          </a:prstGeom>
          <a:solidFill>
            <a:schemeClr val="bg2"/>
          </a:solidFill>
          <a:ln/>
        </p:spPr>
      </p:sp>
      <p:sp>
        <p:nvSpPr>
          <p:cNvPr id="26" name="Text 20"/>
          <p:cNvSpPr txBox="1"/>
          <p:nvPr/>
        </p:nvSpPr>
        <p:spPr>
          <a:xfrm>
            <a:off x="3287954" y="5715000"/>
            <a:ext cx="1413434" cy="50292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1  </a:t>
            </a:r>
            <a:pPr indent="0" marL="0">
              <a:buNone/>
            </a:pPr>
            <a:r>
              <a:rPr lang="en-US" sz="1500" dirty="0">
                <a:solidFill>
                  <a:schemeClr val="tx1"/>
                </a:solidFill>
              </a:rPr>
              <a:t>chain</a:t>
            </a:r>
            <a:endParaRPr lang="en-US" sz="2200" dirty="0"/>
          </a:p>
        </p:txBody>
      </p:sp>
      <p:sp>
        <p:nvSpPr>
          <p:cNvPr id="27" name="rank 2"/>
          <p:cNvSpPr/>
          <p:nvPr/>
        </p:nvSpPr>
        <p:spPr>
          <a:xfrm>
            <a:off x="4975708" y="5715000"/>
            <a:ext cx="1687754" cy="502920"/>
          </a:xfrm>
          <a:prstGeom prst="roundRect">
            <a:avLst>
              <a:gd name="adj" fmla="val 18182"/>
            </a:avLst>
          </a:prstGeom>
          <a:solidFill>
            <a:schemeClr val="bg2"/>
          </a:solidFill>
          <a:ln/>
        </p:spPr>
      </p:sp>
      <p:sp>
        <p:nvSpPr>
          <p:cNvPr id="28" name="Text 22"/>
          <p:cNvSpPr txBox="1"/>
          <p:nvPr/>
        </p:nvSpPr>
        <p:spPr>
          <a:xfrm>
            <a:off x="5158588" y="5715000"/>
            <a:ext cx="1413434" cy="50292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2  </a:t>
            </a:r>
            <a:pPr indent="0" marL="0">
              <a:buNone/>
            </a:pPr>
            <a:r>
              <a:rPr lang="en-US" sz="1500" dirty="0">
                <a:solidFill>
                  <a:schemeClr val="tx1"/>
                </a:solidFill>
              </a:rPr>
              <a:t>layer</a:t>
            </a:r>
            <a:endParaRPr lang="en-US" sz="2200" dirty="0"/>
          </a:p>
        </p:txBody>
      </p:sp>
      <p:sp>
        <p:nvSpPr>
          <p:cNvPr id="29" name="rank 3"/>
          <p:cNvSpPr/>
          <p:nvPr/>
        </p:nvSpPr>
        <p:spPr>
          <a:xfrm>
            <a:off x="6846341" y="5715000"/>
            <a:ext cx="1687754" cy="502920"/>
          </a:xfrm>
          <a:prstGeom prst="roundRect">
            <a:avLst>
              <a:gd name="adj" fmla="val 18182"/>
            </a:avLst>
          </a:prstGeom>
          <a:solidFill>
            <a:schemeClr val="bg2"/>
          </a:solidFill>
          <a:ln/>
        </p:spPr>
      </p:sp>
      <p:sp>
        <p:nvSpPr>
          <p:cNvPr id="30" name="Text 24"/>
          <p:cNvSpPr txBox="1"/>
          <p:nvPr/>
        </p:nvSpPr>
        <p:spPr>
          <a:xfrm>
            <a:off x="7029221" y="5715000"/>
            <a:ext cx="1413434" cy="50292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3  </a:t>
            </a:r>
            <a:pPr indent="0" marL="0">
              <a:buNone/>
            </a:pPr>
            <a:r>
              <a:rPr lang="en-US" sz="1500" dirty="0">
                <a:solidFill>
                  <a:schemeClr val="tx1"/>
                </a:solidFill>
              </a:rPr>
              <a:t>framework</a:t>
            </a:r>
            <a:endParaRPr lang="en-US" sz="2200" dirty="0"/>
          </a:p>
        </p:txBody>
      </p:sp>
      <p:sp>
        <p:nvSpPr>
          <p:cNvPr id="31" name="Text 25"/>
          <p:cNvSpPr txBox="1"/>
          <p:nvPr/>
        </p:nvSpPr>
        <p:spPr>
          <a:xfrm>
            <a:off x="8716975" y="5715000"/>
            <a:ext cx="2926080" cy="502920"/>
          </a:xfrm>
          <a:prstGeom prst="rect">
            <a:avLst/>
          </a:prstGeom>
          <a:noFill/>
          <a:ln/>
        </p:spPr>
        <p:txBody>
          <a:bodyPr wrap="square" lIns="0" tIns="0" rIns="0" bIns="0" rtlCol="0" anchor="ctr"/>
          <a:lstStyle/>
          <a:p>
            <a:pPr indent="0" marL="0">
              <a:buNone/>
            </a:pPr>
            <a:r>
              <a:rPr lang="en-US" sz="1300" dirty="0">
                <a:solidFill>
                  <a:schemeClr val="accent6"/>
                </a:solidFill>
                <a:latin typeface="Courier New" pitchFamily="34" charset="0"/>
                <a:ea typeface="Courier New" pitchFamily="34" charset="-122"/>
                <a:cs typeface="Courier New" pitchFamily="34" charset="-120"/>
              </a:rPr>
              <a:t>copies</a:t>
            </a:r>
            <a:pPr indent="0" marL="0">
              <a:buNone/>
            </a:pPr>
            <a:r>
              <a:rPr lang="en-US" sz="1400" dirty="0">
                <a:solidFill>
                  <a:schemeClr val="accent6"/>
                </a:solidFill>
              </a:rPr>
              <a:t>: the degree of interpenetration</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Structure: pieces and weak points</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Recommended by both literature surveys. Both answers prove themselves on request, from the records alone.</a:t>
            </a:r>
            <a:endParaRPr lang="en-US" sz="1600" dirty="0"/>
          </a:p>
        </p:txBody>
      </p:sp>
      <p:sp>
        <p:nvSpPr>
          <p:cNvPr id="4" name="operation components"/>
          <p:cNvSpPr/>
          <p:nvPr/>
        </p:nvSpPr>
        <p:spPr>
          <a:xfrm>
            <a:off x="548640" y="1691640"/>
            <a:ext cx="5410048" cy="4526280"/>
          </a:xfrm>
          <a:prstGeom prst="roundRect">
            <a:avLst>
              <a:gd name="adj" fmla="val 2020"/>
            </a:avLst>
          </a:prstGeom>
          <a:solidFill>
            <a:schemeClr val="bg2"/>
          </a:solidFill>
          <a:ln/>
        </p:spPr>
      </p:sp>
      <p:sp>
        <p:nvSpPr>
          <p:cNvPr id="5" name="icon components"/>
          <p:cNvSpPr/>
          <p:nvPr/>
        </p:nvSpPr>
        <p:spPr>
          <a:xfrm>
            <a:off x="749808" y="1892808"/>
            <a:ext cx="512064" cy="512064"/>
          </a:xfrm>
          <a:prstGeom prst="ellipse">
            <a:avLst/>
          </a:prstGeom>
          <a:solidFill>
            <a:schemeClr val="accent1"/>
          </a:solidFill>
          <a:ln/>
        </p:spPr>
      </p:sp>
      <p:pic>
        <p:nvPicPr>
          <p:cNvPr id="6" name="Image 0" descr="components">    </p:cNvPr>
          <p:cNvPicPr>
            <a:picLocks noChangeAspect="1"/>
          </p:cNvPicPr>
          <p:nvPr/>
        </p:nvPicPr>
        <p:blipFill>
          <a:blip r:embed="rId1"/>
          <a:stretch>
            <a:fillRect/>
          </a:stretch>
        </p:blipFill>
        <p:spPr>
          <a:xfrm>
            <a:off x="862462" y="2005462"/>
            <a:ext cx="286756" cy="286756"/>
          </a:xfrm>
          <a:prstGeom prst="rect">
            <a:avLst/>
          </a:prstGeom>
        </p:spPr>
      </p:pic>
      <p:sp>
        <p:nvSpPr>
          <p:cNvPr id="7" name="Text 4"/>
          <p:cNvSpPr txBox="1"/>
          <p:nvPr/>
        </p:nvSpPr>
        <p:spPr>
          <a:xfrm>
            <a:off x="1408176" y="1874520"/>
            <a:ext cx="4349344" cy="54864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components</a:t>
            </a:r>
            <a:endParaRPr lang="en-US" sz="1500" dirty="0"/>
          </a:p>
          <a:p>
            <a:pPr indent="0" marL="0">
              <a:buNone/>
            </a:pPr>
            <a:r>
              <a:rPr lang="en-US" sz="1500" b="1" dirty="0">
                <a:solidFill>
                  <a:schemeClr val="tx1"/>
                </a:solidFill>
              </a:rPr>
              <a:t>How a graph falls into pieces</a:t>
            </a:r>
            <a:endParaRPr lang="en-US" sz="1500" dirty="0"/>
          </a:p>
        </p:txBody>
      </p:sp>
      <p:sp>
        <p:nvSpPr>
          <p:cNvPr id="8" name="Text 5"/>
          <p:cNvSpPr txBox="1"/>
          <p:nvPr/>
        </p:nvSpPr>
        <p:spPr>
          <a:xfrm>
            <a:off x="749808" y="2569464"/>
            <a:ext cx="5007712" cy="2164842"/>
          </a:xfrm>
          <a:prstGeom prst="rect">
            <a:avLst/>
          </a:prstGeom>
          <a:noFill/>
          <a:ln/>
        </p:spPr>
        <p:txBody>
          <a:bodyPr wrap="square" lIns="0" tIns="0" rIns="0" bIns="0" rtlCol="0" anchor="t"/>
          <a:lstStyle/>
          <a:p>
            <a:pPr indent="0" marL="0">
              <a:spcAft>
                <a:spcPts val="900"/>
              </a:spcAft>
              <a:buNone/>
            </a:pPr>
            <a:r>
              <a:rPr lang="en-US" sz="1500" b="1" dirty="0">
                <a:solidFill>
                  <a:schemeClr val="accent1"/>
                </a:solidFill>
              </a:rPr>
              <a:t>Theory. </a:t>
            </a:r>
            <a:pPr indent="0" marL="0">
              <a:spcAft>
                <a:spcPts val="900"/>
              </a:spcAft>
              <a:buNone/>
            </a:pPr>
            <a:r>
              <a:rPr lang="en-US" sz="1500" dirty="0">
                <a:solidFill>
                  <a:schemeClr val="tx1"/>
                </a:solidFill>
              </a:rPr>
              <a:t>Weak (hops either way: fragments) or strong (a walk each way: feedback loops, circular derivations), flagged initial, terminal and cyclic. A terminal class is one a walk never leaves.</a:t>
            </a:r>
            <a:endParaRPr lang="en-US" sz="1500" dirty="0"/>
          </a:p>
          <a:p>
            <a:pPr indent="0" marL="0">
              <a:buNone/>
            </a:pPr>
            <a:r>
              <a:rPr lang="en-US" sz="1500" b="1" dirty="0">
                <a:solidFill>
                  <a:schemeClr val="accent1"/>
                </a:solidFill>
              </a:rPr>
              <a:t>Algorithm. </a:t>
            </a:r>
            <a:pPr indent="0" marL="0">
              <a:buNone/>
            </a:pPr>
            <a:r>
              <a:rPr lang="en-US" sz="1500" dirty="0">
                <a:solidFill>
                  <a:schemeClr val="tx1"/>
                </a:solidFill>
              </a:rPr>
              <a:t>Breadth-first search (weak) or Tarjan's depth-first search (1972) for strong components. Linear time.</a:t>
            </a:r>
            <a:endParaRPr lang="en-US" sz="1500" dirty="0"/>
          </a:p>
        </p:txBody>
      </p:sp>
      <p:sp>
        <p:nvSpPr>
          <p:cNvPr id="9" name="proof components"/>
          <p:cNvSpPr/>
          <p:nvPr/>
        </p:nvSpPr>
        <p:spPr>
          <a:xfrm>
            <a:off x="694944" y="4807458"/>
            <a:ext cx="5117440" cy="1209294"/>
          </a:xfrm>
          <a:prstGeom prst="roundRect">
            <a:avLst>
              <a:gd name="adj" fmla="val 6049"/>
            </a:avLst>
          </a:prstGeom>
          <a:solidFill>
            <a:schemeClr val="bg1"/>
          </a:solidFill>
          <a:ln w="15875">
            <a:solidFill>
              <a:schemeClr val="accent1"/>
            </a:solidFill>
            <a:prstDash val="solid"/>
          </a:ln>
        </p:spPr>
      </p:sp>
      <p:pic>
        <p:nvPicPr>
          <p:cNvPr id="10" name="Image 1" descr="certificate">    </p:cNvPr>
          <p:cNvPicPr>
            <a:picLocks noChangeAspect="1"/>
          </p:cNvPicPr>
          <p:nvPr/>
        </p:nvPicPr>
        <p:blipFill>
          <a:blip r:embed="rId2"/>
          <a:stretch>
            <a:fillRect/>
          </a:stretch>
        </p:blipFill>
        <p:spPr>
          <a:xfrm>
            <a:off x="804672" y="4898898"/>
            <a:ext cx="246888" cy="246888"/>
          </a:xfrm>
          <a:prstGeom prst="rect">
            <a:avLst/>
          </a:prstGeom>
        </p:spPr>
      </p:pic>
      <p:sp>
        <p:nvSpPr>
          <p:cNvPr id="11" name="Text 7"/>
          <p:cNvSpPr txBox="1"/>
          <p:nvPr/>
        </p:nvSpPr>
        <p:spPr>
          <a:xfrm>
            <a:off x="1133856" y="4898898"/>
            <a:ext cx="4550512"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CERTIFICATE PROVES</a:t>
            </a:r>
            <a:endParaRPr lang="en-US" sz="1100" dirty="0"/>
          </a:p>
        </p:txBody>
      </p:sp>
      <p:sp>
        <p:nvSpPr>
          <p:cNvPr id="12" name="Text 8"/>
          <p:cNvSpPr txBox="1"/>
          <p:nvPr/>
        </p:nvSpPr>
        <p:spPr>
          <a:xfrm>
            <a:off x="804672" y="5191506"/>
            <a:ext cx="4897984" cy="752094"/>
          </a:xfrm>
          <a:prstGeom prst="rect">
            <a:avLst/>
          </a:prstGeom>
          <a:noFill/>
          <a:ln/>
        </p:spPr>
        <p:txBody>
          <a:bodyPr wrap="square" lIns="0" tIns="0" rIns="0" bIns="0" rtlCol="0" anchor="t"/>
          <a:lstStyle/>
          <a:p>
            <a:pPr indent="0" marL="0">
              <a:buNone/>
            </a:pPr>
            <a:r>
              <a:rPr lang="en-US" sz="1500" dirty="0">
                <a:solidFill>
                  <a:schemeClr val="tx1"/>
                </a:solidFill>
              </a:rPr>
              <a:t>Spanning trees prove each listed component connected (strong: one out, one in); a closed partition in topological order proves nothing outside belongs with it.</a:t>
            </a:r>
            <a:endParaRPr lang="en-US" sz="1500" dirty="0"/>
          </a:p>
        </p:txBody>
      </p:sp>
      <p:sp>
        <p:nvSpPr>
          <p:cNvPr id="13" name="operation biconnectivity"/>
          <p:cNvSpPr/>
          <p:nvPr/>
        </p:nvSpPr>
        <p:spPr>
          <a:xfrm>
            <a:off x="6233008" y="1691640"/>
            <a:ext cx="5410048" cy="4526280"/>
          </a:xfrm>
          <a:prstGeom prst="roundRect">
            <a:avLst>
              <a:gd name="adj" fmla="val 2020"/>
            </a:avLst>
          </a:prstGeom>
          <a:solidFill>
            <a:schemeClr val="bg2"/>
          </a:solidFill>
          <a:ln/>
        </p:spPr>
      </p:sp>
      <p:sp>
        <p:nvSpPr>
          <p:cNvPr id="14" name="icon biconnectivity"/>
          <p:cNvSpPr/>
          <p:nvPr/>
        </p:nvSpPr>
        <p:spPr>
          <a:xfrm>
            <a:off x="6434176" y="1892808"/>
            <a:ext cx="512064" cy="512064"/>
          </a:xfrm>
          <a:prstGeom prst="ellipse">
            <a:avLst/>
          </a:prstGeom>
          <a:solidFill>
            <a:schemeClr val="accent1"/>
          </a:solidFill>
          <a:ln/>
        </p:spPr>
      </p:sp>
      <p:pic>
        <p:nvPicPr>
          <p:cNvPr id="15" name="Image 2" descr="biconnectivity">    </p:cNvPr>
          <p:cNvPicPr>
            <a:picLocks noChangeAspect="1"/>
          </p:cNvPicPr>
          <p:nvPr/>
        </p:nvPicPr>
        <p:blipFill>
          <a:blip r:embed="rId3"/>
          <a:stretch>
            <a:fillRect/>
          </a:stretch>
        </p:blipFill>
        <p:spPr>
          <a:xfrm>
            <a:off x="6546830" y="2005462"/>
            <a:ext cx="286756" cy="286756"/>
          </a:xfrm>
          <a:prstGeom prst="rect">
            <a:avLst/>
          </a:prstGeom>
        </p:spPr>
      </p:pic>
      <p:sp>
        <p:nvSpPr>
          <p:cNvPr id="16" name="Text 11"/>
          <p:cNvSpPr txBox="1"/>
          <p:nvPr/>
        </p:nvSpPr>
        <p:spPr>
          <a:xfrm>
            <a:off x="7092544" y="1874520"/>
            <a:ext cx="4349344" cy="54864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biconnectivity</a:t>
            </a:r>
            <a:endParaRPr lang="en-US" sz="1500" dirty="0"/>
          </a:p>
          <a:p>
            <a:pPr indent="0" marL="0">
              <a:buNone/>
            </a:pPr>
            <a:r>
              <a:rPr lang="en-US" sz="1500" b="1" dirty="0">
                <a:solidFill>
                  <a:schemeClr val="tx1"/>
                </a:solidFill>
              </a:rPr>
              <a:t>Where a single failure splits a structure</a:t>
            </a:r>
            <a:endParaRPr lang="en-US" sz="1500" dirty="0"/>
          </a:p>
        </p:txBody>
      </p:sp>
      <p:sp>
        <p:nvSpPr>
          <p:cNvPr id="17" name="Text 12"/>
          <p:cNvSpPr txBox="1"/>
          <p:nvPr/>
        </p:nvSpPr>
        <p:spPr>
          <a:xfrm>
            <a:off x="6434176" y="2569464"/>
            <a:ext cx="5007712" cy="2164842"/>
          </a:xfrm>
          <a:prstGeom prst="rect">
            <a:avLst/>
          </a:prstGeom>
          <a:noFill/>
          <a:ln/>
        </p:spPr>
        <p:txBody>
          <a:bodyPr wrap="square" lIns="0" tIns="0" rIns="0" bIns="0" rtlCol="0" anchor="t"/>
          <a:lstStyle/>
          <a:p>
            <a:pPr indent="0" marL="0">
              <a:spcAft>
                <a:spcPts val="900"/>
              </a:spcAft>
              <a:buNone/>
            </a:pPr>
            <a:r>
              <a:rPr lang="en-US" sz="1500" b="1" dirty="0">
                <a:solidFill>
                  <a:schemeClr val="accent1"/>
                </a:solidFill>
              </a:rPr>
              <a:t>Theory. </a:t>
            </a:r>
            <a:pPr indent="0" marL="0">
              <a:spcAft>
                <a:spcPts val="900"/>
              </a:spcAft>
              <a:buNone/>
            </a:pPr>
            <a:r>
              <a:rPr lang="en-US" sz="1500" dirty="0">
                <a:solidFill>
                  <a:schemeClr val="tx1"/>
                </a:solidFill>
              </a:rPr>
              <a:t>Articulation points (with the pieces each leaves), bridges and blocks. Parallel edges are distinct links, so two between the same nodes are never bridges.</a:t>
            </a:r>
            <a:endParaRPr lang="en-US" sz="1500" dirty="0"/>
          </a:p>
          <a:p>
            <a:pPr indent="0" marL="0">
              <a:buNone/>
            </a:pPr>
            <a:r>
              <a:rPr lang="en-US" sz="1500" b="1" dirty="0">
                <a:solidFill>
                  <a:schemeClr val="accent1"/>
                </a:solidFill>
              </a:rPr>
              <a:t>Algorithm. </a:t>
            </a:r>
            <a:pPr indent="0" marL="0">
              <a:buNone/>
            </a:pPr>
            <a:r>
              <a:rPr lang="en-US" sz="1500" dirty="0">
                <a:solidFill>
                  <a:schemeClr val="tx1"/>
                </a:solidFill>
              </a:rPr>
              <a:t>One depth-first search with low points (Hopcroft and Tarjan, 1973). Linear time.</a:t>
            </a:r>
            <a:endParaRPr lang="en-US" sz="1500" dirty="0"/>
          </a:p>
        </p:txBody>
      </p:sp>
      <p:sp>
        <p:nvSpPr>
          <p:cNvPr id="18" name="proof biconnectivity"/>
          <p:cNvSpPr/>
          <p:nvPr/>
        </p:nvSpPr>
        <p:spPr>
          <a:xfrm>
            <a:off x="6379312" y="4807458"/>
            <a:ext cx="5117440" cy="1209294"/>
          </a:xfrm>
          <a:prstGeom prst="roundRect">
            <a:avLst>
              <a:gd name="adj" fmla="val 6049"/>
            </a:avLst>
          </a:prstGeom>
          <a:solidFill>
            <a:schemeClr val="bg1"/>
          </a:solidFill>
          <a:ln w="15875">
            <a:solidFill>
              <a:schemeClr val="accent1"/>
            </a:solidFill>
            <a:prstDash val="solid"/>
          </a:ln>
        </p:spPr>
      </p:sp>
      <p:pic>
        <p:nvPicPr>
          <p:cNvPr id="19" name="Image 3" descr="certificate">    </p:cNvPr>
          <p:cNvPicPr>
            <a:picLocks noChangeAspect="1"/>
          </p:cNvPicPr>
          <p:nvPr/>
        </p:nvPicPr>
        <p:blipFill>
          <a:blip r:embed="rId4"/>
          <a:stretch>
            <a:fillRect/>
          </a:stretch>
        </p:blipFill>
        <p:spPr>
          <a:xfrm>
            <a:off x="6489040" y="4898898"/>
            <a:ext cx="246888" cy="246888"/>
          </a:xfrm>
          <a:prstGeom prst="rect">
            <a:avLst/>
          </a:prstGeom>
        </p:spPr>
      </p:pic>
      <p:sp>
        <p:nvSpPr>
          <p:cNvPr id="20" name="Text 14"/>
          <p:cNvSpPr txBox="1"/>
          <p:nvPr/>
        </p:nvSpPr>
        <p:spPr>
          <a:xfrm>
            <a:off x="6818224" y="4898898"/>
            <a:ext cx="4550512"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CERTIFICATE PROVES</a:t>
            </a:r>
            <a:endParaRPr lang="en-US" sz="1100" dirty="0"/>
          </a:p>
        </p:txBody>
      </p:sp>
      <p:sp>
        <p:nvSpPr>
          <p:cNvPr id="21" name="Text 15"/>
          <p:cNvSpPr txBox="1"/>
          <p:nvPr/>
        </p:nvSpPr>
        <p:spPr>
          <a:xfrm>
            <a:off x="6489040" y="5191506"/>
            <a:ext cx="4897984" cy="752094"/>
          </a:xfrm>
          <a:prstGeom prst="rect">
            <a:avLst/>
          </a:prstGeom>
          <a:noFill/>
          <a:ln/>
        </p:spPr>
        <p:txBody>
          <a:bodyPr wrap="square" lIns="0" tIns="0" rIns="0" bIns="0" rtlCol="0" anchor="t"/>
          <a:lstStyle/>
          <a:p>
            <a:pPr indent="0" marL="0">
              <a:buNone/>
            </a:pPr>
            <a:r>
              <a:rPr lang="en-US" sz="1500" dirty="0">
                <a:solidFill>
                  <a:schemeClr val="tx1"/>
                </a:solidFill>
              </a:rPr>
              <a:t>The depth-first forest: a checker confirms it is one, recomputes every low point from the records, and each claim follows.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Structure: backbones and rings</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Links read undirected: the lightest forest that connects every piece, and the lightest rings that generate every cycle.</a:t>
            </a:r>
            <a:endParaRPr lang="en-US" sz="1600" dirty="0"/>
          </a:p>
        </p:txBody>
      </p:sp>
      <p:sp>
        <p:nvSpPr>
          <p:cNvPr id="4" name="operation spanning_forest"/>
          <p:cNvSpPr/>
          <p:nvPr/>
        </p:nvSpPr>
        <p:spPr>
          <a:xfrm>
            <a:off x="548640" y="1691640"/>
            <a:ext cx="5410048" cy="4526280"/>
          </a:xfrm>
          <a:prstGeom prst="roundRect">
            <a:avLst>
              <a:gd name="adj" fmla="val 2020"/>
            </a:avLst>
          </a:prstGeom>
          <a:solidFill>
            <a:schemeClr val="bg2"/>
          </a:solidFill>
          <a:ln/>
        </p:spPr>
      </p:sp>
      <p:sp>
        <p:nvSpPr>
          <p:cNvPr id="5" name="icon spanning_forest"/>
          <p:cNvSpPr/>
          <p:nvPr/>
        </p:nvSpPr>
        <p:spPr>
          <a:xfrm>
            <a:off x="749808" y="1892808"/>
            <a:ext cx="512064" cy="512064"/>
          </a:xfrm>
          <a:prstGeom prst="ellipse">
            <a:avLst/>
          </a:prstGeom>
          <a:solidFill>
            <a:schemeClr val="accent1"/>
          </a:solidFill>
          <a:ln/>
        </p:spPr>
      </p:sp>
      <p:pic>
        <p:nvPicPr>
          <p:cNvPr id="6" name="Image 0" descr="spanning_forest">    </p:cNvPr>
          <p:cNvPicPr>
            <a:picLocks noChangeAspect="1"/>
          </p:cNvPicPr>
          <p:nvPr/>
        </p:nvPicPr>
        <p:blipFill>
          <a:blip r:embed="rId1"/>
          <a:stretch>
            <a:fillRect/>
          </a:stretch>
        </p:blipFill>
        <p:spPr>
          <a:xfrm>
            <a:off x="862462" y="2005462"/>
            <a:ext cx="286756" cy="286756"/>
          </a:xfrm>
          <a:prstGeom prst="rect">
            <a:avLst/>
          </a:prstGeom>
        </p:spPr>
      </p:pic>
      <p:sp>
        <p:nvSpPr>
          <p:cNvPr id="7" name="Text 4"/>
          <p:cNvSpPr txBox="1"/>
          <p:nvPr/>
        </p:nvSpPr>
        <p:spPr>
          <a:xfrm>
            <a:off x="1408176" y="1874520"/>
            <a:ext cx="4349344" cy="54864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spanning_forest</a:t>
            </a:r>
            <a:endParaRPr lang="en-US" sz="1500" dirty="0"/>
          </a:p>
          <a:p>
            <a:pPr indent="0" marL="0">
              <a:buNone/>
            </a:pPr>
            <a:r>
              <a:rPr lang="en-US" sz="1500" b="1" dirty="0">
                <a:solidFill>
                  <a:schemeClr val="tx1"/>
                </a:solidFill>
              </a:rPr>
              <a:t>Backbones, single-linkage clusters</a:t>
            </a:r>
            <a:endParaRPr lang="en-US" sz="1500" dirty="0"/>
          </a:p>
        </p:txBody>
      </p:sp>
      <p:sp>
        <p:nvSpPr>
          <p:cNvPr id="8" name="Text 5"/>
          <p:cNvSpPr txBox="1"/>
          <p:nvPr/>
        </p:nvSpPr>
        <p:spPr>
          <a:xfrm>
            <a:off x="749808" y="2569464"/>
            <a:ext cx="5007712" cy="2164842"/>
          </a:xfrm>
          <a:prstGeom prst="rect">
            <a:avLst/>
          </a:prstGeom>
          <a:noFill/>
          <a:ln/>
        </p:spPr>
        <p:txBody>
          <a:bodyPr wrap="square" lIns="0" tIns="0" rIns="0" bIns="0" rtlCol="0" anchor="t"/>
          <a:lstStyle/>
          <a:p>
            <a:pPr indent="0" marL="0">
              <a:spcAft>
                <a:spcPts val="900"/>
              </a:spcAft>
              <a:buNone/>
            </a:pPr>
            <a:r>
              <a:rPr lang="en-US" sz="1500" b="1" dirty="0">
                <a:solidFill>
                  <a:schemeClr val="accent1"/>
                </a:solidFill>
              </a:rPr>
              <a:t>Theory. </a:t>
            </a:r>
            <a:pPr indent="0" marL="0">
              <a:spcAft>
                <a:spcPts val="900"/>
              </a:spcAft>
              <a:buNone/>
            </a:pPr>
            <a:r>
              <a:rPr lang="en-US" sz="1500" dirty="0">
                <a:solidFill>
                  <a:schemeClr val="tx1"/>
                </a:solidFill>
              </a:rPr>
              <a:t>The minimum (or maximum) spanning forest: one tree per connected piece, each link read either way. Weights are any finite numbers, exact; ties go to the smaller edge ID.</a:t>
            </a:r>
            <a:endParaRPr lang="en-US" sz="1500" dirty="0"/>
          </a:p>
          <a:p>
            <a:pPr indent="0" marL="0">
              <a:buNone/>
            </a:pPr>
            <a:r>
              <a:rPr lang="en-US" sz="1500" b="1" dirty="0">
                <a:solidFill>
                  <a:schemeClr val="accent1"/>
                </a:solidFill>
              </a:rPr>
              <a:t>Algorithm. </a:t>
            </a:r>
            <a:pPr indent="0" marL="0">
              <a:buNone/>
            </a:pPr>
            <a:r>
              <a:rPr lang="en-US" sz="1500" dirty="0">
                <a:solidFill>
                  <a:schemeClr val="tx1"/>
                </a:solidFill>
              </a:rPr>
              <a:t>Kruskal (1956) with a union-find, taking the links in the order of (weight, edge ID): the forest is unique in that order.</a:t>
            </a:r>
            <a:endParaRPr lang="en-US" sz="1500" dirty="0"/>
          </a:p>
        </p:txBody>
      </p:sp>
      <p:sp>
        <p:nvSpPr>
          <p:cNvPr id="9" name="proof spanning_forest"/>
          <p:cNvSpPr/>
          <p:nvPr/>
        </p:nvSpPr>
        <p:spPr>
          <a:xfrm>
            <a:off x="694944" y="4807458"/>
            <a:ext cx="5117440" cy="1209294"/>
          </a:xfrm>
          <a:prstGeom prst="roundRect">
            <a:avLst>
              <a:gd name="adj" fmla="val 6049"/>
            </a:avLst>
          </a:prstGeom>
          <a:solidFill>
            <a:schemeClr val="bg1"/>
          </a:solidFill>
          <a:ln w="15875">
            <a:solidFill>
              <a:schemeClr val="accent1"/>
            </a:solidFill>
            <a:prstDash val="solid"/>
          </a:ln>
        </p:spPr>
      </p:sp>
      <p:pic>
        <p:nvPicPr>
          <p:cNvPr id="10" name="Image 1" descr="certificate">    </p:cNvPr>
          <p:cNvPicPr>
            <a:picLocks noChangeAspect="1"/>
          </p:cNvPicPr>
          <p:nvPr/>
        </p:nvPicPr>
        <p:blipFill>
          <a:blip r:embed="rId2"/>
          <a:stretch>
            <a:fillRect/>
          </a:stretch>
        </p:blipFill>
        <p:spPr>
          <a:xfrm>
            <a:off x="804672" y="4898898"/>
            <a:ext cx="246888" cy="246888"/>
          </a:xfrm>
          <a:prstGeom prst="rect">
            <a:avLst/>
          </a:prstGeom>
        </p:spPr>
      </p:pic>
      <p:sp>
        <p:nvSpPr>
          <p:cNvPr id="11" name="Text 7"/>
          <p:cNvSpPr txBox="1"/>
          <p:nvPr/>
        </p:nvSpPr>
        <p:spPr>
          <a:xfrm>
            <a:off x="1133856" y="4898898"/>
            <a:ext cx="4550512"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PROVES ITSELF BY</a:t>
            </a:r>
            <a:endParaRPr lang="en-US" sz="1100" dirty="0"/>
          </a:p>
        </p:txBody>
      </p:sp>
      <p:sp>
        <p:nvSpPr>
          <p:cNvPr id="12" name="Text 8"/>
          <p:cNvSpPr txBox="1"/>
          <p:nvPr/>
        </p:nvSpPr>
        <p:spPr>
          <a:xfrm>
            <a:off x="804672" y="5191506"/>
            <a:ext cx="4897984" cy="752094"/>
          </a:xfrm>
          <a:prstGeom prst="rect">
            <a:avLst/>
          </a:prstGeom>
          <a:noFill/>
          <a:ln/>
        </p:spPr>
        <p:txBody>
          <a:bodyPr wrap="square" lIns="0" tIns="0" rIns="0" bIns="0" rtlCol="0" anchor="t"/>
          <a:lstStyle/>
          <a:p>
            <a:pPr indent="0" marL="0">
              <a:buNone/>
            </a:pPr>
            <a:r>
              <a:rPr lang="en-US" sz="1500" dirty="0">
                <a:solidFill>
                  <a:schemeClr val="tx1"/>
                </a:solidFill>
              </a:rPr>
              <a:t>Tarjan's cycle property: no cycle, every piece spanned, and each link left out after every edge of its tree path (path maxima by binary lifting). Revalidation re-checks it.</a:t>
            </a:r>
            <a:endParaRPr lang="en-US" sz="1500" dirty="0"/>
          </a:p>
        </p:txBody>
      </p:sp>
      <p:sp>
        <p:nvSpPr>
          <p:cNvPr id="13" name="operation cycle_basis"/>
          <p:cNvSpPr/>
          <p:nvPr/>
        </p:nvSpPr>
        <p:spPr>
          <a:xfrm>
            <a:off x="6233008" y="1691640"/>
            <a:ext cx="5410048" cy="4526280"/>
          </a:xfrm>
          <a:prstGeom prst="roundRect">
            <a:avLst>
              <a:gd name="adj" fmla="val 2020"/>
            </a:avLst>
          </a:prstGeom>
          <a:solidFill>
            <a:schemeClr val="bg2"/>
          </a:solidFill>
          <a:ln/>
        </p:spPr>
      </p:sp>
      <p:sp>
        <p:nvSpPr>
          <p:cNvPr id="14" name="icon cycle_basis"/>
          <p:cNvSpPr/>
          <p:nvPr/>
        </p:nvSpPr>
        <p:spPr>
          <a:xfrm>
            <a:off x="6434176" y="1892808"/>
            <a:ext cx="512064" cy="512064"/>
          </a:xfrm>
          <a:prstGeom prst="ellipse">
            <a:avLst/>
          </a:prstGeom>
          <a:solidFill>
            <a:schemeClr val="accent1"/>
          </a:solidFill>
          <a:ln/>
        </p:spPr>
      </p:sp>
      <p:pic>
        <p:nvPicPr>
          <p:cNvPr id="15" name="Image 2" descr="cycle_basis">    </p:cNvPr>
          <p:cNvPicPr>
            <a:picLocks noChangeAspect="1"/>
          </p:cNvPicPr>
          <p:nvPr/>
        </p:nvPicPr>
        <p:blipFill>
          <a:blip r:embed="rId3"/>
          <a:stretch>
            <a:fillRect/>
          </a:stretch>
        </p:blipFill>
        <p:spPr>
          <a:xfrm>
            <a:off x="6546830" y="2005462"/>
            <a:ext cx="286756" cy="286756"/>
          </a:xfrm>
          <a:prstGeom prst="rect">
            <a:avLst/>
          </a:prstGeom>
        </p:spPr>
      </p:pic>
      <p:sp>
        <p:nvSpPr>
          <p:cNvPr id="16" name="Text 11"/>
          <p:cNvSpPr txBox="1"/>
          <p:nvPr/>
        </p:nvSpPr>
        <p:spPr>
          <a:xfrm>
            <a:off x="7092544" y="1874520"/>
            <a:ext cx="4349344" cy="54864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cycle_basis</a:t>
            </a:r>
            <a:endParaRPr lang="en-US" sz="1500" dirty="0"/>
          </a:p>
          <a:p>
            <a:pPr indent="0" marL="0">
              <a:buNone/>
            </a:pPr>
            <a:r>
              <a:rPr lang="en-US" sz="1500" b="1" dirty="0">
                <a:solidFill>
                  <a:schemeClr val="tx1"/>
                </a:solidFill>
              </a:rPr>
              <a:t>Ring perception: a minimum cycle basis</a:t>
            </a:r>
            <a:endParaRPr lang="en-US" sz="1500" dirty="0"/>
          </a:p>
        </p:txBody>
      </p:sp>
      <p:sp>
        <p:nvSpPr>
          <p:cNvPr id="17" name="Text 12"/>
          <p:cNvSpPr txBox="1"/>
          <p:nvPr/>
        </p:nvSpPr>
        <p:spPr>
          <a:xfrm>
            <a:off x="6434176" y="2569464"/>
            <a:ext cx="5007712" cy="2164842"/>
          </a:xfrm>
          <a:prstGeom prst="rect">
            <a:avLst/>
          </a:prstGeom>
          <a:noFill/>
          <a:ln/>
        </p:spPr>
        <p:txBody>
          <a:bodyPr wrap="square" lIns="0" tIns="0" rIns="0" bIns="0" rtlCol="0" anchor="t"/>
          <a:lstStyle/>
          <a:p>
            <a:pPr indent="0" marL="0">
              <a:spcAft>
                <a:spcPts val="900"/>
              </a:spcAft>
              <a:buNone/>
            </a:pPr>
            <a:r>
              <a:rPr lang="en-US" sz="1500" b="1" dirty="0">
                <a:solidFill>
                  <a:schemeClr val="accent1"/>
                </a:solidFill>
              </a:rPr>
              <a:t>Theory. </a:t>
            </a:r>
            <a:pPr indent="0" marL="0">
              <a:spcAft>
                <a:spcPts val="900"/>
              </a:spcAft>
              <a:buNone/>
            </a:pPr>
            <a:r>
              <a:rPr lang="en-US" sz="1500" dirty="0">
                <a:solidFill>
                  <a:schemeClr val="tx1"/>
                </a:solidFill>
              </a:rPr>
              <a:t>Rank (links − nodes + pieces) independent simple cycles of least total weight. With every link 1: chemistry's smallest set of smallest rings: naphthalene has two six-rings, cubane five four-rings.</a:t>
            </a:r>
            <a:endParaRPr lang="en-US" sz="1500" dirty="0"/>
          </a:p>
          <a:p>
            <a:pPr indent="0" marL="0">
              <a:buNone/>
            </a:pPr>
            <a:r>
              <a:rPr lang="en-US" sz="1500" b="1" dirty="0">
                <a:solidFill>
                  <a:schemeClr val="accent1"/>
                </a:solidFill>
              </a:rPr>
              <a:t>Algorithm. </a:t>
            </a:r>
            <a:pPr indent="0" marL="0">
              <a:buNone/>
            </a:pPr>
            <a:r>
              <a:rPr lang="en-US" sz="1500" dirty="0">
                <a:solidFill>
                  <a:schemeClr val="tx1"/>
                </a:solidFill>
              </a:rPr>
              <a:t>De Pina (1995; Kavitha et al., 2004): cycle i is a lightest cycle meeting witness S_i oddly, a shortest path in the parity graph; each later witness odd on it takes S_i in.</a:t>
            </a:r>
            <a:endParaRPr lang="en-US" sz="1500" dirty="0"/>
          </a:p>
        </p:txBody>
      </p:sp>
      <p:sp>
        <p:nvSpPr>
          <p:cNvPr id="18" name="proof cycle_basis"/>
          <p:cNvSpPr/>
          <p:nvPr/>
        </p:nvSpPr>
        <p:spPr>
          <a:xfrm>
            <a:off x="6379312" y="4807458"/>
            <a:ext cx="5117440" cy="1209294"/>
          </a:xfrm>
          <a:prstGeom prst="roundRect">
            <a:avLst>
              <a:gd name="adj" fmla="val 6049"/>
            </a:avLst>
          </a:prstGeom>
          <a:solidFill>
            <a:schemeClr val="bg1"/>
          </a:solidFill>
          <a:ln w="15875">
            <a:solidFill>
              <a:schemeClr val="accent1"/>
            </a:solidFill>
            <a:prstDash val="solid"/>
          </a:ln>
        </p:spPr>
      </p:sp>
      <p:pic>
        <p:nvPicPr>
          <p:cNvPr id="19" name="Image 3" descr="certificate">    </p:cNvPr>
          <p:cNvPicPr>
            <a:picLocks noChangeAspect="1"/>
          </p:cNvPicPr>
          <p:nvPr/>
        </p:nvPicPr>
        <p:blipFill>
          <a:blip r:embed="rId4"/>
          <a:stretch>
            <a:fillRect/>
          </a:stretch>
        </p:blipFill>
        <p:spPr>
          <a:xfrm>
            <a:off x="6489040" y="4898898"/>
            <a:ext cx="246888" cy="246888"/>
          </a:xfrm>
          <a:prstGeom prst="rect">
            <a:avLst/>
          </a:prstGeom>
        </p:spPr>
      </p:pic>
      <p:sp>
        <p:nvSpPr>
          <p:cNvPr id="20" name="Text 14"/>
          <p:cNvSpPr txBox="1"/>
          <p:nvPr/>
        </p:nvSpPr>
        <p:spPr>
          <a:xfrm>
            <a:off x="6818224" y="4898898"/>
            <a:ext cx="4550512"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CERTIFICATE PROVES</a:t>
            </a:r>
            <a:endParaRPr lang="en-US" sz="1100" dirty="0"/>
          </a:p>
        </p:txBody>
      </p:sp>
      <p:sp>
        <p:nvSpPr>
          <p:cNvPr id="21" name="Text 15"/>
          <p:cNvSpPr txBox="1"/>
          <p:nvPr/>
        </p:nvSpPr>
        <p:spPr>
          <a:xfrm>
            <a:off x="6489040" y="5191506"/>
            <a:ext cx="4897984" cy="752094"/>
          </a:xfrm>
          <a:prstGeom prst="rect">
            <a:avLst/>
          </a:prstGeom>
          <a:noFill/>
          <a:ln/>
        </p:spPr>
        <p:txBody>
          <a:bodyPr wrap="square" lIns="0" tIns="0" rIns="0" bIns="0" rtlCol="0" anchor="t"/>
          <a:lstStyle/>
          <a:p>
            <a:pPr indent="0" marL="0">
              <a:buNone/>
            </a:pPr>
            <a:r>
              <a:rPr lang="en-US" sz="1500" dirty="0">
                <a:solidFill>
                  <a:schemeClr val="tx1"/>
                </a:solidFill>
              </a:rPr>
              <a:t>The witnesses: cycle i is odd on witness i and every earlier cycle even, so the cycles are independent; a checker finds no lighter odd cycle, so the basis is minimum.</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Flows: throughput, cost and pairings</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Each answer is proven optimal by its dual: a minimum cut for a flow, potentials for its cost, a cover for a matching.</a:t>
            </a:r>
            <a:endParaRPr lang="en-US" sz="1600" dirty="0"/>
          </a:p>
        </p:txBody>
      </p:sp>
      <p:sp>
        <p:nvSpPr>
          <p:cNvPr id="4" name="operation max_flow"/>
          <p:cNvSpPr/>
          <p:nvPr/>
        </p:nvSpPr>
        <p:spPr>
          <a:xfrm>
            <a:off x="548640" y="1691640"/>
            <a:ext cx="3515258" cy="4526280"/>
          </a:xfrm>
          <a:prstGeom prst="roundRect">
            <a:avLst>
              <a:gd name="adj" fmla="val 2601"/>
            </a:avLst>
          </a:prstGeom>
          <a:solidFill>
            <a:schemeClr val="bg2"/>
          </a:solidFill>
          <a:ln/>
        </p:spPr>
      </p:sp>
      <p:sp>
        <p:nvSpPr>
          <p:cNvPr id="5" name="icon max_flow"/>
          <p:cNvSpPr/>
          <p:nvPr/>
        </p:nvSpPr>
        <p:spPr>
          <a:xfrm>
            <a:off x="749808" y="1892808"/>
            <a:ext cx="512064" cy="512064"/>
          </a:xfrm>
          <a:prstGeom prst="ellipse">
            <a:avLst/>
          </a:prstGeom>
          <a:solidFill>
            <a:schemeClr val="accent1"/>
          </a:solidFill>
          <a:ln/>
        </p:spPr>
      </p:sp>
      <p:pic>
        <p:nvPicPr>
          <p:cNvPr id="6" name="Image 0" descr="max_flow">    </p:cNvPr>
          <p:cNvPicPr>
            <a:picLocks noChangeAspect="1"/>
          </p:cNvPicPr>
          <p:nvPr/>
        </p:nvPicPr>
        <p:blipFill>
          <a:blip r:embed="rId1"/>
          <a:stretch>
            <a:fillRect/>
          </a:stretch>
        </p:blipFill>
        <p:spPr>
          <a:xfrm>
            <a:off x="862462" y="2005462"/>
            <a:ext cx="286756" cy="286756"/>
          </a:xfrm>
          <a:prstGeom prst="rect">
            <a:avLst/>
          </a:prstGeom>
        </p:spPr>
      </p:pic>
      <p:sp>
        <p:nvSpPr>
          <p:cNvPr id="7" name="Text 4"/>
          <p:cNvSpPr txBox="1"/>
          <p:nvPr/>
        </p:nvSpPr>
        <p:spPr>
          <a:xfrm>
            <a:off x="1408176" y="1874520"/>
            <a:ext cx="2454554" cy="693801"/>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max_flow</a:t>
            </a:r>
            <a:endParaRPr lang="en-US" sz="1500" dirty="0"/>
          </a:p>
          <a:p>
            <a:pPr indent="0" marL="0">
              <a:buNone/>
            </a:pPr>
            <a:r>
              <a:rPr lang="en-US" sz="1500" b="1" dirty="0">
                <a:solidFill>
                  <a:schemeClr val="tx1"/>
                </a:solidFill>
              </a:rPr>
              <a:t>Throughput, and the cut that limits it</a:t>
            </a:r>
            <a:endParaRPr lang="en-US" sz="1500" dirty="0"/>
          </a:p>
        </p:txBody>
      </p:sp>
      <p:sp>
        <p:nvSpPr>
          <p:cNvPr id="8" name="Text 5"/>
          <p:cNvSpPr txBox="1"/>
          <p:nvPr/>
        </p:nvSpPr>
        <p:spPr>
          <a:xfrm>
            <a:off x="749808" y="2714625"/>
            <a:ext cx="3112922" cy="2066163"/>
          </a:xfrm>
          <a:prstGeom prst="rect">
            <a:avLst/>
          </a:prstGeom>
          <a:noFill/>
          <a:ln/>
        </p:spPr>
        <p:txBody>
          <a:bodyPr wrap="square" lIns="0" tIns="0" rIns="0" bIns="0" rtlCol="0" anchor="t"/>
          <a:lstStyle/>
          <a:p>
            <a:pPr indent="0" marL="0">
              <a:spcAft>
                <a:spcPts val="840"/>
              </a:spcAft>
              <a:buNone/>
            </a:pPr>
            <a:r>
              <a:rPr lang="en-US" sz="1400" b="1" dirty="0">
                <a:solidFill>
                  <a:schemeClr val="accent1"/>
                </a:solidFill>
              </a:rPr>
              <a:t>Theory. </a:t>
            </a:r>
            <a:pPr indent="0" marL="0">
              <a:spcAft>
                <a:spcPts val="840"/>
              </a:spcAft>
              <a:buNone/>
            </a:pPr>
            <a:r>
              <a:rPr lang="en-US" sz="1400" dirty="0">
                <a:solidFill>
                  <a:schemeClr val="tx1"/>
                </a:solidFill>
              </a:rPr>
              <a:t>As much as the capacities let through from sources to targets (Ford and Fulkerson, 1956). Unit capacities count disjoint paths.</a:t>
            </a:r>
            <a:endParaRPr lang="en-US" sz="1400" dirty="0"/>
          </a:p>
          <a:p>
            <a:pPr indent="0" marL="0">
              <a:buNone/>
            </a:pPr>
            <a:r>
              <a:rPr lang="en-US" sz="1400" b="1" dirty="0">
                <a:solidFill>
                  <a:schemeClr val="accent1"/>
                </a:solidFill>
              </a:rPr>
              <a:t>Algorithm. </a:t>
            </a:r>
            <a:pPr indent="0" marL="0">
              <a:buNone/>
            </a:pPr>
            <a:r>
              <a:rPr lang="en-US" sz="1400" dirty="0">
                <a:solidFill>
                  <a:schemeClr val="tx1"/>
                </a:solidFill>
              </a:rPr>
              <a:t>Dinic (1970) in exact integers: breadth-first levels in the residual graph, then a blocking flow, built only where read.</a:t>
            </a:r>
            <a:endParaRPr lang="en-US" sz="1400" dirty="0"/>
          </a:p>
        </p:txBody>
      </p:sp>
      <p:sp>
        <p:nvSpPr>
          <p:cNvPr id="9" name="proof max_flow"/>
          <p:cNvSpPr/>
          <p:nvPr/>
        </p:nvSpPr>
        <p:spPr>
          <a:xfrm>
            <a:off x="694944" y="4853940"/>
            <a:ext cx="3222650" cy="1162812"/>
          </a:xfrm>
          <a:prstGeom prst="roundRect">
            <a:avLst>
              <a:gd name="adj" fmla="val 6291"/>
            </a:avLst>
          </a:prstGeom>
          <a:solidFill>
            <a:schemeClr val="bg1"/>
          </a:solidFill>
          <a:ln w="15875">
            <a:solidFill>
              <a:schemeClr val="accent1"/>
            </a:solidFill>
            <a:prstDash val="solid"/>
          </a:ln>
        </p:spPr>
      </p:sp>
      <p:pic>
        <p:nvPicPr>
          <p:cNvPr id="10" name="Image 1" descr="certificate">    </p:cNvPr>
          <p:cNvPicPr>
            <a:picLocks noChangeAspect="1"/>
          </p:cNvPicPr>
          <p:nvPr/>
        </p:nvPicPr>
        <p:blipFill>
          <a:blip r:embed="rId2"/>
          <a:stretch>
            <a:fillRect/>
          </a:stretch>
        </p:blipFill>
        <p:spPr>
          <a:xfrm>
            <a:off x="804672" y="4945380"/>
            <a:ext cx="246888" cy="246888"/>
          </a:xfrm>
          <a:prstGeom prst="rect">
            <a:avLst/>
          </a:prstGeom>
        </p:spPr>
      </p:pic>
      <p:sp>
        <p:nvSpPr>
          <p:cNvPr id="11" name="Text 7"/>
          <p:cNvSpPr txBox="1"/>
          <p:nvPr/>
        </p:nvSpPr>
        <p:spPr>
          <a:xfrm>
            <a:off x="1133856" y="4945380"/>
            <a:ext cx="2655722"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CERTIFICATE PROVES</a:t>
            </a:r>
            <a:endParaRPr lang="en-US" sz="1100" dirty="0"/>
          </a:p>
        </p:txBody>
      </p:sp>
      <p:sp>
        <p:nvSpPr>
          <p:cNvPr id="12" name="Text 8"/>
          <p:cNvSpPr txBox="1"/>
          <p:nvPr/>
        </p:nvSpPr>
        <p:spPr>
          <a:xfrm>
            <a:off x="804672" y="5237988"/>
            <a:ext cx="3003194" cy="705612"/>
          </a:xfrm>
          <a:prstGeom prst="rect">
            <a:avLst/>
          </a:prstGeom>
          <a:noFill/>
          <a:ln/>
        </p:spPr>
        <p:txBody>
          <a:bodyPr wrap="square" lIns="0" tIns="0" rIns="0" bIns="0" rtlCol="0" anchor="t"/>
          <a:lstStyle/>
          <a:p>
            <a:pPr indent="0" marL="0">
              <a:buNone/>
            </a:pPr>
            <a:r>
              <a:rPr lang="en-US" sz="1400" dirty="0">
                <a:solidFill>
                  <a:schemeClr val="tx1"/>
                </a:solidFill>
              </a:rPr>
              <a:t>The cut's source side: a checker confirms the flow and recomputes a cut of the same value, so both are optimal.</a:t>
            </a:r>
            <a:endParaRPr lang="en-US" sz="1400" dirty="0"/>
          </a:p>
        </p:txBody>
      </p:sp>
      <p:sp>
        <p:nvSpPr>
          <p:cNvPr id="13" name="operation min_cost_flow"/>
          <p:cNvSpPr/>
          <p:nvPr/>
        </p:nvSpPr>
        <p:spPr>
          <a:xfrm>
            <a:off x="4338218" y="1691640"/>
            <a:ext cx="3515258" cy="4526280"/>
          </a:xfrm>
          <a:prstGeom prst="roundRect">
            <a:avLst>
              <a:gd name="adj" fmla="val 2601"/>
            </a:avLst>
          </a:prstGeom>
          <a:solidFill>
            <a:schemeClr val="bg2"/>
          </a:solidFill>
          <a:ln/>
        </p:spPr>
      </p:sp>
      <p:sp>
        <p:nvSpPr>
          <p:cNvPr id="14" name="icon min_cost_flow"/>
          <p:cNvSpPr/>
          <p:nvPr/>
        </p:nvSpPr>
        <p:spPr>
          <a:xfrm>
            <a:off x="4539386" y="1892808"/>
            <a:ext cx="512064" cy="512064"/>
          </a:xfrm>
          <a:prstGeom prst="ellipse">
            <a:avLst/>
          </a:prstGeom>
          <a:solidFill>
            <a:schemeClr val="accent1"/>
          </a:solidFill>
          <a:ln/>
        </p:spPr>
      </p:sp>
      <p:pic>
        <p:nvPicPr>
          <p:cNvPr id="15" name="Image 2" descr="min_cost_flow">    </p:cNvPr>
          <p:cNvPicPr>
            <a:picLocks noChangeAspect="1"/>
          </p:cNvPicPr>
          <p:nvPr/>
        </p:nvPicPr>
        <p:blipFill>
          <a:blip r:embed="rId3"/>
          <a:stretch>
            <a:fillRect/>
          </a:stretch>
        </p:blipFill>
        <p:spPr>
          <a:xfrm>
            <a:off x="4652040" y="2005462"/>
            <a:ext cx="286756" cy="286756"/>
          </a:xfrm>
          <a:prstGeom prst="rect">
            <a:avLst/>
          </a:prstGeom>
        </p:spPr>
      </p:pic>
      <p:sp>
        <p:nvSpPr>
          <p:cNvPr id="16" name="Text 11"/>
          <p:cNvSpPr txBox="1"/>
          <p:nvPr/>
        </p:nvSpPr>
        <p:spPr>
          <a:xfrm>
            <a:off x="5197754" y="1874520"/>
            <a:ext cx="2454554" cy="54864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min_cost_flow</a:t>
            </a:r>
            <a:endParaRPr lang="en-US" sz="1500" dirty="0"/>
          </a:p>
          <a:p>
            <a:pPr indent="0" marL="0">
              <a:buNone/>
            </a:pPr>
            <a:r>
              <a:rPr lang="en-US" sz="1500" b="1" dirty="0">
                <a:solidFill>
                  <a:schemeClr val="tx1"/>
                </a:solidFill>
              </a:rPr>
              <a:t>A throughput at least cost</a:t>
            </a:r>
            <a:endParaRPr lang="en-US" sz="1500" dirty="0"/>
          </a:p>
        </p:txBody>
      </p:sp>
      <p:sp>
        <p:nvSpPr>
          <p:cNvPr id="17" name="Text 12"/>
          <p:cNvSpPr txBox="1"/>
          <p:nvPr/>
        </p:nvSpPr>
        <p:spPr>
          <a:xfrm>
            <a:off x="4539386" y="2569464"/>
            <a:ext cx="3112922" cy="1994408"/>
          </a:xfrm>
          <a:prstGeom prst="rect">
            <a:avLst/>
          </a:prstGeom>
          <a:noFill/>
          <a:ln/>
        </p:spPr>
        <p:txBody>
          <a:bodyPr wrap="square" lIns="0" tIns="0" rIns="0" bIns="0" rtlCol="0" anchor="t"/>
          <a:lstStyle/>
          <a:p>
            <a:pPr indent="0" marL="0">
              <a:spcAft>
                <a:spcPts val="840"/>
              </a:spcAft>
              <a:buNone/>
            </a:pPr>
            <a:r>
              <a:rPr lang="en-US" sz="1400" b="1" dirty="0">
                <a:solidFill>
                  <a:schemeClr val="accent1"/>
                </a:solidFill>
              </a:rPr>
              <a:t>Theory. </a:t>
            </a:r>
            <a:pPr indent="0" marL="0">
              <a:spcAft>
                <a:spcPts val="840"/>
              </a:spcAft>
              <a:buNone/>
            </a:pPr>
            <a:r>
              <a:rPr lang="en-US" sz="1400" dirty="0">
                <a:solidFill>
                  <a:schemeClr val="tx1"/>
                </a:solidFill>
              </a:rPr>
              <a:t>Send a value, or as much as possible, at least total cost: supply chains, the cheapest routes. Exact capacities and costs.</a:t>
            </a:r>
            <a:endParaRPr lang="en-US" sz="1400" dirty="0"/>
          </a:p>
          <a:p>
            <a:pPr indent="0" marL="0">
              <a:buNone/>
            </a:pPr>
            <a:r>
              <a:rPr lang="en-US" sz="1400" b="1" dirty="0">
                <a:solidFill>
                  <a:schemeClr val="accent1"/>
                </a:solidFill>
              </a:rPr>
              <a:t>Algorithm. </a:t>
            </a:r>
            <a:pPr indent="0" marL="0">
              <a:buNone/>
            </a:pPr>
            <a:r>
              <a:rPr lang="en-US" sz="1400" dirty="0">
                <a:solidFill>
                  <a:schemeClr val="tx1"/>
                </a:solidFill>
              </a:rPr>
              <a:t>Successive shortest paths: Dijkstra on costs reduced by potentials, then augment along the cheapest path (Edmonds and Karp).</a:t>
            </a:r>
            <a:endParaRPr lang="en-US" sz="1400" dirty="0"/>
          </a:p>
        </p:txBody>
      </p:sp>
      <p:sp>
        <p:nvSpPr>
          <p:cNvPr id="18" name="proof min_cost_flow"/>
          <p:cNvSpPr/>
          <p:nvPr/>
        </p:nvSpPr>
        <p:spPr>
          <a:xfrm>
            <a:off x="4484522" y="4637024"/>
            <a:ext cx="3222650" cy="1379728"/>
          </a:xfrm>
          <a:prstGeom prst="roundRect">
            <a:avLst>
              <a:gd name="adj" fmla="val 5302"/>
            </a:avLst>
          </a:prstGeom>
          <a:solidFill>
            <a:schemeClr val="bg1"/>
          </a:solidFill>
          <a:ln w="15875">
            <a:solidFill>
              <a:schemeClr val="accent1"/>
            </a:solidFill>
            <a:prstDash val="solid"/>
          </a:ln>
        </p:spPr>
      </p:sp>
      <p:pic>
        <p:nvPicPr>
          <p:cNvPr id="19" name="Image 3" descr="certificate">    </p:cNvPr>
          <p:cNvPicPr>
            <a:picLocks noChangeAspect="1"/>
          </p:cNvPicPr>
          <p:nvPr/>
        </p:nvPicPr>
        <p:blipFill>
          <a:blip r:embed="rId4"/>
          <a:stretch>
            <a:fillRect/>
          </a:stretch>
        </p:blipFill>
        <p:spPr>
          <a:xfrm>
            <a:off x="4594250" y="4728464"/>
            <a:ext cx="246888" cy="246888"/>
          </a:xfrm>
          <a:prstGeom prst="rect">
            <a:avLst/>
          </a:prstGeom>
        </p:spPr>
      </p:pic>
      <p:sp>
        <p:nvSpPr>
          <p:cNvPr id="20" name="Text 14"/>
          <p:cNvSpPr txBox="1"/>
          <p:nvPr/>
        </p:nvSpPr>
        <p:spPr>
          <a:xfrm>
            <a:off x="4923434" y="4728464"/>
            <a:ext cx="2655722"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CERTIFICATE PROVES</a:t>
            </a:r>
            <a:endParaRPr lang="en-US" sz="1100" dirty="0"/>
          </a:p>
        </p:txBody>
      </p:sp>
      <p:sp>
        <p:nvSpPr>
          <p:cNvPr id="21" name="Text 15"/>
          <p:cNvSpPr txBox="1"/>
          <p:nvPr/>
        </p:nvSpPr>
        <p:spPr>
          <a:xfrm>
            <a:off x="4594250" y="5021072"/>
            <a:ext cx="3003194" cy="922528"/>
          </a:xfrm>
          <a:prstGeom prst="rect">
            <a:avLst/>
          </a:prstGeom>
          <a:noFill/>
          <a:ln/>
        </p:spPr>
        <p:txBody>
          <a:bodyPr wrap="square" lIns="0" tIns="0" rIns="0" bIns="0" rtlCol="0" anchor="t"/>
          <a:lstStyle/>
          <a:p>
            <a:pPr indent="0" marL="0">
              <a:buNone/>
            </a:pPr>
            <a:r>
              <a:rPr lang="en-US" sz="1400" dirty="0">
                <a:solidFill>
                  <a:schemeClr val="tx1"/>
                </a:solidFill>
              </a:rPr>
              <a:t>Potentials leave no residual arc negative, so none is cheaper; for a maximum flow, a minimum cut shows none is larger.</a:t>
            </a:r>
            <a:endParaRPr lang="en-US" sz="1400" dirty="0"/>
          </a:p>
        </p:txBody>
      </p:sp>
      <p:sp>
        <p:nvSpPr>
          <p:cNvPr id="22" name="operation matching"/>
          <p:cNvSpPr/>
          <p:nvPr/>
        </p:nvSpPr>
        <p:spPr>
          <a:xfrm>
            <a:off x="8127797" y="1691640"/>
            <a:ext cx="3515258" cy="4526280"/>
          </a:xfrm>
          <a:prstGeom prst="roundRect">
            <a:avLst>
              <a:gd name="adj" fmla="val 2601"/>
            </a:avLst>
          </a:prstGeom>
          <a:solidFill>
            <a:schemeClr val="bg2"/>
          </a:solidFill>
          <a:ln/>
        </p:spPr>
      </p:sp>
      <p:sp>
        <p:nvSpPr>
          <p:cNvPr id="23" name="icon matching"/>
          <p:cNvSpPr/>
          <p:nvPr/>
        </p:nvSpPr>
        <p:spPr>
          <a:xfrm>
            <a:off x="8328965" y="1892808"/>
            <a:ext cx="512064" cy="512064"/>
          </a:xfrm>
          <a:prstGeom prst="ellipse">
            <a:avLst/>
          </a:prstGeom>
          <a:solidFill>
            <a:schemeClr val="accent1"/>
          </a:solidFill>
          <a:ln/>
        </p:spPr>
      </p:sp>
      <p:pic>
        <p:nvPicPr>
          <p:cNvPr id="24" name="Image 4" descr="matching">    </p:cNvPr>
          <p:cNvPicPr>
            <a:picLocks noChangeAspect="1"/>
          </p:cNvPicPr>
          <p:nvPr/>
        </p:nvPicPr>
        <p:blipFill>
          <a:blip r:embed="rId5"/>
          <a:stretch>
            <a:fillRect/>
          </a:stretch>
        </p:blipFill>
        <p:spPr>
          <a:xfrm>
            <a:off x="8441619" y="2005462"/>
            <a:ext cx="286756" cy="286756"/>
          </a:xfrm>
          <a:prstGeom prst="rect">
            <a:avLst/>
          </a:prstGeom>
        </p:spPr>
      </p:pic>
      <p:sp>
        <p:nvSpPr>
          <p:cNvPr id="25" name="Text 18"/>
          <p:cNvSpPr txBox="1"/>
          <p:nvPr/>
        </p:nvSpPr>
        <p:spPr>
          <a:xfrm>
            <a:off x="8987333" y="1874520"/>
            <a:ext cx="2454554" cy="693801"/>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matching</a:t>
            </a:r>
            <a:endParaRPr lang="en-US" sz="1500" dirty="0"/>
          </a:p>
          <a:p>
            <a:pPr indent="0" marL="0">
              <a:buNone/>
            </a:pPr>
            <a:r>
              <a:rPr lang="en-US" sz="1500" b="1" dirty="0">
                <a:solidFill>
                  <a:schemeClr val="tx1"/>
                </a:solidFill>
              </a:rPr>
              <a:t>Distinct pairings, at least cost</a:t>
            </a:r>
            <a:endParaRPr lang="en-US" sz="1500" dirty="0"/>
          </a:p>
        </p:txBody>
      </p:sp>
      <p:sp>
        <p:nvSpPr>
          <p:cNvPr id="26" name="Text 19"/>
          <p:cNvSpPr txBox="1"/>
          <p:nvPr/>
        </p:nvSpPr>
        <p:spPr>
          <a:xfrm>
            <a:off x="8328965" y="2714625"/>
            <a:ext cx="3112922" cy="1849247"/>
          </a:xfrm>
          <a:prstGeom prst="rect">
            <a:avLst/>
          </a:prstGeom>
          <a:noFill/>
          <a:ln/>
        </p:spPr>
        <p:txBody>
          <a:bodyPr wrap="square" lIns="0" tIns="0" rIns="0" bIns="0" rtlCol="0" anchor="t"/>
          <a:lstStyle/>
          <a:p>
            <a:pPr indent="0" marL="0">
              <a:spcAft>
                <a:spcPts val="840"/>
              </a:spcAft>
              <a:buNone/>
            </a:pPr>
            <a:r>
              <a:rPr lang="en-US" sz="1400" b="1" dirty="0">
                <a:solidFill>
                  <a:schemeClr val="accent1"/>
                </a:solidFill>
              </a:rPr>
              <a:t>Theory. </a:t>
            </a:r>
            <a:pPr indent="0" marL="0">
              <a:spcAft>
                <a:spcPts val="840"/>
              </a:spcAft>
              <a:buNone/>
            </a:pPr>
            <a:r>
              <a:rPr lang="en-US" sz="1400" dirty="0">
                <a:solidFill>
                  <a:schemeClr val="tx1"/>
                </a:solidFill>
              </a:rPr>
              <a:t>A maximum matching of a left set to partners outside it, no node twice. With costs, the cheapest of the largest: the assignment problem.</a:t>
            </a:r>
            <a:endParaRPr lang="en-US" sz="1400" dirty="0"/>
          </a:p>
          <a:p>
            <a:pPr indent="0" marL="0">
              <a:buNone/>
            </a:pPr>
            <a:r>
              <a:rPr lang="en-US" sz="1400" b="1" dirty="0">
                <a:solidFill>
                  <a:schemeClr val="accent1"/>
                </a:solidFill>
              </a:rPr>
              <a:t>Algorithm. </a:t>
            </a:r>
            <a:pPr indent="0" marL="0">
              <a:buNone/>
            </a:pPr>
            <a:r>
              <a:rPr lang="en-US" sz="1400" dirty="0">
                <a:solidFill>
                  <a:schemeClr val="tx1"/>
                </a:solidFill>
              </a:rPr>
              <a:t>Hopcroft and Karp (1973); with costs, the Hungarian method: successive shortest paths on costs reduced by potentials.</a:t>
            </a:r>
            <a:endParaRPr lang="en-US" sz="1400" dirty="0"/>
          </a:p>
        </p:txBody>
      </p:sp>
      <p:sp>
        <p:nvSpPr>
          <p:cNvPr id="27" name="proof matching"/>
          <p:cNvSpPr/>
          <p:nvPr/>
        </p:nvSpPr>
        <p:spPr>
          <a:xfrm>
            <a:off x="8274101" y="4637024"/>
            <a:ext cx="3222650" cy="1379728"/>
          </a:xfrm>
          <a:prstGeom prst="roundRect">
            <a:avLst>
              <a:gd name="adj" fmla="val 5302"/>
            </a:avLst>
          </a:prstGeom>
          <a:solidFill>
            <a:schemeClr val="bg1"/>
          </a:solidFill>
          <a:ln w="15875">
            <a:solidFill>
              <a:schemeClr val="accent1"/>
            </a:solidFill>
            <a:prstDash val="solid"/>
          </a:ln>
        </p:spPr>
      </p:sp>
      <p:pic>
        <p:nvPicPr>
          <p:cNvPr id="28" name="Image 5" descr="certificate">    </p:cNvPr>
          <p:cNvPicPr>
            <a:picLocks noChangeAspect="1"/>
          </p:cNvPicPr>
          <p:nvPr/>
        </p:nvPicPr>
        <p:blipFill>
          <a:blip r:embed="rId6"/>
          <a:stretch>
            <a:fillRect/>
          </a:stretch>
        </p:blipFill>
        <p:spPr>
          <a:xfrm>
            <a:off x="8383829" y="4728464"/>
            <a:ext cx="246888" cy="246888"/>
          </a:xfrm>
          <a:prstGeom prst="rect">
            <a:avLst/>
          </a:prstGeom>
        </p:spPr>
      </p:pic>
      <p:sp>
        <p:nvSpPr>
          <p:cNvPr id="29" name="Text 21"/>
          <p:cNvSpPr txBox="1"/>
          <p:nvPr/>
        </p:nvSpPr>
        <p:spPr>
          <a:xfrm>
            <a:off x="8713013" y="4728464"/>
            <a:ext cx="2655722"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CERTIFICATE PROVES</a:t>
            </a:r>
            <a:endParaRPr lang="en-US" sz="1100" dirty="0"/>
          </a:p>
        </p:txBody>
      </p:sp>
      <p:sp>
        <p:nvSpPr>
          <p:cNvPr id="30" name="Text 22"/>
          <p:cNvSpPr txBox="1"/>
          <p:nvPr/>
        </p:nvSpPr>
        <p:spPr>
          <a:xfrm>
            <a:off x="8383829" y="5021072"/>
            <a:ext cx="3003194" cy="922528"/>
          </a:xfrm>
          <a:prstGeom prst="rect">
            <a:avLst/>
          </a:prstGeom>
          <a:noFill/>
          <a:ln/>
        </p:spPr>
        <p:txBody>
          <a:bodyPr wrap="square" lIns="0" tIns="0" rIns="0" bIns="0" rtlCol="0" anchor="t"/>
          <a:lstStyle/>
          <a:p>
            <a:pPr indent="0" marL="0">
              <a:buNone/>
            </a:pPr>
            <a:r>
              <a:rPr lang="en-US" sz="1400" dirty="0">
                <a:solidFill>
                  <a:schemeClr val="tx1"/>
                </a:solidFill>
              </a:rPr>
              <a:t>König's vertex cover (1931): as many nodes as pairs, so none is larger; with costs, potentials leave no residual arc negative.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Dominators: what every route passes through</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The intermediate every route from a feedstock to a product forms; the evidence every derivation of a claim rests on.</a:t>
            </a:r>
            <a:endParaRPr lang="en-US" sz="1600" dirty="0"/>
          </a:p>
        </p:txBody>
      </p:sp>
      <p:sp>
        <p:nvSpPr>
          <p:cNvPr id="4" name="operation dominators"/>
          <p:cNvSpPr/>
          <p:nvPr/>
        </p:nvSpPr>
        <p:spPr>
          <a:xfrm>
            <a:off x="548640" y="1691640"/>
            <a:ext cx="6248095" cy="4526280"/>
          </a:xfrm>
          <a:prstGeom prst="roundRect">
            <a:avLst>
              <a:gd name="adj" fmla="val 2020"/>
            </a:avLst>
          </a:prstGeom>
          <a:solidFill>
            <a:schemeClr val="bg2"/>
          </a:solidFill>
          <a:ln/>
        </p:spPr>
      </p:sp>
      <p:sp>
        <p:nvSpPr>
          <p:cNvPr id="5" name="icon dominators"/>
          <p:cNvSpPr/>
          <p:nvPr/>
        </p:nvSpPr>
        <p:spPr>
          <a:xfrm>
            <a:off x="749808" y="1892808"/>
            <a:ext cx="512064" cy="512064"/>
          </a:xfrm>
          <a:prstGeom prst="ellipse">
            <a:avLst/>
          </a:prstGeom>
          <a:solidFill>
            <a:schemeClr val="accent1"/>
          </a:solidFill>
          <a:ln/>
        </p:spPr>
      </p:sp>
      <p:pic>
        <p:nvPicPr>
          <p:cNvPr id="6" name="Image 0" descr="dominators">    </p:cNvPr>
          <p:cNvPicPr>
            <a:picLocks noChangeAspect="1"/>
          </p:cNvPicPr>
          <p:nvPr/>
        </p:nvPicPr>
        <p:blipFill>
          <a:blip r:embed="rId1"/>
          <a:stretch>
            <a:fillRect/>
          </a:stretch>
        </p:blipFill>
        <p:spPr>
          <a:xfrm>
            <a:off x="862462" y="2005462"/>
            <a:ext cx="286756" cy="286756"/>
          </a:xfrm>
          <a:prstGeom prst="rect">
            <a:avLst/>
          </a:prstGeom>
        </p:spPr>
      </p:pic>
      <p:sp>
        <p:nvSpPr>
          <p:cNvPr id="7" name="Text 4"/>
          <p:cNvSpPr txBox="1"/>
          <p:nvPr/>
        </p:nvSpPr>
        <p:spPr>
          <a:xfrm>
            <a:off x="1408176" y="1874520"/>
            <a:ext cx="5187391" cy="54864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dominators</a:t>
            </a:r>
            <a:endParaRPr lang="en-US" sz="1500" dirty="0"/>
          </a:p>
          <a:p>
            <a:pPr indent="0" marL="0">
              <a:buNone/>
            </a:pPr>
            <a:r>
              <a:rPr lang="en-US" sz="1500" b="1" dirty="0">
                <a:solidFill>
                  <a:schemeClr val="tx1"/>
                </a:solidFill>
              </a:rPr>
              <a:t>Unavoidable intermediates, single points of failure</a:t>
            </a:r>
            <a:endParaRPr lang="en-US" sz="1500" dirty="0"/>
          </a:p>
        </p:txBody>
      </p:sp>
      <p:sp>
        <p:nvSpPr>
          <p:cNvPr id="8" name="Text 5"/>
          <p:cNvSpPr txBox="1"/>
          <p:nvPr/>
        </p:nvSpPr>
        <p:spPr>
          <a:xfrm>
            <a:off x="749808" y="2569464"/>
            <a:ext cx="5845759" cy="1932432"/>
          </a:xfrm>
          <a:prstGeom prst="rect">
            <a:avLst/>
          </a:prstGeom>
          <a:noFill/>
          <a:ln/>
        </p:spPr>
        <p:txBody>
          <a:bodyPr wrap="square" lIns="0" tIns="0" rIns="0" bIns="0" rtlCol="0" anchor="t"/>
          <a:lstStyle/>
          <a:p>
            <a:pPr indent="0" marL="0">
              <a:spcAft>
                <a:spcPts val="900"/>
              </a:spcAft>
              <a:buNone/>
            </a:pPr>
            <a:r>
              <a:rPr lang="en-US" sz="1500" b="1" dirty="0">
                <a:solidFill>
                  <a:schemeClr val="accent1"/>
                </a:solidFill>
              </a:rPr>
              <a:t>Theory. </a:t>
            </a:r>
            <a:pPr indent="0" marL="0">
              <a:spcAft>
                <a:spcPts val="900"/>
              </a:spcAft>
              <a:buNone/>
            </a:pPr>
            <a:r>
              <a:rPr lang="en-US" sz="1500" dirty="0">
                <a:solidFill>
                  <a:schemeClr val="tx1"/>
                </a:solidFill>
              </a:rPr>
              <a:t>Node d dominates v when every walk from the sources to v passes through d (Prosser, 1959; Lowry and Medlock, 1969). The immediate dominators form a tree: the whole tree, or each target's chain.</a:t>
            </a:r>
            <a:endParaRPr lang="en-US" sz="1500" dirty="0"/>
          </a:p>
          <a:p>
            <a:pPr indent="0" marL="0">
              <a:buNone/>
            </a:pPr>
            <a:r>
              <a:rPr lang="en-US" sz="1500" b="1" dirty="0">
                <a:solidFill>
                  <a:schemeClr val="accent1"/>
                </a:solidFill>
              </a:rPr>
              <a:t>Algorithm. </a:t>
            </a:r>
            <a:pPr indent="0" marL="0">
              <a:buNone/>
            </a:pPr>
            <a:r>
              <a:rPr lang="en-US" sz="1500" dirty="0">
                <a:solidFill>
                  <a:schemeClr val="tx1"/>
                </a:solidFill>
              </a:rPr>
              <a:t>A depth-first search from the sources, then Lengauer and Tarjan's algorithm (1979), the simple version with path compression. Dominance is a claim about every walk, so an interrupted search claims nothing.</a:t>
            </a:r>
            <a:endParaRPr lang="en-US" sz="1500" dirty="0"/>
          </a:p>
        </p:txBody>
      </p:sp>
      <p:sp>
        <p:nvSpPr>
          <p:cNvPr id="9" name="proof dominators"/>
          <p:cNvSpPr/>
          <p:nvPr/>
        </p:nvSpPr>
        <p:spPr>
          <a:xfrm>
            <a:off x="694944" y="4575048"/>
            <a:ext cx="5955487" cy="1441704"/>
          </a:xfrm>
          <a:prstGeom prst="roundRect">
            <a:avLst>
              <a:gd name="adj" fmla="val 5074"/>
            </a:avLst>
          </a:prstGeom>
          <a:solidFill>
            <a:schemeClr val="bg1"/>
          </a:solidFill>
          <a:ln w="15875">
            <a:solidFill>
              <a:schemeClr val="accent1"/>
            </a:solidFill>
            <a:prstDash val="solid"/>
          </a:ln>
        </p:spPr>
      </p:sp>
      <p:pic>
        <p:nvPicPr>
          <p:cNvPr id="10" name="Image 1" descr="certificate">    </p:cNvPr>
          <p:cNvPicPr>
            <a:picLocks noChangeAspect="1"/>
          </p:cNvPicPr>
          <p:nvPr/>
        </p:nvPicPr>
        <p:blipFill>
          <a:blip r:embed="rId2"/>
          <a:stretch>
            <a:fillRect/>
          </a:stretch>
        </p:blipFill>
        <p:spPr>
          <a:xfrm>
            <a:off x="804672" y="4666488"/>
            <a:ext cx="246888" cy="246888"/>
          </a:xfrm>
          <a:prstGeom prst="rect">
            <a:avLst/>
          </a:prstGeom>
        </p:spPr>
      </p:pic>
      <p:sp>
        <p:nvSpPr>
          <p:cNvPr id="11" name="Text 7"/>
          <p:cNvSpPr txBox="1"/>
          <p:nvPr/>
        </p:nvSpPr>
        <p:spPr>
          <a:xfrm>
            <a:off x="1133856" y="4666488"/>
            <a:ext cx="5388559" cy="246888"/>
          </a:xfrm>
          <a:prstGeom prst="rect">
            <a:avLst/>
          </a:prstGeom>
          <a:noFill/>
          <a:ln/>
        </p:spPr>
        <p:txBody>
          <a:bodyPr wrap="square" lIns="0" tIns="0" rIns="0" bIns="0" rtlCol="0" anchor="ctr"/>
          <a:lstStyle/>
          <a:p>
            <a:pPr indent="0" marL="0">
              <a:buNone/>
            </a:pPr>
            <a:r>
              <a:rPr lang="en-US" sz="1100" b="1" spc="100" kern="0" dirty="0">
                <a:solidFill>
                  <a:schemeClr val="accent1"/>
                </a:solidFill>
              </a:rPr>
              <a:t>CERTIFICATE PROVES</a:t>
            </a:r>
            <a:endParaRPr lang="en-US" sz="1100" dirty="0"/>
          </a:p>
        </p:txBody>
      </p:sp>
      <p:sp>
        <p:nvSpPr>
          <p:cNvPr id="12" name="Text 8"/>
          <p:cNvSpPr txBox="1"/>
          <p:nvPr/>
        </p:nvSpPr>
        <p:spPr>
          <a:xfrm>
            <a:off x="804672" y="4959096"/>
            <a:ext cx="5736031" cy="984504"/>
          </a:xfrm>
          <a:prstGeom prst="rect">
            <a:avLst/>
          </a:prstGeom>
          <a:noFill/>
          <a:ln/>
        </p:spPr>
        <p:txBody>
          <a:bodyPr wrap="square" lIns="0" tIns="0" rIns="0" bIns="0" rtlCol="0" anchor="t"/>
          <a:lstStyle/>
          <a:p>
            <a:pPr indent="0" marL="0">
              <a:buNone/>
            </a:pPr>
            <a:r>
              <a:rPr lang="en-US" sz="1500" dirty="0">
                <a:solidFill>
                  <a:schemeClr val="tx1"/>
                </a:solidFill>
              </a:rPr>
              <a:t>A low-high order of the tree (Georgiadis and Tarjan, 2016), checked arc by arc in linear time, without computing dominators again. It is built from two independent spanning trees (their Algorithms 8, 7 and 5).</a:t>
            </a:r>
            <a:endParaRPr lang="en-US" sz="1500" dirty="0"/>
          </a:p>
        </p:txBody>
      </p:sp>
      <p:sp>
        <p:nvSpPr>
          <p:cNvPr id="13" name="dominator schematic"/>
          <p:cNvSpPr/>
          <p:nvPr/>
        </p:nvSpPr>
        <p:spPr>
          <a:xfrm>
            <a:off x="7071055" y="1691640"/>
            <a:ext cx="4572000" cy="4526280"/>
          </a:xfrm>
          <a:prstGeom prst="roundRect">
            <a:avLst>
              <a:gd name="adj" fmla="val 2020"/>
            </a:avLst>
          </a:prstGeom>
          <a:solidFill>
            <a:schemeClr val="bg1"/>
          </a:solidFill>
          <a:ln w="19050">
            <a:solidFill>
              <a:schemeClr val="bg2"/>
            </a:solidFill>
            <a:prstDash val="solid"/>
          </a:ln>
        </p:spPr>
      </p:sp>
      <p:sp>
        <p:nvSpPr>
          <p:cNvPr id="14" name="Text 10"/>
          <p:cNvSpPr txBox="1"/>
          <p:nvPr/>
        </p:nvSpPr>
        <p:spPr>
          <a:xfrm>
            <a:off x="7345375" y="1920240"/>
            <a:ext cx="4023360" cy="594360"/>
          </a:xfrm>
          <a:prstGeom prst="rect">
            <a:avLst/>
          </a:prstGeom>
          <a:noFill/>
          <a:ln/>
        </p:spPr>
        <p:txBody>
          <a:bodyPr wrap="square" lIns="0" tIns="0" rIns="0" bIns="0" rtlCol="0" anchor="t"/>
          <a:lstStyle/>
          <a:p>
            <a:pPr indent="0" marL="0">
              <a:buNone/>
            </a:pPr>
            <a:r>
              <a:rPr lang="en-US" sz="1100" b="1" spc="100" kern="0" dirty="0">
                <a:solidFill>
                  <a:schemeClr val="accent6"/>
                </a:solidFill>
              </a:rPr>
              <a:t>SCHEMATIC</a:t>
            </a:r>
            <a:endParaRPr lang="en-US" sz="1100" dirty="0"/>
          </a:p>
          <a:p>
            <a:pPr indent="0" marL="0">
              <a:buNone/>
            </a:pPr>
            <a:r>
              <a:rPr lang="en-US" sz="1600" b="1" dirty="0">
                <a:solidFill>
                  <a:schemeClr val="tx1"/>
                </a:solidFill>
              </a:rPr>
              <a:t>Every route from s to e passes through c</a:t>
            </a:r>
            <a:endParaRPr lang="en-US" sz="1100" dirty="0"/>
          </a:p>
        </p:txBody>
      </p:sp>
      <p:sp>
        <p:nvSpPr>
          <p:cNvPr id="15" name="Shape 11"/>
          <p:cNvSpPr/>
          <p:nvPr/>
        </p:nvSpPr>
        <p:spPr>
          <a:xfrm flipV="1">
            <a:off x="7746312" y="2888540"/>
            <a:ext cx="601777" cy="295745"/>
          </a:xfrm>
          <a:prstGeom prst="line">
            <a:avLst/>
          </a:prstGeom>
          <a:noFill/>
          <a:ln w="19050">
            <a:solidFill>
              <a:schemeClr val="accent6"/>
            </a:solidFill>
            <a:prstDash val="solid"/>
            <a:tailEnd type="triangle"/>
          </a:ln>
        </p:spPr>
      </p:sp>
      <p:sp>
        <p:nvSpPr>
          <p:cNvPr id="16" name="Shape 12"/>
          <p:cNvSpPr/>
          <p:nvPr/>
        </p:nvSpPr>
        <p:spPr>
          <a:xfrm>
            <a:off x="7746312" y="3353675"/>
            <a:ext cx="601777" cy="295745"/>
          </a:xfrm>
          <a:prstGeom prst="line">
            <a:avLst/>
          </a:prstGeom>
          <a:noFill/>
          <a:ln w="19050">
            <a:solidFill>
              <a:schemeClr val="accent6"/>
            </a:solidFill>
            <a:prstDash val="solid"/>
            <a:tailEnd type="triangle"/>
          </a:ln>
        </p:spPr>
      </p:sp>
      <p:sp>
        <p:nvSpPr>
          <p:cNvPr id="17" name="Shape 13"/>
          <p:cNvSpPr/>
          <p:nvPr/>
        </p:nvSpPr>
        <p:spPr>
          <a:xfrm>
            <a:off x="8706452" y="2885803"/>
            <a:ext cx="536160" cy="284577"/>
          </a:xfrm>
          <a:prstGeom prst="line">
            <a:avLst/>
          </a:prstGeom>
          <a:noFill/>
          <a:ln w="19050">
            <a:solidFill>
              <a:schemeClr val="accent6"/>
            </a:solidFill>
            <a:prstDash val="solid"/>
            <a:tailEnd type="triangle"/>
          </a:ln>
        </p:spPr>
      </p:sp>
      <p:sp>
        <p:nvSpPr>
          <p:cNvPr id="18" name="Shape 14"/>
          <p:cNvSpPr/>
          <p:nvPr/>
        </p:nvSpPr>
        <p:spPr>
          <a:xfrm flipV="1">
            <a:off x="8706452" y="3367579"/>
            <a:ext cx="536160" cy="284577"/>
          </a:xfrm>
          <a:prstGeom prst="line">
            <a:avLst/>
          </a:prstGeom>
          <a:noFill/>
          <a:ln w="19050">
            <a:solidFill>
              <a:schemeClr val="accent6"/>
            </a:solidFill>
            <a:prstDash val="solid"/>
            <a:tailEnd type="triangle"/>
          </a:ln>
        </p:spPr>
      </p:sp>
      <p:sp>
        <p:nvSpPr>
          <p:cNvPr id="19" name="Shape 15"/>
          <p:cNvSpPr/>
          <p:nvPr/>
        </p:nvSpPr>
        <p:spPr>
          <a:xfrm flipV="1">
            <a:off x="9597992" y="2894377"/>
            <a:ext cx="536160" cy="284577"/>
          </a:xfrm>
          <a:prstGeom prst="line">
            <a:avLst/>
          </a:prstGeom>
          <a:noFill/>
          <a:ln w="19050">
            <a:solidFill>
              <a:schemeClr val="accent6"/>
            </a:solidFill>
            <a:prstDash val="solid"/>
            <a:tailEnd type="triangle"/>
          </a:ln>
        </p:spPr>
      </p:sp>
      <p:sp>
        <p:nvSpPr>
          <p:cNvPr id="20" name="Shape 16"/>
          <p:cNvSpPr/>
          <p:nvPr/>
        </p:nvSpPr>
        <p:spPr>
          <a:xfrm>
            <a:off x="10486247" y="2891737"/>
            <a:ext cx="471719" cy="272146"/>
          </a:xfrm>
          <a:prstGeom prst="line">
            <a:avLst/>
          </a:prstGeom>
          <a:noFill/>
          <a:ln w="19050">
            <a:solidFill>
              <a:schemeClr val="accent6"/>
            </a:solidFill>
            <a:prstDash val="solid"/>
            <a:tailEnd type="triangle"/>
          </a:ln>
        </p:spPr>
      </p:sp>
      <p:sp>
        <p:nvSpPr>
          <p:cNvPr id="21" name="Shape 17"/>
          <p:cNvSpPr/>
          <p:nvPr/>
        </p:nvSpPr>
        <p:spPr>
          <a:xfrm>
            <a:off x="9620402" y="3268980"/>
            <a:ext cx="1309421" cy="0"/>
          </a:xfrm>
          <a:prstGeom prst="line">
            <a:avLst/>
          </a:prstGeom>
          <a:noFill/>
          <a:ln w="19050">
            <a:solidFill>
              <a:schemeClr val="accent6"/>
            </a:solidFill>
            <a:prstDash val="solid"/>
            <a:tailEnd type="triangle"/>
          </a:ln>
        </p:spPr>
      </p:sp>
      <p:sp>
        <p:nvSpPr>
          <p:cNvPr id="22" name="node s"/>
          <p:cNvSpPr/>
          <p:nvPr/>
        </p:nvSpPr>
        <p:spPr>
          <a:xfrm>
            <a:off x="7381951" y="3076956"/>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s</a:t>
            </a:r>
            <a:endParaRPr lang="en-US" sz="1400" dirty="0"/>
          </a:p>
        </p:txBody>
      </p:sp>
      <p:sp>
        <p:nvSpPr>
          <p:cNvPr id="23" name="node a"/>
          <p:cNvSpPr/>
          <p:nvPr/>
        </p:nvSpPr>
        <p:spPr>
          <a:xfrm>
            <a:off x="8344814" y="2603754"/>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a:t>
            </a:r>
            <a:endParaRPr lang="en-US" sz="1400" dirty="0"/>
          </a:p>
        </p:txBody>
      </p:sp>
      <p:sp>
        <p:nvSpPr>
          <p:cNvPr id="24" name="node b"/>
          <p:cNvSpPr/>
          <p:nvPr/>
        </p:nvSpPr>
        <p:spPr>
          <a:xfrm>
            <a:off x="8344814" y="355015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b</a:t>
            </a:r>
            <a:endParaRPr lang="en-US" sz="1400" dirty="0"/>
          </a:p>
        </p:txBody>
      </p:sp>
      <p:sp>
        <p:nvSpPr>
          <p:cNvPr id="25" name="node c"/>
          <p:cNvSpPr/>
          <p:nvPr/>
        </p:nvSpPr>
        <p:spPr>
          <a:xfrm>
            <a:off x="9236354" y="3076956"/>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c</a:t>
            </a:r>
            <a:endParaRPr lang="en-US" sz="1400" dirty="0"/>
          </a:p>
        </p:txBody>
      </p:sp>
      <p:sp>
        <p:nvSpPr>
          <p:cNvPr id="26" name="node d"/>
          <p:cNvSpPr/>
          <p:nvPr/>
        </p:nvSpPr>
        <p:spPr>
          <a:xfrm>
            <a:off x="10127894" y="2603754"/>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d</a:t>
            </a:r>
            <a:endParaRPr lang="en-US" sz="1400" dirty="0"/>
          </a:p>
        </p:txBody>
      </p:sp>
      <p:sp>
        <p:nvSpPr>
          <p:cNvPr id="27" name="node e"/>
          <p:cNvSpPr/>
          <p:nvPr/>
        </p:nvSpPr>
        <p:spPr>
          <a:xfrm>
            <a:off x="10948111" y="3076956"/>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e</a:t>
            </a:r>
            <a:endParaRPr lang="en-US" sz="1400" dirty="0"/>
          </a:p>
        </p:txBody>
      </p:sp>
      <p:sp>
        <p:nvSpPr>
          <p:cNvPr id="28" name="Text 24"/>
          <p:cNvSpPr txBox="1"/>
          <p:nvPr/>
        </p:nvSpPr>
        <p:spPr>
          <a:xfrm>
            <a:off x="7345375" y="4114800"/>
            <a:ext cx="4023360" cy="228600"/>
          </a:xfrm>
          <a:prstGeom prst="rect">
            <a:avLst/>
          </a:prstGeom>
          <a:noFill/>
          <a:ln/>
        </p:spPr>
        <p:txBody>
          <a:bodyPr wrap="square" lIns="0" tIns="0" rIns="0" bIns="0" rtlCol="0" anchor="t"/>
          <a:lstStyle/>
          <a:p>
            <a:pPr indent="0" marL="0">
              <a:buNone/>
            </a:pPr>
            <a:r>
              <a:rPr lang="en-US" sz="1100" b="1" spc="100" kern="0" dirty="0">
                <a:solidFill>
                  <a:schemeClr val="accent6"/>
                </a:solidFill>
              </a:rPr>
              <a:t>DOMINATOR TREE</a:t>
            </a:r>
            <a:endParaRPr lang="en-US" sz="1100" dirty="0"/>
          </a:p>
        </p:txBody>
      </p:sp>
      <p:sp>
        <p:nvSpPr>
          <p:cNvPr id="29" name="Shape 25"/>
          <p:cNvSpPr/>
          <p:nvPr/>
        </p:nvSpPr>
        <p:spPr>
          <a:xfrm flipH="1">
            <a:off x="8341236" y="4584729"/>
            <a:ext cx="832907" cy="266155"/>
          </a:xfrm>
          <a:prstGeom prst="line">
            <a:avLst/>
          </a:prstGeom>
          <a:noFill/>
          <a:ln w="19050">
            <a:solidFill>
              <a:schemeClr val="accent6"/>
            </a:solidFill>
            <a:prstDash val="solid"/>
          </a:ln>
        </p:spPr>
      </p:sp>
      <p:sp>
        <p:nvSpPr>
          <p:cNvPr id="30" name="Shape 26"/>
          <p:cNvSpPr/>
          <p:nvPr/>
        </p:nvSpPr>
        <p:spPr>
          <a:xfrm flipH="1">
            <a:off x="9149764" y="4669428"/>
            <a:ext cx="79300" cy="88690"/>
          </a:xfrm>
          <a:prstGeom prst="line">
            <a:avLst/>
          </a:prstGeom>
          <a:noFill/>
          <a:ln w="19050">
            <a:solidFill>
              <a:schemeClr val="accent6"/>
            </a:solidFill>
            <a:prstDash val="solid"/>
          </a:ln>
        </p:spPr>
      </p:sp>
      <p:sp>
        <p:nvSpPr>
          <p:cNvPr id="31" name="Shape 27"/>
          <p:cNvSpPr/>
          <p:nvPr/>
        </p:nvSpPr>
        <p:spPr>
          <a:xfrm>
            <a:off x="9524654" y="4620003"/>
            <a:ext cx="343785" cy="192248"/>
          </a:xfrm>
          <a:prstGeom prst="line">
            <a:avLst/>
          </a:prstGeom>
          <a:noFill/>
          <a:ln w="19050">
            <a:solidFill>
              <a:schemeClr val="accent6"/>
            </a:solidFill>
            <a:prstDash val="solid"/>
          </a:ln>
        </p:spPr>
      </p:sp>
      <p:sp>
        <p:nvSpPr>
          <p:cNvPr id="32" name="Shape 28"/>
          <p:cNvSpPr/>
          <p:nvPr/>
        </p:nvSpPr>
        <p:spPr>
          <a:xfrm flipH="1">
            <a:off x="9699395" y="5029682"/>
            <a:ext cx="198661" cy="148125"/>
          </a:xfrm>
          <a:prstGeom prst="line">
            <a:avLst/>
          </a:prstGeom>
          <a:noFill/>
          <a:ln w="19050">
            <a:solidFill>
              <a:schemeClr val="accent6"/>
            </a:solidFill>
            <a:prstDash val="solid"/>
          </a:ln>
        </p:spPr>
      </p:sp>
      <p:sp>
        <p:nvSpPr>
          <p:cNvPr id="33" name="Shape 29"/>
          <p:cNvSpPr/>
          <p:nvPr/>
        </p:nvSpPr>
        <p:spPr>
          <a:xfrm>
            <a:off x="10205942" y="5029682"/>
            <a:ext cx="198661" cy="148125"/>
          </a:xfrm>
          <a:prstGeom prst="line">
            <a:avLst/>
          </a:prstGeom>
          <a:noFill/>
          <a:ln w="19050">
            <a:solidFill>
              <a:schemeClr val="accent6"/>
            </a:solidFill>
            <a:prstDash val="solid"/>
          </a:ln>
        </p:spPr>
      </p:sp>
      <p:sp>
        <p:nvSpPr>
          <p:cNvPr id="34" name="node s"/>
          <p:cNvSpPr/>
          <p:nvPr/>
        </p:nvSpPr>
        <p:spPr>
          <a:xfrm>
            <a:off x="9165031" y="4334256"/>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s</a:t>
            </a:r>
            <a:endParaRPr lang="en-US" sz="1400" dirty="0"/>
          </a:p>
        </p:txBody>
      </p:sp>
      <p:sp>
        <p:nvSpPr>
          <p:cNvPr id="35" name="node a"/>
          <p:cNvSpPr/>
          <p:nvPr/>
        </p:nvSpPr>
        <p:spPr>
          <a:xfrm>
            <a:off x="7948879" y="4722876"/>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a:t>
            </a:r>
            <a:endParaRPr lang="en-US" sz="1400" dirty="0"/>
          </a:p>
        </p:txBody>
      </p:sp>
      <p:sp>
        <p:nvSpPr>
          <p:cNvPr id="36" name="node b"/>
          <p:cNvSpPr/>
          <p:nvPr/>
        </p:nvSpPr>
        <p:spPr>
          <a:xfrm>
            <a:off x="8817559" y="4722876"/>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b</a:t>
            </a:r>
            <a:endParaRPr lang="en-US" sz="1400" dirty="0"/>
          </a:p>
        </p:txBody>
      </p:sp>
      <p:sp>
        <p:nvSpPr>
          <p:cNvPr id="37" name="node c"/>
          <p:cNvSpPr/>
          <p:nvPr/>
        </p:nvSpPr>
        <p:spPr>
          <a:xfrm>
            <a:off x="9859975" y="4722876"/>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c</a:t>
            </a:r>
            <a:endParaRPr lang="en-US" sz="1400" dirty="0"/>
          </a:p>
        </p:txBody>
      </p:sp>
      <p:sp>
        <p:nvSpPr>
          <p:cNvPr id="38" name="node d"/>
          <p:cNvSpPr/>
          <p:nvPr/>
        </p:nvSpPr>
        <p:spPr>
          <a:xfrm>
            <a:off x="9338767" y="5111496"/>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d</a:t>
            </a:r>
            <a:endParaRPr lang="en-US" sz="1400" dirty="0"/>
          </a:p>
        </p:txBody>
      </p:sp>
      <p:sp>
        <p:nvSpPr>
          <p:cNvPr id="39" name="node e"/>
          <p:cNvSpPr/>
          <p:nvPr/>
        </p:nvSpPr>
        <p:spPr>
          <a:xfrm>
            <a:off x="10381183" y="5111496"/>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e</a:t>
            </a:r>
            <a:endParaRPr lang="en-US" sz="1400" dirty="0"/>
          </a:p>
        </p:txBody>
      </p:sp>
      <p:sp>
        <p:nvSpPr>
          <p:cNvPr id="40" name="Text 36"/>
          <p:cNvSpPr txBox="1"/>
          <p:nvPr/>
        </p:nvSpPr>
        <p:spPr>
          <a:xfrm>
            <a:off x="7345375" y="5577840"/>
            <a:ext cx="4023360" cy="548640"/>
          </a:xfrm>
          <a:prstGeom prst="rect">
            <a:avLst/>
          </a:prstGeom>
          <a:noFill/>
          <a:ln/>
        </p:spPr>
        <p:txBody>
          <a:bodyPr wrap="square" lIns="0" tIns="0" rIns="0" bIns="0" rtlCol="0" anchor="t"/>
          <a:lstStyle/>
          <a:p>
            <a:pPr indent="0" marL="0">
              <a:buNone/>
            </a:pPr>
            <a:r>
              <a:rPr lang="en-US" sz="1400" dirty="0">
                <a:solidFill>
                  <a:schemeClr val="tx1"/>
                </a:solidFill>
              </a:rPr>
              <a:t>c dominates d and e: remove it and neither can be reached from 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Revalidation: is a cached answer still right?</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Decided from the answer and its certificate, without searching again; certified operations re-check theirs on the new records.</a:t>
            </a:r>
            <a:endParaRPr lang="en-US" sz="1600" dirty="0"/>
          </a:p>
        </p:txBody>
      </p:sp>
      <p:sp>
        <p:nvSpPr>
          <p:cNvPr id="4" name="verdict holds"/>
          <p:cNvSpPr/>
          <p:nvPr/>
        </p:nvSpPr>
        <p:spPr>
          <a:xfrm>
            <a:off x="548640" y="1691640"/>
            <a:ext cx="5806440" cy="1459145"/>
          </a:xfrm>
          <a:prstGeom prst="roundRect">
            <a:avLst>
              <a:gd name="adj" fmla="val 6267"/>
            </a:avLst>
          </a:prstGeom>
          <a:solidFill>
            <a:schemeClr val="bg2"/>
          </a:solidFill>
          <a:ln/>
        </p:spPr>
      </p:sp>
      <p:sp>
        <p:nvSpPr>
          <p:cNvPr id="5" name="icon holds"/>
          <p:cNvSpPr/>
          <p:nvPr/>
        </p:nvSpPr>
        <p:spPr>
          <a:xfrm>
            <a:off x="777240" y="2137749"/>
            <a:ext cx="566928" cy="566928"/>
          </a:xfrm>
          <a:prstGeom prst="ellipse">
            <a:avLst/>
          </a:prstGeom>
          <a:solidFill>
            <a:schemeClr val="accent1"/>
          </a:solidFill>
          <a:ln/>
        </p:spPr>
      </p:sp>
      <p:pic>
        <p:nvPicPr>
          <p:cNvPr id="6" name="Image 0" descr="holds">    </p:cNvPr>
          <p:cNvPicPr>
            <a:picLocks noChangeAspect="1"/>
          </p:cNvPicPr>
          <p:nvPr/>
        </p:nvPicPr>
        <p:blipFill>
          <a:blip r:embed="rId1"/>
          <a:stretch>
            <a:fillRect/>
          </a:stretch>
        </p:blipFill>
        <p:spPr>
          <a:xfrm>
            <a:off x="901964" y="2262473"/>
            <a:ext cx="317480" cy="317480"/>
          </a:xfrm>
          <a:prstGeom prst="rect">
            <a:avLst/>
          </a:prstGeom>
        </p:spPr>
      </p:pic>
      <p:sp>
        <p:nvSpPr>
          <p:cNvPr id="7" name="Text 4"/>
          <p:cNvSpPr txBox="1"/>
          <p:nvPr/>
        </p:nvSpPr>
        <p:spPr>
          <a:xfrm>
            <a:off x="1554480" y="1783080"/>
            <a:ext cx="4617720" cy="1276265"/>
          </a:xfrm>
          <a:prstGeom prst="rect">
            <a:avLst/>
          </a:prstGeom>
          <a:noFill/>
          <a:ln/>
        </p:spPr>
        <p:txBody>
          <a:bodyPr wrap="square" lIns="0" tIns="0" rIns="0" bIns="0" rtlCol="0" anchor="ctr"/>
          <a:lstStyle/>
          <a:p>
            <a:pPr indent="0" marL="0">
              <a:spcAft>
                <a:spcPts val="200"/>
              </a:spcAft>
              <a:buNone/>
            </a:pPr>
            <a:r>
              <a:rPr lang="en-US" sz="1800" b="1" dirty="0">
                <a:solidFill>
                  <a:schemeClr val="accent1"/>
                </a:solidFill>
                <a:latin typeface="Courier New" pitchFamily="34" charset="0"/>
                <a:ea typeface="Courier New" pitchFamily="34" charset="-122"/>
                <a:cs typeface="Courier New" pitchFamily="34" charset="-120"/>
              </a:rPr>
              <a:t>holds</a:t>
            </a:r>
            <a:endParaRPr lang="en-US" sz="1800" dirty="0"/>
          </a:p>
          <a:p>
            <a:pPr indent="0" marL="0">
              <a:buNone/>
            </a:pPr>
            <a:r>
              <a:rPr lang="en-US" sz="1400" dirty="0">
                <a:solidFill>
                  <a:schemeClr val="tx1"/>
                </a:solidFill>
              </a:rPr>
              <a:t>Still correct on the new projection. Structure, flows, matchings, dominators, incidence, critical paths and d-separation hold exactly when their certificate checks, a forest when it verifies; a cycle or active trail by itself.</a:t>
            </a:r>
            <a:endParaRPr lang="en-US" sz="1800" dirty="0"/>
          </a:p>
        </p:txBody>
      </p:sp>
      <p:sp>
        <p:nvSpPr>
          <p:cNvPr id="8" name="verdict fails"/>
          <p:cNvSpPr/>
          <p:nvPr/>
        </p:nvSpPr>
        <p:spPr>
          <a:xfrm>
            <a:off x="548640" y="3333665"/>
            <a:ext cx="5806440" cy="1459145"/>
          </a:xfrm>
          <a:prstGeom prst="roundRect">
            <a:avLst>
              <a:gd name="adj" fmla="val 6267"/>
            </a:avLst>
          </a:prstGeom>
          <a:solidFill>
            <a:schemeClr val="bg2"/>
          </a:solidFill>
          <a:ln/>
        </p:spPr>
      </p:sp>
      <p:sp>
        <p:nvSpPr>
          <p:cNvPr id="9" name="icon fails"/>
          <p:cNvSpPr/>
          <p:nvPr/>
        </p:nvSpPr>
        <p:spPr>
          <a:xfrm>
            <a:off x="777240" y="3779774"/>
            <a:ext cx="566928" cy="566928"/>
          </a:xfrm>
          <a:prstGeom prst="ellipse">
            <a:avLst/>
          </a:prstGeom>
          <a:solidFill>
            <a:schemeClr val="accent4"/>
          </a:solidFill>
          <a:ln/>
        </p:spPr>
      </p:sp>
      <p:pic>
        <p:nvPicPr>
          <p:cNvPr id="10" name="Image 1" descr="fails">    </p:cNvPr>
          <p:cNvPicPr>
            <a:picLocks noChangeAspect="1"/>
          </p:cNvPicPr>
          <p:nvPr/>
        </p:nvPicPr>
        <p:blipFill>
          <a:blip r:embed="rId2"/>
          <a:stretch>
            <a:fillRect/>
          </a:stretch>
        </p:blipFill>
        <p:spPr>
          <a:xfrm>
            <a:off x="901964" y="3904498"/>
            <a:ext cx="317480" cy="317480"/>
          </a:xfrm>
          <a:prstGeom prst="rect">
            <a:avLst/>
          </a:prstGeom>
        </p:spPr>
      </p:pic>
      <p:sp>
        <p:nvSpPr>
          <p:cNvPr id="11" name="Text 7"/>
          <p:cNvSpPr txBox="1"/>
          <p:nvPr/>
        </p:nvSpPr>
        <p:spPr>
          <a:xfrm>
            <a:off x="1554480" y="3425105"/>
            <a:ext cx="4617720" cy="1276265"/>
          </a:xfrm>
          <a:prstGeom prst="rect">
            <a:avLst/>
          </a:prstGeom>
          <a:noFill/>
          <a:ln/>
        </p:spPr>
        <p:txBody>
          <a:bodyPr wrap="square" lIns="0" tIns="0" rIns="0" bIns="0" rtlCol="0" anchor="ctr"/>
          <a:lstStyle/>
          <a:p>
            <a:pPr indent="0" marL="0">
              <a:spcAft>
                <a:spcPts val="200"/>
              </a:spcAft>
              <a:buNone/>
            </a:pPr>
            <a:r>
              <a:rPr lang="en-US" sz="1800" b="1" dirty="0">
                <a:solidFill>
                  <a:schemeClr val="accent4"/>
                </a:solidFill>
                <a:latin typeface="Courier New" pitchFamily="34" charset="0"/>
                <a:ea typeface="Courier New" pitchFamily="34" charset="-122"/>
                <a:cs typeface="Courier New" pitchFamily="34" charset="-120"/>
              </a:rPr>
              <a:t>fails</a:t>
            </a:r>
            <a:endParaRPr lang="en-US" sz="1800" dirty="0"/>
          </a:p>
          <a:p>
            <a:pPr indent="0" marL="0">
              <a:buNone/>
            </a:pPr>
            <a:r>
              <a:rPr lang="en-US" sz="1400" dirty="0">
                <a:solidFill>
                  <a:schemeClr val="tx1"/>
                </a:solidFill>
              </a:rPr>
              <a:t>Refuted by the edit: a node or witness edge gone, or a claim the new records contradict (</a:t>
            </a:r>
            <a:pPr indent="0" marL="0">
              <a:buNone/>
            </a:pPr>
            <a:r>
              <a:rPr lang="en-US" sz="1300" dirty="0">
                <a:solidFill>
                  <a:schemeClr val="tx1"/>
                </a:solidFill>
                <a:latin typeface="Courier New" pitchFamily="34" charset="0"/>
                <a:ea typeface="Courier New" pitchFamily="34" charset="-122"/>
                <a:cs typeface="Courier New" pitchFamily="34" charset="-120"/>
              </a:rPr>
              <a:t>answer_refuted</a:t>
            </a:r>
            <a:pPr indent="0" marL="0">
              <a:buNone/>
            </a:pPr>
            <a:r>
              <a:rPr lang="en-US" sz="1400" dirty="0">
                <a:solidFill>
                  <a:schemeClr val="tx1"/>
                </a:solidFill>
              </a:rPr>
              <a:t>: a kernel vector no longer zero, a flow beyond a capacity, a cut no longer nearest the sources).</a:t>
            </a:r>
            <a:endParaRPr lang="en-US" sz="1800" dirty="0"/>
          </a:p>
        </p:txBody>
      </p:sp>
      <p:sp>
        <p:nvSpPr>
          <p:cNvPr id="12" name="verdict unknown"/>
          <p:cNvSpPr/>
          <p:nvPr/>
        </p:nvSpPr>
        <p:spPr>
          <a:xfrm>
            <a:off x="548640" y="4975691"/>
            <a:ext cx="5806440" cy="1242229"/>
          </a:xfrm>
          <a:prstGeom prst="roundRect">
            <a:avLst>
              <a:gd name="adj" fmla="val 7361"/>
            </a:avLst>
          </a:prstGeom>
          <a:solidFill>
            <a:schemeClr val="bg2"/>
          </a:solidFill>
          <a:ln/>
        </p:spPr>
      </p:sp>
      <p:sp>
        <p:nvSpPr>
          <p:cNvPr id="13" name="icon unknown"/>
          <p:cNvSpPr/>
          <p:nvPr/>
        </p:nvSpPr>
        <p:spPr>
          <a:xfrm>
            <a:off x="777240" y="5313341"/>
            <a:ext cx="566928" cy="566928"/>
          </a:xfrm>
          <a:prstGeom prst="ellipse">
            <a:avLst/>
          </a:prstGeom>
          <a:solidFill>
            <a:schemeClr val="accent2"/>
          </a:solidFill>
          <a:ln/>
        </p:spPr>
      </p:sp>
      <p:pic>
        <p:nvPicPr>
          <p:cNvPr id="14" name="Image 2" descr="unknown">    </p:cNvPr>
          <p:cNvPicPr>
            <a:picLocks noChangeAspect="1"/>
          </p:cNvPicPr>
          <p:nvPr/>
        </p:nvPicPr>
        <p:blipFill>
          <a:blip r:embed="rId3"/>
          <a:stretch>
            <a:fillRect/>
          </a:stretch>
        </p:blipFill>
        <p:spPr>
          <a:xfrm>
            <a:off x="901964" y="5438065"/>
            <a:ext cx="317480" cy="317480"/>
          </a:xfrm>
          <a:prstGeom prst="rect">
            <a:avLst/>
          </a:prstGeom>
        </p:spPr>
      </p:pic>
      <p:sp>
        <p:nvSpPr>
          <p:cNvPr id="15" name="Text 10"/>
          <p:cNvSpPr txBox="1"/>
          <p:nvPr/>
        </p:nvSpPr>
        <p:spPr>
          <a:xfrm>
            <a:off x="1554480" y="5067131"/>
            <a:ext cx="4617720" cy="1059349"/>
          </a:xfrm>
          <a:prstGeom prst="rect">
            <a:avLst/>
          </a:prstGeom>
          <a:noFill/>
          <a:ln/>
        </p:spPr>
        <p:txBody>
          <a:bodyPr wrap="square" lIns="0" tIns="0" rIns="0" bIns="0" rtlCol="0" anchor="ctr"/>
          <a:lstStyle/>
          <a:p>
            <a:pPr indent="0" marL="0">
              <a:spcAft>
                <a:spcPts val="200"/>
              </a:spcAft>
              <a:buNone/>
            </a:pPr>
            <a:r>
              <a:rPr lang="en-US" sz="1800" b="1" dirty="0">
                <a:solidFill>
                  <a:schemeClr val="accent2"/>
                </a:solidFill>
                <a:latin typeface="Courier New" pitchFamily="34" charset="0"/>
                <a:ea typeface="Courier New" pitchFamily="34" charset="-122"/>
                <a:cs typeface="Courier New" pitchFamily="34" charset="-120"/>
              </a:rPr>
              <a:t>unknown</a:t>
            </a:r>
            <a:endParaRPr lang="en-US" sz="1800" dirty="0"/>
          </a:p>
          <a:p>
            <a:pPr indent="0" marL="0">
              <a:buNone/>
            </a:pPr>
            <a:r>
              <a:rPr lang="en-US" sz="1400" dirty="0">
                <a:solidFill>
                  <a:schemeClr val="tx1"/>
                </a:solidFill>
              </a:rPr>
              <a:t>Not decidable without a new search: interrupted, uncertified, or an edit broke the proof without refuting it (</a:t>
            </a:r>
            <a:pPr indent="0" marL="0">
              <a:buNone/>
            </a:pPr>
            <a:r>
              <a:rPr lang="en-US" sz="1300" dirty="0">
                <a:solidFill>
                  <a:schemeClr val="tx1"/>
                </a:solidFill>
                <a:latin typeface="Courier New" pitchFamily="34" charset="0"/>
                <a:ea typeface="Courier New" pitchFamily="34" charset="-122"/>
                <a:cs typeface="Courier New" pitchFamily="34" charset="-120"/>
              </a:rPr>
              <a:t>certificate_broken</a:t>
            </a:r>
            <a:pPr indent="0" marL="0">
              <a:buNone/>
            </a:pPr>
            <a:r>
              <a:rPr lang="en-US" sz="1400" dirty="0">
                <a:solidFill>
                  <a:schemeClr val="tx1"/>
                </a:solidFill>
              </a:rPr>
              <a:t>).</a:t>
            </a:r>
            <a:endParaRPr lang="en-US" sz="1800" dirty="0"/>
          </a:p>
        </p:txBody>
      </p:sp>
      <p:sp>
        <p:nvSpPr>
          <p:cNvPr id="16" name="Text 11"/>
          <p:cNvSpPr txBox="1"/>
          <p:nvPr/>
        </p:nvSpPr>
        <p:spPr>
          <a:xfrm>
            <a:off x="6766560" y="1691640"/>
            <a:ext cx="2301088" cy="11887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0.1 ms</a:t>
            </a:r>
            <a:endParaRPr lang="en-US" sz="4000" dirty="0"/>
          </a:p>
          <a:p>
            <a:pPr indent="0" marL="0">
              <a:buNone/>
            </a:pPr>
            <a:r>
              <a:rPr lang="en-US" sz="1400" dirty="0">
                <a:solidFill>
                  <a:schemeClr val="tx1"/>
                </a:solidFill>
              </a:rPr>
              <a:t>per cached result, checked against a diff</a:t>
            </a:r>
            <a:endParaRPr lang="en-US" sz="4000" dirty="0"/>
          </a:p>
        </p:txBody>
      </p:sp>
      <p:sp>
        <p:nvSpPr>
          <p:cNvPr id="17" name="Text 12"/>
          <p:cNvSpPr txBox="1"/>
          <p:nvPr/>
        </p:nvSpPr>
        <p:spPr>
          <a:xfrm>
            <a:off x="9341968" y="1691640"/>
            <a:ext cx="2301088" cy="1188720"/>
          </a:xfrm>
          <a:prstGeom prst="rect">
            <a:avLst/>
          </a:prstGeom>
          <a:noFill/>
          <a:ln/>
        </p:spPr>
        <p:txBody>
          <a:bodyPr wrap="square" lIns="0" tIns="0" rIns="0" bIns="0" rtlCol="0" anchor="t"/>
          <a:lstStyle/>
          <a:p>
            <a:pPr indent="0" marL="0">
              <a:buNone/>
            </a:pPr>
            <a:r>
              <a:rPr lang="en-US" sz="4000" b="1" dirty="0">
                <a:solidFill>
                  <a:schemeClr val="accent6"/>
                </a:solidFill>
                <a:latin typeface="Cambria" pitchFamily="34" charset="0"/>
                <a:ea typeface="Cambria" pitchFamily="34" charset="-122"/>
                <a:cs typeface="Cambria" pitchFamily="34" charset="-120"/>
              </a:rPr>
              <a:t>≈100 ms</a:t>
            </a:r>
            <a:endParaRPr lang="en-US" sz="4000" dirty="0"/>
          </a:p>
          <a:p>
            <a:pPr indent="0" marL="0">
              <a:buNone/>
            </a:pPr>
            <a:r>
              <a:rPr lang="en-US" sz="1400" dirty="0">
                <a:solidFill>
                  <a:schemeClr val="tx1"/>
                </a:solidFill>
              </a:rPr>
              <a:t>to rerun the same request</a:t>
            </a:r>
            <a:endParaRPr lang="en-US" sz="4000" dirty="0"/>
          </a:p>
        </p:txBody>
      </p:sp>
      <p:sp>
        <p:nvSpPr>
          <p:cNvPr id="18" name="Text 13"/>
          <p:cNvSpPr txBox="1"/>
          <p:nvPr/>
        </p:nvSpPr>
        <p:spPr>
          <a:xfrm>
            <a:off x="6766560" y="2898648"/>
            <a:ext cx="4876495" cy="274320"/>
          </a:xfrm>
          <a:prstGeom prst="rect">
            <a:avLst/>
          </a:prstGeom>
          <a:noFill/>
          <a:ln/>
        </p:spPr>
        <p:txBody>
          <a:bodyPr wrap="square" lIns="0" tIns="0" rIns="0" bIns="0" rtlCol="0" anchor="t"/>
          <a:lstStyle/>
          <a:p>
            <a:pPr indent="0" marL="0">
              <a:buNone/>
            </a:pPr>
            <a:r>
              <a:rPr lang="en-US" sz="1200" i="1" dirty="0">
                <a:solidFill>
                  <a:schemeClr val="accent6"/>
                </a:solidFill>
              </a:rPr>
              <a:t>100,000 nodes, 500,000 edges, after a 40-edge edit (one 0.32 s diff)</a:t>
            </a:r>
            <a:endParaRPr lang="en-US" sz="1200" dirty="0"/>
          </a:p>
        </p:txBody>
      </p:sp>
      <p:graphicFrame>
        <p:nvGraphicFramePr>
          <p:cNvPr id="19" name="SCALE verdicts chart" descr=""/>
          <p:cNvGraphicFramePr/>
          <p:nvPr/>
        </p:nvGraphicFramePr>
        <p:xfrm>
          <a:off x="6766560" y="3383280"/>
          <a:ext cx="4876495" cy="2514600"/>
        </p:xfrm>
        <a:graphic xmlns:a="http://schemas.openxmlformats.org/drawingml/2006/main">
          <a:graphicData uri="http://schemas.openxmlformats.org/drawingml/2006/chart">
            <c:chart xmlns:c="http://schemas.openxmlformats.org/drawingml/2006/chart" r:id="rId4"/>
          </a:graphicData>
        </a:graphic>
      </p:graphicFrame>
      <p:sp>
        <p:nvSpPr>
          <p:cNvPr id="20" name="Text 14"/>
          <p:cNvSpPr txBox="1"/>
          <p:nvPr/>
        </p:nvSpPr>
        <p:spPr>
          <a:xfrm>
            <a:off x="6766560" y="5943600"/>
            <a:ext cx="4876495" cy="274320"/>
          </a:xfrm>
          <a:prstGeom prst="rect">
            <a:avLst/>
          </a:prstGeom>
          <a:noFill/>
          <a:ln/>
        </p:spPr>
        <p:txBody>
          <a:bodyPr wrap="square" lIns="0" tIns="0" rIns="0" bIns="0" rtlCol="0" anchor="t"/>
          <a:lstStyle/>
          <a:p>
            <a:pPr indent="0" marL="0">
              <a:buNone/>
            </a:pPr>
            <a:r>
              <a:rPr lang="en-US" sz="1200" i="1" dirty="0">
                <a:solidFill>
                  <a:schemeClr val="accent6"/>
                </a:solidFill>
              </a:rPr>
              <a:t>Each verdict confirmed by a fresh run.</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How we know the answers are right</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Four independent checks, none of which trusts the engine's own output.</a:t>
            </a:r>
            <a:endParaRPr lang="en-US" sz="1600" dirty="0"/>
          </a:p>
        </p:txBody>
      </p:sp>
      <p:sp>
        <p:nvSpPr>
          <p:cNvPr id="4" name="count runtime tests pass"/>
          <p:cNvSpPr/>
          <p:nvPr/>
        </p:nvSpPr>
        <p:spPr>
          <a:xfrm>
            <a:off x="548640" y="1691640"/>
            <a:ext cx="2036003" cy="1005840"/>
          </a:xfrm>
          <a:prstGeom prst="roundRect">
            <a:avLst>
              <a:gd name="adj" fmla="val 9091"/>
            </a:avLst>
          </a:prstGeom>
          <a:solidFill>
            <a:schemeClr val="tx2"/>
          </a:solidFill>
          <a:ln/>
        </p:spPr>
      </p:sp>
      <p:sp>
        <p:nvSpPr>
          <p:cNvPr id="5" name="Text 3"/>
          <p:cNvSpPr txBox="1"/>
          <p:nvPr/>
        </p:nvSpPr>
        <p:spPr>
          <a:xfrm>
            <a:off x="731520" y="1801368"/>
            <a:ext cx="1670243" cy="82296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613</a:t>
            </a:r>
            <a:endParaRPr lang="en-US" sz="3400" dirty="0"/>
          </a:p>
          <a:p>
            <a:pPr indent="0" marL="0">
              <a:buNone/>
            </a:pPr>
            <a:r>
              <a:rPr lang="en-US" sz="1300" dirty="0">
                <a:solidFill>
                  <a:schemeClr val="accent5"/>
                </a:solidFill>
              </a:rPr>
              <a:t>runtime tests pass</a:t>
            </a:r>
            <a:endParaRPr lang="en-US" sz="3400" dirty="0"/>
          </a:p>
        </p:txBody>
      </p:sp>
      <p:sp>
        <p:nvSpPr>
          <p:cNvPr id="6" name="count conformance cases"/>
          <p:cNvSpPr/>
          <p:nvPr/>
        </p:nvSpPr>
        <p:spPr>
          <a:xfrm>
            <a:off x="2813243" y="1691640"/>
            <a:ext cx="2036003" cy="1005840"/>
          </a:xfrm>
          <a:prstGeom prst="roundRect">
            <a:avLst>
              <a:gd name="adj" fmla="val 9091"/>
            </a:avLst>
          </a:prstGeom>
          <a:solidFill>
            <a:schemeClr val="tx2"/>
          </a:solidFill>
          <a:ln/>
        </p:spPr>
      </p:sp>
      <p:sp>
        <p:nvSpPr>
          <p:cNvPr id="7" name="Text 5"/>
          <p:cNvSpPr txBox="1"/>
          <p:nvPr/>
        </p:nvSpPr>
        <p:spPr>
          <a:xfrm>
            <a:off x="2996123" y="1801368"/>
            <a:ext cx="1670243" cy="82296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188</a:t>
            </a:r>
            <a:endParaRPr lang="en-US" sz="3400" dirty="0"/>
          </a:p>
          <a:p>
            <a:pPr indent="0" marL="0">
              <a:buNone/>
            </a:pPr>
            <a:r>
              <a:rPr lang="en-US" sz="1300" dirty="0">
                <a:solidFill>
                  <a:schemeClr val="accent5"/>
                </a:solidFill>
              </a:rPr>
              <a:t>conformance cases</a:t>
            </a:r>
            <a:endParaRPr lang="en-US" sz="3400" dirty="0"/>
          </a:p>
        </p:txBody>
      </p:sp>
      <p:sp>
        <p:nvSpPr>
          <p:cNvPr id="8" name="count SCALE parity tests"/>
          <p:cNvSpPr/>
          <p:nvPr/>
        </p:nvSpPr>
        <p:spPr>
          <a:xfrm>
            <a:off x="5077846" y="1691640"/>
            <a:ext cx="2036003" cy="1005840"/>
          </a:xfrm>
          <a:prstGeom prst="roundRect">
            <a:avLst>
              <a:gd name="adj" fmla="val 9091"/>
            </a:avLst>
          </a:prstGeom>
          <a:solidFill>
            <a:schemeClr val="tx2"/>
          </a:solidFill>
          <a:ln/>
        </p:spPr>
      </p:sp>
      <p:sp>
        <p:nvSpPr>
          <p:cNvPr id="9" name="Text 7"/>
          <p:cNvSpPr txBox="1"/>
          <p:nvPr/>
        </p:nvSpPr>
        <p:spPr>
          <a:xfrm>
            <a:off x="5260726" y="1801368"/>
            <a:ext cx="1670243" cy="82296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16</a:t>
            </a:r>
            <a:endParaRPr lang="en-US" sz="3400" dirty="0"/>
          </a:p>
          <a:p>
            <a:pPr indent="0" marL="0">
              <a:buNone/>
            </a:pPr>
            <a:r>
              <a:rPr lang="en-US" sz="1300" dirty="0">
                <a:solidFill>
                  <a:schemeClr val="accent5"/>
                </a:solidFill>
              </a:rPr>
              <a:t>SCALE parity tests</a:t>
            </a:r>
            <a:endParaRPr lang="en-US" sz="3400" dirty="0"/>
          </a:p>
        </p:txBody>
      </p:sp>
      <p:sp>
        <p:nvSpPr>
          <p:cNvPr id="10" name="count STATES parity tests"/>
          <p:cNvSpPr/>
          <p:nvPr/>
        </p:nvSpPr>
        <p:spPr>
          <a:xfrm>
            <a:off x="7342449" y="1691640"/>
            <a:ext cx="2036003" cy="1005840"/>
          </a:xfrm>
          <a:prstGeom prst="roundRect">
            <a:avLst>
              <a:gd name="adj" fmla="val 9091"/>
            </a:avLst>
          </a:prstGeom>
          <a:solidFill>
            <a:schemeClr val="tx2"/>
          </a:solidFill>
          <a:ln/>
        </p:spPr>
      </p:sp>
      <p:sp>
        <p:nvSpPr>
          <p:cNvPr id="11" name="Text 9"/>
          <p:cNvSpPr txBox="1"/>
          <p:nvPr/>
        </p:nvSpPr>
        <p:spPr>
          <a:xfrm>
            <a:off x="7525329" y="1801368"/>
            <a:ext cx="1670243" cy="82296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6</a:t>
            </a:r>
            <a:endParaRPr lang="en-US" sz="3400" dirty="0"/>
          </a:p>
          <a:p>
            <a:pPr indent="0" marL="0">
              <a:buNone/>
            </a:pPr>
            <a:r>
              <a:rPr lang="en-US" sz="1300" dirty="0">
                <a:solidFill>
                  <a:schemeClr val="accent5"/>
                </a:solidFill>
              </a:rPr>
              <a:t>STATES parity tests</a:t>
            </a:r>
            <a:endParaRPr lang="en-US" sz="3400" dirty="0"/>
          </a:p>
        </p:txBody>
      </p:sp>
      <p:sp>
        <p:nvSpPr>
          <p:cNvPr id="12" name="count real requests agree"/>
          <p:cNvSpPr/>
          <p:nvPr/>
        </p:nvSpPr>
        <p:spPr>
          <a:xfrm>
            <a:off x="9607052" y="1691640"/>
            <a:ext cx="2036003" cy="1005840"/>
          </a:xfrm>
          <a:prstGeom prst="roundRect">
            <a:avLst>
              <a:gd name="adj" fmla="val 9091"/>
            </a:avLst>
          </a:prstGeom>
          <a:solidFill>
            <a:schemeClr val="tx2"/>
          </a:solidFill>
          <a:ln/>
        </p:spPr>
      </p:sp>
      <p:sp>
        <p:nvSpPr>
          <p:cNvPr id="13" name="Text 11"/>
          <p:cNvSpPr txBox="1"/>
          <p:nvPr/>
        </p:nvSpPr>
        <p:spPr>
          <a:xfrm>
            <a:off x="9789932" y="1801368"/>
            <a:ext cx="1670243" cy="82296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73 / 73</a:t>
            </a:r>
            <a:endParaRPr lang="en-US" sz="3400" dirty="0"/>
          </a:p>
          <a:p>
            <a:pPr indent="0" marL="0">
              <a:buNone/>
            </a:pPr>
            <a:r>
              <a:rPr lang="en-US" sz="1300" dirty="0">
                <a:solidFill>
                  <a:schemeClr val="accent5"/>
                </a:solidFill>
              </a:rPr>
              <a:t>real requests agree</a:t>
            </a:r>
            <a:endParaRPr lang="en-US" sz="3400" dirty="0"/>
          </a:p>
        </p:txBody>
      </p:sp>
      <p:sp>
        <p:nvSpPr>
          <p:cNvPr id="14" name="Independent verifier"/>
          <p:cNvSpPr/>
          <p:nvPr/>
        </p:nvSpPr>
        <p:spPr>
          <a:xfrm>
            <a:off x="548640" y="2898648"/>
            <a:ext cx="2567864" cy="1993392"/>
          </a:xfrm>
          <a:prstGeom prst="roundRect">
            <a:avLst>
              <a:gd name="adj" fmla="val 4587"/>
            </a:avLst>
          </a:prstGeom>
          <a:solidFill>
            <a:schemeClr val="bg2"/>
          </a:solidFill>
          <a:ln/>
        </p:spPr>
      </p:sp>
      <p:sp>
        <p:nvSpPr>
          <p:cNvPr id="15" name="icon Independent verifier"/>
          <p:cNvSpPr/>
          <p:nvPr/>
        </p:nvSpPr>
        <p:spPr>
          <a:xfrm>
            <a:off x="749808" y="3081528"/>
            <a:ext cx="457200" cy="457200"/>
          </a:xfrm>
          <a:prstGeom prst="ellipse">
            <a:avLst/>
          </a:prstGeom>
          <a:solidFill>
            <a:schemeClr val="accent1"/>
          </a:solidFill>
          <a:ln/>
        </p:spPr>
      </p:sp>
      <p:pic>
        <p:nvPicPr>
          <p:cNvPr id="16" name="Image 0" descr="Independent verifier">    </p:cNvPr>
          <p:cNvPicPr>
            <a:picLocks noChangeAspect="1"/>
          </p:cNvPicPr>
          <p:nvPr/>
        </p:nvPicPr>
        <p:blipFill>
          <a:blip r:embed="rId1"/>
          <a:stretch>
            <a:fillRect/>
          </a:stretch>
        </p:blipFill>
        <p:spPr>
          <a:xfrm>
            <a:off x="850392" y="3182112"/>
            <a:ext cx="256032" cy="256032"/>
          </a:xfrm>
          <a:prstGeom prst="rect">
            <a:avLst/>
          </a:prstGeom>
        </p:spPr>
      </p:pic>
      <p:sp>
        <p:nvSpPr>
          <p:cNvPr id="17" name="Text 14"/>
          <p:cNvSpPr txBox="1"/>
          <p:nvPr/>
        </p:nvSpPr>
        <p:spPr>
          <a:xfrm>
            <a:off x="1335024" y="3035808"/>
            <a:ext cx="1653464" cy="548640"/>
          </a:xfrm>
          <a:prstGeom prst="rect">
            <a:avLst/>
          </a:prstGeom>
          <a:noFill/>
          <a:ln/>
        </p:spPr>
        <p:txBody>
          <a:bodyPr wrap="square" lIns="0" tIns="0" rIns="0" bIns="0" rtlCol="0" anchor="ctr"/>
          <a:lstStyle/>
          <a:p>
            <a:pPr indent="0" marL="0">
              <a:buNone/>
            </a:pPr>
            <a:r>
              <a:rPr lang="en-US" sz="1600" b="1" dirty="0">
                <a:solidFill>
                  <a:schemeClr val="tx1"/>
                </a:solidFill>
              </a:rPr>
              <a:t>Independent verifier</a:t>
            </a:r>
            <a:endParaRPr lang="en-US" sz="1600" dirty="0"/>
          </a:p>
        </p:txBody>
      </p:sp>
      <p:sp>
        <p:nvSpPr>
          <p:cNvPr id="18" name="Text 15"/>
          <p:cNvSpPr txBox="1"/>
          <p:nvPr/>
        </p:nvSpPr>
        <p:spPr>
          <a:xfrm>
            <a:off x="749808" y="3721608"/>
            <a:ext cx="2165528" cy="1078992"/>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verify_result</a:t>
            </a:r>
            <a:pPr indent="0" marL="0">
              <a:buNone/>
            </a:pPr>
            <a:r>
              <a:rPr lang="en-US" sz="1400" dirty="0">
                <a:solidFill>
                  <a:schemeClr val="tx1"/>
                </a:solidFill>
              </a:rPr>
              <a:t> re-checks every witness, closure and certificate against the input records, not the engine's state.</a:t>
            </a:r>
            <a:endParaRPr lang="en-US" sz="1300" dirty="0"/>
          </a:p>
        </p:txBody>
      </p:sp>
      <p:sp>
        <p:nvSpPr>
          <p:cNvPr id="19" name="Independent oracles"/>
          <p:cNvSpPr/>
          <p:nvPr/>
        </p:nvSpPr>
        <p:spPr>
          <a:xfrm>
            <a:off x="3390824" y="2898648"/>
            <a:ext cx="2567864" cy="1993392"/>
          </a:xfrm>
          <a:prstGeom prst="roundRect">
            <a:avLst>
              <a:gd name="adj" fmla="val 4587"/>
            </a:avLst>
          </a:prstGeom>
          <a:solidFill>
            <a:schemeClr val="bg2"/>
          </a:solidFill>
          <a:ln/>
        </p:spPr>
      </p:sp>
      <p:sp>
        <p:nvSpPr>
          <p:cNvPr id="20" name="icon Independent oracles"/>
          <p:cNvSpPr/>
          <p:nvPr/>
        </p:nvSpPr>
        <p:spPr>
          <a:xfrm>
            <a:off x="3591992" y="3081528"/>
            <a:ext cx="457200" cy="457200"/>
          </a:xfrm>
          <a:prstGeom prst="ellipse">
            <a:avLst/>
          </a:prstGeom>
          <a:solidFill>
            <a:schemeClr val="accent1"/>
          </a:solidFill>
          <a:ln/>
        </p:spPr>
      </p:sp>
      <p:pic>
        <p:nvPicPr>
          <p:cNvPr id="21" name="Image 1" descr="Independent oracles">    </p:cNvPr>
          <p:cNvPicPr>
            <a:picLocks noChangeAspect="1"/>
          </p:cNvPicPr>
          <p:nvPr/>
        </p:nvPicPr>
        <p:blipFill>
          <a:blip r:embed="rId2"/>
          <a:stretch>
            <a:fillRect/>
          </a:stretch>
        </p:blipFill>
        <p:spPr>
          <a:xfrm>
            <a:off x="3692576" y="3182112"/>
            <a:ext cx="256032" cy="256032"/>
          </a:xfrm>
          <a:prstGeom prst="rect">
            <a:avLst/>
          </a:prstGeom>
        </p:spPr>
      </p:pic>
      <p:sp>
        <p:nvSpPr>
          <p:cNvPr id="22" name="Text 18"/>
          <p:cNvSpPr txBox="1"/>
          <p:nvPr/>
        </p:nvSpPr>
        <p:spPr>
          <a:xfrm>
            <a:off x="4177208" y="3035808"/>
            <a:ext cx="1653464" cy="548640"/>
          </a:xfrm>
          <a:prstGeom prst="rect">
            <a:avLst/>
          </a:prstGeom>
          <a:noFill/>
          <a:ln/>
        </p:spPr>
        <p:txBody>
          <a:bodyPr wrap="square" lIns="0" tIns="0" rIns="0" bIns="0" rtlCol="0" anchor="ctr"/>
          <a:lstStyle/>
          <a:p>
            <a:pPr indent="0" marL="0">
              <a:buNone/>
            </a:pPr>
            <a:r>
              <a:rPr lang="en-US" sz="1600" b="1" dirty="0">
                <a:solidFill>
                  <a:schemeClr val="tx1"/>
                </a:solidFill>
              </a:rPr>
              <a:t>Independent oracles</a:t>
            </a:r>
            <a:endParaRPr lang="en-US" sz="1600" dirty="0"/>
          </a:p>
        </p:txBody>
      </p:sp>
      <p:sp>
        <p:nvSpPr>
          <p:cNvPr id="23" name="Text 19"/>
          <p:cNvSpPr txBox="1"/>
          <p:nvPr/>
        </p:nvSpPr>
        <p:spPr>
          <a:xfrm>
            <a:off x="3591992" y="3721608"/>
            <a:ext cx="2165528" cy="1078992"/>
          </a:xfrm>
          <a:prstGeom prst="rect">
            <a:avLst/>
          </a:prstGeom>
          <a:noFill/>
          <a:ln/>
        </p:spPr>
        <p:txBody>
          <a:bodyPr wrap="square" lIns="0" tIns="0" rIns="0" bIns="0" rtlCol="0" anchor="t"/>
          <a:lstStyle/>
          <a:p>
            <a:pPr indent="0" marL="0">
              <a:buNone/>
            </a:pPr>
            <a:r>
              <a:rPr lang="en-US" sz="1400" dirty="0">
                <a:solidFill>
                  <a:schemeClr val="tx1"/>
                </a:solidFill>
              </a:rPr>
              <a:t>Separate implementations on random graphs: Brzozowski derivatives, exact PageRank over fractions, brute-force enumerators, NetworkX.</a:t>
            </a:r>
            <a:endParaRPr lang="en-US" sz="1400" dirty="0"/>
          </a:p>
        </p:txBody>
      </p:sp>
      <p:sp>
        <p:nvSpPr>
          <p:cNvPr id="24" name="Hand-worked cases"/>
          <p:cNvSpPr/>
          <p:nvPr/>
        </p:nvSpPr>
        <p:spPr>
          <a:xfrm>
            <a:off x="6233008" y="2898648"/>
            <a:ext cx="2567864" cy="1993392"/>
          </a:xfrm>
          <a:prstGeom prst="roundRect">
            <a:avLst>
              <a:gd name="adj" fmla="val 4587"/>
            </a:avLst>
          </a:prstGeom>
          <a:solidFill>
            <a:schemeClr val="bg2"/>
          </a:solidFill>
          <a:ln/>
        </p:spPr>
      </p:sp>
      <p:sp>
        <p:nvSpPr>
          <p:cNvPr id="25" name="icon Hand-worked cases"/>
          <p:cNvSpPr/>
          <p:nvPr/>
        </p:nvSpPr>
        <p:spPr>
          <a:xfrm>
            <a:off x="6434176" y="3081528"/>
            <a:ext cx="457200" cy="457200"/>
          </a:xfrm>
          <a:prstGeom prst="ellipse">
            <a:avLst/>
          </a:prstGeom>
          <a:solidFill>
            <a:schemeClr val="accent1"/>
          </a:solidFill>
          <a:ln/>
        </p:spPr>
      </p:sp>
      <p:pic>
        <p:nvPicPr>
          <p:cNvPr id="26" name="Image 2" descr="Hand-worked cases">    </p:cNvPr>
          <p:cNvPicPr>
            <a:picLocks noChangeAspect="1"/>
          </p:cNvPicPr>
          <p:nvPr/>
        </p:nvPicPr>
        <p:blipFill>
          <a:blip r:embed="rId3"/>
          <a:stretch>
            <a:fillRect/>
          </a:stretch>
        </p:blipFill>
        <p:spPr>
          <a:xfrm>
            <a:off x="6534760" y="3182112"/>
            <a:ext cx="256032" cy="256032"/>
          </a:xfrm>
          <a:prstGeom prst="rect">
            <a:avLst/>
          </a:prstGeom>
        </p:spPr>
      </p:pic>
      <p:sp>
        <p:nvSpPr>
          <p:cNvPr id="27" name="Text 22"/>
          <p:cNvSpPr txBox="1"/>
          <p:nvPr/>
        </p:nvSpPr>
        <p:spPr>
          <a:xfrm>
            <a:off x="7019392" y="3035808"/>
            <a:ext cx="1653464" cy="548640"/>
          </a:xfrm>
          <a:prstGeom prst="rect">
            <a:avLst/>
          </a:prstGeom>
          <a:noFill/>
          <a:ln/>
        </p:spPr>
        <p:txBody>
          <a:bodyPr wrap="square" lIns="0" tIns="0" rIns="0" bIns="0" rtlCol="0" anchor="ctr"/>
          <a:lstStyle/>
          <a:p>
            <a:pPr indent="0" marL="0">
              <a:buNone/>
            </a:pPr>
            <a:r>
              <a:rPr lang="en-US" sz="1600" b="1" dirty="0">
                <a:solidFill>
                  <a:schemeClr val="tx1"/>
                </a:solidFill>
              </a:rPr>
              <a:t>Hand-worked cases</a:t>
            </a:r>
            <a:endParaRPr lang="en-US" sz="1600" dirty="0"/>
          </a:p>
        </p:txBody>
      </p:sp>
      <p:sp>
        <p:nvSpPr>
          <p:cNvPr id="28" name="Text 23"/>
          <p:cNvSpPr txBox="1"/>
          <p:nvPr/>
        </p:nvSpPr>
        <p:spPr>
          <a:xfrm>
            <a:off x="6434176" y="3721608"/>
            <a:ext cx="2165528" cy="1078992"/>
          </a:xfrm>
          <a:prstGeom prst="rect">
            <a:avLst/>
          </a:prstGeom>
          <a:noFill/>
          <a:ln/>
        </p:spPr>
        <p:txBody>
          <a:bodyPr wrap="square" lIns="0" tIns="0" rIns="0" bIns="0" rtlCol="0" anchor="t"/>
          <a:lstStyle/>
          <a:p>
            <a:pPr indent="0" marL="0">
              <a:buNone/>
            </a:pPr>
            <a:r>
              <a:rPr lang="en-US" sz="1400" dirty="0">
                <a:solidFill>
                  <a:schemeClr val="tx1"/>
                </a:solidFill>
              </a:rPr>
              <a:t>Language-neutral cases whose expectations are worked out by hand, never copied from the engine; any backend must pass them.</a:t>
            </a:r>
            <a:endParaRPr lang="en-US" sz="1400" dirty="0"/>
          </a:p>
        </p:txBody>
      </p:sp>
      <p:sp>
        <p:nvSpPr>
          <p:cNvPr id="29" name="Consumer parity"/>
          <p:cNvSpPr/>
          <p:nvPr/>
        </p:nvSpPr>
        <p:spPr>
          <a:xfrm>
            <a:off x="9075191" y="2898648"/>
            <a:ext cx="2567864" cy="1993392"/>
          </a:xfrm>
          <a:prstGeom prst="roundRect">
            <a:avLst>
              <a:gd name="adj" fmla="val 4587"/>
            </a:avLst>
          </a:prstGeom>
          <a:solidFill>
            <a:schemeClr val="bg2"/>
          </a:solidFill>
          <a:ln/>
        </p:spPr>
      </p:sp>
      <p:sp>
        <p:nvSpPr>
          <p:cNvPr id="30" name="icon Consumer parity"/>
          <p:cNvSpPr/>
          <p:nvPr/>
        </p:nvSpPr>
        <p:spPr>
          <a:xfrm>
            <a:off x="9276359" y="3081528"/>
            <a:ext cx="457200" cy="457200"/>
          </a:xfrm>
          <a:prstGeom prst="ellipse">
            <a:avLst/>
          </a:prstGeom>
          <a:solidFill>
            <a:schemeClr val="accent1"/>
          </a:solidFill>
          <a:ln/>
        </p:spPr>
      </p:sp>
      <p:pic>
        <p:nvPicPr>
          <p:cNvPr id="31" name="Image 3" descr="Consumer parity">    </p:cNvPr>
          <p:cNvPicPr>
            <a:picLocks noChangeAspect="1"/>
          </p:cNvPicPr>
          <p:nvPr/>
        </p:nvPicPr>
        <p:blipFill>
          <a:blip r:embed="rId4"/>
          <a:stretch>
            <a:fillRect/>
          </a:stretch>
        </p:blipFill>
        <p:spPr>
          <a:xfrm>
            <a:off x="9376943" y="3182112"/>
            <a:ext cx="256032" cy="256032"/>
          </a:xfrm>
          <a:prstGeom prst="rect">
            <a:avLst/>
          </a:prstGeom>
        </p:spPr>
      </p:pic>
      <p:sp>
        <p:nvSpPr>
          <p:cNvPr id="32" name="Text 26"/>
          <p:cNvSpPr txBox="1"/>
          <p:nvPr/>
        </p:nvSpPr>
        <p:spPr>
          <a:xfrm>
            <a:off x="9861575" y="3035808"/>
            <a:ext cx="1653464" cy="548640"/>
          </a:xfrm>
          <a:prstGeom prst="rect">
            <a:avLst/>
          </a:prstGeom>
          <a:noFill/>
          <a:ln/>
        </p:spPr>
        <p:txBody>
          <a:bodyPr wrap="square" lIns="0" tIns="0" rIns="0" bIns="0" rtlCol="0" anchor="ctr"/>
          <a:lstStyle/>
          <a:p>
            <a:pPr indent="0" marL="0">
              <a:buNone/>
            </a:pPr>
            <a:r>
              <a:rPr lang="en-US" sz="1600" b="1" dirty="0">
                <a:solidFill>
                  <a:schemeClr val="tx1"/>
                </a:solidFill>
              </a:rPr>
              <a:t>Consumer parity</a:t>
            </a:r>
            <a:endParaRPr lang="en-US" sz="1600" dirty="0"/>
          </a:p>
        </p:txBody>
      </p:sp>
      <p:sp>
        <p:nvSpPr>
          <p:cNvPr id="33" name="Text 27"/>
          <p:cNvSpPr txBox="1"/>
          <p:nvPr/>
        </p:nvSpPr>
        <p:spPr>
          <a:xfrm>
            <a:off x="9276359" y="3721608"/>
            <a:ext cx="2165528" cy="1078992"/>
          </a:xfrm>
          <a:prstGeom prst="rect">
            <a:avLst/>
          </a:prstGeom>
          <a:noFill/>
          <a:ln/>
        </p:spPr>
        <p:txBody>
          <a:bodyPr wrap="square" lIns="0" tIns="0" rIns="0" bIns="0" rtlCol="0" anchor="t"/>
          <a:lstStyle/>
          <a:p>
            <a:pPr indent="0" marL="0">
              <a:buNone/>
            </a:pPr>
            <a:r>
              <a:rPr lang="en-US" sz="1400" dirty="0">
                <a:solidFill>
                  <a:schemeClr val="tx1"/>
                </a:solidFill>
              </a:rPr>
              <a:t>SCALE: 18,951 records on injected retractions, 1,654 generated chains. STATES: 760 contexts, 38,033 atom images.</a:t>
            </a:r>
            <a:endParaRPr lang="en-US" sz="1400" dirty="0"/>
          </a:p>
        </p:txBody>
      </p:sp>
      <p:sp>
        <p:nvSpPr>
          <p:cNvPr id="34" name="Text 28"/>
          <p:cNvSpPr txBox="1"/>
          <p:nvPr/>
        </p:nvSpPr>
        <p:spPr>
          <a:xfrm>
            <a:off x="548640" y="5047488"/>
            <a:ext cx="11094415" cy="1170432"/>
          </a:xfrm>
          <a:prstGeom prst="rect">
            <a:avLst/>
          </a:prstGeom>
          <a:noFill/>
          <a:ln/>
        </p:spPr>
        <p:txBody>
          <a:bodyPr wrap="square" lIns="0" tIns="0" rIns="0" bIns="0" rtlCol="0" anchor="b"/>
          <a:lstStyle/>
          <a:p>
            <a:pPr indent="0" marL="0">
              <a:spcAft>
                <a:spcPts val="300"/>
              </a:spcAft>
              <a:buNone/>
            </a:pPr>
            <a:r>
              <a:rPr lang="en-US" sz="1200" i="1" dirty="0">
                <a:solidFill>
                  <a:schemeClr val="accent6"/>
                </a:solidFill>
              </a:rPr>
              <a:t>Also: an independent fuzzing review (about 50,000 cases), a Codex review of the contract (v0.1), and a golden test of 1,200 pinned result_ids.</a:t>
            </a:r>
            <a:endParaRPr lang="en-US" sz="1200" dirty="0"/>
          </a:p>
          <a:p>
            <a:pPr indent="0" marL="0">
              <a:spcAft>
                <a:spcPts val="300"/>
              </a:spcAft>
              <a:buNone/>
            </a:pPr>
            <a:r>
              <a:rPr lang="en-US" sz="1200" i="1" dirty="0">
                <a:solidFill>
                  <a:schemeClr val="accent6"/>
                </a:solidFill>
              </a:rPr>
              <a:t>Codex reviews each increment adversarially before commit; every finding is fixed with a regression. Among them: a request_id collision and certificate holes (structure); an unverified interrupted bound (max flow); an unchecked relation and an interruption sending more than asked (min-cost flow); quadratic checks (dominators, support) and memory (k shortest paths); floats that let a false rank or false potentials verify (incidence, weighted matching); a path from outside the sources' region (critical path); a whole certificate read for any edit (negative costs); the recursion limit on long chains (injective patterns); frozen answers left unchecked (forests); a repeated witness link passing a non-minimum basis (cycle bases); a misordered path list (k shortest paths). d-separation: no findings.</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Measured speed on large graphs</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Pure Python, standard library only, exact throughout.</a:t>
            </a:r>
            <a:endParaRPr lang="en-US" sz="1600" dirty="0"/>
          </a:p>
        </p:txBody>
      </p:sp>
      <p:sp>
        <p:nvSpPr>
          <p:cNvPr id="4" name="tile faster searches"/>
          <p:cNvSpPr/>
          <p:nvPr/>
        </p:nvSpPr>
        <p:spPr>
          <a:xfrm>
            <a:off x="548640" y="1691640"/>
            <a:ext cx="3515258" cy="2011680"/>
          </a:xfrm>
          <a:prstGeom prst="roundRect">
            <a:avLst>
              <a:gd name="adj" fmla="val 4545"/>
            </a:avLst>
          </a:prstGeom>
          <a:solidFill>
            <a:schemeClr val="bg2"/>
          </a:solidFill>
          <a:ln/>
        </p:spPr>
      </p:sp>
      <p:sp>
        <p:nvSpPr>
          <p:cNvPr id="5" name="Text 3"/>
          <p:cNvSpPr txBox="1"/>
          <p:nvPr/>
        </p:nvSpPr>
        <p:spPr>
          <a:xfrm>
            <a:off x="804672" y="1856232"/>
            <a:ext cx="3003194" cy="173736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1.3–1.9×</a:t>
            </a:r>
            <a:endParaRPr lang="en-US" sz="4400" dirty="0"/>
          </a:p>
          <a:p>
            <a:pPr indent="0" marL="0">
              <a:spcAft>
                <a:spcPts val="600"/>
              </a:spcAft>
              <a:buNone/>
            </a:pPr>
            <a:r>
              <a:rPr lang="en-US" sz="1700" b="1" dirty="0">
                <a:solidFill>
                  <a:schemeClr val="tx1"/>
                </a:solidFill>
              </a:rPr>
              <a:t>faster searches</a:t>
            </a:r>
            <a:endParaRPr lang="en-US" sz="4400" dirty="0"/>
          </a:p>
          <a:p>
            <a:pPr indent="0" marL="0">
              <a:buNone/>
            </a:pPr>
            <a:r>
              <a:rPr lang="en-US" sz="1400" dirty="0">
                <a:solidFill>
                  <a:schemeClr val="accent6"/>
                </a:solidFill>
              </a:rPr>
              <a:t>Compiled per-scope hop lists; 100k nodes, 500k edges</a:t>
            </a:r>
            <a:endParaRPr lang="en-US" sz="4400" dirty="0"/>
          </a:p>
        </p:txBody>
      </p:sp>
      <p:sp>
        <p:nvSpPr>
          <p:cNvPr id="6" name="tile faster float-cost shortest paths"/>
          <p:cNvSpPr/>
          <p:nvPr/>
        </p:nvSpPr>
        <p:spPr>
          <a:xfrm>
            <a:off x="4338218" y="1691640"/>
            <a:ext cx="3515258" cy="2011680"/>
          </a:xfrm>
          <a:prstGeom prst="roundRect">
            <a:avLst>
              <a:gd name="adj" fmla="val 4545"/>
            </a:avLst>
          </a:prstGeom>
          <a:solidFill>
            <a:schemeClr val="bg2"/>
          </a:solidFill>
          <a:ln/>
        </p:spPr>
      </p:sp>
      <p:sp>
        <p:nvSpPr>
          <p:cNvPr id="7" name="Text 5"/>
          <p:cNvSpPr txBox="1"/>
          <p:nvPr/>
        </p:nvSpPr>
        <p:spPr>
          <a:xfrm>
            <a:off x="4594250" y="1856232"/>
            <a:ext cx="3003194" cy="173736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4.5×</a:t>
            </a:r>
            <a:endParaRPr lang="en-US" sz="4400" dirty="0"/>
          </a:p>
          <a:p>
            <a:pPr indent="0" marL="0">
              <a:spcAft>
                <a:spcPts val="600"/>
              </a:spcAft>
              <a:buNone/>
            </a:pPr>
            <a:r>
              <a:rPr lang="en-US" sz="1700" b="1" dirty="0">
                <a:solidFill>
                  <a:schemeClr val="tx1"/>
                </a:solidFill>
              </a:rPr>
              <a:t>faster float-cost shortest paths</a:t>
            </a:r>
            <a:endParaRPr lang="en-US" sz="4400" dirty="0"/>
          </a:p>
          <a:p>
            <a:pPr indent="0" marL="0">
              <a:buNone/>
            </a:pPr>
            <a:r>
              <a:rPr lang="en-US" sz="1400" dirty="0">
                <a:solidFill>
                  <a:schemeClr val="accent6"/>
                </a:solidFill>
              </a:rPr>
              <a:t>Exact rationals held as scaled integers</a:t>
            </a:r>
            <a:endParaRPr lang="en-US" sz="4400" dirty="0"/>
          </a:p>
        </p:txBody>
      </p:sp>
      <p:sp>
        <p:nvSpPr>
          <p:cNvPr id="8" name="tile lightest derivations"/>
          <p:cNvSpPr/>
          <p:nvPr/>
        </p:nvSpPr>
        <p:spPr>
          <a:xfrm>
            <a:off x="8127797" y="1691640"/>
            <a:ext cx="3515258" cy="2011680"/>
          </a:xfrm>
          <a:prstGeom prst="roundRect">
            <a:avLst>
              <a:gd name="adj" fmla="val 4545"/>
            </a:avLst>
          </a:prstGeom>
          <a:solidFill>
            <a:schemeClr val="bg2"/>
          </a:solidFill>
          <a:ln/>
        </p:spPr>
      </p:sp>
      <p:sp>
        <p:nvSpPr>
          <p:cNvPr id="9" name="Text 7"/>
          <p:cNvSpPr txBox="1"/>
          <p:nvPr/>
        </p:nvSpPr>
        <p:spPr>
          <a:xfrm>
            <a:off x="8383829" y="1856232"/>
            <a:ext cx="3003194" cy="173736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0.66 s</a:t>
            </a:r>
            <a:endParaRPr lang="en-US" sz="4400" dirty="0"/>
          </a:p>
          <a:p>
            <a:pPr indent="0" marL="0">
              <a:spcAft>
                <a:spcPts val="600"/>
              </a:spcAft>
              <a:buNone/>
            </a:pPr>
            <a:r>
              <a:rPr lang="en-US" sz="1700" b="1" dirty="0">
                <a:solidFill>
                  <a:schemeClr val="tx1"/>
                </a:solidFill>
              </a:rPr>
              <a:t>lightest derivations</a:t>
            </a:r>
            <a:endParaRPr lang="en-US" sz="4400" dirty="0"/>
          </a:p>
          <a:p>
            <a:pPr indent="0" marL="0">
              <a:buNone/>
            </a:pPr>
            <a:r>
              <a:rPr lang="en-US" sz="1400" dirty="0">
                <a:solidFill>
                  <a:schemeClr val="accent6"/>
                </a:solidFill>
              </a:rPr>
              <a:t>AND/OR graph of 60,000 nodes and 105,000 edges</a:t>
            </a:r>
            <a:endParaRPr lang="en-US" sz="4400" dirty="0"/>
          </a:p>
        </p:txBody>
      </p:sp>
      <p:sp>
        <p:nvSpPr>
          <p:cNvPr id="10" name="tile certified top 10 by PageRank"/>
          <p:cNvSpPr/>
          <p:nvPr/>
        </p:nvSpPr>
        <p:spPr>
          <a:xfrm>
            <a:off x="548640" y="3977640"/>
            <a:ext cx="3515258" cy="2011680"/>
          </a:xfrm>
          <a:prstGeom prst="roundRect">
            <a:avLst>
              <a:gd name="adj" fmla="val 4545"/>
            </a:avLst>
          </a:prstGeom>
          <a:solidFill>
            <a:schemeClr val="bg2"/>
          </a:solidFill>
          <a:ln/>
        </p:spPr>
      </p:sp>
      <p:sp>
        <p:nvSpPr>
          <p:cNvPr id="11" name="Text 9"/>
          <p:cNvSpPr txBox="1"/>
          <p:nvPr/>
        </p:nvSpPr>
        <p:spPr>
          <a:xfrm>
            <a:off x="804672" y="4142232"/>
            <a:ext cx="3003194" cy="173736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0.2 s</a:t>
            </a:r>
            <a:endParaRPr lang="en-US" sz="4400" dirty="0"/>
          </a:p>
          <a:p>
            <a:pPr indent="0" marL="0">
              <a:spcAft>
                <a:spcPts val="600"/>
              </a:spcAft>
              <a:buNone/>
            </a:pPr>
            <a:r>
              <a:rPr lang="en-US" sz="1700" b="1" dirty="0">
                <a:solidFill>
                  <a:schemeClr val="tx1"/>
                </a:solidFill>
              </a:rPr>
              <a:t>certified top 10 by PageRank</a:t>
            </a:r>
            <a:endParaRPr lang="en-US" sz="4400" dirty="0"/>
          </a:p>
          <a:p>
            <a:pPr indent="0" marL="0">
              <a:buNone/>
            </a:pPr>
            <a:r>
              <a:rPr lang="en-US" sz="1400" dirty="0">
                <a:solidFill>
                  <a:schemeClr val="accent6"/>
                </a:solidFill>
              </a:rPr>
              <a:t>10k nodes, tolerance 1/1000; 100k nodes to residual 1/100 in 1.6 s</a:t>
            </a:r>
            <a:endParaRPr lang="en-US" sz="4400" dirty="0"/>
          </a:p>
        </p:txBody>
      </p:sp>
      <p:sp>
        <p:nvSpPr>
          <p:cNvPr id="12" name="tile 22,086 triangles"/>
          <p:cNvSpPr/>
          <p:nvPr/>
        </p:nvSpPr>
        <p:spPr>
          <a:xfrm>
            <a:off x="4338218" y="3977640"/>
            <a:ext cx="3515258" cy="2011680"/>
          </a:xfrm>
          <a:prstGeom prst="roundRect">
            <a:avLst>
              <a:gd name="adj" fmla="val 4545"/>
            </a:avLst>
          </a:prstGeom>
          <a:solidFill>
            <a:schemeClr val="bg2"/>
          </a:solidFill>
          <a:ln/>
        </p:spPr>
      </p:sp>
      <p:sp>
        <p:nvSpPr>
          <p:cNvPr id="13" name="Text 11"/>
          <p:cNvSpPr txBox="1"/>
          <p:nvPr/>
        </p:nvSpPr>
        <p:spPr>
          <a:xfrm>
            <a:off x="4594250" y="4142232"/>
            <a:ext cx="3003194" cy="173736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0.36 s</a:t>
            </a:r>
            <a:endParaRPr lang="en-US" sz="4400" dirty="0"/>
          </a:p>
          <a:p>
            <a:pPr indent="0" marL="0">
              <a:spcAft>
                <a:spcPts val="600"/>
              </a:spcAft>
              <a:buNone/>
            </a:pPr>
            <a:r>
              <a:rPr lang="en-US" sz="1700" b="1" dirty="0">
                <a:solidFill>
                  <a:schemeClr val="tx1"/>
                </a:solidFill>
              </a:rPr>
              <a:t>22,086 triangles</a:t>
            </a:r>
            <a:endParaRPr lang="en-US" sz="4400" dirty="0"/>
          </a:p>
          <a:p>
            <a:pPr indent="0" marL="0">
              <a:buNone/>
            </a:pPr>
            <a:r>
              <a:rPr lang="en-US" sz="1400" dirty="0">
                <a:solidFill>
                  <a:schemeClr val="accent6"/>
                </a:solidFill>
              </a:rPr>
              <a:t>Around a 2,500-degree hub, by the worst-case optimal join</a:t>
            </a:r>
            <a:endParaRPr lang="en-US" sz="4400" dirty="0"/>
          </a:p>
        </p:txBody>
      </p:sp>
      <p:sp>
        <p:nvSpPr>
          <p:cNvPr id="14" name="tile exact rank and conservation laws"/>
          <p:cNvSpPr/>
          <p:nvPr/>
        </p:nvSpPr>
        <p:spPr>
          <a:xfrm>
            <a:off x="8127797" y="3977640"/>
            <a:ext cx="3515258" cy="2011680"/>
          </a:xfrm>
          <a:prstGeom prst="roundRect">
            <a:avLst>
              <a:gd name="adj" fmla="val 4545"/>
            </a:avLst>
          </a:prstGeom>
          <a:solidFill>
            <a:schemeClr val="bg2"/>
          </a:solidFill>
          <a:ln/>
        </p:spPr>
      </p:sp>
      <p:sp>
        <p:nvSpPr>
          <p:cNvPr id="15" name="Text 13"/>
          <p:cNvSpPr txBox="1"/>
          <p:nvPr/>
        </p:nvSpPr>
        <p:spPr>
          <a:xfrm>
            <a:off x="8383829" y="4142232"/>
            <a:ext cx="3003194" cy="173736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2.4 s</a:t>
            </a:r>
            <a:endParaRPr lang="en-US" sz="4400" dirty="0"/>
          </a:p>
          <a:p>
            <a:pPr indent="0" marL="0">
              <a:spcAft>
                <a:spcPts val="600"/>
              </a:spcAft>
              <a:buNone/>
            </a:pPr>
            <a:r>
              <a:rPr lang="en-US" sz="1700" b="1" dirty="0">
                <a:solidFill>
                  <a:schemeClr val="tx1"/>
                </a:solidFill>
              </a:rPr>
              <a:t>exact rank and conservation laws</a:t>
            </a:r>
            <a:endParaRPr lang="en-US" sz="4400" dirty="0"/>
          </a:p>
          <a:p>
            <a:pPr indent="0" marL="0">
              <a:buNone/>
            </a:pPr>
            <a:r>
              <a:rPr lang="en-US" sz="1400" dirty="0">
                <a:solidFill>
                  <a:schemeClr val="accent6"/>
                </a:solidFill>
              </a:rPr>
              <a:t>Random 2000 × 3000 network, verified in 5.4 s (first version: 163 s)</a:t>
            </a:r>
            <a:endParaRPr lang="en-US" sz="4400" dirty="0"/>
          </a:p>
        </p:txBody>
      </p:sp>
      <p:sp>
        <p:nvSpPr>
          <p:cNvPr id="16" name="Text 14"/>
          <p:cNvSpPr txBox="1"/>
          <p:nvPr/>
        </p:nvSpPr>
        <p:spPr>
          <a:xfrm>
            <a:off x="548640" y="6062472"/>
            <a:ext cx="11094415" cy="274320"/>
          </a:xfrm>
          <a:prstGeom prst="rect">
            <a:avLst/>
          </a:prstGeom>
          <a:noFill/>
          <a:ln/>
        </p:spPr>
        <p:txBody>
          <a:bodyPr wrap="square" lIns="0" tIns="0" rIns="0" bIns="0" rtlCol="0" anchor="t"/>
          <a:lstStyle/>
          <a:p>
            <a:pPr indent="0" marL="0">
              <a:buNone/>
            </a:pPr>
            <a:r>
              <a:rPr lang="en-US" sz="1200" i="1" dirty="0">
                <a:solidFill>
                  <a:schemeClr val="accent6"/>
                </a:solidFill>
              </a:rPr>
              <a:t>Measured on a heavily loaded machine: ratios are more reliable than absolute times.</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Head to head: STATES's code and networkx</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The same answers as the applications' own code; GRAPH's carry witnesses and certificates.</a:t>
            </a:r>
            <a:endParaRPr lang="en-US" sz="1600" dirty="0"/>
          </a:p>
        </p:txBody>
      </p:sp>
      <p:graphicFrame>
        <p:nvGraphicFramePr>
          <p:cNvPr id="4" name="STATES chart" descr=""/>
          <p:cNvGraphicFramePr/>
          <p:nvPr/>
        </p:nvGraphicFramePr>
        <p:xfrm>
          <a:off x="548640" y="1691640"/>
          <a:ext cx="5364328" cy="338201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165090"/>
            <a:ext cx="5364328" cy="1052830"/>
          </a:xfrm>
          <a:prstGeom prst="rect">
            <a:avLst/>
          </a:prstGeom>
          <a:noFill/>
          <a:ln/>
        </p:spPr>
        <p:txBody>
          <a:bodyPr wrap="square" lIns="0" tIns="0" rIns="0" bIns="0" rtlCol="0" anchor="t"/>
          <a:lstStyle/>
          <a:p>
            <a:pPr indent="0" marL="0">
              <a:buNone/>
            </a:pPr>
            <a:r>
              <a:rPr lang="en-US" sz="1300" dirty="0">
                <a:solidFill>
                  <a:schemeClr val="tx1"/>
                </a:solidFill>
              </a:rPr>
              <a:t>Identical answers on all 760 parity contexts. The largest context: 3.9 s through a lifted box, 29 ms on the periodic cell.</a:t>
            </a:r>
            <a:endParaRPr lang="en-US" sz="1300" dirty="0"/>
          </a:p>
        </p:txBody>
      </p:sp>
      <p:graphicFrame>
        <p:nvGraphicFramePr>
          <p:cNvPr id="6" name="networkx chart" descr=""/>
          <p:cNvGraphicFramePr/>
          <p:nvPr/>
        </p:nvGraphicFramePr>
        <p:xfrm>
          <a:off x="6278728" y="1691640"/>
          <a:ext cx="5364328" cy="338201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6278728" y="5165090"/>
            <a:ext cx="5364328" cy="1052830"/>
          </a:xfrm>
          <a:prstGeom prst="rect">
            <a:avLst/>
          </a:prstGeom>
          <a:noFill/>
          <a:ln/>
        </p:spPr>
        <p:txBody>
          <a:bodyPr wrap="square" lIns="0" tIns="0" rIns="0" bIns="0" rtlCol="0" anchor="t"/>
          <a:lstStyle/>
          <a:p>
            <a:pPr indent="0" marL="0">
              <a:buNone/>
            </a:pPr>
            <a:r>
              <a:rPr lang="en-US" sz="1300" dirty="0">
                <a:solidFill>
                  <a:schemeClr val="tx1"/>
                </a:solidFill>
              </a:rPr>
              <a:t>100k nodes, 500k edges; min-cost flow 5k nodes, 30k edges; matching 50k + 50k; dominators and forest 300k edges; critical path 400k (networkx: no order certificate). Negative costs 20k nodes; weighted 300 + 300; hexagons in 1,300 atoms; 20 shortest paths in 20k nodes (networkx searches both ways).</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Head to head: SCALE's query engine</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SCALE's own engine on SCALE's documents; the largest, methanol synthesis, has 2,851 nodes and 9,335 links.</a:t>
            </a:r>
            <a:endParaRPr lang="en-US" sz="1600" dirty="0"/>
          </a:p>
        </p:txBody>
      </p:sp>
      <p:graphicFrame>
        <p:nvGraphicFramePr>
          <p:cNvPr id="25" name="SCALE comparison table"/>
          <p:cNvGraphicFramePr>
            <a:graphicFrameLocks noGrp="1"/>
          </p:cNvGraphicFramePr>
          <p:nvPr>
            <p:extLst>
              <p:ext uri="{D42A27DB-BD31-4B8C-83A1-F6EECF244321}">
                <p14:modId xmlns:p14="http://schemas.microsoft.com/office/powerpoint/2010/main" val="1579011935"/>
              </p:ext>
            </p:extLst>
          </p:nvPr>
        </p:nvGraphicFramePr>
        <p:xfrm>
          <a:off x="548640" y="1691640"/>
          <a:ext cx="6172200" cy="914400"/>
        </p:xfrm>
        <a:graphic>
          <a:graphicData uri="http://schemas.openxmlformats.org/drawingml/2006/table">
            <a:tbl>
              <a:tblPr/>
              <a:tblGrid>
                <a:gridCol w="3291840"/>
                <a:gridCol w="914400"/>
                <a:gridCol w="914400"/>
                <a:gridCol w="1051560"/>
              </a:tblGrid>
              <a:tr h="329184">
                <a:tc>
                  <a:txBody>
                    <a:bodyPr/>
                    <a:lstStyle/>
                    <a:p>
                      <a:pPr algn="l" indent="0" marL="0">
                        <a:buNone/>
                      </a:pPr>
                      <a:r>
                        <a:rPr lang="en-US" sz="1100" b="1" spc="100" kern="0" dirty="0">
                          <a:solidFill>
                            <a:schemeClr val="accent6"/>
                          </a:solidFill>
                        </a:rPr>
                        <a:t>WORKLOAD</a:t>
                      </a:r>
                      <a:endParaRPr lang="en-US" sz="1100" dirty="0"/>
                    </a:p>
                  </a:txBody>
                  <a:tcPr marL="109728" marR="109728" marT="27432" marB="27432"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100" b="1" spc="100" kern="0" dirty="0">
                          <a:solidFill>
                            <a:schemeClr val="accent6"/>
                          </a:solidFill>
                        </a:rPr>
                        <a:t>SCALE</a:t>
                      </a:r>
                      <a:endParaRPr lang="en-US" sz="1100" dirty="0"/>
                    </a:p>
                  </a:txBody>
                  <a:tcPr marL="109728" marR="109728" marT="27432" marB="27432"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100" b="1" spc="100" kern="0" dirty="0">
                          <a:solidFill>
                            <a:schemeClr val="accent6"/>
                          </a:solidFill>
                        </a:rPr>
                        <a:t>GRAPH</a:t>
                      </a:r>
                      <a:endParaRPr lang="en-US" sz="1100" dirty="0"/>
                    </a:p>
                  </a:txBody>
                  <a:tcPr marL="109728" marR="109728" marT="27432" marB="27432"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100" b="1" spc="100" kern="0" dirty="0">
                          <a:solidFill>
                            <a:schemeClr val="accent6"/>
                          </a:solidFill>
                        </a:rPr>
                        <a:t>FASTER</a:t>
                      </a:r>
                      <a:endParaRPr lang="en-US" sz="1100" dirty="0"/>
                    </a:p>
                  </a:txBody>
                  <a:tcPr marL="109728" marR="109728" marT="27432" marB="27432" anchor="ctr">
                    <a:lnL w="0" cap="flat" cmpd="sng" algn="ctr">
                      <a:noFill/>
                    </a:lnL>
                    <a:lnR w="0" cap="flat" cmpd="sng" algn="ctr">
                      <a:noFill/>
                    </a:lnR>
                    <a:lnT w="0" cap="flat" cmpd="sng" algn="ctr">
                      <a:noFill/>
                    </a:lnT>
                    <a:lnB w="0" cap="flat" cmpd="sng" algn="ctr">
                      <a:noFill/>
                    </a:lnB>
                  </a:tcPr>
                </a:tc>
              </a:tr>
              <a:tr h="598424">
                <a:tc>
                  <a:txBody>
                    <a:bodyPr/>
                    <a:lstStyle/>
                    <a:p>
                      <a:pPr indent="0" marL="0">
                        <a:buNone/>
                      </a:pPr>
                      <a:r>
                        <a:rPr lang="en-US" sz="1400" dirty="0">
                          <a:solidFill>
                            <a:schemeClr val="tx1"/>
                          </a:solidFill>
                        </a:rPr>
                        <a:t>Competency questions: 39 question–document pairs, median</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accent6"/>
                          </a:solidFill>
                        </a:rPr>
                        <a:t>0.56 ms</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b="1" dirty="0">
                          <a:solidFill>
                            <a:schemeClr val="tx1"/>
                          </a:solidFill>
                        </a:rPr>
                        <a:t>0.087 ms</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800" b="1" dirty="0">
                          <a:solidFill>
                            <a:schemeClr val="accent1"/>
                          </a:solidFill>
                          <a:latin typeface="Cambria" pitchFamily="34" charset="0"/>
                          <a:ea typeface="Cambria" pitchFamily="34" charset="-122"/>
                          <a:cs typeface="Cambria" pitchFamily="34" charset="-120"/>
                        </a:rPr>
                        <a:t>6.4×</a:t>
                      </a:r>
                      <a:endParaRPr lang="en-US" sz="1800" dirty="0">
                        <a:latin typeface="Cambria" charset="0"/>
                        <a:ea typeface="Cambria" charset="0"/>
                        <a:cs typeface="Cambria"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r>
              <a:tr h="598424">
                <a:tc>
                  <a:txBody>
                    <a:bodyPr/>
                    <a:lstStyle/>
                    <a:p>
                      <a:pPr indent="0" marL="0">
                        <a:buNone/>
                      </a:pPr>
                      <a:r>
                        <a:rPr lang="en-US" sz="1400" dirty="0">
                          <a:solidFill>
                            <a:schemeClr val="tx1"/>
                          </a:solidFill>
                        </a:rPr>
                        <a:t>Methanol synthesis: all 1,052 one- and two-step plans</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dirty="0">
                          <a:solidFill>
                            <a:schemeClr val="accent6"/>
                          </a:solidFill>
                        </a:rPr>
                        <a:t>5.6 s</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b="1" dirty="0">
                          <a:solidFill>
                            <a:schemeClr val="tx1"/>
                          </a:solidFill>
                        </a:rPr>
                        <a:t>0.61 s</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800" b="1" dirty="0">
                          <a:solidFill>
                            <a:schemeClr val="accent1"/>
                          </a:solidFill>
                          <a:latin typeface="Cambria" pitchFamily="34" charset="0"/>
                          <a:ea typeface="Cambria" pitchFamily="34" charset="-122"/>
                          <a:cs typeface="Cambria" pitchFamily="34" charset="-120"/>
                        </a:rPr>
                        <a:t>9.2×</a:t>
                      </a:r>
                      <a:endParaRPr lang="en-US" sz="1800" dirty="0">
                        <a:latin typeface="Cambria" charset="0"/>
                        <a:ea typeface="Cambria" charset="0"/>
                        <a:cs typeface="Cambria"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r>
              <a:tr h="381508">
                <a:tc>
                  <a:txBody>
                    <a:bodyPr/>
                    <a:lstStyle/>
                    <a:p>
                      <a:pPr indent="0" marL="0">
                        <a:buNone/>
                      </a:pPr>
                      <a:r>
                        <a:rPr lang="en-US" sz="1400" dirty="0">
                          <a:solidFill>
                            <a:schemeClr val="tx1"/>
                          </a:solidFill>
                        </a:rPr>
                        <a:t>Its largest answer: 10,470 rows</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accent6"/>
                          </a:solidFill>
                        </a:rPr>
                        <a:t>475 ms</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b="1" dirty="0">
                          <a:solidFill>
                            <a:schemeClr val="tx1"/>
                          </a:solidFill>
                        </a:rPr>
                        <a:t>21 ms</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800" b="1" dirty="0">
                          <a:solidFill>
                            <a:schemeClr val="accent1"/>
                          </a:solidFill>
                          <a:latin typeface="Cambria" pitchFamily="34" charset="0"/>
                          <a:ea typeface="Cambria" pitchFamily="34" charset="-122"/>
                          <a:cs typeface="Cambria" pitchFamily="34" charset="-120"/>
                        </a:rPr>
                        <a:t>23×</a:t>
                      </a:r>
                      <a:endParaRPr lang="en-US" sz="1800" dirty="0">
                        <a:latin typeface="Cambria" charset="0"/>
                        <a:ea typeface="Cambria" charset="0"/>
                        <a:cs typeface="Cambria"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r>
              <a:tr h="598424">
                <a:tc>
                  <a:txBody>
                    <a:bodyPr/>
                    <a:lstStyle/>
                    <a:p>
                      <a:pPr indent="0" marL="0">
                        <a:buNone/>
                      </a:pPr>
                      <a:r>
                        <a:rPr lang="en-US" sz="1400" dirty="0">
                          <a:solidFill>
                            <a:schemeClr val="tx1"/>
                          </a:solidFill>
                        </a:rPr>
                        <a:t>Three steps, dead ends: 9,459 intermediate rows, 6 answers</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dirty="0">
                          <a:solidFill>
                            <a:schemeClr val="accent6"/>
                          </a:solidFill>
                        </a:rPr>
                        <a:t>18.9 ms</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b="1" dirty="0">
                          <a:solidFill>
                            <a:schemeClr val="tx1"/>
                          </a:solidFill>
                        </a:rPr>
                        <a:t>0.76 ms</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800" b="1" dirty="0">
                          <a:solidFill>
                            <a:schemeClr val="accent1"/>
                          </a:solidFill>
                          <a:latin typeface="Cambria" pitchFamily="34" charset="0"/>
                          <a:ea typeface="Cambria" pitchFamily="34" charset="-122"/>
                          <a:cs typeface="Cambria" pitchFamily="34" charset="-120"/>
                        </a:rPr>
                        <a:t>25×</a:t>
                      </a:r>
                      <a:endParaRPr lang="en-US" sz="1800" dirty="0">
                        <a:latin typeface="Cambria" charset="0"/>
                        <a:ea typeface="Cambria" charset="0"/>
                        <a:cs typeface="Cambria"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r>
              <a:tr h="598424">
                <a:tc>
                  <a:txBody>
                    <a:bodyPr/>
                    <a:lstStyle/>
                    <a:p>
                      <a:pPr indent="0" marL="0">
                        <a:buNone/>
                      </a:pPr>
                      <a:r>
                        <a:rPr lang="en-US" sz="1400" dirty="0">
                          <a:solidFill>
                            <a:schemeClr val="tx1"/>
                          </a:solidFill>
                        </a:rPr>
                        <a:t>Methanol, 16 copies: 45,616 nodes, 149,360 links</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accent6"/>
                          </a:solidFill>
                        </a:rPr>
                        <a:t>17.1 s</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b="1" dirty="0">
                          <a:solidFill>
                            <a:schemeClr val="tx1"/>
                          </a:solidFill>
                        </a:rPr>
                        <a:t>1.14 s</a:t>
                      </a:r>
                      <a:endParaRPr lang="en-US" sz="14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800" b="1" dirty="0">
                          <a:solidFill>
                            <a:schemeClr val="accent1"/>
                          </a:solidFill>
                          <a:latin typeface="Cambria" pitchFamily="34" charset="0"/>
                          <a:ea typeface="Cambria" pitchFamily="34" charset="-122"/>
                          <a:cs typeface="Cambria" pitchFamily="34" charset="-120"/>
                        </a:rPr>
                        <a:t>15×</a:t>
                      </a:r>
                      <a:endParaRPr lang="en-US" sz="1800" dirty="0">
                        <a:latin typeface="Cambria" charset="0"/>
                        <a:ea typeface="Cambria" charset="0"/>
                        <a:cs typeface="Cambria"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5" name="Text 2"/>
          <p:cNvSpPr txBox="1"/>
          <p:nvPr/>
        </p:nvSpPr>
        <p:spPr>
          <a:xfrm>
            <a:off x="548640" y="4997196"/>
            <a:ext cx="6172200" cy="1220724"/>
          </a:xfrm>
          <a:prstGeom prst="rect">
            <a:avLst/>
          </a:prstGeom>
          <a:noFill/>
          <a:ln/>
        </p:spPr>
        <p:txBody>
          <a:bodyPr wrap="square" lIns="0" tIns="0" rIns="0" bIns="0" rtlCol="0" anchor="t"/>
          <a:lstStyle/>
          <a:p>
            <a:pPr indent="0" marL="0">
              <a:buNone/>
            </a:pPr>
            <a:r>
              <a:rPr lang="en-US" sz="1400" dirty="0">
                <a:solidFill>
                  <a:schemeClr val="tx1"/>
                </a:solidFill>
              </a:rPr>
              <a:t>The same rows in the same order on every query, asserted row for row; GRAPH was never slower on 1,131 queries. Counting without listing: 16× faster on methanol's plans, 33× on 16 copies; its largest answer counted in 0.6 ms. Both engines scale linearly with the copies.</a:t>
            </a:r>
            <a:endParaRPr lang="en-US" sz="1400" dirty="0"/>
          </a:p>
        </p:txBody>
      </p:sp>
      <p:sp>
        <p:nvSpPr>
          <p:cNvPr id="6" name="What SCALE's time includes"/>
          <p:cNvSpPr/>
          <p:nvPr/>
        </p:nvSpPr>
        <p:spPr>
          <a:xfrm>
            <a:off x="7040880" y="1691640"/>
            <a:ext cx="4602175" cy="1386840"/>
          </a:xfrm>
          <a:prstGeom prst="roundRect">
            <a:avLst>
              <a:gd name="adj" fmla="val 6593"/>
            </a:avLst>
          </a:prstGeom>
          <a:solidFill>
            <a:schemeClr val="bg2"/>
          </a:solidFill>
          <a:ln/>
        </p:spPr>
      </p:sp>
      <p:sp>
        <p:nvSpPr>
          <p:cNvPr id="7" name="icon What SCALE's time includes"/>
          <p:cNvSpPr/>
          <p:nvPr/>
        </p:nvSpPr>
        <p:spPr>
          <a:xfrm>
            <a:off x="7223760" y="1837944"/>
            <a:ext cx="384048" cy="384048"/>
          </a:xfrm>
          <a:prstGeom prst="ellipse">
            <a:avLst/>
          </a:prstGeom>
          <a:solidFill>
            <a:schemeClr val="accent1"/>
          </a:solidFill>
          <a:ln/>
        </p:spPr>
      </p:sp>
      <p:pic>
        <p:nvPicPr>
          <p:cNvPr id="8" name="Image 0" descr="What SCALE's time includes">    </p:cNvPr>
          <p:cNvPicPr>
            <a:picLocks noChangeAspect="1"/>
          </p:cNvPicPr>
          <p:nvPr/>
        </p:nvPicPr>
        <p:blipFill>
          <a:blip r:embed="rId1"/>
          <a:stretch>
            <a:fillRect/>
          </a:stretch>
        </p:blipFill>
        <p:spPr>
          <a:xfrm>
            <a:off x="7308251" y="1922435"/>
            <a:ext cx="215067" cy="215067"/>
          </a:xfrm>
          <a:prstGeom prst="rect">
            <a:avLst/>
          </a:prstGeom>
        </p:spPr>
      </p:pic>
      <p:sp>
        <p:nvSpPr>
          <p:cNvPr id="9" name="Text 5"/>
          <p:cNvSpPr txBox="1"/>
          <p:nvPr/>
        </p:nvSpPr>
        <p:spPr>
          <a:xfrm>
            <a:off x="7726680" y="1837944"/>
            <a:ext cx="3779215" cy="384048"/>
          </a:xfrm>
          <a:prstGeom prst="rect">
            <a:avLst/>
          </a:prstGeom>
          <a:noFill/>
          <a:ln/>
        </p:spPr>
        <p:txBody>
          <a:bodyPr wrap="square" lIns="0" tIns="0" rIns="0" bIns="0" rtlCol="0" anchor="ctr"/>
          <a:lstStyle/>
          <a:p>
            <a:pPr indent="0" marL="0">
              <a:buNone/>
            </a:pPr>
            <a:r>
              <a:rPr lang="en-US" sz="1600" b="1" dirty="0">
                <a:solidFill>
                  <a:schemeClr val="tx1"/>
                </a:solidFill>
              </a:rPr>
              <a:t>What SCALE's time includes</a:t>
            </a:r>
            <a:endParaRPr lang="en-US" sz="1600" dirty="0"/>
          </a:p>
        </p:txBody>
      </p:sp>
      <p:sp>
        <p:nvSpPr>
          <p:cNvPr id="10" name="Text 6"/>
          <p:cNvSpPr txBox="1"/>
          <p:nvPr/>
        </p:nvSpPr>
        <p:spPr>
          <a:xfrm>
            <a:off x="7223760" y="2313432"/>
            <a:ext cx="4236415" cy="710184"/>
          </a:xfrm>
          <a:prstGeom prst="rect">
            <a:avLst/>
          </a:prstGeom>
          <a:noFill/>
          <a:ln/>
        </p:spPr>
        <p:txBody>
          <a:bodyPr wrap="square" lIns="0" tIns="0" rIns="0" bIns="0" rtlCol="0" anchor="t"/>
          <a:lstStyle/>
          <a:p>
            <a:pPr indent="0" marL="0">
              <a:buNone/>
            </a:pPr>
            <a:r>
              <a:rPr lang="en-US" sz="1400" dirty="0">
                <a:solidFill>
                  <a:schemeClr val="tx1"/>
                </a:solidFill>
              </a:rPr>
              <a:t>Per-row evidence and a deep copy of the answer, about half its time. Without them GRAPH is still 3.7× faster on methanol, 6.3× on 16 copies.</a:t>
            </a:r>
            <a:endParaRPr lang="en-US" sz="1400" dirty="0"/>
          </a:p>
        </p:txBody>
      </p:sp>
      <p:sp>
        <p:nvSpPr>
          <p:cNvPr id="11" name="Where SCALE is faster"/>
          <p:cNvSpPr/>
          <p:nvPr/>
        </p:nvSpPr>
        <p:spPr>
          <a:xfrm>
            <a:off x="7040880" y="3261360"/>
            <a:ext cx="4602175" cy="1386840"/>
          </a:xfrm>
          <a:prstGeom prst="roundRect">
            <a:avLst>
              <a:gd name="adj" fmla="val 6593"/>
            </a:avLst>
          </a:prstGeom>
          <a:solidFill>
            <a:schemeClr val="bg2"/>
          </a:solidFill>
          <a:ln/>
        </p:spPr>
      </p:sp>
      <p:sp>
        <p:nvSpPr>
          <p:cNvPr id="12" name="icon Where SCALE is faster"/>
          <p:cNvSpPr/>
          <p:nvPr/>
        </p:nvSpPr>
        <p:spPr>
          <a:xfrm>
            <a:off x="7223760" y="3407664"/>
            <a:ext cx="384048" cy="384048"/>
          </a:xfrm>
          <a:prstGeom prst="ellipse">
            <a:avLst/>
          </a:prstGeom>
          <a:solidFill>
            <a:schemeClr val="accent1"/>
          </a:solidFill>
          <a:ln/>
        </p:spPr>
      </p:sp>
      <p:pic>
        <p:nvPicPr>
          <p:cNvPr id="13" name="Image 1" descr="Where SCALE is faster">    </p:cNvPr>
          <p:cNvPicPr>
            <a:picLocks noChangeAspect="1"/>
          </p:cNvPicPr>
          <p:nvPr/>
        </p:nvPicPr>
        <p:blipFill>
          <a:blip r:embed="rId2"/>
          <a:stretch>
            <a:fillRect/>
          </a:stretch>
        </p:blipFill>
        <p:spPr>
          <a:xfrm>
            <a:off x="7308251" y="3492155"/>
            <a:ext cx="215067" cy="215067"/>
          </a:xfrm>
          <a:prstGeom prst="rect">
            <a:avLst/>
          </a:prstGeom>
        </p:spPr>
      </p:pic>
      <p:sp>
        <p:nvSpPr>
          <p:cNvPr id="14" name="Text 9"/>
          <p:cNvSpPr txBox="1"/>
          <p:nvPr/>
        </p:nvSpPr>
        <p:spPr>
          <a:xfrm>
            <a:off x="7726680" y="3407664"/>
            <a:ext cx="3779215" cy="384048"/>
          </a:xfrm>
          <a:prstGeom prst="rect">
            <a:avLst/>
          </a:prstGeom>
          <a:noFill/>
          <a:ln/>
        </p:spPr>
        <p:txBody>
          <a:bodyPr wrap="square" lIns="0" tIns="0" rIns="0" bIns="0" rtlCol="0" anchor="ctr"/>
          <a:lstStyle/>
          <a:p>
            <a:pPr indent="0" marL="0">
              <a:buNone/>
            </a:pPr>
            <a:r>
              <a:rPr lang="en-US" sz="1600" b="1" dirty="0">
                <a:solidFill>
                  <a:schemeClr val="tx1"/>
                </a:solidFill>
              </a:rPr>
              <a:t>Where SCALE is faster</a:t>
            </a:r>
            <a:endParaRPr lang="en-US" sz="1600" dirty="0"/>
          </a:p>
        </p:txBody>
      </p:sp>
      <p:sp>
        <p:nvSpPr>
          <p:cNvPr id="15" name="Text 10"/>
          <p:cNvSpPr txBox="1"/>
          <p:nvPr/>
        </p:nvSpPr>
        <p:spPr>
          <a:xfrm>
            <a:off x="7223760" y="3883152"/>
            <a:ext cx="4236415" cy="710184"/>
          </a:xfrm>
          <a:prstGeom prst="rect">
            <a:avLst/>
          </a:prstGeom>
          <a:noFill/>
          <a:ln/>
        </p:spPr>
        <p:txBody>
          <a:bodyPr wrap="square" lIns="0" tIns="0" rIns="0" bIns="0" rtlCol="0" anchor="t"/>
          <a:lstStyle/>
          <a:p>
            <a:pPr indent="0" marL="0">
              <a:buNone/>
            </a:pPr>
            <a:r>
              <a:rPr lang="en-US" sz="1400" dirty="0">
                <a:solidFill>
                  <a:schemeClr val="tx1"/>
                </a:solidFill>
              </a:rPr>
              <a:t>Building its index: 2.2 ms, against 20 ms for GRAPH's projection of methanol. The small retraction workflows: 0.04 ms against 0.32–0.36 ms.</a:t>
            </a:r>
            <a:endParaRPr lang="en-US" sz="1400" dirty="0"/>
          </a:p>
        </p:txBody>
      </p:sp>
      <p:sp>
        <p:nvSpPr>
          <p:cNvPr id="16" name="Why"/>
          <p:cNvSpPr/>
          <p:nvPr/>
        </p:nvSpPr>
        <p:spPr>
          <a:xfrm>
            <a:off x="7040880" y="4831080"/>
            <a:ext cx="4602175" cy="1386840"/>
          </a:xfrm>
          <a:prstGeom prst="roundRect">
            <a:avLst>
              <a:gd name="adj" fmla="val 6593"/>
            </a:avLst>
          </a:prstGeom>
          <a:solidFill>
            <a:schemeClr val="bg2"/>
          </a:solidFill>
          <a:ln/>
        </p:spPr>
      </p:sp>
      <p:sp>
        <p:nvSpPr>
          <p:cNvPr id="17" name="icon Why"/>
          <p:cNvSpPr/>
          <p:nvPr/>
        </p:nvSpPr>
        <p:spPr>
          <a:xfrm>
            <a:off x="7223760" y="4977384"/>
            <a:ext cx="384048" cy="384048"/>
          </a:xfrm>
          <a:prstGeom prst="ellipse">
            <a:avLst/>
          </a:prstGeom>
          <a:solidFill>
            <a:schemeClr val="accent1"/>
          </a:solidFill>
          <a:ln/>
        </p:spPr>
      </p:sp>
      <p:pic>
        <p:nvPicPr>
          <p:cNvPr id="18" name="Image 2" descr="Why">    </p:cNvPr>
          <p:cNvPicPr>
            <a:picLocks noChangeAspect="1"/>
          </p:cNvPicPr>
          <p:nvPr/>
        </p:nvPicPr>
        <p:blipFill>
          <a:blip r:embed="rId3"/>
          <a:stretch>
            <a:fillRect/>
          </a:stretch>
        </p:blipFill>
        <p:spPr>
          <a:xfrm>
            <a:off x="7308251" y="5061875"/>
            <a:ext cx="215067" cy="215067"/>
          </a:xfrm>
          <a:prstGeom prst="rect">
            <a:avLst/>
          </a:prstGeom>
        </p:spPr>
      </p:pic>
      <p:sp>
        <p:nvSpPr>
          <p:cNvPr id="19" name="Text 13"/>
          <p:cNvSpPr txBox="1"/>
          <p:nvPr/>
        </p:nvSpPr>
        <p:spPr>
          <a:xfrm>
            <a:off x="7726680" y="4977384"/>
            <a:ext cx="3779215" cy="384048"/>
          </a:xfrm>
          <a:prstGeom prst="rect">
            <a:avLst/>
          </a:prstGeom>
          <a:noFill/>
          <a:ln/>
        </p:spPr>
        <p:txBody>
          <a:bodyPr wrap="square" lIns="0" tIns="0" rIns="0" bIns="0" rtlCol="0" anchor="ctr"/>
          <a:lstStyle/>
          <a:p>
            <a:pPr indent="0" marL="0">
              <a:buNone/>
            </a:pPr>
            <a:r>
              <a:rPr lang="en-US" sz="1600" b="1" dirty="0">
                <a:solidFill>
                  <a:schemeClr val="tx1"/>
                </a:solidFill>
              </a:rPr>
              <a:t>Why</a:t>
            </a:r>
            <a:endParaRPr lang="en-US" sz="1600" dirty="0"/>
          </a:p>
        </p:txBody>
      </p:sp>
      <p:sp>
        <p:nvSpPr>
          <p:cNvPr id="20" name="Text 14"/>
          <p:cNvSpPr txBox="1"/>
          <p:nvPr/>
        </p:nvSpPr>
        <p:spPr>
          <a:xfrm>
            <a:off x="7223760" y="5452872"/>
            <a:ext cx="4236415" cy="710184"/>
          </a:xfrm>
          <a:prstGeom prst="rect">
            <a:avLst/>
          </a:prstGeom>
          <a:noFill/>
          <a:ln/>
        </p:spPr>
        <p:txBody>
          <a:bodyPr wrap="square" lIns="0" tIns="0" rIns="0" bIns="0" rtlCol="0" anchor="t"/>
          <a:lstStyle/>
          <a:p>
            <a:pPr indent="0" marL="0">
              <a:buNone/>
            </a:pPr>
            <a:r>
              <a:rPr lang="en-US" sz="1400" dirty="0">
                <a:solidFill>
                  <a:schemeClr val="tx1"/>
                </a:solidFill>
              </a:rPr>
              <a:t>SCALE expands rows step by step. GRAPH's semi-join reduction (Yannakakis) never meets a dead end, and counts without listing the rows.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Development timeline</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Forty-six commits on 25–26 October 2026: from four operations to twenty-three.</a:t>
            </a:r>
            <a:endParaRPr lang="en-US" sz="1600" dirty="0"/>
          </a:p>
        </p:txBody>
      </p:sp>
      <p:sp>
        <p:nvSpPr>
          <p:cNvPr id="4" name="Shape 2"/>
          <p:cNvSpPr/>
          <p:nvPr/>
        </p:nvSpPr>
        <p:spPr>
          <a:xfrm>
            <a:off x="1508760" y="1824766"/>
            <a:ext cx="0" cy="4260028"/>
          </a:xfrm>
          <a:prstGeom prst="line">
            <a:avLst/>
          </a:prstGeom>
          <a:noFill/>
          <a:ln w="25400">
            <a:solidFill>
              <a:schemeClr val="accent5"/>
            </a:solidFill>
            <a:prstDash val="solid"/>
          </a:ln>
        </p:spPr>
      </p:sp>
      <p:sp>
        <p:nvSpPr>
          <p:cNvPr id="5" name="Text 3"/>
          <p:cNvSpPr txBox="1"/>
          <p:nvPr/>
        </p:nvSpPr>
        <p:spPr>
          <a:xfrm>
            <a:off x="1783080" y="1691640"/>
            <a:ext cx="4389120" cy="266252"/>
          </a:xfrm>
          <a:prstGeom prst="rect">
            <a:avLst/>
          </a:prstGeom>
          <a:noFill/>
          <a:ln/>
        </p:spPr>
        <p:txBody>
          <a:bodyPr wrap="square" lIns="0" tIns="0" rIns="0" bIns="0" rtlCol="0" anchor="ctr"/>
          <a:lstStyle/>
          <a:p>
            <a:pPr indent="0" marL="0">
              <a:buNone/>
            </a:pPr>
            <a:r>
              <a:rPr lang="en-US" sz="1200" b="1" spc="100" kern="0" dirty="0">
                <a:solidFill>
                  <a:schemeClr val="accent1"/>
                </a:solidFill>
              </a:rPr>
              <a:t>25 OCT 2026</a:t>
            </a:r>
            <a:endParaRPr lang="en-US" sz="1200" dirty="0"/>
          </a:p>
        </p:txBody>
      </p:sp>
      <p:sp>
        <p:nvSpPr>
          <p:cNvPr id="6" name="milestone 17:17"/>
          <p:cNvSpPr/>
          <p:nvPr/>
        </p:nvSpPr>
        <p:spPr>
          <a:xfrm>
            <a:off x="1435608" y="2017866"/>
            <a:ext cx="146304" cy="146304"/>
          </a:xfrm>
          <a:prstGeom prst="ellipse">
            <a:avLst/>
          </a:prstGeom>
          <a:solidFill>
            <a:schemeClr val="accent1"/>
          </a:solidFill>
          <a:ln w="19050">
            <a:solidFill>
              <a:schemeClr val="bg1"/>
            </a:solidFill>
            <a:prstDash val="solid"/>
          </a:ln>
        </p:spPr>
      </p:sp>
      <p:sp>
        <p:nvSpPr>
          <p:cNvPr id="7" name="Text 5"/>
          <p:cNvSpPr txBox="1"/>
          <p:nvPr/>
        </p:nvSpPr>
        <p:spPr>
          <a:xfrm>
            <a:off x="548640" y="1957892"/>
            <a:ext cx="777240" cy="266252"/>
          </a:xfrm>
          <a:prstGeom prst="rect">
            <a:avLst/>
          </a:prstGeom>
          <a:noFill/>
          <a:ln/>
        </p:spPr>
        <p:txBody>
          <a:bodyPr wrap="square" lIns="0" tIns="0" rIns="0" bIns="0" rtlCol="0" anchor="ctr"/>
          <a:lstStyle/>
          <a:p>
            <a:pPr algn="r" indent="0" marL="0">
              <a:buNone/>
            </a:pPr>
            <a:r>
              <a:rPr lang="en-US" sz="1300" dirty="0">
                <a:solidFill>
                  <a:schemeClr val="accent6"/>
                </a:solidFill>
              </a:rPr>
              <a:t>17:17</a:t>
            </a:r>
            <a:endParaRPr lang="en-US" sz="1300" dirty="0"/>
          </a:p>
        </p:txBody>
      </p:sp>
      <p:sp>
        <p:nvSpPr>
          <p:cNvPr id="8" name="Text 6"/>
          <p:cNvSpPr txBox="1"/>
          <p:nvPr/>
        </p:nvSpPr>
        <p:spPr>
          <a:xfrm>
            <a:off x="1783080" y="1957892"/>
            <a:ext cx="4434840" cy="266252"/>
          </a:xfrm>
          <a:prstGeom prst="rect">
            <a:avLst/>
          </a:prstGeom>
          <a:noFill/>
          <a:ln/>
        </p:spPr>
        <p:txBody>
          <a:bodyPr wrap="square" lIns="0" tIns="0" rIns="0" bIns="0" rtlCol="0" anchor="ctr"/>
          <a:lstStyle/>
          <a:p>
            <a:pPr indent="0" marL="0">
              <a:buNone/>
            </a:pPr>
            <a:r>
              <a:rPr lang="en-US" sz="1400" dirty="0">
                <a:solidFill>
                  <a:schemeClr val="tx1"/>
                </a:solidFill>
              </a:rPr>
              <a:t>v0: 4 operations, SCALE parity; reviews → contract v0.1</a:t>
            </a:r>
            <a:endParaRPr lang="en-US" sz="1400" dirty="0"/>
          </a:p>
        </p:txBody>
      </p:sp>
      <p:sp>
        <p:nvSpPr>
          <p:cNvPr id="9" name="milestone 20:55"/>
          <p:cNvSpPr/>
          <p:nvPr/>
        </p:nvSpPr>
        <p:spPr>
          <a:xfrm>
            <a:off x="1435608" y="2284117"/>
            <a:ext cx="146304" cy="146304"/>
          </a:xfrm>
          <a:prstGeom prst="ellipse">
            <a:avLst/>
          </a:prstGeom>
          <a:solidFill>
            <a:schemeClr val="accent1"/>
          </a:solidFill>
          <a:ln w="19050">
            <a:solidFill>
              <a:schemeClr val="bg1"/>
            </a:solidFill>
            <a:prstDash val="solid"/>
          </a:ln>
        </p:spPr>
      </p:sp>
      <p:sp>
        <p:nvSpPr>
          <p:cNvPr id="10" name="Text 8"/>
          <p:cNvSpPr txBox="1"/>
          <p:nvPr/>
        </p:nvSpPr>
        <p:spPr>
          <a:xfrm>
            <a:off x="548640" y="2224144"/>
            <a:ext cx="777240" cy="266252"/>
          </a:xfrm>
          <a:prstGeom prst="rect">
            <a:avLst/>
          </a:prstGeom>
          <a:noFill/>
          <a:ln/>
        </p:spPr>
        <p:txBody>
          <a:bodyPr wrap="square" lIns="0" tIns="0" rIns="0" bIns="0" rtlCol="0" anchor="ctr"/>
          <a:lstStyle/>
          <a:p>
            <a:pPr algn="r" indent="0" marL="0">
              <a:buNone/>
            </a:pPr>
            <a:r>
              <a:rPr lang="en-US" sz="1300" dirty="0">
                <a:solidFill>
                  <a:schemeClr val="accent6"/>
                </a:solidFill>
              </a:rPr>
              <a:t>20:55</a:t>
            </a:r>
            <a:endParaRPr lang="en-US" sz="1300" dirty="0"/>
          </a:p>
        </p:txBody>
      </p:sp>
      <p:sp>
        <p:nvSpPr>
          <p:cNvPr id="11" name="Text 9"/>
          <p:cNvSpPr txBox="1"/>
          <p:nvPr/>
        </p:nvSpPr>
        <p:spPr>
          <a:xfrm>
            <a:off x="1783080" y="2224144"/>
            <a:ext cx="4434840" cy="266252"/>
          </a:xfrm>
          <a:prstGeom prst="rect">
            <a:avLst/>
          </a:prstGeom>
          <a:noFill/>
          <a:ln/>
        </p:spPr>
        <p:txBody>
          <a:bodyPr wrap="square" lIns="0" tIns="0" rIns="0" bIns="0" rtlCol="0" anchor="ctr"/>
          <a:lstStyle/>
          <a:p>
            <a:pPr indent="0" marL="0">
              <a:buNone/>
            </a:pPr>
            <a:r>
              <a:rPr lang="en-US" sz="1400" dirty="0">
                <a:solidFill>
                  <a:schemeClr val="tx1"/>
                </a:solidFill>
              </a:rPr>
              <a:t>STATES as a consumer; hot spots removed; CI</a:t>
            </a:r>
            <a:endParaRPr lang="en-US" sz="1400" dirty="0"/>
          </a:p>
        </p:txBody>
      </p:sp>
      <p:sp>
        <p:nvSpPr>
          <p:cNvPr id="12" name="milestone 23:08"/>
          <p:cNvSpPr/>
          <p:nvPr/>
        </p:nvSpPr>
        <p:spPr>
          <a:xfrm>
            <a:off x="1435608" y="2550369"/>
            <a:ext cx="146304" cy="146304"/>
          </a:xfrm>
          <a:prstGeom prst="ellipse">
            <a:avLst/>
          </a:prstGeom>
          <a:solidFill>
            <a:schemeClr val="accent1"/>
          </a:solidFill>
          <a:ln w="19050">
            <a:solidFill>
              <a:schemeClr val="bg1"/>
            </a:solidFill>
            <a:prstDash val="solid"/>
          </a:ln>
        </p:spPr>
      </p:sp>
      <p:sp>
        <p:nvSpPr>
          <p:cNvPr id="13" name="Text 11"/>
          <p:cNvSpPr txBox="1"/>
          <p:nvPr/>
        </p:nvSpPr>
        <p:spPr>
          <a:xfrm>
            <a:off x="548640" y="2490395"/>
            <a:ext cx="777240" cy="266252"/>
          </a:xfrm>
          <a:prstGeom prst="rect">
            <a:avLst/>
          </a:prstGeom>
          <a:noFill/>
          <a:ln/>
        </p:spPr>
        <p:txBody>
          <a:bodyPr wrap="square" lIns="0" tIns="0" rIns="0" bIns="0" rtlCol="0" anchor="ctr"/>
          <a:lstStyle/>
          <a:p>
            <a:pPr algn="r" indent="0" marL="0">
              <a:buNone/>
            </a:pPr>
            <a:r>
              <a:rPr lang="en-US" sz="1300" dirty="0">
                <a:solidFill>
                  <a:schemeClr val="accent6"/>
                </a:solidFill>
              </a:rPr>
              <a:t>23:08</a:t>
            </a:r>
            <a:endParaRPr lang="en-US" sz="1300" dirty="0"/>
          </a:p>
        </p:txBody>
      </p:sp>
      <p:sp>
        <p:nvSpPr>
          <p:cNvPr id="14" name="Text 12"/>
          <p:cNvSpPr txBox="1"/>
          <p:nvPr/>
        </p:nvSpPr>
        <p:spPr>
          <a:xfrm>
            <a:off x="1783080" y="2490395"/>
            <a:ext cx="4434840" cy="266252"/>
          </a:xfrm>
          <a:prstGeom prst="rect">
            <a:avLst/>
          </a:prstGeom>
          <a:noFill/>
          <a:ln/>
        </p:spPr>
        <p:txBody>
          <a:bodyPr wrap="square" lIns="0" tIns="0" rIns="0" bIns="0" rtlCol="0" anchor="ctr"/>
          <a:lstStyle/>
          <a:p>
            <a:pPr indent="0" marL="0">
              <a:buNone/>
            </a:pPr>
            <a:r>
              <a:rPr lang="en-US" sz="1400" dirty="0">
                <a:solidFill>
                  <a:schemeClr val="tx1"/>
                </a:solidFill>
              </a:rPr>
              <a:t>Hierarchies (v0.2) · pattern · retrieval · support</a:t>
            </a:r>
            <a:endParaRPr lang="en-US" sz="1400" dirty="0"/>
          </a:p>
        </p:txBody>
      </p:sp>
      <p:sp>
        <p:nvSpPr>
          <p:cNvPr id="15" name="Text 13"/>
          <p:cNvSpPr txBox="1"/>
          <p:nvPr/>
        </p:nvSpPr>
        <p:spPr>
          <a:xfrm>
            <a:off x="1783080" y="2756647"/>
            <a:ext cx="4389120" cy="266252"/>
          </a:xfrm>
          <a:prstGeom prst="rect">
            <a:avLst/>
          </a:prstGeom>
          <a:noFill/>
          <a:ln/>
        </p:spPr>
        <p:txBody>
          <a:bodyPr wrap="square" lIns="0" tIns="0" rIns="0" bIns="0" rtlCol="0" anchor="ctr"/>
          <a:lstStyle/>
          <a:p>
            <a:pPr indent="0" marL="0">
              <a:buNone/>
            </a:pPr>
            <a:r>
              <a:rPr lang="en-US" sz="1200" b="1" spc="100" kern="0" dirty="0">
                <a:solidFill>
                  <a:schemeClr val="accent1"/>
                </a:solidFill>
              </a:rPr>
              <a:t>26 OCT 2026</a:t>
            </a:r>
            <a:endParaRPr lang="en-US" sz="1200" dirty="0"/>
          </a:p>
        </p:txBody>
      </p:sp>
      <p:sp>
        <p:nvSpPr>
          <p:cNvPr id="16" name="milestone 00:14"/>
          <p:cNvSpPr/>
          <p:nvPr/>
        </p:nvSpPr>
        <p:spPr>
          <a:xfrm>
            <a:off x="1435608" y="3082873"/>
            <a:ext cx="146304" cy="146304"/>
          </a:xfrm>
          <a:prstGeom prst="ellipse">
            <a:avLst/>
          </a:prstGeom>
          <a:solidFill>
            <a:schemeClr val="accent1"/>
          </a:solidFill>
          <a:ln w="19050">
            <a:solidFill>
              <a:schemeClr val="bg1"/>
            </a:solidFill>
            <a:prstDash val="solid"/>
          </a:ln>
        </p:spPr>
      </p:sp>
      <p:sp>
        <p:nvSpPr>
          <p:cNvPr id="17" name="Text 15"/>
          <p:cNvSpPr txBox="1"/>
          <p:nvPr/>
        </p:nvSpPr>
        <p:spPr>
          <a:xfrm>
            <a:off x="548640" y="3022899"/>
            <a:ext cx="777240" cy="266252"/>
          </a:xfrm>
          <a:prstGeom prst="rect">
            <a:avLst/>
          </a:prstGeom>
          <a:noFill/>
          <a:ln/>
        </p:spPr>
        <p:txBody>
          <a:bodyPr wrap="square" lIns="0" tIns="0" rIns="0" bIns="0" rtlCol="0" anchor="ctr"/>
          <a:lstStyle/>
          <a:p>
            <a:pPr algn="r" indent="0" marL="0">
              <a:buNone/>
            </a:pPr>
            <a:r>
              <a:rPr lang="en-US" sz="1300" dirty="0">
                <a:solidFill>
                  <a:schemeClr val="accent6"/>
                </a:solidFill>
              </a:rPr>
              <a:t>00:14</a:t>
            </a:r>
            <a:endParaRPr lang="en-US" sz="1300" dirty="0"/>
          </a:p>
        </p:txBody>
      </p:sp>
      <p:sp>
        <p:nvSpPr>
          <p:cNvPr id="18" name="Text 16"/>
          <p:cNvSpPr txBox="1"/>
          <p:nvPr/>
        </p:nvSpPr>
        <p:spPr>
          <a:xfrm>
            <a:off x="1783080" y="3022899"/>
            <a:ext cx="4434840" cy="266252"/>
          </a:xfrm>
          <a:prstGeom prst="rect">
            <a:avLst/>
          </a:prstGeom>
          <a:noFill/>
          <a:ln/>
        </p:spPr>
        <p:txBody>
          <a:bodyPr wrap="square" lIns="0" tIns="0" rIns="0" bIns="0" rtlCol="0" anchor="ctr"/>
          <a:lstStyle/>
          <a:p>
            <a:pPr indent="0" marL="0">
              <a:buNone/>
            </a:pPr>
            <a:r>
              <a:rPr lang="en-US" sz="1400" dirty="0">
                <a:solidFill>
                  <a:schemeClr val="tx1"/>
                </a:solidFill>
              </a:rPr>
              <a:t>Certificates, revalidation, tools · </a:t>
            </a:r>
            <a:pPr indent="0" marL="0">
              <a:buNone/>
            </a:pPr>
            <a:r>
              <a:rPr lang="en-US" sz="1300" dirty="0">
                <a:solidFill>
                  <a:schemeClr val="tx1"/>
                </a:solidFill>
                <a:latin typeface="Courier New" pitchFamily="34" charset="0"/>
                <a:ea typeface="Courier New" pitchFamily="34" charset="-122"/>
                <a:cs typeface="Courier New" pitchFamily="34" charset="-120"/>
              </a:rPr>
              <a:t>bottleneck_path</a:t>
            </a:r>
            <a:endParaRPr lang="en-US" sz="1400" dirty="0"/>
          </a:p>
        </p:txBody>
      </p:sp>
      <p:sp>
        <p:nvSpPr>
          <p:cNvPr id="19" name="milestone 04:25"/>
          <p:cNvSpPr/>
          <p:nvPr/>
        </p:nvSpPr>
        <p:spPr>
          <a:xfrm>
            <a:off x="1435608" y="3349124"/>
            <a:ext cx="146304" cy="146304"/>
          </a:xfrm>
          <a:prstGeom prst="ellipse">
            <a:avLst/>
          </a:prstGeom>
          <a:solidFill>
            <a:schemeClr val="accent1"/>
          </a:solidFill>
          <a:ln w="19050">
            <a:solidFill>
              <a:schemeClr val="bg1"/>
            </a:solidFill>
            <a:prstDash val="solid"/>
          </a:ln>
        </p:spPr>
      </p:sp>
      <p:sp>
        <p:nvSpPr>
          <p:cNvPr id="20" name="Text 18"/>
          <p:cNvSpPr txBox="1"/>
          <p:nvPr/>
        </p:nvSpPr>
        <p:spPr>
          <a:xfrm>
            <a:off x="548640" y="3289151"/>
            <a:ext cx="777240" cy="266252"/>
          </a:xfrm>
          <a:prstGeom prst="rect">
            <a:avLst/>
          </a:prstGeom>
          <a:noFill/>
          <a:ln/>
        </p:spPr>
        <p:txBody>
          <a:bodyPr wrap="square" lIns="0" tIns="0" rIns="0" bIns="0" rtlCol="0" anchor="ctr"/>
          <a:lstStyle/>
          <a:p>
            <a:pPr algn="r" indent="0" marL="0">
              <a:buNone/>
            </a:pPr>
            <a:r>
              <a:rPr lang="en-US" sz="1300" dirty="0">
                <a:solidFill>
                  <a:schemeClr val="accent6"/>
                </a:solidFill>
              </a:rPr>
              <a:t>04:25</a:t>
            </a:r>
            <a:endParaRPr lang="en-US" sz="1300" dirty="0"/>
          </a:p>
        </p:txBody>
      </p:sp>
      <p:sp>
        <p:nvSpPr>
          <p:cNvPr id="21" name="Text 19"/>
          <p:cNvSpPr txBox="1"/>
          <p:nvPr/>
        </p:nvSpPr>
        <p:spPr>
          <a:xfrm>
            <a:off x="1783080" y="3289151"/>
            <a:ext cx="4434840" cy="266252"/>
          </a:xfrm>
          <a:prstGeom prst="rect">
            <a:avLst/>
          </a:prstGeom>
          <a:noFill/>
          <a:ln/>
        </p:spPr>
        <p:txBody>
          <a:bodyPr wrap="square" lIns="0" tIns="0" rIns="0" bIns="0" rtlCol="0" anchor="ctr"/>
          <a:lstStyle/>
          <a:p>
            <a:pPr indent="0" marL="0">
              <a:buNone/>
            </a:pPr>
            <a:r>
              <a:rPr lang="en-US" sz="1400" dirty="0">
                <a:solidFill>
                  <a:schemeClr val="tx1"/>
                </a:solidFill>
              </a:rPr>
              <a:t>Compiled hop lists · </a:t>
            </a:r>
            <a:pPr indent="0" marL="0">
              <a:buNone/>
            </a:pPr>
            <a:r>
              <a:rPr lang="en-US" sz="1300" dirty="0">
                <a:solidFill>
                  <a:schemeClr val="tx1"/>
                </a:solidFill>
                <a:latin typeface="Courier New" pitchFamily="34" charset="0"/>
                <a:ea typeface="Courier New" pitchFamily="34" charset="-122"/>
                <a:cs typeface="Courier New" pitchFamily="34" charset="-120"/>
              </a:rPr>
              <a:t>regular_path</a:t>
            </a:r>
            <a:pPr indent="0" marL="0">
              <a:buNone/>
            </a:pPr>
            <a:r>
              <a:rPr lang="en-US" sz="1400" dirty="0">
                <a:solidFill>
                  <a:schemeClr val="tx1"/>
                </a:solidFill>
              </a:rPr>
              <a:t> · </a:t>
            </a:r>
            <a:pPr indent="0" marL="0">
              <a:buNone/>
            </a:pPr>
            <a:r>
              <a:rPr lang="en-US" sz="1300" dirty="0">
                <a:solidFill>
                  <a:schemeClr val="tx1"/>
                </a:solidFill>
                <a:latin typeface="Courier New" pitchFamily="34" charset="0"/>
                <a:ea typeface="Courier New" pitchFamily="34" charset="-122"/>
                <a:cs typeface="Courier New" pitchFamily="34" charset="-120"/>
              </a:rPr>
              <a:t>derivation</a:t>
            </a:r>
            <a:endParaRPr lang="en-US" sz="1400" dirty="0"/>
          </a:p>
        </p:txBody>
      </p:sp>
      <p:sp>
        <p:nvSpPr>
          <p:cNvPr id="22" name="milestone 05:12"/>
          <p:cNvSpPr/>
          <p:nvPr/>
        </p:nvSpPr>
        <p:spPr>
          <a:xfrm>
            <a:off x="1435608" y="3615376"/>
            <a:ext cx="146304" cy="146304"/>
          </a:xfrm>
          <a:prstGeom prst="ellipse">
            <a:avLst/>
          </a:prstGeom>
          <a:solidFill>
            <a:schemeClr val="accent1"/>
          </a:solidFill>
          <a:ln w="19050">
            <a:solidFill>
              <a:schemeClr val="bg1"/>
            </a:solidFill>
            <a:prstDash val="solid"/>
          </a:ln>
        </p:spPr>
      </p:sp>
      <p:sp>
        <p:nvSpPr>
          <p:cNvPr id="23" name="Text 21"/>
          <p:cNvSpPr txBox="1"/>
          <p:nvPr/>
        </p:nvSpPr>
        <p:spPr>
          <a:xfrm>
            <a:off x="548640" y="3555402"/>
            <a:ext cx="777240" cy="266252"/>
          </a:xfrm>
          <a:prstGeom prst="rect">
            <a:avLst/>
          </a:prstGeom>
          <a:noFill/>
          <a:ln/>
        </p:spPr>
        <p:txBody>
          <a:bodyPr wrap="square" lIns="0" tIns="0" rIns="0" bIns="0" rtlCol="0" anchor="ctr"/>
          <a:lstStyle/>
          <a:p>
            <a:pPr algn="r" indent="0" marL="0">
              <a:buNone/>
            </a:pPr>
            <a:r>
              <a:rPr lang="en-US" sz="1300" dirty="0">
                <a:solidFill>
                  <a:schemeClr val="accent6"/>
                </a:solidFill>
              </a:rPr>
              <a:t>05:12</a:t>
            </a:r>
            <a:endParaRPr lang="en-US" sz="1300" dirty="0"/>
          </a:p>
        </p:txBody>
      </p:sp>
      <p:sp>
        <p:nvSpPr>
          <p:cNvPr id="24" name="Text 22"/>
          <p:cNvSpPr txBox="1"/>
          <p:nvPr/>
        </p:nvSpPr>
        <p:spPr>
          <a:xfrm>
            <a:off x="1783080" y="3555402"/>
            <a:ext cx="4434840" cy="266252"/>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periodicity</a:t>
            </a:r>
            <a:pPr indent="0" marL="0">
              <a:buNone/>
            </a:pPr>
            <a:r>
              <a:rPr lang="en-US" sz="1400" dirty="0">
                <a:solidFill>
                  <a:schemeClr val="tx1"/>
                </a:solidFill>
              </a:rPr>
              <a:t> · certified PageRank · cyclic patterns</a:t>
            </a:r>
            <a:endParaRPr lang="en-US" sz="1300" dirty="0"/>
          </a:p>
        </p:txBody>
      </p:sp>
      <p:sp>
        <p:nvSpPr>
          <p:cNvPr id="25" name="milestone 10:09"/>
          <p:cNvSpPr/>
          <p:nvPr/>
        </p:nvSpPr>
        <p:spPr>
          <a:xfrm>
            <a:off x="1435608" y="3881628"/>
            <a:ext cx="146304" cy="146304"/>
          </a:xfrm>
          <a:prstGeom prst="ellipse">
            <a:avLst/>
          </a:prstGeom>
          <a:solidFill>
            <a:schemeClr val="accent1"/>
          </a:solidFill>
          <a:ln w="19050">
            <a:solidFill>
              <a:schemeClr val="bg1"/>
            </a:solidFill>
            <a:prstDash val="solid"/>
          </a:ln>
        </p:spPr>
      </p:sp>
      <p:sp>
        <p:nvSpPr>
          <p:cNvPr id="26" name="Text 24"/>
          <p:cNvSpPr txBox="1"/>
          <p:nvPr/>
        </p:nvSpPr>
        <p:spPr>
          <a:xfrm>
            <a:off x="548640" y="3821654"/>
            <a:ext cx="777240" cy="266252"/>
          </a:xfrm>
          <a:prstGeom prst="rect">
            <a:avLst/>
          </a:prstGeom>
          <a:noFill/>
          <a:ln/>
        </p:spPr>
        <p:txBody>
          <a:bodyPr wrap="square" lIns="0" tIns="0" rIns="0" bIns="0" rtlCol="0" anchor="ctr"/>
          <a:lstStyle/>
          <a:p>
            <a:pPr algn="r" indent="0" marL="0">
              <a:buNone/>
            </a:pPr>
            <a:r>
              <a:rPr lang="en-US" sz="1300" dirty="0">
                <a:solidFill>
                  <a:schemeClr val="accent6"/>
                </a:solidFill>
              </a:rPr>
              <a:t>10:09</a:t>
            </a:r>
            <a:endParaRPr lang="en-US" sz="1300" dirty="0"/>
          </a:p>
        </p:txBody>
      </p:sp>
      <p:sp>
        <p:nvSpPr>
          <p:cNvPr id="27" name="Text 25"/>
          <p:cNvSpPr txBox="1"/>
          <p:nvPr/>
        </p:nvSpPr>
        <p:spPr>
          <a:xfrm>
            <a:off x="1783080" y="3821654"/>
            <a:ext cx="4434840" cy="266252"/>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components</a:t>
            </a:r>
            <a:pPr indent="0" marL="0">
              <a:buNone/>
            </a:pPr>
            <a:r>
              <a:rPr lang="en-US" sz="1400" dirty="0">
                <a:solidFill>
                  <a:schemeClr val="tx1"/>
                </a:solidFill>
              </a:rPr>
              <a:t> · </a:t>
            </a:r>
            <a:pPr indent="0" marL="0">
              <a:buNone/>
            </a:pPr>
            <a:r>
              <a:rPr lang="en-US" sz="1300" dirty="0">
                <a:solidFill>
                  <a:schemeClr val="tx1"/>
                </a:solidFill>
                <a:latin typeface="Courier New" pitchFamily="34" charset="0"/>
                <a:ea typeface="Courier New" pitchFamily="34" charset="-122"/>
                <a:cs typeface="Courier New" pitchFamily="34" charset="-120"/>
              </a:rPr>
              <a:t>biconnectivity</a:t>
            </a:r>
            <a:pPr indent="0" marL="0">
              <a:buNone/>
            </a:pPr>
            <a:r>
              <a:rPr lang="en-US" sz="1400" dirty="0">
                <a:solidFill>
                  <a:schemeClr val="tx1"/>
                </a:solidFill>
              </a:rPr>
              <a:t> · these slides</a:t>
            </a:r>
            <a:endParaRPr lang="en-US" sz="1300" dirty="0"/>
          </a:p>
        </p:txBody>
      </p:sp>
      <p:sp>
        <p:nvSpPr>
          <p:cNvPr id="28" name="milestone 10:29"/>
          <p:cNvSpPr/>
          <p:nvPr/>
        </p:nvSpPr>
        <p:spPr>
          <a:xfrm>
            <a:off x="1435608" y="4147880"/>
            <a:ext cx="146304" cy="146304"/>
          </a:xfrm>
          <a:prstGeom prst="ellipse">
            <a:avLst/>
          </a:prstGeom>
          <a:solidFill>
            <a:schemeClr val="accent1"/>
          </a:solidFill>
          <a:ln w="19050">
            <a:solidFill>
              <a:schemeClr val="bg1"/>
            </a:solidFill>
            <a:prstDash val="solid"/>
          </a:ln>
        </p:spPr>
      </p:sp>
      <p:sp>
        <p:nvSpPr>
          <p:cNvPr id="29" name="Text 27"/>
          <p:cNvSpPr txBox="1"/>
          <p:nvPr/>
        </p:nvSpPr>
        <p:spPr>
          <a:xfrm>
            <a:off x="548640" y="4087906"/>
            <a:ext cx="777240" cy="266252"/>
          </a:xfrm>
          <a:prstGeom prst="rect">
            <a:avLst/>
          </a:prstGeom>
          <a:noFill/>
          <a:ln/>
        </p:spPr>
        <p:txBody>
          <a:bodyPr wrap="square" lIns="0" tIns="0" rIns="0" bIns="0" rtlCol="0" anchor="ctr"/>
          <a:lstStyle/>
          <a:p>
            <a:pPr algn="r" indent="0" marL="0">
              <a:buNone/>
            </a:pPr>
            <a:r>
              <a:rPr lang="en-US" sz="1300" dirty="0">
                <a:solidFill>
                  <a:schemeClr val="accent6"/>
                </a:solidFill>
              </a:rPr>
              <a:t>10:29</a:t>
            </a:r>
            <a:endParaRPr lang="en-US" sz="1300" dirty="0"/>
          </a:p>
        </p:txBody>
      </p:sp>
      <p:sp>
        <p:nvSpPr>
          <p:cNvPr id="30" name="Text 28"/>
          <p:cNvSpPr txBox="1"/>
          <p:nvPr/>
        </p:nvSpPr>
        <p:spPr>
          <a:xfrm>
            <a:off x="1783080" y="4087906"/>
            <a:ext cx="4434840" cy="266252"/>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max_flow</a:t>
            </a:r>
            <a:pPr indent="0" marL="0">
              <a:buNone/>
            </a:pPr>
            <a:r>
              <a:rPr lang="en-US" sz="1400" dirty="0">
                <a:solidFill>
                  <a:schemeClr val="tx1"/>
                </a:solidFill>
              </a:rPr>
              <a:t> · </a:t>
            </a:r>
            <a:pPr indent="0" marL="0">
              <a:buNone/>
            </a:pPr>
            <a:r>
              <a:rPr lang="en-US" sz="1300" dirty="0">
                <a:solidFill>
                  <a:schemeClr val="tx1"/>
                </a:solidFill>
                <a:latin typeface="Courier New" pitchFamily="34" charset="0"/>
                <a:ea typeface="Courier New" pitchFamily="34" charset="-122"/>
                <a:cs typeface="Courier New" pitchFamily="34" charset="-120"/>
              </a:rPr>
              <a:t>matching</a:t>
            </a:r>
            <a:pPr indent="0" marL="0">
              <a:buNone/>
            </a:pPr>
            <a:r>
              <a:rPr lang="en-US" sz="1400" dirty="0">
                <a:solidFill>
                  <a:schemeClr val="tx1"/>
                </a:solidFill>
              </a:rPr>
              <a:t> · </a:t>
            </a:r>
            <a:pPr indent="0" marL="0">
              <a:buNone/>
            </a:pPr>
            <a:r>
              <a:rPr lang="en-US" sz="1300" dirty="0">
                <a:solidFill>
                  <a:schemeClr val="tx1"/>
                </a:solidFill>
                <a:latin typeface="Courier New" pitchFamily="34" charset="0"/>
                <a:ea typeface="Courier New" pitchFamily="34" charset="-122"/>
                <a:cs typeface="Courier New" pitchFamily="34" charset="-120"/>
              </a:rPr>
              <a:t>dominators</a:t>
            </a:r>
            <a:pPr indent="0" marL="0">
              <a:buNone/>
            </a:pPr>
            <a:r>
              <a:rPr lang="en-US" sz="1400" dirty="0">
                <a:solidFill>
                  <a:schemeClr val="tx1"/>
                </a:solidFill>
              </a:rPr>
              <a:t> · revalidation</a:t>
            </a:r>
            <a:endParaRPr lang="en-US" sz="1300" dirty="0"/>
          </a:p>
        </p:txBody>
      </p:sp>
      <p:sp>
        <p:nvSpPr>
          <p:cNvPr id="31" name="milestone 11:16"/>
          <p:cNvSpPr/>
          <p:nvPr/>
        </p:nvSpPr>
        <p:spPr>
          <a:xfrm>
            <a:off x="1435608" y="4414132"/>
            <a:ext cx="146304" cy="146304"/>
          </a:xfrm>
          <a:prstGeom prst="ellipse">
            <a:avLst/>
          </a:prstGeom>
          <a:solidFill>
            <a:schemeClr val="accent1"/>
          </a:solidFill>
          <a:ln w="19050">
            <a:solidFill>
              <a:schemeClr val="bg1"/>
            </a:solidFill>
            <a:prstDash val="solid"/>
          </a:ln>
        </p:spPr>
      </p:sp>
      <p:sp>
        <p:nvSpPr>
          <p:cNvPr id="32" name="Text 30"/>
          <p:cNvSpPr txBox="1"/>
          <p:nvPr/>
        </p:nvSpPr>
        <p:spPr>
          <a:xfrm>
            <a:off x="548640" y="4354158"/>
            <a:ext cx="777240" cy="266252"/>
          </a:xfrm>
          <a:prstGeom prst="rect">
            <a:avLst/>
          </a:prstGeom>
          <a:noFill/>
          <a:ln/>
        </p:spPr>
        <p:txBody>
          <a:bodyPr wrap="square" lIns="0" tIns="0" rIns="0" bIns="0" rtlCol="0" anchor="ctr"/>
          <a:lstStyle/>
          <a:p>
            <a:pPr algn="r" indent="0" marL="0">
              <a:buNone/>
            </a:pPr>
            <a:r>
              <a:rPr lang="en-US" sz="1300" dirty="0">
                <a:solidFill>
                  <a:schemeClr val="accent6"/>
                </a:solidFill>
              </a:rPr>
              <a:t>11:16</a:t>
            </a:r>
            <a:endParaRPr lang="en-US" sz="1300" dirty="0"/>
          </a:p>
        </p:txBody>
      </p:sp>
      <p:sp>
        <p:nvSpPr>
          <p:cNvPr id="33" name="Text 31"/>
          <p:cNvSpPr txBox="1"/>
          <p:nvPr/>
        </p:nvSpPr>
        <p:spPr>
          <a:xfrm>
            <a:off x="1783080" y="4354158"/>
            <a:ext cx="4434840" cy="266252"/>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incidence</a:t>
            </a:r>
            <a:pPr indent="0" marL="0">
              <a:buNone/>
            </a:pPr>
            <a:r>
              <a:rPr lang="en-US" sz="1400" dirty="0">
                <a:solidFill>
                  <a:schemeClr val="tx1"/>
                </a:solidFill>
              </a:rPr>
              <a:t> · </a:t>
            </a:r>
            <a:pPr indent="0" marL="0">
              <a:buNone/>
            </a:pPr>
            <a:r>
              <a:rPr lang="en-US" sz="1300" dirty="0">
                <a:solidFill>
                  <a:schemeClr val="tx1"/>
                </a:solidFill>
                <a:latin typeface="Courier New" pitchFamily="34" charset="0"/>
                <a:ea typeface="Courier New" pitchFamily="34" charset="-122"/>
                <a:cs typeface="Courier New" pitchFamily="34" charset="-120"/>
              </a:rPr>
              <a:t>critical_path</a:t>
            </a:r>
            <a:pPr indent="0" marL="0">
              <a:buNone/>
            </a:pPr>
            <a:r>
              <a:rPr lang="en-US" sz="1400" dirty="0">
                <a:solidFill>
                  <a:schemeClr val="tx1"/>
                </a:solidFill>
              </a:rPr>
              <a:t> · </a:t>
            </a:r>
            <a:pPr indent="0" marL="0">
              <a:buNone/>
            </a:pPr>
            <a:r>
              <a:rPr lang="en-US" sz="1300" dirty="0">
                <a:solidFill>
                  <a:schemeClr val="tx1"/>
                </a:solidFill>
                <a:latin typeface="Courier New" pitchFamily="34" charset="0"/>
                <a:ea typeface="Courier New" pitchFamily="34" charset="-122"/>
                <a:cs typeface="Courier New" pitchFamily="34" charset="-120"/>
              </a:rPr>
              <a:t>d_separation</a:t>
            </a:r>
            <a:endParaRPr lang="en-US" sz="1300" dirty="0"/>
          </a:p>
        </p:txBody>
      </p:sp>
      <p:sp>
        <p:nvSpPr>
          <p:cNvPr id="34" name="milestone 17:45"/>
          <p:cNvSpPr/>
          <p:nvPr/>
        </p:nvSpPr>
        <p:spPr>
          <a:xfrm>
            <a:off x="1435608" y="4680383"/>
            <a:ext cx="146304" cy="146304"/>
          </a:xfrm>
          <a:prstGeom prst="ellipse">
            <a:avLst/>
          </a:prstGeom>
          <a:solidFill>
            <a:schemeClr val="accent1"/>
          </a:solidFill>
          <a:ln w="19050">
            <a:solidFill>
              <a:schemeClr val="bg1"/>
            </a:solidFill>
            <a:prstDash val="solid"/>
          </a:ln>
        </p:spPr>
      </p:sp>
      <p:sp>
        <p:nvSpPr>
          <p:cNvPr id="35" name="Text 33"/>
          <p:cNvSpPr txBox="1"/>
          <p:nvPr/>
        </p:nvSpPr>
        <p:spPr>
          <a:xfrm>
            <a:off x="548640" y="4620409"/>
            <a:ext cx="777240" cy="266252"/>
          </a:xfrm>
          <a:prstGeom prst="rect">
            <a:avLst/>
          </a:prstGeom>
          <a:noFill/>
          <a:ln/>
        </p:spPr>
        <p:txBody>
          <a:bodyPr wrap="square" lIns="0" tIns="0" rIns="0" bIns="0" rtlCol="0" anchor="ctr"/>
          <a:lstStyle/>
          <a:p>
            <a:pPr algn="r" indent="0" marL="0">
              <a:buNone/>
            </a:pPr>
            <a:r>
              <a:rPr lang="en-US" sz="1300" dirty="0">
                <a:solidFill>
                  <a:schemeClr val="accent6"/>
                </a:solidFill>
              </a:rPr>
              <a:t>17:45</a:t>
            </a:r>
            <a:endParaRPr lang="en-US" sz="1300" dirty="0"/>
          </a:p>
        </p:txBody>
      </p:sp>
      <p:sp>
        <p:nvSpPr>
          <p:cNvPr id="36" name="Text 34"/>
          <p:cNvSpPr txBox="1"/>
          <p:nvPr/>
        </p:nvSpPr>
        <p:spPr>
          <a:xfrm>
            <a:off x="1783080" y="4620409"/>
            <a:ext cx="4434840" cy="266252"/>
          </a:xfrm>
          <a:prstGeom prst="rect">
            <a:avLst/>
          </a:prstGeom>
          <a:noFill/>
          <a:ln/>
        </p:spPr>
        <p:txBody>
          <a:bodyPr wrap="square" lIns="0" tIns="0" rIns="0" bIns="0" rtlCol="0" anchor="ctr"/>
          <a:lstStyle/>
          <a:p>
            <a:pPr indent="0" marL="0">
              <a:buNone/>
            </a:pPr>
            <a:r>
              <a:rPr lang="en-US" sz="1400" dirty="0">
                <a:solidFill>
                  <a:schemeClr val="tx1"/>
                </a:solidFill>
              </a:rPr>
              <a:t>Review fixes · support certificates, revalidated</a:t>
            </a:r>
            <a:endParaRPr lang="en-US" sz="1400" dirty="0"/>
          </a:p>
        </p:txBody>
      </p:sp>
      <p:sp>
        <p:nvSpPr>
          <p:cNvPr id="37" name="milestone 22:11"/>
          <p:cNvSpPr/>
          <p:nvPr/>
        </p:nvSpPr>
        <p:spPr>
          <a:xfrm>
            <a:off x="1435608" y="4946635"/>
            <a:ext cx="146304" cy="146304"/>
          </a:xfrm>
          <a:prstGeom prst="ellipse">
            <a:avLst/>
          </a:prstGeom>
          <a:solidFill>
            <a:schemeClr val="accent1"/>
          </a:solidFill>
          <a:ln w="19050">
            <a:solidFill>
              <a:schemeClr val="bg1"/>
            </a:solidFill>
            <a:prstDash val="solid"/>
          </a:ln>
        </p:spPr>
      </p:sp>
      <p:sp>
        <p:nvSpPr>
          <p:cNvPr id="38" name="Text 36"/>
          <p:cNvSpPr txBox="1"/>
          <p:nvPr/>
        </p:nvSpPr>
        <p:spPr>
          <a:xfrm>
            <a:off x="548640" y="4886661"/>
            <a:ext cx="777240" cy="266252"/>
          </a:xfrm>
          <a:prstGeom prst="rect">
            <a:avLst/>
          </a:prstGeom>
          <a:noFill/>
          <a:ln/>
        </p:spPr>
        <p:txBody>
          <a:bodyPr wrap="square" lIns="0" tIns="0" rIns="0" bIns="0" rtlCol="0" anchor="ctr"/>
          <a:lstStyle/>
          <a:p>
            <a:pPr algn="r" indent="0" marL="0">
              <a:buNone/>
            </a:pPr>
            <a:r>
              <a:rPr lang="en-US" sz="1300" dirty="0">
                <a:solidFill>
                  <a:schemeClr val="accent6"/>
                </a:solidFill>
              </a:rPr>
              <a:t>22:11</a:t>
            </a:r>
            <a:endParaRPr lang="en-US" sz="1300" dirty="0"/>
          </a:p>
        </p:txBody>
      </p:sp>
      <p:sp>
        <p:nvSpPr>
          <p:cNvPr id="39" name="Text 37"/>
          <p:cNvSpPr txBox="1"/>
          <p:nvPr/>
        </p:nvSpPr>
        <p:spPr>
          <a:xfrm>
            <a:off x="1783080" y="4886661"/>
            <a:ext cx="4434840" cy="266252"/>
          </a:xfrm>
          <a:prstGeom prst="rect">
            <a:avLst/>
          </a:prstGeom>
          <a:noFill/>
          <a:ln/>
        </p:spPr>
        <p:txBody>
          <a:bodyPr wrap="square" lIns="0" tIns="0" rIns="0" bIns="0" rtlCol="0" anchor="ctr"/>
          <a:lstStyle/>
          <a:p>
            <a:pPr indent="0" marL="0">
              <a:buNone/>
            </a:pPr>
            <a:r>
              <a:rPr lang="en-US" sz="1400" dirty="0">
                <a:solidFill>
                  <a:schemeClr val="tx1"/>
                </a:solidFill>
              </a:rPr>
              <a:t>Negative costs · faster projection identity</a:t>
            </a:r>
            <a:endParaRPr lang="en-US" sz="1400" dirty="0"/>
          </a:p>
        </p:txBody>
      </p:sp>
      <p:sp>
        <p:nvSpPr>
          <p:cNvPr id="40" name="milestone 22:38"/>
          <p:cNvSpPr/>
          <p:nvPr/>
        </p:nvSpPr>
        <p:spPr>
          <a:xfrm>
            <a:off x="1435608" y="5212887"/>
            <a:ext cx="146304" cy="146304"/>
          </a:xfrm>
          <a:prstGeom prst="ellipse">
            <a:avLst/>
          </a:prstGeom>
          <a:solidFill>
            <a:schemeClr val="accent1"/>
          </a:solidFill>
          <a:ln w="19050">
            <a:solidFill>
              <a:schemeClr val="bg1"/>
            </a:solidFill>
            <a:prstDash val="solid"/>
          </a:ln>
        </p:spPr>
      </p:sp>
      <p:sp>
        <p:nvSpPr>
          <p:cNvPr id="41" name="Text 39"/>
          <p:cNvSpPr txBox="1"/>
          <p:nvPr/>
        </p:nvSpPr>
        <p:spPr>
          <a:xfrm>
            <a:off x="548640" y="5152913"/>
            <a:ext cx="777240" cy="266252"/>
          </a:xfrm>
          <a:prstGeom prst="rect">
            <a:avLst/>
          </a:prstGeom>
          <a:noFill/>
          <a:ln/>
        </p:spPr>
        <p:txBody>
          <a:bodyPr wrap="square" lIns="0" tIns="0" rIns="0" bIns="0" rtlCol="0" anchor="ctr"/>
          <a:lstStyle/>
          <a:p>
            <a:pPr algn="r" indent="0" marL="0">
              <a:buNone/>
            </a:pPr>
            <a:r>
              <a:rPr lang="en-US" sz="1300" dirty="0">
                <a:solidFill>
                  <a:schemeClr val="accent6"/>
                </a:solidFill>
              </a:rPr>
              <a:t>22:38</a:t>
            </a:r>
            <a:endParaRPr lang="en-US" sz="1300" dirty="0"/>
          </a:p>
        </p:txBody>
      </p:sp>
      <p:sp>
        <p:nvSpPr>
          <p:cNvPr id="42" name="Text 40"/>
          <p:cNvSpPr txBox="1"/>
          <p:nvPr/>
        </p:nvSpPr>
        <p:spPr>
          <a:xfrm>
            <a:off x="1783080" y="5152913"/>
            <a:ext cx="4434840" cy="266252"/>
          </a:xfrm>
          <a:prstGeom prst="rect">
            <a:avLst/>
          </a:prstGeom>
          <a:noFill/>
          <a:ln/>
        </p:spPr>
        <p:txBody>
          <a:bodyPr wrap="square" lIns="0" tIns="0" rIns="0" bIns="0" rtlCol="0" anchor="ctr"/>
          <a:lstStyle/>
          <a:p>
            <a:pPr indent="0" marL="0">
              <a:buNone/>
            </a:pPr>
            <a:r>
              <a:rPr lang="en-US" sz="1400" dirty="0">
                <a:solidFill>
                  <a:schemeClr val="tx1"/>
                </a:solidFill>
              </a:rPr>
              <a:t>Injective patterns · </a:t>
            </a:r>
            <a:pPr indent="0" marL="0">
              <a:buNone/>
            </a:pPr>
            <a:r>
              <a:rPr lang="en-US" sz="1300" dirty="0">
                <a:solidFill>
                  <a:schemeClr val="tx1"/>
                </a:solidFill>
                <a:latin typeface="Courier New" pitchFamily="34" charset="0"/>
                <a:ea typeface="Courier New" pitchFamily="34" charset="-122"/>
                <a:cs typeface="Courier New" pitchFamily="34" charset="-120"/>
              </a:rPr>
              <a:t>spanning_forest</a:t>
            </a:r>
            <a:endParaRPr lang="en-US" sz="1400" dirty="0"/>
          </a:p>
        </p:txBody>
      </p:sp>
      <p:sp>
        <p:nvSpPr>
          <p:cNvPr id="43" name="milestone 23:11"/>
          <p:cNvSpPr/>
          <p:nvPr/>
        </p:nvSpPr>
        <p:spPr>
          <a:xfrm>
            <a:off x="1435608" y="5479139"/>
            <a:ext cx="146304" cy="146304"/>
          </a:xfrm>
          <a:prstGeom prst="ellipse">
            <a:avLst/>
          </a:prstGeom>
          <a:solidFill>
            <a:schemeClr val="accent1"/>
          </a:solidFill>
          <a:ln w="19050">
            <a:solidFill>
              <a:schemeClr val="bg1"/>
            </a:solidFill>
            <a:prstDash val="solid"/>
          </a:ln>
        </p:spPr>
      </p:sp>
      <p:sp>
        <p:nvSpPr>
          <p:cNvPr id="44" name="Text 42"/>
          <p:cNvSpPr txBox="1"/>
          <p:nvPr/>
        </p:nvSpPr>
        <p:spPr>
          <a:xfrm>
            <a:off x="548640" y="5419165"/>
            <a:ext cx="777240" cy="266252"/>
          </a:xfrm>
          <a:prstGeom prst="rect">
            <a:avLst/>
          </a:prstGeom>
          <a:noFill/>
          <a:ln/>
        </p:spPr>
        <p:txBody>
          <a:bodyPr wrap="square" lIns="0" tIns="0" rIns="0" bIns="0" rtlCol="0" anchor="ctr"/>
          <a:lstStyle/>
          <a:p>
            <a:pPr algn="r" indent="0" marL="0">
              <a:buNone/>
            </a:pPr>
            <a:r>
              <a:rPr lang="en-US" sz="1300" dirty="0">
                <a:solidFill>
                  <a:schemeClr val="accent6"/>
                </a:solidFill>
              </a:rPr>
              <a:t>23:11</a:t>
            </a:r>
            <a:endParaRPr lang="en-US" sz="1300" dirty="0"/>
          </a:p>
        </p:txBody>
      </p:sp>
      <p:sp>
        <p:nvSpPr>
          <p:cNvPr id="45" name="Text 43"/>
          <p:cNvSpPr txBox="1"/>
          <p:nvPr/>
        </p:nvSpPr>
        <p:spPr>
          <a:xfrm>
            <a:off x="1783080" y="5419165"/>
            <a:ext cx="4434840" cy="266252"/>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cycle_basis</a:t>
            </a:r>
            <a:pPr indent="0" marL="0">
              <a:buNone/>
            </a:pPr>
            <a:r>
              <a:rPr lang="en-US" sz="1400" dirty="0">
                <a:solidFill>
                  <a:schemeClr val="tx1"/>
                </a:solidFill>
              </a:rPr>
              <a:t> (ring perception) · weighted matching</a:t>
            </a:r>
            <a:endParaRPr lang="en-US" sz="1300" dirty="0"/>
          </a:p>
        </p:txBody>
      </p:sp>
      <p:sp>
        <p:nvSpPr>
          <p:cNvPr id="46" name="milestone 23:40"/>
          <p:cNvSpPr/>
          <p:nvPr/>
        </p:nvSpPr>
        <p:spPr>
          <a:xfrm>
            <a:off x="1435608" y="5745390"/>
            <a:ext cx="146304" cy="146304"/>
          </a:xfrm>
          <a:prstGeom prst="ellipse">
            <a:avLst/>
          </a:prstGeom>
          <a:solidFill>
            <a:schemeClr val="accent1"/>
          </a:solidFill>
          <a:ln w="19050">
            <a:solidFill>
              <a:schemeClr val="bg1"/>
            </a:solidFill>
            <a:prstDash val="solid"/>
          </a:ln>
        </p:spPr>
      </p:sp>
      <p:sp>
        <p:nvSpPr>
          <p:cNvPr id="47" name="Text 45"/>
          <p:cNvSpPr txBox="1"/>
          <p:nvPr/>
        </p:nvSpPr>
        <p:spPr>
          <a:xfrm>
            <a:off x="548640" y="5685416"/>
            <a:ext cx="777240" cy="266252"/>
          </a:xfrm>
          <a:prstGeom prst="rect">
            <a:avLst/>
          </a:prstGeom>
          <a:noFill/>
          <a:ln/>
        </p:spPr>
        <p:txBody>
          <a:bodyPr wrap="square" lIns="0" tIns="0" rIns="0" bIns="0" rtlCol="0" anchor="ctr"/>
          <a:lstStyle/>
          <a:p>
            <a:pPr algn="r" indent="0" marL="0">
              <a:buNone/>
            </a:pPr>
            <a:r>
              <a:rPr lang="en-US" sz="1300" dirty="0">
                <a:solidFill>
                  <a:schemeClr val="accent6"/>
                </a:solidFill>
              </a:rPr>
              <a:t>23:40</a:t>
            </a:r>
            <a:endParaRPr lang="en-US" sz="1300" dirty="0"/>
          </a:p>
        </p:txBody>
      </p:sp>
      <p:sp>
        <p:nvSpPr>
          <p:cNvPr id="48" name="Text 46"/>
          <p:cNvSpPr txBox="1"/>
          <p:nvPr/>
        </p:nvSpPr>
        <p:spPr>
          <a:xfrm>
            <a:off x="1783080" y="5685416"/>
            <a:ext cx="4434840" cy="266252"/>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k_shortest_paths</a:t>
            </a:r>
            <a:pPr indent="0" marL="0">
              <a:buNone/>
            </a:pPr>
            <a:r>
              <a:rPr lang="en-US" sz="1400" dirty="0">
                <a:solidFill>
                  <a:schemeClr val="tx1"/>
                </a:solidFill>
              </a:rPr>
              <a:t> (Yen with Lawler's rule)</a:t>
            </a:r>
            <a:endParaRPr lang="en-US" sz="1300" dirty="0"/>
          </a:p>
        </p:txBody>
      </p:sp>
      <p:sp>
        <p:nvSpPr>
          <p:cNvPr id="49" name="milestone 23:59"/>
          <p:cNvSpPr/>
          <p:nvPr/>
        </p:nvSpPr>
        <p:spPr>
          <a:xfrm>
            <a:off x="1417320" y="5993354"/>
            <a:ext cx="182880" cy="182880"/>
          </a:xfrm>
          <a:prstGeom prst="ellipse">
            <a:avLst/>
          </a:prstGeom>
          <a:solidFill>
            <a:schemeClr val="accent2"/>
          </a:solidFill>
          <a:ln w="19050">
            <a:solidFill>
              <a:schemeClr val="bg1"/>
            </a:solidFill>
            <a:prstDash val="solid"/>
          </a:ln>
        </p:spPr>
      </p:sp>
      <p:sp>
        <p:nvSpPr>
          <p:cNvPr id="50" name="Text 48"/>
          <p:cNvSpPr txBox="1"/>
          <p:nvPr/>
        </p:nvSpPr>
        <p:spPr>
          <a:xfrm>
            <a:off x="548640" y="5951668"/>
            <a:ext cx="777240" cy="266252"/>
          </a:xfrm>
          <a:prstGeom prst="rect">
            <a:avLst/>
          </a:prstGeom>
          <a:noFill/>
          <a:ln/>
        </p:spPr>
        <p:txBody>
          <a:bodyPr wrap="square" lIns="0" tIns="0" rIns="0" bIns="0" rtlCol="0" anchor="ctr"/>
          <a:lstStyle/>
          <a:p>
            <a:pPr algn="r" indent="0" marL="0">
              <a:buNone/>
            </a:pPr>
            <a:r>
              <a:rPr lang="en-US" sz="1300" dirty="0">
                <a:solidFill>
                  <a:schemeClr val="accent6"/>
                </a:solidFill>
              </a:rPr>
              <a:t>23:59</a:t>
            </a:r>
            <a:endParaRPr lang="en-US" sz="1300" dirty="0"/>
          </a:p>
        </p:txBody>
      </p:sp>
      <p:sp>
        <p:nvSpPr>
          <p:cNvPr id="51" name="Text 49"/>
          <p:cNvSpPr txBox="1"/>
          <p:nvPr/>
        </p:nvSpPr>
        <p:spPr>
          <a:xfrm>
            <a:off x="1783080" y="5951668"/>
            <a:ext cx="4434840" cy="266252"/>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min_cost_flow</a:t>
            </a:r>
            <a:pPr indent="0" marL="0">
              <a:buNone/>
            </a:pPr>
            <a:r>
              <a:rPr lang="en-US" sz="1400" dirty="0">
                <a:solidFill>
                  <a:schemeClr val="tx1"/>
                </a:solidFill>
              </a:rPr>
              <a:t>, proven by potentials and a cut</a:t>
            </a:r>
            <a:endParaRPr lang="en-US" sz="1300" dirty="0"/>
          </a:p>
        </p:txBody>
      </p:sp>
      <p:sp>
        <p:nvSpPr>
          <p:cNvPr id="52" name="growth operations"/>
          <p:cNvSpPr/>
          <p:nvPr/>
        </p:nvSpPr>
        <p:spPr>
          <a:xfrm>
            <a:off x="6537960" y="1691640"/>
            <a:ext cx="2438248" cy="1005840"/>
          </a:xfrm>
          <a:prstGeom prst="roundRect">
            <a:avLst>
              <a:gd name="adj" fmla="val 9091"/>
            </a:avLst>
          </a:prstGeom>
          <a:solidFill>
            <a:schemeClr val="tx2"/>
          </a:solidFill>
          <a:ln/>
        </p:spPr>
      </p:sp>
      <p:sp>
        <p:nvSpPr>
          <p:cNvPr id="53" name="Text 51"/>
          <p:cNvSpPr txBox="1"/>
          <p:nvPr/>
        </p:nvSpPr>
        <p:spPr>
          <a:xfrm>
            <a:off x="6720840" y="1783080"/>
            <a:ext cx="2072488" cy="86868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4 → 23</a:t>
            </a:r>
            <a:endParaRPr lang="en-US" sz="2800" dirty="0"/>
          </a:p>
          <a:p>
            <a:pPr indent="0" marL="0">
              <a:buNone/>
            </a:pPr>
            <a:r>
              <a:rPr lang="en-US" sz="1300" dirty="0">
                <a:solidFill>
                  <a:schemeClr val="accent5"/>
                </a:solidFill>
              </a:rPr>
              <a:t>operations</a:t>
            </a:r>
            <a:endParaRPr lang="en-US" sz="2800" dirty="0"/>
          </a:p>
        </p:txBody>
      </p:sp>
      <p:sp>
        <p:nvSpPr>
          <p:cNvPr id="54" name="growth runtime tests"/>
          <p:cNvSpPr/>
          <p:nvPr/>
        </p:nvSpPr>
        <p:spPr>
          <a:xfrm>
            <a:off x="9204808" y="1691640"/>
            <a:ext cx="2438248" cy="1005840"/>
          </a:xfrm>
          <a:prstGeom prst="roundRect">
            <a:avLst>
              <a:gd name="adj" fmla="val 9091"/>
            </a:avLst>
          </a:prstGeom>
          <a:solidFill>
            <a:schemeClr val="tx2"/>
          </a:solidFill>
          <a:ln/>
        </p:spPr>
      </p:sp>
      <p:sp>
        <p:nvSpPr>
          <p:cNvPr id="55" name="Text 53"/>
          <p:cNvSpPr txBox="1"/>
          <p:nvPr/>
        </p:nvSpPr>
        <p:spPr>
          <a:xfrm>
            <a:off x="9387688" y="1783080"/>
            <a:ext cx="2072488" cy="86868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178 → 613</a:t>
            </a:r>
            <a:endParaRPr lang="en-US" sz="2800" dirty="0"/>
          </a:p>
          <a:p>
            <a:pPr indent="0" marL="0">
              <a:buNone/>
            </a:pPr>
            <a:r>
              <a:rPr lang="en-US" sz="1300" dirty="0">
                <a:solidFill>
                  <a:schemeClr val="accent5"/>
                </a:solidFill>
              </a:rPr>
              <a:t>runtime tests</a:t>
            </a:r>
            <a:endParaRPr lang="en-US" sz="2800" dirty="0"/>
          </a:p>
        </p:txBody>
      </p:sp>
      <p:graphicFrame>
        <p:nvGraphicFramePr>
          <p:cNvPr id="56" name="conformance growth chart" descr=""/>
          <p:cNvGraphicFramePr/>
          <p:nvPr/>
        </p:nvGraphicFramePr>
        <p:xfrm>
          <a:off x="6537960" y="2926080"/>
          <a:ext cx="5105095" cy="3291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Roadmap: the next increments</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Ranked by value against effort in a Codex literature survey: seven done, these five to go, in this order.</a:t>
            </a:r>
            <a:endParaRPr lang="en-US" sz="1600" dirty="0"/>
          </a:p>
        </p:txBody>
      </p:sp>
      <p:sp>
        <p:nvSpPr>
          <p:cNvPr id="4" name="Text 2"/>
          <p:cNvSpPr txBox="1"/>
          <p:nvPr/>
        </p:nvSpPr>
        <p:spPr>
          <a:xfrm>
            <a:off x="1325880" y="1618488"/>
            <a:ext cx="2514600" cy="228600"/>
          </a:xfrm>
          <a:prstGeom prst="rect">
            <a:avLst/>
          </a:prstGeom>
          <a:noFill/>
          <a:ln/>
        </p:spPr>
        <p:txBody>
          <a:bodyPr wrap="square" lIns="0" tIns="0" rIns="0" bIns="0" rtlCol="0" anchor="t"/>
          <a:lstStyle/>
          <a:p>
            <a:pPr indent="0" marL="0">
              <a:buNone/>
            </a:pPr>
            <a:r>
              <a:rPr lang="en-US" sz="1100" b="1" spc="100" kern="0" dirty="0">
                <a:solidFill>
                  <a:schemeClr val="accent6"/>
                </a:solidFill>
              </a:rPr>
              <a:t>INCREMENT</a:t>
            </a:r>
            <a:endParaRPr lang="en-US" sz="1100" dirty="0"/>
          </a:p>
        </p:txBody>
      </p:sp>
      <p:sp>
        <p:nvSpPr>
          <p:cNvPr id="5" name="Text 3"/>
          <p:cNvSpPr txBox="1"/>
          <p:nvPr/>
        </p:nvSpPr>
        <p:spPr>
          <a:xfrm>
            <a:off x="3383280" y="1618488"/>
            <a:ext cx="3063240" cy="228600"/>
          </a:xfrm>
          <a:prstGeom prst="rect">
            <a:avLst/>
          </a:prstGeom>
          <a:noFill/>
          <a:ln/>
        </p:spPr>
        <p:txBody>
          <a:bodyPr wrap="square" lIns="0" tIns="0" rIns="0" bIns="0" rtlCol="0" anchor="t"/>
          <a:lstStyle/>
          <a:p>
            <a:pPr indent="0" marL="0">
              <a:buNone/>
            </a:pPr>
            <a:r>
              <a:rPr lang="en-US" sz="1100" b="1" spc="100" kern="0" dirty="0">
                <a:solidFill>
                  <a:schemeClr val="accent6"/>
                </a:solidFill>
              </a:rPr>
              <a:t>WHAT IT ANSWERS</a:t>
            </a:r>
            <a:endParaRPr lang="en-US" sz="1100" dirty="0"/>
          </a:p>
        </p:txBody>
      </p:sp>
      <p:sp>
        <p:nvSpPr>
          <p:cNvPr id="6" name="Text 4"/>
          <p:cNvSpPr txBox="1"/>
          <p:nvPr/>
        </p:nvSpPr>
        <p:spPr>
          <a:xfrm>
            <a:off x="6629400" y="1618488"/>
            <a:ext cx="3063240" cy="228600"/>
          </a:xfrm>
          <a:prstGeom prst="rect">
            <a:avLst/>
          </a:prstGeom>
          <a:noFill/>
          <a:ln/>
        </p:spPr>
        <p:txBody>
          <a:bodyPr wrap="square" lIns="0" tIns="0" rIns="0" bIns="0" rtlCol="0" anchor="t"/>
          <a:lstStyle/>
          <a:p>
            <a:pPr indent="0" marL="0">
              <a:buNone/>
            </a:pPr>
            <a:r>
              <a:rPr lang="en-US" sz="1100" b="1" spc="100" kern="0" dirty="0">
                <a:solidFill>
                  <a:schemeClr val="accent6"/>
                </a:solidFill>
              </a:rPr>
              <a:t>CERTIFICATE</a:t>
            </a:r>
            <a:endParaRPr lang="en-US" sz="1100" dirty="0"/>
          </a:p>
        </p:txBody>
      </p:sp>
      <p:sp>
        <p:nvSpPr>
          <p:cNvPr id="7" name="Text 5"/>
          <p:cNvSpPr txBox="1"/>
          <p:nvPr/>
        </p:nvSpPr>
        <p:spPr>
          <a:xfrm>
            <a:off x="9875520" y="1618488"/>
            <a:ext cx="1721815" cy="228600"/>
          </a:xfrm>
          <a:prstGeom prst="rect">
            <a:avLst/>
          </a:prstGeom>
          <a:noFill/>
          <a:ln/>
        </p:spPr>
        <p:txBody>
          <a:bodyPr wrap="square" lIns="0" tIns="0" rIns="0" bIns="0" rtlCol="0" anchor="t"/>
          <a:lstStyle/>
          <a:p>
            <a:pPr indent="0" marL="0">
              <a:buNone/>
            </a:pPr>
            <a:r>
              <a:rPr lang="en-US" sz="1100" b="1" spc="100" kern="0" dirty="0">
                <a:solidFill>
                  <a:schemeClr val="accent6"/>
                </a:solidFill>
              </a:rPr>
              <a:t>REFERENCES</a:t>
            </a:r>
            <a:endParaRPr lang="en-US" sz="1100" dirty="0"/>
          </a:p>
        </p:txBody>
      </p:sp>
      <p:sp>
        <p:nvSpPr>
          <p:cNvPr id="8" name="roadmap Counting cyclic patterns"/>
          <p:cNvSpPr/>
          <p:nvPr/>
        </p:nvSpPr>
        <p:spPr>
          <a:xfrm>
            <a:off x="548640" y="1911096"/>
            <a:ext cx="11094415" cy="722884"/>
          </a:xfrm>
          <a:prstGeom prst="roundRect">
            <a:avLst>
              <a:gd name="adj" fmla="val 12649"/>
            </a:avLst>
          </a:prstGeom>
          <a:solidFill>
            <a:schemeClr val="bg2"/>
          </a:solidFill>
          <a:ln/>
        </p:spPr>
      </p:sp>
      <p:sp>
        <p:nvSpPr>
          <p:cNvPr id="9" name="icon Counting cyclic patterns"/>
          <p:cNvSpPr/>
          <p:nvPr/>
        </p:nvSpPr>
        <p:spPr>
          <a:xfrm>
            <a:off x="713232" y="2053082"/>
            <a:ext cx="438912" cy="438912"/>
          </a:xfrm>
          <a:prstGeom prst="ellipse">
            <a:avLst/>
          </a:prstGeom>
          <a:solidFill>
            <a:schemeClr val="accent1"/>
          </a:solidFill>
          <a:ln/>
        </p:spPr>
      </p:sp>
      <p:pic>
        <p:nvPicPr>
          <p:cNvPr id="10" name="Image 0" descr="Counting cyclic patterns">    </p:cNvPr>
          <p:cNvPicPr>
            <a:picLocks noChangeAspect="1"/>
          </p:cNvPicPr>
          <p:nvPr/>
        </p:nvPicPr>
        <p:blipFill>
          <a:blip r:embed="rId1"/>
          <a:stretch>
            <a:fillRect/>
          </a:stretch>
        </p:blipFill>
        <p:spPr>
          <a:xfrm>
            <a:off x="809793" y="2149643"/>
            <a:ext cx="245791" cy="245791"/>
          </a:xfrm>
          <a:prstGeom prst="rect">
            <a:avLst/>
          </a:prstGeom>
        </p:spPr>
      </p:pic>
      <p:sp>
        <p:nvSpPr>
          <p:cNvPr id="11" name="Text 8"/>
          <p:cNvSpPr txBox="1"/>
          <p:nvPr/>
        </p:nvSpPr>
        <p:spPr>
          <a:xfrm>
            <a:off x="1325880" y="1911096"/>
            <a:ext cx="1828800" cy="722884"/>
          </a:xfrm>
          <a:prstGeom prst="rect">
            <a:avLst/>
          </a:prstGeom>
          <a:noFill/>
          <a:ln/>
        </p:spPr>
        <p:txBody>
          <a:bodyPr wrap="square" lIns="0" tIns="0" rIns="0" bIns="0" rtlCol="0" anchor="ctr"/>
          <a:lstStyle/>
          <a:p>
            <a:pPr indent="0" marL="0">
              <a:buNone/>
            </a:pPr>
            <a:r>
              <a:rPr lang="en-US" sz="1500" b="1" dirty="0">
                <a:solidFill>
                  <a:schemeClr val="tx1"/>
                </a:solidFill>
              </a:rPr>
              <a:t>Counting cyclic patterns</a:t>
            </a:r>
            <a:endParaRPr lang="en-US" sz="1500" dirty="0"/>
          </a:p>
        </p:txBody>
      </p:sp>
      <p:sp>
        <p:nvSpPr>
          <p:cNvPr id="12" name="Text 9"/>
          <p:cNvSpPr txBox="1"/>
          <p:nvPr/>
        </p:nvSpPr>
        <p:spPr>
          <a:xfrm>
            <a:off x="3383280" y="1911096"/>
            <a:ext cx="3017520" cy="722884"/>
          </a:xfrm>
          <a:prstGeom prst="rect">
            <a:avLst/>
          </a:prstGeom>
          <a:noFill/>
          <a:ln/>
        </p:spPr>
        <p:txBody>
          <a:bodyPr wrap="square" lIns="0" tIns="0" rIns="0" bIns="0" rtlCol="0" anchor="ctr"/>
          <a:lstStyle/>
          <a:p>
            <a:pPr indent="0" marL="0">
              <a:buNone/>
            </a:pPr>
            <a:r>
              <a:rPr lang="en-US" sz="1400" dirty="0">
                <a:solidFill>
                  <a:schemeClr val="tx1"/>
                </a:solidFill>
              </a:rPr>
              <a:t>Exact motif counts without listing rows, over a tree decomposition.</a:t>
            </a:r>
            <a:endParaRPr lang="en-US" sz="1400" dirty="0"/>
          </a:p>
        </p:txBody>
      </p:sp>
      <p:sp>
        <p:nvSpPr>
          <p:cNvPr id="13" name="Text 10"/>
          <p:cNvSpPr txBox="1"/>
          <p:nvPr/>
        </p:nvSpPr>
        <p:spPr>
          <a:xfrm>
            <a:off x="6629400" y="1911096"/>
            <a:ext cx="3017520" cy="722884"/>
          </a:xfrm>
          <a:prstGeom prst="rect">
            <a:avLst/>
          </a:prstGeom>
          <a:noFill/>
          <a:ln/>
        </p:spPr>
        <p:txBody>
          <a:bodyPr wrap="square" lIns="0" tIns="0" rIns="0" bIns="0" rtlCol="0" anchor="ctr"/>
          <a:lstStyle/>
          <a:p>
            <a:pPr indent="0" marL="0">
              <a:buNone/>
            </a:pPr>
            <a:r>
              <a:rPr lang="en-US" sz="1400" dirty="0">
                <a:solidFill>
                  <a:schemeClr val="tx1"/>
                </a:solidFill>
              </a:rPr>
              <a:t>The decomposition's messages, each recomputed by a checker.</a:t>
            </a:r>
            <a:endParaRPr lang="en-US" sz="1400" dirty="0"/>
          </a:p>
        </p:txBody>
      </p:sp>
      <p:sp>
        <p:nvSpPr>
          <p:cNvPr id="14" name="Text 11"/>
          <p:cNvSpPr txBox="1"/>
          <p:nvPr/>
        </p:nvSpPr>
        <p:spPr>
          <a:xfrm>
            <a:off x="9875520" y="1911096"/>
            <a:ext cx="1676095" cy="722884"/>
          </a:xfrm>
          <a:prstGeom prst="rect">
            <a:avLst/>
          </a:prstGeom>
          <a:noFill/>
          <a:ln/>
        </p:spPr>
        <p:txBody>
          <a:bodyPr wrap="square" lIns="0" tIns="0" rIns="0" bIns="0" rtlCol="0" anchor="ctr"/>
          <a:lstStyle/>
          <a:p>
            <a:pPr indent="0" marL="0">
              <a:buNone/>
            </a:pPr>
            <a:r>
              <a:rPr lang="en-US" sz="1200" i="1" dirty="0">
                <a:solidFill>
                  <a:schemeClr val="accent6"/>
                </a:solidFill>
              </a:rPr>
              <a:t>Abo Khamis, Ngo and Rudra 2016 (FAQ)</a:t>
            </a:r>
            <a:endParaRPr lang="en-US" sz="1200" dirty="0"/>
          </a:p>
        </p:txBody>
      </p:sp>
      <p:sp>
        <p:nvSpPr>
          <p:cNvPr id="15" name="roadmap Reachability index"/>
          <p:cNvSpPr/>
          <p:nvPr/>
        </p:nvSpPr>
        <p:spPr>
          <a:xfrm>
            <a:off x="548640" y="2725420"/>
            <a:ext cx="11094415" cy="722884"/>
          </a:xfrm>
          <a:prstGeom prst="roundRect">
            <a:avLst>
              <a:gd name="adj" fmla="val 12649"/>
            </a:avLst>
          </a:prstGeom>
          <a:solidFill>
            <a:schemeClr val="bg2"/>
          </a:solidFill>
          <a:ln/>
        </p:spPr>
      </p:sp>
      <p:sp>
        <p:nvSpPr>
          <p:cNvPr id="16" name="icon Reachability index"/>
          <p:cNvSpPr/>
          <p:nvPr/>
        </p:nvSpPr>
        <p:spPr>
          <a:xfrm>
            <a:off x="713232" y="2867406"/>
            <a:ext cx="438912" cy="438912"/>
          </a:xfrm>
          <a:prstGeom prst="ellipse">
            <a:avLst/>
          </a:prstGeom>
          <a:solidFill>
            <a:schemeClr val="accent1"/>
          </a:solidFill>
          <a:ln/>
        </p:spPr>
      </p:sp>
      <p:pic>
        <p:nvPicPr>
          <p:cNvPr id="17" name="Image 1" descr="Reachability index">    </p:cNvPr>
          <p:cNvPicPr>
            <a:picLocks noChangeAspect="1"/>
          </p:cNvPicPr>
          <p:nvPr/>
        </p:nvPicPr>
        <p:blipFill>
          <a:blip r:embed="rId2"/>
          <a:stretch>
            <a:fillRect/>
          </a:stretch>
        </p:blipFill>
        <p:spPr>
          <a:xfrm>
            <a:off x="809793" y="2963967"/>
            <a:ext cx="245791" cy="245791"/>
          </a:xfrm>
          <a:prstGeom prst="rect">
            <a:avLst/>
          </a:prstGeom>
        </p:spPr>
      </p:pic>
      <p:sp>
        <p:nvSpPr>
          <p:cNvPr id="18" name="Text 14"/>
          <p:cNvSpPr txBox="1"/>
          <p:nvPr/>
        </p:nvSpPr>
        <p:spPr>
          <a:xfrm>
            <a:off x="1325880" y="2725420"/>
            <a:ext cx="1828800" cy="722884"/>
          </a:xfrm>
          <a:prstGeom prst="rect">
            <a:avLst/>
          </a:prstGeom>
          <a:noFill/>
          <a:ln/>
        </p:spPr>
        <p:txBody>
          <a:bodyPr wrap="square" lIns="0" tIns="0" rIns="0" bIns="0" rtlCol="0" anchor="ctr"/>
          <a:lstStyle/>
          <a:p>
            <a:pPr indent="0" marL="0">
              <a:buNone/>
            </a:pPr>
            <a:r>
              <a:rPr lang="en-US" sz="1500" b="1" dirty="0">
                <a:solidFill>
                  <a:schemeClr val="tx1"/>
                </a:solidFill>
              </a:rPr>
              <a:t>Reachability index</a:t>
            </a:r>
            <a:endParaRPr lang="en-US" sz="1500" dirty="0"/>
          </a:p>
        </p:txBody>
      </p:sp>
      <p:sp>
        <p:nvSpPr>
          <p:cNvPr id="19" name="Text 15"/>
          <p:cNvSpPr txBox="1"/>
          <p:nvPr/>
        </p:nvSpPr>
        <p:spPr>
          <a:xfrm>
            <a:off x="3383280" y="2725420"/>
            <a:ext cx="3017520" cy="722884"/>
          </a:xfrm>
          <a:prstGeom prst="rect">
            <a:avLst/>
          </a:prstGeom>
          <a:noFill/>
          <a:ln/>
        </p:spPr>
        <p:txBody>
          <a:bodyPr wrap="square" lIns="0" tIns="0" rIns="0" bIns="0" rtlCol="0" anchor="ctr"/>
          <a:lstStyle/>
          <a:p>
            <a:pPr indent="0" marL="0">
              <a:buNone/>
            </a:pPr>
            <a:r>
              <a:rPr lang="en-US" sz="1400" dirty="0">
                <a:solidFill>
                  <a:schemeClr val="tx1"/>
                </a:solidFill>
              </a:rPr>
              <a:t>Many reachability queries on one large, fixed projection: 2-hop labels.</a:t>
            </a:r>
            <a:endParaRPr lang="en-US" sz="1400" dirty="0"/>
          </a:p>
        </p:txBody>
      </p:sp>
      <p:sp>
        <p:nvSpPr>
          <p:cNvPr id="20" name="Text 16"/>
          <p:cNvSpPr txBox="1"/>
          <p:nvPr/>
        </p:nvSpPr>
        <p:spPr>
          <a:xfrm>
            <a:off x="6629400" y="2725420"/>
            <a:ext cx="3017520" cy="722884"/>
          </a:xfrm>
          <a:prstGeom prst="rect">
            <a:avLst/>
          </a:prstGeom>
          <a:noFill/>
          <a:ln/>
        </p:spPr>
        <p:txBody>
          <a:bodyPr wrap="square" lIns="0" tIns="0" rIns="0" bIns="0" rtlCol="0" anchor="ctr"/>
          <a:lstStyle/>
          <a:p>
            <a:pPr indent="0" marL="0">
              <a:buNone/>
            </a:pPr>
            <a:r>
              <a:rPr lang="en-US" sz="1400" dirty="0">
                <a:solidFill>
                  <a:schemeClr val="tx1"/>
                </a:solidFill>
              </a:rPr>
              <a:t>A positive expands hub pointers into hops; a negative needs a closure.</a:t>
            </a:r>
            <a:endParaRPr lang="en-US" sz="1400" dirty="0"/>
          </a:p>
        </p:txBody>
      </p:sp>
      <p:sp>
        <p:nvSpPr>
          <p:cNvPr id="21" name="Text 17"/>
          <p:cNvSpPr txBox="1"/>
          <p:nvPr/>
        </p:nvSpPr>
        <p:spPr>
          <a:xfrm>
            <a:off x="9875520" y="2725420"/>
            <a:ext cx="1676095" cy="722884"/>
          </a:xfrm>
          <a:prstGeom prst="rect">
            <a:avLst/>
          </a:prstGeom>
          <a:noFill/>
          <a:ln/>
        </p:spPr>
        <p:txBody>
          <a:bodyPr wrap="square" lIns="0" tIns="0" rIns="0" bIns="0" rtlCol="0" anchor="ctr"/>
          <a:lstStyle/>
          <a:p>
            <a:pPr indent="0" marL="0">
              <a:buNone/>
            </a:pPr>
            <a:r>
              <a:rPr lang="en-US" sz="1200" i="1" dirty="0">
                <a:solidFill>
                  <a:schemeClr val="accent6"/>
                </a:solidFill>
              </a:rPr>
              <a:t>Cohen, Halperin, Kaplan and Zwick 2003</a:t>
            </a:r>
            <a:endParaRPr lang="en-US" sz="1200" dirty="0"/>
          </a:p>
        </p:txBody>
      </p:sp>
      <p:sp>
        <p:nvSpPr>
          <p:cNvPr id="22" name="roadmap Positive Datalog"/>
          <p:cNvSpPr/>
          <p:nvPr/>
        </p:nvSpPr>
        <p:spPr>
          <a:xfrm>
            <a:off x="548640" y="3539744"/>
            <a:ext cx="11094415" cy="722884"/>
          </a:xfrm>
          <a:prstGeom prst="roundRect">
            <a:avLst>
              <a:gd name="adj" fmla="val 12649"/>
            </a:avLst>
          </a:prstGeom>
          <a:solidFill>
            <a:schemeClr val="bg2"/>
          </a:solidFill>
          <a:ln/>
        </p:spPr>
      </p:sp>
      <p:sp>
        <p:nvSpPr>
          <p:cNvPr id="23" name="icon Positive Datalog"/>
          <p:cNvSpPr/>
          <p:nvPr/>
        </p:nvSpPr>
        <p:spPr>
          <a:xfrm>
            <a:off x="713232" y="3681730"/>
            <a:ext cx="438912" cy="438912"/>
          </a:xfrm>
          <a:prstGeom prst="ellipse">
            <a:avLst/>
          </a:prstGeom>
          <a:solidFill>
            <a:schemeClr val="accent1"/>
          </a:solidFill>
          <a:ln/>
        </p:spPr>
      </p:sp>
      <p:pic>
        <p:nvPicPr>
          <p:cNvPr id="24" name="Image 2" descr="Positive Datalog">    </p:cNvPr>
          <p:cNvPicPr>
            <a:picLocks noChangeAspect="1"/>
          </p:cNvPicPr>
          <p:nvPr/>
        </p:nvPicPr>
        <p:blipFill>
          <a:blip r:embed="rId3"/>
          <a:stretch>
            <a:fillRect/>
          </a:stretch>
        </p:blipFill>
        <p:spPr>
          <a:xfrm>
            <a:off x="809793" y="3778291"/>
            <a:ext cx="245791" cy="245791"/>
          </a:xfrm>
          <a:prstGeom prst="rect">
            <a:avLst/>
          </a:prstGeom>
        </p:spPr>
      </p:pic>
      <p:sp>
        <p:nvSpPr>
          <p:cNvPr id="25" name="Text 20"/>
          <p:cNvSpPr txBox="1"/>
          <p:nvPr/>
        </p:nvSpPr>
        <p:spPr>
          <a:xfrm>
            <a:off x="1325880" y="3539744"/>
            <a:ext cx="1828800" cy="722884"/>
          </a:xfrm>
          <a:prstGeom prst="rect">
            <a:avLst/>
          </a:prstGeom>
          <a:noFill/>
          <a:ln/>
        </p:spPr>
        <p:txBody>
          <a:bodyPr wrap="square" lIns="0" tIns="0" rIns="0" bIns="0" rtlCol="0" anchor="ctr"/>
          <a:lstStyle/>
          <a:p>
            <a:pPr indent="0" marL="0">
              <a:buNone/>
            </a:pPr>
            <a:r>
              <a:rPr lang="en-US" sz="1500" b="1" dirty="0">
                <a:solidFill>
                  <a:schemeClr val="tx1"/>
                </a:solidFill>
              </a:rPr>
              <a:t>Positive Datalog</a:t>
            </a:r>
            <a:endParaRPr lang="en-US" sz="1500" dirty="0"/>
          </a:p>
        </p:txBody>
      </p:sp>
      <p:sp>
        <p:nvSpPr>
          <p:cNvPr id="26" name="Text 21"/>
          <p:cNvSpPr txBox="1"/>
          <p:nvPr/>
        </p:nvSpPr>
        <p:spPr>
          <a:xfrm>
            <a:off x="3383280" y="3539744"/>
            <a:ext cx="3017520" cy="722884"/>
          </a:xfrm>
          <a:prstGeom prst="rect">
            <a:avLst/>
          </a:prstGeom>
          <a:noFill/>
          <a:ln/>
        </p:spPr>
        <p:txBody>
          <a:bodyPr wrap="square" lIns="0" tIns="0" rIns="0" bIns="0" rtlCol="0" anchor="ctr"/>
          <a:lstStyle/>
          <a:p>
            <a:pPr indent="0" marL="0">
              <a:buNone/>
            </a:pPr>
            <a:r>
              <a:rPr lang="en-US" sz="1400" dirty="0">
                <a:solidFill>
                  <a:schemeClr val="tx1"/>
                </a:solidFill>
              </a:rPr>
              <a:t>Rules over the records: provenance questions in a small language.</a:t>
            </a:r>
            <a:endParaRPr lang="en-US" sz="1400" dirty="0"/>
          </a:p>
        </p:txBody>
      </p:sp>
      <p:sp>
        <p:nvSpPr>
          <p:cNvPr id="27" name="Text 22"/>
          <p:cNvSpPr txBox="1"/>
          <p:nvPr/>
        </p:nvSpPr>
        <p:spPr>
          <a:xfrm>
            <a:off x="6629400" y="3539744"/>
            <a:ext cx="3017520" cy="722884"/>
          </a:xfrm>
          <a:prstGeom prst="rect">
            <a:avLst/>
          </a:prstGeom>
          <a:noFill/>
          <a:ln/>
        </p:spPr>
        <p:txBody>
          <a:bodyPr wrap="square" lIns="0" tIns="0" rIns="0" bIns="0" rtlCol="0" anchor="ctr"/>
          <a:lstStyle/>
          <a:p>
            <a:pPr indent="0" marL="0">
              <a:buNone/>
            </a:pPr>
            <a:r>
              <a:rPr lang="en-US" sz="1400" dirty="0">
                <a:solidFill>
                  <a:schemeClr val="tx1"/>
                </a:solidFill>
              </a:rPr>
              <a:t>Derivation trees, ranks strictly increasing, checked in their size.</a:t>
            </a:r>
            <a:endParaRPr lang="en-US" sz="1400" dirty="0"/>
          </a:p>
        </p:txBody>
      </p:sp>
      <p:sp>
        <p:nvSpPr>
          <p:cNvPr id="28" name="Text 23"/>
          <p:cNvSpPr txBox="1"/>
          <p:nvPr/>
        </p:nvSpPr>
        <p:spPr>
          <a:xfrm>
            <a:off x="9875520" y="3539744"/>
            <a:ext cx="1676095" cy="722884"/>
          </a:xfrm>
          <a:prstGeom prst="rect">
            <a:avLst/>
          </a:prstGeom>
          <a:noFill/>
          <a:ln/>
        </p:spPr>
        <p:txBody>
          <a:bodyPr wrap="square" lIns="0" tIns="0" rIns="0" bIns="0" rtlCol="0" anchor="ctr"/>
          <a:lstStyle/>
          <a:p>
            <a:pPr indent="0" marL="0">
              <a:buNone/>
            </a:pPr>
            <a:r>
              <a:rPr lang="en-US" sz="1200" i="1" dirty="0">
                <a:solidFill>
                  <a:schemeClr val="accent6"/>
                </a:solidFill>
              </a:rPr>
              <a:t>Abiteboul, Hull and Vianu 1995; Green et al. 2007</a:t>
            </a:r>
            <a:endParaRPr lang="en-US" sz="1200" dirty="0"/>
          </a:p>
        </p:txBody>
      </p:sp>
      <p:sp>
        <p:nvSpPr>
          <p:cNvPr id="29" name="roadmap Isomorphism, canonical labeling"/>
          <p:cNvSpPr/>
          <p:nvPr/>
        </p:nvSpPr>
        <p:spPr>
          <a:xfrm>
            <a:off x="548640" y="4354068"/>
            <a:ext cx="11094415" cy="722884"/>
          </a:xfrm>
          <a:prstGeom prst="roundRect">
            <a:avLst>
              <a:gd name="adj" fmla="val 12649"/>
            </a:avLst>
          </a:prstGeom>
          <a:solidFill>
            <a:schemeClr val="bg2"/>
          </a:solidFill>
          <a:ln/>
        </p:spPr>
      </p:sp>
      <p:sp>
        <p:nvSpPr>
          <p:cNvPr id="30" name="icon Isomorphism, canonical labeling"/>
          <p:cNvSpPr/>
          <p:nvPr/>
        </p:nvSpPr>
        <p:spPr>
          <a:xfrm>
            <a:off x="713232" y="4496054"/>
            <a:ext cx="438912" cy="438912"/>
          </a:xfrm>
          <a:prstGeom prst="ellipse">
            <a:avLst/>
          </a:prstGeom>
          <a:solidFill>
            <a:schemeClr val="accent1"/>
          </a:solidFill>
          <a:ln/>
        </p:spPr>
      </p:sp>
      <p:pic>
        <p:nvPicPr>
          <p:cNvPr id="31" name="Image 3" descr="Isomorphism, canonical labeling">    </p:cNvPr>
          <p:cNvPicPr>
            <a:picLocks noChangeAspect="1"/>
          </p:cNvPicPr>
          <p:nvPr/>
        </p:nvPicPr>
        <p:blipFill>
          <a:blip r:embed="rId4"/>
          <a:stretch>
            <a:fillRect/>
          </a:stretch>
        </p:blipFill>
        <p:spPr>
          <a:xfrm>
            <a:off x="809793" y="4592615"/>
            <a:ext cx="245791" cy="245791"/>
          </a:xfrm>
          <a:prstGeom prst="rect">
            <a:avLst/>
          </a:prstGeom>
        </p:spPr>
      </p:pic>
      <p:sp>
        <p:nvSpPr>
          <p:cNvPr id="32" name="Text 26"/>
          <p:cNvSpPr txBox="1"/>
          <p:nvPr/>
        </p:nvSpPr>
        <p:spPr>
          <a:xfrm>
            <a:off x="1325880" y="4354068"/>
            <a:ext cx="1828800" cy="722884"/>
          </a:xfrm>
          <a:prstGeom prst="rect">
            <a:avLst/>
          </a:prstGeom>
          <a:noFill/>
          <a:ln/>
        </p:spPr>
        <p:txBody>
          <a:bodyPr wrap="square" lIns="0" tIns="0" rIns="0" bIns="0" rtlCol="0" anchor="ctr"/>
          <a:lstStyle/>
          <a:p>
            <a:pPr indent="0" marL="0">
              <a:buNone/>
            </a:pPr>
            <a:r>
              <a:rPr lang="en-US" sz="1500" b="1" dirty="0">
                <a:solidFill>
                  <a:schemeClr val="tx1"/>
                </a:solidFill>
              </a:rPr>
              <a:t>Isomorphism, canonical labeling</a:t>
            </a:r>
            <a:endParaRPr lang="en-US" sz="1500" dirty="0"/>
          </a:p>
        </p:txBody>
      </p:sp>
      <p:sp>
        <p:nvSpPr>
          <p:cNvPr id="33" name="Text 27"/>
          <p:cNvSpPr txBox="1"/>
          <p:nvPr/>
        </p:nvSpPr>
        <p:spPr>
          <a:xfrm>
            <a:off x="3383280" y="4354068"/>
            <a:ext cx="3017520" cy="722884"/>
          </a:xfrm>
          <a:prstGeom prst="rect">
            <a:avLst/>
          </a:prstGeom>
          <a:noFill/>
          <a:ln/>
        </p:spPr>
        <p:txBody>
          <a:bodyPr wrap="square" lIns="0" tIns="0" rIns="0" bIns="0" rtlCol="0" anchor="ctr"/>
          <a:lstStyle/>
          <a:p>
            <a:pPr indent="0" marL="0">
              <a:buNone/>
            </a:pPr>
            <a:r>
              <a:rPr lang="en-US" sz="1400" dirty="0">
                <a:solidFill>
                  <a:schemeClr val="tx1"/>
                </a:solidFill>
              </a:rPr>
              <a:t>Whether two structures are the same; canonical forms for deduplication.</a:t>
            </a:r>
            <a:endParaRPr lang="en-US" sz="1400" dirty="0"/>
          </a:p>
        </p:txBody>
      </p:sp>
      <p:sp>
        <p:nvSpPr>
          <p:cNvPr id="34" name="Text 28"/>
          <p:cNvSpPr txBox="1"/>
          <p:nvPr/>
        </p:nvSpPr>
        <p:spPr>
          <a:xfrm>
            <a:off x="6629400" y="4354068"/>
            <a:ext cx="3017520" cy="722884"/>
          </a:xfrm>
          <a:prstGeom prst="rect">
            <a:avLst/>
          </a:prstGeom>
          <a:noFill/>
          <a:ln/>
        </p:spPr>
        <p:txBody>
          <a:bodyPr wrap="square" lIns="0" tIns="0" rIns="0" bIns="0" rtlCol="0" anchor="ctr"/>
          <a:lstStyle/>
          <a:p>
            <a:pPr indent="0" marL="0">
              <a:buNone/>
            </a:pPr>
            <a:r>
              <a:rPr lang="en-US" sz="1400" dirty="0">
                <a:solidFill>
                  <a:schemeClr val="tx1"/>
                </a:solidFill>
              </a:rPr>
              <a:t>A node and edge bijection proves a match; a refinement trace, a mismatch.</a:t>
            </a:r>
            <a:endParaRPr lang="en-US" sz="1400" dirty="0"/>
          </a:p>
        </p:txBody>
      </p:sp>
      <p:sp>
        <p:nvSpPr>
          <p:cNvPr id="35" name="Text 29"/>
          <p:cNvSpPr txBox="1"/>
          <p:nvPr/>
        </p:nvSpPr>
        <p:spPr>
          <a:xfrm>
            <a:off x="9875520" y="4354068"/>
            <a:ext cx="1676095" cy="722884"/>
          </a:xfrm>
          <a:prstGeom prst="rect">
            <a:avLst/>
          </a:prstGeom>
          <a:noFill/>
          <a:ln/>
        </p:spPr>
        <p:txBody>
          <a:bodyPr wrap="square" lIns="0" tIns="0" rIns="0" bIns="0" rtlCol="0" anchor="ctr"/>
          <a:lstStyle/>
          <a:p>
            <a:pPr indent="0" marL="0">
              <a:buNone/>
            </a:pPr>
            <a:r>
              <a:rPr lang="en-US" sz="1200" i="1" dirty="0">
                <a:solidFill>
                  <a:schemeClr val="accent6"/>
                </a:solidFill>
              </a:rPr>
              <a:t>McKay and Piperno 2014</a:t>
            </a:r>
            <a:endParaRPr lang="en-US" sz="1200" dirty="0"/>
          </a:p>
        </p:txBody>
      </p:sp>
      <p:sp>
        <p:nvSpPr>
          <p:cNvPr id="36" name="roadmap Elementary flux modes"/>
          <p:cNvSpPr/>
          <p:nvPr/>
        </p:nvSpPr>
        <p:spPr>
          <a:xfrm>
            <a:off x="548640" y="5168392"/>
            <a:ext cx="11094415" cy="722884"/>
          </a:xfrm>
          <a:prstGeom prst="roundRect">
            <a:avLst>
              <a:gd name="adj" fmla="val 12649"/>
            </a:avLst>
          </a:prstGeom>
          <a:solidFill>
            <a:schemeClr val="bg2"/>
          </a:solidFill>
          <a:ln/>
        </p:spPr>
      </p:sp>
      <p:sp>
        <p:nvSpPr>
          <p:cNvPr id="37" name="icon Elementary flux modes"/>
          <p:cNvSpPr/>
          <p:nvPr/>
        </p:nvSpPr>
        <p:spPr>
          <a:xfrm>
            <a:off x="713232" y="5310378"/>
            <a:ext cx="438912" cy="438912"/>
          </a:xfrm>
          <a:prstGeom prst="ellipse">
            <a:avLst/>
          </a:prstGeom>
          <a:solidFill>
            <a:schemeClr val="accent1"/>
          </a:solidFill>
          <a:ln/>
        </p:spPr>
      </p:sp>
      <p:pic>
        <p:nvPicPr>
          <p:cNvPr id="38" name="Image 4" descr="Elementary flux modes">    </p:cNvPr>
          <p:cNvPicPr>
            <a:picLocks noChangeAspect="1"/>
          </p:cNvPicPr>
          <p:nvPr/>
        </p:nvPicPr>
        <p:blipFill>
          <a:blip r:embed="rId5"/>
          <a:stretch>
            <a:fillRect/>
          </a:stretch>
        </p:blipFill>
        <p:spPr>
          <a:xfrm>
            <a:off x="809793" y="5406939"/>
            <a:ext cx="245791" cy="245791"/>
          </a:xfrm>
          <a:prstGeom prst="rect">
            <a:avLst/>
          </a:prstGeom>
        </p:spPr>
      </p:pic>
      <p:sp>
        <p:nvSpPr>
          <p:cNvPr id="39" name="Text 32"/>
          <p:cNvSpPr txBox="1"/>
          <p:nvPr/>
        </p:nvSpPr>
        <p:spPr>
          <a:xfrm>
            <a:off x="1325880" y="5168392"/>
            <a:ext cx="1828800" cy="722884"/>
          </a:xfrm>
          <a:prstGeom prst="rect">
            <a:avLst/>
          </a:prstGeom>
          <a:noFill/>
          <a:ln/>
        </p:spPr>
        <p:txBody>
          <a:bodyPr wrap="square" lIns="0" tIns="0" rIns="0" bIns="0" rtlCol="0" anchor="ctr"/>
          <a:lstStyle/>
          <a:p>
            <a:pPr indent="0" marL="0">
              <a:buNone/>
            </a:pPr>
            <a:r>
              <a:rPr lang="en-US" sz="1500" b="1" dirty="0">
                <a:solidFill>
                  <a:schemeClr val="tx1"/>
                </a:solidFill>
              </a:rPr>
              <a:t>Elementary flux modes</a:t>
            </a:r>
            <a:endParaRPr lang="en-US" sz="1500" dirty="0"/>
          </a:p>
        </p:txBody>
      </p:sp>
      <p:sp>
        <p:nvSpPr>
          <p:cNvPr id="40" name="Text 33"/>
          <p:cNvSpPr txBox="1"/>
          <p:nvPr/>
        </p:nvSpPr>
        <p:spPr>
          <a:xfrm>
            <a:off x="3383280" y="5168392"/>
            <a:ext cx="3017520" cy="722884"/>
          </a:xfrm>
          <a:prstGeom prst="rect">
            <a:avLst/>
          </a:prstGeom>
          <a:noFill/>
          <a:ln/>
        </p:spPr>
        <p:txBody>
          <a:bodyPr wrap="square" lIns="0" tIns="0" rIns="0" bIns="0" rtlCol="0" anchor="ctr"/>
          <a:lstStyle/>
          <a:p>
            <a:pPr indent="0" marL="0">
              <a:buNone/>
            </a:pPr>
            <a:r>
              <a:rPr lang="en-US" sz="1400" dirty="0">
                <a:solidFill>
                  <a:schemeClr val="tx1"/>
                </a:solidFill>
              </a:rPr>
              <a:t>A reaction network's minimal steady pathways, small networks first.</a:t>
            </a:r>
            <a:endParaRPr lang="en-US" sz="1400" dirty="0"/>
          </a:p>
        </p:txBody>
      </p:sp>
      <p:sp>
        <p:nvSpPr>
          <p:cNvPr id="41" name="Text 34"/>
          <p:cNvSpPr txBox="1"/>
          <p:nvPr/>
        </p:nvSpPr>
        <p:spPr>
          <a:xfrm>
            <a:off x="6629400" y="5168392"/>
            <a:ext cx="3017520" cy="722884"/>
          </a:xfrm>
          <a:prstGeom prst="rect">
            <a:avLst/>
          </a:prstGeom>
          <a:noFill/>
          <a:ln/>
        </p:spPr>
        <p:txBody>
          <a:bodyPr wrap="square" lIns="0" tIns="0" rIns="0" bIns="0" rtlCol="0" anchor="ctr"/>
          <a:lstStyle/>
          <a:p>
            <a:pPr indent="0" marL="0">
              <a:buNone/>
            </a:pPr>
            <a:r>
              <a:rPr lang="en-US" sz="1400" dirty="0">
                <a:solidFill>
                  <a:schemeClr val="tx1"/>
                </a:solidFill>
              </a:rPr>
              <a:t>A mode balances exactly; a nonsingular minor proves its support minimal.</a:t>
            </a:r>
            <a:endParaRPr lang="en-US" sz="1400" dirty="0"/>
          </a:p>
        </p:txBody>
      </p:sp>
      <p:sp>
        <p:nvSpPr>
          <p:cNvPr id="42" name="Text 35"/>
          <p:cNvSpPr txBox="1"/>
          <p:nvPr/>
        </p:nvSpPr>
        <p:spPr>
          <a:xfrm>
            <a:off x="9875520" y="5168392"/>
            <a:ext cx="1676095" cy="722884"/>
          </a:xfrm>
          <a:prstGeom prst="rect">
            <a:avLst/>
          </a:prstGeom>
          <a:noFill/>
          <a:ln/>
        </p:spPr>
        <p:txBody>
          <a:bodyPr wrap="square" lIns="0" tIns="0" rIns="0" bIns="0" rtlCol="0" anchor="ctr"/>
          <a:lstStyle/>
          <a:p>
            <a:pPr indent="0" marL="0">
              <a:buNone/>
            </a:pPr>
            <a:r>
              <a:rPr lang="en-US" sz="1200" i="1" dirty="0">
                <a:solidFill>
                  <a:schemeClr val="accent6"/>
                </a:solidFill>
              </a:rPr>
              <a:t>Gagneur and Klamt 2004; Terzer and Stelling 2008</a:t>
            </a:r>
            <a:endParaRPr lang="en-US" sz="1200" dirty="0"/>
          </a:p>
        </p:txBody>
      </p:sp>
      <p:sp>
        <p:nvSpPr>
          <p:cNvPr id="43" name="roadmap later"/>
          <p:cNvSpPr txBox="1"/>
          <p:nvPr/>
        </p:nvSpPr>
        <p:spPr>
          <a:xfrm>
            <a:off x="685800" y="6001004"/>
            <a:ext cx="10820095" cy="216916"/>
          </a:xfrm>
          <a:prstGeom prst="rect">
            <a:avLst/>
          </a:prstGeom>
          <a:noFill/>
          <a:ln/>
        </p:spPr>
        <p:txBody>
          <a:bodyPr wrap="square" lIns="0" tIns="0" rIns="0" bIns="0" rtlCol="0" anchor="ctr"/>
          <a:lstStyle/>
          <a:p>
            <a:pPr indent="0" marL="0">
              <a:buNone/>
            </a:pPr>
            <a:r>
              <a:rPr lang="en-US" sz="1400" b="1" dirty="0">
                <a:solidFill>
                  <a:schemeClr val="tx1"/>
                </a:solidFill>
              </a:rPr>
              <a:t>Done from the survey:</a:t>
            </a:r>
            <a:pPr indent="0" marL="0">
              <a:buNone/>
            </a:pPr>
            <a:r>
              <a:rPr lang="en-US" sz="1400" dirty="0">
                <a:solidFill>
                  <a:schemeClr val="tx1"/>
                </a:solidFill>
              </a:rPr>
              <a:t> negative costs · injective patterns · spanning forests · cycle bases · weighted matching · k shortest paths · min-cost flow.</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b"/>
          <a:lstStyle/>
          <a:p>
            <a:pPr algn="l" indent="0" marL="0">
              <a:buNone/>
            </a:pPr>
            <a:r>
              <a:rPr lang="en-US" sz="3400" b="1" dirty="0">
                <a:solidFill>
                  <a:schemeClr val="tx1"/>
                </a:solidFill>
              </a:rPr>
              <a:t>Boundaries and open questions</a:t>
            </a:r>
            <a:endParaRPr lang="en-US" sz="3400" dirty="0"/>
          </a:p>
        </p:txBody>
      </p:sp>
      <p:sp>
        <p:nvSpPr>
          <p:cNvPr id="3" name="Text 0"/>
          <p:cNvSpPr/>
          <p:nvPr>
            <p:ph idx="101" type="body" hasCustomPrompt="1"/>
          </p:nvPr>
        </p:nvSpPr>
        <p:spPr>
          <a:xfrm>
            <a:off x="548640" y="109728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What the surveys advise GRAPH to leave to others, and what the group should decide next.</a:t>
            </a:r>
            <a:endParaRPr lang="en-US" sz="1600" dirty="0"/>
          </a:p>
        </p:txBody>
      </p:sp>
      <p:sp>
        <p:nvSpPr>
          <p:cNvPr id="4" name="Out of scope (survey advice)"/>
          <p:cNvSpPr/>
          <p:nvPr/>
        </p:nvSpPr>
        <p:spPr>
          <a:xfrm>
            <a:off x="548640" y="1691640"/>
            <a:ext cx="5364328" cy="4023360"/>
          </a:xfrm>
          <a:prstGeom prst="roundRect">
            <a:avLst>
              <a:gd name="adj" fmla="val 2273"/>
            </a:avLst>
          </a:prstGeom>
          <a:solidFill>
            <a:schemeClr val="bg2"/>
          </a:solidFill>
          <a:ln/>
        </p:spPr>
      </p:sp>
      <p:sp>
        <p:nvSpPr>
          <p:cNvPr id="5" name="icon Out of scope (survey advice)"/>
          <p:cNvSpPr/>
          <p:nvPr/>
        </p:nvSpPr>
        <p:spPr>
          <a:xfrm>
            <a:off x="777240" y="1920240"/>
            <a:ext cx="502920" cy="502920"/>
          </a:xfrm>
          <a:prstGeom prst="ellipse">
            <a:avLst/>
          </a:prstGeom>
          <a:solidFill>
            <a:schemeClr val="accent4"/>
          </a:solidFill>
          <a:ln/>
        </p:spPr>
      </p:sp>
      <p:pic>
        <p:nvPicPr>
          <p:cNvPr id="6" name="Image 0" descr="Out of scope (survey advice)">    </p:cNvPr>
          <p:cNvPicPr>
            <a:picLocks noChangeAspect="1"/>
          </p:cNvPicPr>
          <p:nvPr/>
        </p:nvPicPr>
        <p:blipFill>
          <a:blip r:embed="rId1"/>
          <a:stretch>
            <a:fillRect/>
          </a:stretch>
        </p:blipFill>
        <p:spPr>
          <a:xfrm>
            <a:off x="887882" y="2030882"/>
            <a:ext cx="281635" cy="281635"/>
          </a:xfrm>
          <a:prstGeom prst="rect">
            <a:avLst/>
          </a:prstGeom>
        </p:spPr>
      </p:pic>
      <p:sp>
        <p:nvSpPr>
          <p:cNvPr id="7" name="Text 4"/>
          <p:cNvSpPr txBox="1"/>
          <p:nvPr/>
        </p:nvSpPr>
        <p:spPr>
          <a:xfrm>
            <a:off x="1417320" y="1920240"/>
            <a:ext cx="4267048" cy="502920"/>
          </a:xfrm>
          <a:prstGeom prst="rect">
            <a:avLst/>
          </a:prstGeom>
          <a:noFill/>
          <a:ln/>
        </p:spPr>
        <p:txBody>
          <a:bodyPr wrap="square" lIns="0" tIns="0" rIns="0" bIns="0" rtlCol="0" anchor="ctr"/>
          <a:lstStyle/>
          <a:p>
            <a:pPr indent="0" marL="0">
              <a:buNone/>
            </a:pPr>
            <a:r>
              <a:rPr lang="en-US" sz="2000" b="1" dirty="0">
                <a:solidFill>
                  <a:schemeClr val="tx1"/>
                </a:solidFill>
              </a:rPr>
              <a:t>Out of scope (survey advice)</a:t>
            </a:r>
            <a:endParaRPr lang="en-US" sz="2000" dirty="0"/>
          </a:p>
        </p:txBody>
      </p:sp>
      <p:sp>
        <p:nvSpPr>
          <p:cNvPr id="8" name="Text 5"/>
          <p:cNvSpPr txBox="1"/>
          <p:nvPr/>
        </p:nvSpPr>
        <p:spPr>
          <a:xfrm>
            <a:off x="822960" y="2651760"/>
            <a:ext cx="4815688" cy="2926080"/>
          </a:xfrm>
          <a:prstGeom prst="rect">
            <a:avLst/>
          </a:prstGeom>
          <a:noFill/>
          <a:ln/>
        </p:spPr>
        <p:txBody>
          <a:bodyPr wrap="square" lIns="0" tIns="0" rIns="0" bIns="0" rtlCol="0" anchor="t"/>
          <a:lstStyle/>
          <a:p>
            <a:pPr marL="228600" indent="-228600">
              <a:spcAft>
                <a:spcPts val="1400"/>
              </a:spcAft>
              <a:buSzPct val="100000"/>
              <a:buChar char="•"/>
            </a:pPr>
            <a:r>
              <a:rPr lang="en-US" sz="1500" dirty="0">
                <a:solidFill>
                  <a:schemeClr val="tx1"/>
                </a:solidFill>
              </a:rPr>
              <a:t>Infer scientific edges or their truth: neighbor rules, bond perception, units and kinetics stay in the adapters.</a:t>
            </a:r>
            <a:endParaRPr lang="en-US" sz="1500" dirty="0"/>
          </a:p>
          <a:p>
            <a:pPr marL="228600" indent="-228600">
              <a:spcAft>
                <a:spcPts val="1400"/>
              </a:spcAft>
              <a:buSzPct val="100000"/>
              <a:buChar char="•"/>
            </a:pPr>
            <a:r>
              <a:rPr lang="en-US" sz="1500" dirty="0">
                <a:solidFill>
                  <a:schemeClr val="tx1"/>
                </a:solidFill>
              </a:rPr>
              <a:t>Become a database server, a chemistry toolkit, an ODE solver or an SMT engine.</a:t>
            </a:r>
            <a:endParaRPr lang="en-US" sz="1500" dirty="0"/>
          </a:p>
          <a:p>
            <a:pPr marL="228600" indent="-228600">
              <a:spcAft>
                <a:spcPts val="1400"/>
              </a:spcAft>
              <a:buSzPct val="100000"/>
              <a:buChar char="•"/>
            </a:pPr>
            <a:r>
              <a:rPr lang="en-US" sz="1500" dirty="0">
                <a:solidFill>
                  <a:schemeClr val="tx1"/>
                </a:solidFill>
              </a:rPr>
              <a:t>Take sampled or learned answers as authority: Monte Carlo and learned pruning may only order work that is then proven.</a:t>
            </a:r>
            <a:endParaRPr lang="en-US" sz="1500" dirty="0"/>
          </a:p>
          <a:p>
            <a:pPr marL="228600" indent="-228600">
              <a:spcAft>
                <a:spcPts val="1400"/>
              </a:spcAft>
              <a:buSzPct val="100000"/>
              <a:buChar char="•"/>
            </a:pPr>
            <a:r>
              <a:rPr lang="en-US" sz="1500" dirty="0">
                <a:solidFill>
                  <a:schemeClr val="tx1"/>
                </a:solidFill>
              </a:rPr>
              <a:t>Read provenance as probability or causation.</a:t>
            </a:r>
            <a:endParaRPr lang="en-US" sz="1500" dirty="0"/>
          </a:p>
        </p:txBody>
      </p:sp>
      <p:sp>
        <p:nvSpPr>
          <p:cNvPr id="9" name="Open questions"/>
          <p:cNvSpPr/>
          <p:nvPr/>
        </p:nvSpPr>
        <p:spPr>
          <a:xfrm>
            <a:off x="6278728" y="1691640"/>
            <a:ext cx="5364328" cy="4023360"/>
          </a:xfrm>
          <a:prstGeom prst="roundRect">
            <a:avLst>
              <a:gd name="adj" fmla="val 2273"/>
            </a:avLst>
          </a:prstGeom>
          <a:solidFill>
            <a:schemeClr val="bg2"/>
          </a:solidFill>
          <a:ln/>
        </p:spPr>
      </p:sp>
      <p:sp>
        <p:nvSpPr>
          <p:cNvPr id="10" name="icon Open questions"/>
          <p:cNvSpPr/>
          <p:nvPr/>
        </p:nvSpPr>
        <p:spPr>
          <a:xfrm>
            <a:off x="6507328" y="1920240"/>
            <a:ext cx="502920" cy="502920"/>
          </a:xfrm>
          <a:prstGeom prst="ellipse">
            <a:avLst/>
          </a:prstGeom>
          <a:solidFill>
            <a:schemeClr val="accent2"/>
          </a:solidFill>
          <a:ln/>
        </p:spPr>
      </p:sp>
      <p:pic>
        <p:nvPicPr>
          <p:cNvPr id="11" name="Image 1" descr="Open questions">    </p:cNvPr>
          <p:cNvPicPr>
            <a:picLocks noChangeAspect="1"/>
          </p:cNvPicPr>
          <p:nvPr/>
        </p:nvPicPr>
        <p:blipFill>
          <a:blip r:embed="rId2"/>
          <a:stretch>
            <a:fillRect/>
          </a:stretch>
        </p:blipFill>
        <p:spPr>
          <a:xfrm>
            <a:off x="6617970" y="2030882"/>
            <a:ext cx="281635" cy="281635"/>
          </a:xfrm>
          <a:prstGeom prst="rect">
            <a:avLst/>
          </a:prstGeom>
        </p:spPr>
      </p:pic>
      <p:sp>
        <p:nvSpPr>
          <p:cNvPr id="12" name="Text 8"/>
          <p:cNvSpPr txBox="1"/>
          <p:nvPr/>
        </p:nvSpPr>
        <p:spPr>
          <a:xfrm>
            <a:off x="7147408" y="1920240"/>
            <a:ext cx="4267048" cy="502920"/>
          </a:xfrm>
          <a:prstGeom prst="rect">
            <a:avLst/>
          </a:prstGeom>
          <a:noFill/>
          <a:ln/>
        </p:spPr>
        <p:txBody>
          <a:bodyPr wrap="square" lIns="0" tIns="0" rIns="0" bIns="0" rtlCol="0" anchor="ctr"/>
          <a:lstStyle/>
          <a:p>
            <a:pPr indent="0" marL="0">
              <a:buNone/>
            </a:pPr>
            <a:r>
              <a:rPr lang="en-US" sz="2000" b="1" dirty="0">
                <a:solidFill>
                  <a:schemeClr val="tx1"/>
                </a:solidFill>
              </a:rPr>
              <a:t>Open questions</a:t>
            </a:r>
            <a:endParaRPr lang="en-US" sz="2000" dirty="0"/>
          </a:p>
        </p:txBody>
      </p:sp>
      <p:sp>
        <p:nvSpPr>
          <p:cNvPr id="13" name="Text 9"/>
          <p:cNvSpPr txBox="1"/>
          <p:nvPr/>
        </p:nvSpPr>
        <p:spPr>
          <a:xfrm>
            <a:off x="6553048" y="2651760"/>
            <a:ext cx="4815688" cy="2926080"/>
          </a:xfrm>
          <a:prstGeom prst="rect">
            <a:avLst/>
          </a:prstGeom>
          <a:noFill/>
          <a:ln/>
        </p:spPr>
        <p:txBody>
          <a:bodyPr wrap="square" lIns="0" tIns="0" rIns="0" bIns="0" rtlCol="0" anchor="t"/>
          <a:lstStyle/>
          <a:p>
            <a:pPr marL="228600" indent="-228600">
              <a:spcAft>
                <a:spcPts val="1400"/>
              </a:spcAft>
              <a:buSzPct val="100000"/>
              <a:buChar char="•"/>
            </a:pPr>
            <a:r>
              <a:rPr lang="en-US" sz="1500" dirty="0">
                <a:solidFill>
                  <a:schemeClr val="tx1"/>
                </a:solidFill>
              </a:rPr>
              <a:t>Which workloads dominate: targeted paths, complete reached sets, pattern counts, repeated scopes, or edits?</a:t>
            </a:r>
            <a:endParaRPr lang="en-US" sz="1500" dirty="0"/>
          </a:p>
          <a:p>
            <a:pPr marL="228600" indent="-228600">
              <a:spcAft>
                <a:spcPts val="1400"/>
              </a:spcAft>
              <a:buSzPct val="100000"/>
              <a:buChar char="•"/>
            </a:pPr>
            <a:r>
              <a:rPr lang="en-US" sz="1500" dirty="0">
                <a:solidFill>
                  <a:schemeClr val="tx1"/>
                </a:solidFill>
              </a:rPr>
              <a:t>Must every result verify from raw records, or may a verifier reuse a checked, identity-bound index?</a:t>
            </a:r>
            <a:endParaRPr lang="en-US" sz="1500" dirty="0"/>
          </a:p>
          <a:p>
            <a:pPr marL="228600" indent="-228600">
              <a:spcAft>
                <a:spcPts val="1400"/>
              </a:spcAft>
              <a:buSzPct val="100000"/>
              <a:buChar char="•"/>
            </a:pPr>
            <a:r>
              <a:rPr lang="en-US" sz="1500" dirty="0">
                <a:solidFill>
                  <a:schemeClr val="tx1"/>
                </a:solidFill>
              </a:rPr>
              <a:t>Which new operations must run on periodic projections?</a:t>
            </a:r>
            <a:endParaRPr lang="en-US" sz="1500" dirty="0"/>
          </a:p>
          <a:p>
            <a:pPr marL="228600" indent="-228600">
              <a:spcAft>
                <a:spcPts val="1400"/>
              </a:spcAft>
              <a:buSzPct val="100000"/>
              <a:buChar char="•"/>
            </a:pPr>
            <a:r>
              <a:rPr lang="en-US" sz="1500" dirty="0">
                <a:solidFill>
                  <a:schemeClr val="tx1"/>
                </a:solidFill>
              </a:rPr>
              <a:t>First acceptance workloads: a RATES balance problem, a STATES equivalence or ring query, a SCALE or Cathanor provenance question.</a:t>
            </a:r>
            <a:endParaRPr lang="en-US" sz="1500" dirty="0"/>
          </a:p>
        </p:txBody>
      </p:sp>
      <p:sp>
        <p:nvSpPr>
          <p:cNvPr id="14" name="Text 10"/>
          <p:cNvSpPr txBox="1"/>
          <p:nvPr/>
        </p:nvSpPr>
        <p:spPr>
          <a:xfrm>
            <a:off x="548640" y="5852160"/>
            <a:ext cx="11094415" cy="365760"/>
          </a:xfrm>
          <a:prstGeom prst="rect">
            <a:avLst/>
          </a:prstGeom>
          <a:noFill/>
          <a:ln/>
        </p:spPr>
        <p:txBody>
          <a:bodyPr wrap="square" lIns="0" tIns="0" rIns="0" bIns="0" rtlCol="0" anchor="ctr"/>
          <a:lstStyle/>
          <a:p>
            <a:pPr indent="0" marL="0">
              <a:buNone/>
            </a:pPr>
            <a:r>
              <a:rPr lang="en-US" sz="1200" i="1" dirty="0">
                <a:solidFill>
                  <a:schemeClr val="accent6"/>
                </a:solidFill>
              </a:rPr>
              <a:t>Also surveyed earlier: Katz intervals, bidirectional search, factorized pattern answers. Critical paths and d-separation, from the same list, are done.</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6A"/>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6949440" cy="1463040"/>
          </a:xfrm>
          <a:prstGeom prst="rect">
            <a:avLst/>
          </a:prstGeom>
          <a:noFill/>
          <a:ln/>
        </p:spPr>
        <p:txBody>
          <a:bodyPr wrap="square" lIns="0" tIns="0" rIns="0" bIns="0" rtlCol="0" anchor="b"/>
          <a:lstStyle/>
          <a:p>
            <a:pPr algn="l" indent="0" marL="0">
              <a:buNone/>
            </a:pPr>
            <a:r>
              <a:rPr lang="en-US" sz="3600" b="1" dirty="0">
                <a:solidFill>
                  <a:schemeClr val="bg1"/>
                </a:solidFill>
              </a:rPr>
              <a:t>One exact, checkable graph layer for every project</a:t>
            </a:r>
            <a:endParaRPr lang="en-US" sz="3600" dirty="0"/>
          </a:p>
        </p:txBody>
      </p:sp>
      <p:sp>
        <p:nvSpPr>
          <p:cNvPr id="3" name="Text 0"/>
          <p:cNvSpPr/>
          <p:nvPr>
            <p:ph idx="101" type="body" hasCustomPrompt="1"/>
          </p:nvPr>
        </p:nvSpPr>
        <p:spPr>
          <a:xfrm>
            <a:off x="731520" y="2606040"/>
            <a:ext cx="6766560" cy="2743200"/>
          </a:xfrm>
          <a:prstGeom prst="rect">
            <a:avLst/>
          </a:prstGeom>
          <a:noFill/>
          <a:ln/>
        </p:spPr>
        <p:txBody>
          <a:bodyPr wrap="square" lIns="0" tIns="0" rIns="0" bIns="0" rtlCol="0" anchor="t"/>
          <a:lstStyle/>
          <a:p>
            <a:pPr marL="254000" indent="-254000">
              <a:spcAft>
                <a:spcPts val="1200"/>
              </a:spcAft>
              <a:buSzPct val="100000"/>
              <a:buChar char="•"/>
            </a:pPr>
            <a:r>
              <a:rPr lang="en-US" sz="1800" dirty="0">
                <a:solidFill>
                  <a:schemeClr val="bg1"/>
                </a:solidFill>
              </a:rPr>
              <a:t>Twenty-three operations with witnesses; certificates on request; revalidation after edits.</a:t>
            </a:r>
            <a:endParaRPr lang="en-US" sz="1800" dirty="0"/>
          </a:p>
          <a:p>
            <a:pPr marL="254000" indent="-254000">
              <a:spcAft>
                <a:spcPts val="1200"/>
              </a:spcAft>
              <a:buSzPct val="100000"/>
              <a:buChar char="•"/>
            </a:pPr>
            <a:r>
              <a:rPr lang="en-US" sz="1800" dirty="0">
                <a:solidFill>
                  <a:schemeClr val="bg1"/>
                </a:solidFill>
              </a:rPr>
              <a:t>SCALE and STATES integrated, with parity tests; RATES and Cathanor to follow.</a:t>
            </a:r>
            <a:endParaRPr lang="en-US" sz="1800" dirty="0"/>
          </a:p>
          <a:p>
            <a:pPr marL="254000" indent="-254000">
              <a:spcAft>
                <a:spcPts val="1200"/>
              </a:spcAft>
              <a:buSzPct val="100000"/>
              <a:buChar char="•"/>
            </a:pPr>
            <a:r>
              <a:rPr lang="en-US" sz="1800" dirty="0">
                <a:solidFill>
                  <a:schemeClr val="bg1"/>
                </a:solidFill>
              </a:rPr>
              <a:t>Start with docs/API_CONTRACT.md, or ask the tools:</a:t>
            </a:r>
            <a:endParaRPr lang="en-US" sz="1800" dirty="0"/>
          </a:p>
        </p:txBody>
      </p:sp>
      <p:sp>
        <p:nvSpPr>
          <p:cNvPr id="4" name="commands"/>
          <p:cNvSpPr/>
          <p:nvPr/>
        </p:nvSpPr>
        <p:spPr>
          <a:xfrm>
            <a:off x="731520" y="4572000"/>
            <a:ext cx="6766560" cy="914400"/>
          </a:xfrm>
          <a:prstGeom prst="roundRect">
            <a:avLst>
              <a:gd name="adj" fmla="val 10000"/>
            </a:avLst>
          </a:prstGeom>
          <a:solidFill>
            <a:schemeClr val="tx1"/>
          </a:solidFill>
          <a:ln/>
        </p:spPr>
      </p:sp>
      <p:sp>
        <p:nvSpPr>
          <p:cNvPr id="5" name="commands text"/>
          <p:cNvSpPr txBox="1"/>
          <p:nvPr/>
        </p:nvSpPr>
        <p:spPr>
          <a:xfrm>
            <a:off x="960120" y="4572000"/>
            <a:ext cx="6400800" cy="914400"/>
          </a:xfrm>
          <a:prstGeom prst="rect">
            <a:avLst/>
          </a:prstGeom>
          <a:noFill/>
          <a:ln/>
        </p:spPr>
        <p:txBody>
          <a:bodyPr wrap="square" lIns="0" tIns="0" rIns="0" bIns="0" rtlCol="0" anchor="ctr"/>
          <a:lstStyle/>
          <a:p>
            <a:pPr indent="0" marL="0">
              <a:buNone/>
            </a:pPr>
            <a:r>
              <a:rPr lang="en-US" sz="1300" dirty="0">
                <a:solidFill>
                  <a:schemeClr val="accent5"/>
                </a:solidFill>
                <a:latin typeface="Courier New" pitchFamily="34" charset="0"/>
                <a:ea typeface="Courier New" pitchFamily="34" charset="-122"/>
                <a:cs typeface="Courier New" pitchFamily="34" charset="-120"/>
              </a:rPr>
              <a:t>python -m graph_runtime call graph_status</a:t>
            </a:r>
            <a:endParaRPr lang="en-US" sz="1300" dirty="0"/>
          </a:p>
          <a:p>
            <a:pPr indent="0" marL="0">
              <a:buNone/>
            </a:pPr>
            <a:r>
              <a:rPr lang="en-US" sz="1300" dirty="0">
                <a:solidFill>
                  <a:schemeClr val="accent5"/>
                </a:solidFill>
                <a:latin typeface="Courier New" pitchFamily="34" charset="0"/>
                <a:ea typeface="Courier New" pitchFamily="34" charset="-122"/>
                <a:cs typeface="Courier New" pitchFamily="34" charset="-120"/>
              </a:rPr>
              <a:t>claude mcp add graph -- python -m graph_runtime mcp</a:t>
            </a:r>
            <a:endParaRPr lang="en-US" sz="1300" dirty="0"/>
          </a:p>
        </p:txBody>
      </p:sp>
      <p:sp>
        <p:nvSpPr>
          <p:cNvPr id="6" name="Text 4"/>
          <p:cNvSpPr txBox="1"/>
          <p:nvPr/>
        </p:nvSpPr>
        <p:spPr>
          <a:xfrm>
            <a:off x="731520" y="5989320"/>
            <a:ext cx="6766560" cy="274320"/>
          </a:xfrm>
          <a:prstGeom prst="rect">
            <a:avLst/>
          </a:prstGeom>
          <a:noFill/>
          <a:ln/>
        </p:spPr>
        <p:txBody>
          <a:bodyPr wrap="square" lIns="0" tIns="0" rIns="0" bIns="0" rtlCol="0" anchor="t"/>
          <a:lstStyle/>
          <a:p>
            <a:pPr indent="0" marL="0">
              <a:buNone/>
            </a:pPr>
            <a:r>
              <a:rPr lang="en-US" sz="1200" dirty="0">
                <a:solidFill>
                  <a:schemeClr val="accent5"/>
                </a:solidFill>
              </a:rPr>
              <a:t>hlxin/graph (private) · Hongliang Xin · Virginia Tech</a:t>
            </a:r>
            <a:endParaRPr lang="en-US" sz="1200" dirty="0"/>
          </a:p>
        </p:txBody>
      </p:sp>
      <p:sp>
        <p:nvSpPr>
          <p:cNvPr id="7" name="Shape 5"/>
          <p:cNvSpPr/>
          <p:nvPr/>
        </p:nvSpPr>
        <p:spPr>
          <a:xfrm flipV="1">
            <a:off x="8558784" y="1229868"/>
            <a:ext cx="1053389" cy="313639"/>
          </a:xfrm>
          <a:prstGeom prst="line">
            <a:avLst/>
          </a:prstGeom>
          <a:noFill/>
          <a:ln w="14288">
            <a:solidFill>
              <a:schemeClr val="accent5"/>
            </a:solidFill>
            <a:prstDash val="solid"/>
          </a:ln>
        </p:spPr>
      </p:sp>
      <p:sp>
        <p:nvSpPr>
          <p:cNvPr id="8" name="Shape 6"/>
          <p:cNvSpPr/>
          <p:nvPr/>
        </p:nvSpPr>
        <p:spPr>
          <a:xfrm>
            <a:off x="9612173" y="1229868"/>
            <a:ext cx="1250899" cy="448056"/>
          </a:xfrm>
          <a:prstGeom prst="line">
            <a:avLst/>
          </a:prstGeom>
          <a:noFill/>
          <a:ln w="14288">
            <a:solidFill>
              <a:schemeClr val="accent5"/>
            </a:solidFill>
            <a:prstDash val="solid"/>
          </a:ln>
        </p:spPr>
      </p:sp>
      <p:sp>
        <p:nvSpPr>
          <p:cNvPr id="9" name="Shape 7"/>
          <p:cNvSpPr/>
          <p:nvPr/>
        </p:nvSpPr>
        <p:spPr>
          <a:xfrm>
            <a:off x="9612173" y="1229868"/>
            <a:ext cx="526694" cy="1254557"/>
          </a:xfrm>
          <a:prstGeom prst="line">
            <a:avLst/>
          </a:prstGeom>
          <a:noFill/>
          <a:ln w="14288">
            <a:solidFill>
              <a:schemeClr val="accent5"/>
            </a:solidFill>
            <a:prstDash val="solid"/>
          </a:ln>
        </p:spPr>
      </p:sp>
      <p:sp>
        <p:nvSpPr>
          <p:cNvPr id="10" name="Shape 8"/>
          <p:cNvSpPr/>
          <p:nvPr/>
        </p:nvSpPr>
        <p:spPr>
          <a:xfrm flipH="1">
            <a:off x="10138867" y="1677924"/>
            <a:ext cx="724205" cy="806501"/>
          </a:xfrm>
          <a:prstGeom prst="line">
            <a:avLst/>
          </a:prstGeom>
          <a:noFill/>
          <a:ln w="14288">
            <a:solidFill>
              <a:schemeClr val="accent5"/>
            </a:solidFill>
            <a:prstDash val="solid"/>
          </a:ln>
        </p:spPr>
      </p:sp>
      <p:sp>
        <p:nvSpPr>
          <p:cNvPr id="11" name="Shape 9"/>
          <p:cNvSpPr/>
          <p:nvPr/>
        </p:nvSpPr>
        <p:spPr>
          <a:xfrm>
            <a:off x="10863072" y="1677924"/>
            <a:ext cx="427939" cy="1299362"/>
          </a:xfrm>
          <a:prstGeom prst="line">
            <a:avLst/>
          </a:prstGeom>
          <a:noFill/>
          <a:ln w="14288">
            <a:solidFill>
              <a:schemeClr val="accent5"/>
            </a:solidFill>
            <a:prstDash val="solid"/>
          </a:ln>
        </p:spPr>
      </p:sp>
      <p:sp>
        <p:nvSpPr>
          <p:cNvPr id="12" name="Shape 10"/>
          <p:cNvSpPr/>
          <p:nvPr/>
        </p:nvSpPr>
        <p:spPr>
          <a:xfrm flipH="1">
            <a:off x="8460029" y="2708453"/>
            <a:ext cx="559613" cy="1254557"/>
          </a:xfrm>
          <a:prstGeom prst="line">
            <a:avLst/>
          </a:prstGeom>
          <a:noFill/>
          <a:ln w="14288">
            <a:solidFill>
              <a:schemeClr val="accent5"/>
            </a:solidFill>
            <a:prstDash val="solid"/>
          </a:ln>
        </p:spPr>
      </p:sp>
      <p:sp>
        <p:nvSpPr>
          <p:cNvPr id="13" name="Shape 11"/>
          <p:cNvSpPr/>
          <p:nvPr/>
        </p:nvSpPr>
        <p:spPr>
          <a:xfrm>
            <a:off x="9019642" y="2708453"/>
            <a:ext cx="526694" cy="985723"/>
          </a:xfrm>
          <a:prstGeom prst="line">
            <a:avLst/>
          </a:prstGeom>
          <a:noFill/>
          <a:ln w="14288">
            <a:solidFill>
              <a:schemeClr val="accent5"/>
            </a:solidFill>
            <a:prstDash val="solid"/>
          </a:ln>
        </p:spPr>
      </p:sp>
      <p:sp>
        <p:nvSpPr>
          <p:cNvPr id="14" name="Shape 12"/>
          <p:cNvSpPr/>
          <p:nvPr/>
        </p:nvSpPr>
        <p:spPr>
          <a:xfrm flipH="1">
            <a:off x="9546336" y="2484425"/>
            <a:ext cx="592531" cy="1209751"/>
          </a:xfrm>
          <a:prstGeom prst="line">
            <a:avLst/>
          </a:prstGeom>
          <a:noFill/>
          <a:ln w="14288">
            <a:solidFill>
              <a:schemeClr val="accent5"/>
            </a:solidFill>
            <a:prstDash val="solid"/>
          </a:ln>
        </p:spPr>
      </p:sp>
      <p:sp>
        <p:nvSpPr>
          <p:cNvPr id="15" name="Shape 13"/>
          <p:cNvSpPr/>
          <p:nvPr/>
        </p:nvSpPr>
        <p:spPr>
          <a:xfrm flipH="1">
            <a:off x="10599725" y="2977286"/>
            <a:ext cx="691286" cy="1075334"/>
          </a:xfrm>
          <a:prstGeom prst="line">
            <a:avLst/>
          </a:prstGeom>
          <a:noFill/>
          <a:ln w="14288">
            <a:solidFill>
              <a:schemeClr val="accent5"/>
            </a:solidFill>
            <a:prstDash val="solid"/>
          </a:ln>
        </p:spPr>
      </p:sp>
      <p:sp>
        <p:nvSpPr>
          <p:cNvPr id="16" name="Shape 14"/>
          <p:cNvSpPr/>
          <p:nvPr/>
        </p:nvSpPr>
        <p:spPr>
          <a:xfrm flipV="1">
            <a:off x="8460029" y="3694176"/>
            <a:ext cx="1086307" cy="268834"/>
          </a:xfrm>
          <a:prstGeom prst="line">
            <a:avLst/>
          </a:prstGeom>
          <a:noFill/>
          <a:ln w="14288">
            <a:solidFill>
              <a:schemeClr val="accent5"/>
            </a:solidFill>
            <a:prstDash val="solid"/>
          </a:ln>
        </p:spPr>
      </p:sp>
      <p:sp>
        <p:nvSpPr>
          <p:cNvPr id="17" name="Shape 15"/>
          <p:cNvSpPr/>
          <p:nvPr/>
        </p:nvSpPr>
        <p:spPr>
          <a:xfrm>
            <a:off x="8460029" y="3963010"/>
            <a:ext cx="691286" cy="1164946"/>
          </a:xfrm>
          <a:prstGeom prst="line">
            <a:avLst/>
          </a:prstGeom>
          <a:noFill/>
          <a:ln w="14288">
            <a:solidFill>
              <a:schemeClr val="accent5"/>
            </a:solidFill>
            <a:prstDash val="solid"/>
          </a:ln>
        </p:spPr>
      </p:sp>
      <p:sp>
        <p:nvSpPr>
          <p:cNvPr id="18" name="Shape 16"/>
          <p:cNvSpPr/>
          <p:nvPr/>
        </p:nvSpPr>
        <p:spPr>
          <a:xfrm flipH="1">
            <a:off x="9151315" y="3694176"/>
            <a:ext cx="395021" cy="1433779"/>
          </a:xfrm>
          <a:prstGeom prst="line">
            <a:avLst/>
          </a:prstGeom>
          <a:noFill/>
          <a:ln w="14288">
            <a:solidFill>
              <a:schemeClr val="accent5"/>
            </a:solidFill>
            <a:prstDash val="solid"/>
          </a:ln>
        </p:spPr>
      </p:sp>
      <p:sp>
        <p:nvSpPr>
          <p:cNvPr id="19" name="Shape 17"/>
          <p:cNvSpPr/>
          <p:nvPr/>
        </p:nvSpPr>
        <p:spPr>
          <a:xfrm>
            <a:off x="9546336" y="3694176"/>
            <a:ext cx="658368" cy="1568196"/>
          </a:xfrm>
          <a:prstGeom prst="line">
            <a:avLst/>
          </a:prstGeom>
          <a:noFill/>
          <a:ln w="14288">
            <a:solidFill>
              <a:schemeClr val="accent5"/>
            </a:solidFill>
            <a:prstDash val="solid"/>
          </a:ln>
        </p:spPr>
      </p:sp>
      <p:sp>
        <p:nvSpPr>
          <p:cNvPr id="20" name="Shape 18"/>
          <p:cNvSpPr/>
          <p:nvPr/>
        </p:nvSpPr>
        <p:spPr>
          <a:xfrm flipH="1">
            <a:off x="10204704" y="4052621"/>
            <a:ext cx="395021" cy="1209751"/>
          </a:xfrm>
          <a:prstGeom prst="line">
            <a:avLst/>
          </a:prstGeom>
          <a:noFill/>
          <a:ln w="14288">
            <a:solidFill>
              <a:schemeClr val="accent5"/>
            </a:solidFill>
            <a:prstDash val="solid"/>
          </a:ln>
        </p:spPr>
      </p:sp>
      <p:sp>
        <p:nvSpPr>
          <p:cNvPr id="21" name="Shape 19"/>
          <p:cNvSpPr/>
          <p:nvPr/>
        </p:nvSpPr>
        <p:spPr>
          <a:xfrm>
            <a:off x="11291011" y="2977286"/>
            <a:ext cx="65837" cy="1881835"/>
          </a:xfrm>
          <a:prstGeom prst="line">
            <a:avLst/>
          </a:prstGeom>
          <a:noFill/>
          <a:ln w="14288">
            <a:solidFill>
              <a:schemeClr val="accent5"/>
            </a:solidFill>
            <a:prstDash val="solid"/>
          </a:ln>
        </p:spPr>
      </p:sp>
      <p:sp>
        <p:nvSpPr>
          <p:cNvPr id="22" name="Shape 20"/>
          <p:cNvSpPr/>
          <p:nvPr/>
        </p:nvSpPr>
        <p:spPr>
          <a:xfrm>
            <a:off x="9151315" y="5127955"/>
            <a:ext cx="1053389" cy="134417"/>
          </a:xfrm>
          <a:prstGeom prst="line">
            <a:avLst/>
          </a:prstGeom>
          <a:noFill/>
          <a:ln w="14288">
            <a:solidFill>
              <a:schemeClr val="accent5"/>
            </a:solidFill>
            <a:prstDash val="solid"/>
          </a:ln>
        </p:spPr>
      </p:sp>
      <p:sp>
        <p:nvSpPr>
          <p:cNvPr id="23" name="Shape 21"/>
          <p:cNvSpPr/>
          <p:nvPr/>
        </p:nvSpPr>
        <p:spPr>
          <a:xfrm>
            <a:off x="8558784" y="1543507"/>
            <a:ext cx="460858" cy="1164946"/>
          </a:xfrm>
          <a:prstGeom prst="line">
            <a:avLst/>
          </a:prstGeom>
          <a:noFill/>
          <a:ln w="40005">
            <a:solidFill>
              <a:schemeClr val="accent2"/>
            </a:solidFill>
            <a:prstDash val="solid"/>
          </a:ln>
        </p:spPr>
      </p:sp>
      <p:sp>
        <p:nvSpPr>
          <p:cNvPr id="24" name="Shape 22"/>
          <p:cNvSpPr/>
          <p:nvPr/>
        </p:nvSpPr>
        <p:spPr>
          <a:xfrm flipV="1">
            <a:off x="9019642" y="2484425"/>
            <a:ext cx="1119226" cy="224028"/>
          </a:xfrm>
          <a:prstGeom prst="line">
            <a:avLst/>
          </a:prstGeom>
          <a:noFill/>
          <a:ln w="40005">
            <a:solidFill>
              <a:schemeClr val="accent2"/>
            </a:solidFill>
            <a:prstDash val="solid"/>
          </a:ln>
        </p:spPr>
      </p:sp>
      <p:sp>
        <p:nvSpPr>
          <p:cNvPr id="25" name="Shape 23"/>
          <p:cNvSpPr/>
          <p:nvPr/>
        </p:nvSpPr>
        <p:spPr>
          <a:xfrm>
            <a:off x="10138867" y="2484425"/>
            <a:ext cx="460858" cy="1568196"/>
          </a:xfrm>
          <a:prstGeom prst="line">
            <a:avLst/>
          </a:prstGeom>
          <a:noFill/>
          <a:ln w="40005">
            <a:solidFill>
              <a:schemeClr val="accent2"/>
            </a:solidFill>
            <a:prstDash val="solid"/>
          </a:ln>
        </p:spPr>
      </p:sp>
      <p:sp>
        <p:nvSpPr>
          <p:cNvPr id="26" name="Shape 24"/>
          <p:cNvSpPr/>
          <p:nvPr/>
        </p:nvSpPr>
        <p:spPr>
          <a:xfrm>
            <a:off x="10599725" y="4052621"/>
            <a:ext cx="757123" cy="806501"/>
          </a:xfrm>
          <a:prstGeom prst="line">
            <a:avLst/>
          </a:prstGeom>
          <a:noFill/>
          <a:ln w="40005">
            <a:solidFill>
              <a:schemeClr val="accent2"/>
            </a:solidFill>
            <a:prstDash val="solid"/>
          </a:ln>
        </p:spPr>
      </p:sp>
      <p:sp>
        <p:nvSpPr>
          <p:cNvPr id="27" name="witness node"/>
          <p:cNvSpPr/>
          <p:nvPr/>
        </p:nvSpPr>
        <p:spPr>
          <a:xfrm>
            <a:off x="8435340" y="1420063"/>
            <a:ext cx="246888" cy="246888"/>
          </a:xfrm>
          <a:prstGeom prst="ellipse">
            <a:avLst/>
          </a:prstGeom>
          <a:solidFill>
            <a:schemeClr val="accent2"/>
          </a:solidFill>
          <a:ln w="19050">
            <a:solidFill>
              <a:schemeClr val="tx2"/>
            </a:solidFill>
            <a:prstDash val="solid"/>
          </a:ln>
        </p:spPr>
      </p:sp>
      <p:sp>
        <p:nvSpPr>
          <p:cNvPr id="28" name="node"/>
          <p:cNvSpPr/>
          <p:nvPr/>
        </p:nvSpPr>
        <p:spPr>
          <a:xfrm>
            <a:off x="9529877" y="1147572"/>
            <a:ext cx="164592" cy="164592"/>
          </a:xfrm>
          <a:prstGeom prst="ellipse">
            <a:avLst/>
          </a:prstGeom>
          <a:solidFill>
            <a:schemeClr val="accent5"/>
          </a:solidFill>
          <a:ln w="19050">
            <a:solidFill>
              <a:schemeClr val="tx2"/>
            </a:solidFill>
            <a:prstDash val="solid"/>
          </a:ln>
        </p:spPr>
      </p:sp>
      <p:sp>
        <p:nvSpPr>
          <p:cNvPr id="29" name="node"/>
          <p:cNvSpPr/>
          <p:nvPr/>
        </p:nvSpPr>
        <p:spPr>
          <a:xfrm>
            <a:off x="10780776" y="1595628"/>
            <a:ext cx="164592" cy="164592"/>
          </a:xfrm>
          <a:prstGeom prst="ellipse">
            <a:avLst/>
          </a:prstGeom>
          <a:solidFill>
            <a:schemeClr val="accent5"/>
          </a:solidFill>
          <a:ln w="19050">
            <a:solidFill>
              <a:schemeClr val="tx2"/>
            </a:solidFill>
            <a:prstDash val="solid"/>
          </a:ln>
        </p:spPr>
      </p:sp>
      <p:sp>
        <p:nvSpPr>
          <p:cNvPr id="30" name="witness node"/>
          <p:cNvSpPr/>
          <p:nvPr/>
        </p:nvSpPr>
        <p:spPr>
          <a:xfrm>
            <a:off x="8896198" y="2585009"/>
            <a:ext cx="246888" cy="246888"/>
          </a:xfrm>
          <a:prstGeom prst="ellipse">
            <a:avLst/>
          </a:prstGeom>
          <a:solidFill>
            <a:schemeClr val="accent2"/>
          </a:solidFill>
          <a:ln w="19050">
            <a:solidFill>
              <a:schemeClr val="tx2"/>
            </a:solidFill>
            <a:prstDash val="solid"/>
          </a:ln>
        </p:spPr>
      </p:sp>
      <p:sp>
        <p:nvSpPr>
          <p:cNvPr id="31" name="witness node"/>
          <p:cNvSpPr/>
          <p:nvPr/>
        </p:nvSpPr>
        <p:spPr>
          <a:xfrm>
            <a:off x="10015423" y="2360981"/>
            <a:ext cx="246888" cy="246888"/>
          </a:xfrm>
          <a:prstGeom prst="ellipse">
            <a:avLst/>
          </a:prstGeom>
          <a:solidFill>
            <a:schemeClr val="accent2"/>
          </a:solidFill>
          <a:ln w="19050">
            <a:solidFill>
              <a:schemeClr val="tx2"/>
            </a:solidFill>
            <a:prstDash val="solid"/>
          </a:ln>
        </p:spPr>
      </p:sp>
      <p:sp>
        <p:nvSpPr>
          <p:cNvPr id="32" name="node"/>
          <p:cNvSpPr/>
          <p:nvPr/>
        </p:nvSpPr>
        <p:spPr>
          <a:xfrm>
            <a:off x="11208715" y="2894990"/>
            <a:ext cx="164592" cy="164592"/>
          </a:xfrm>
          <a:prstGeom prst="ellipse">
            <a:avLst/>
          </a:prstGeom>
          <a:solidFill>
            <a:schemeClr val="accent5"/>
          </a:solidFill>
          <a:ln w="19050">
            <a:solidFill>
              <a:schemeClr val="tx2"/>
            </a:solidFill>
            <a:prstDash val="solid"/>
          </a:ln>
        </p:spPr>
      </p:sp>
      <p:sp>
        <p:nvSpPr>
          <p:cNvPr id="33" name="node"/>
          <p:cNvSpPr/>
          <p:nvPr/>
        </p:nvSpPr>
        <p:spPr>
          <a:xfrm>
            <a:off x="8377733" y="3880714"/>
            <a:ext cx="164592" cy="164592"/>
          </a:xfrm>
          <a:prstGeom prst="ellipse">
            <a:avLst/>
          </a:prstGeom>
          <a:solidFill>
            <a:schemeClr val="accent5"/>
          </a:solidFill>
          <a:ln w="19050">
            <a:solidFill>
              <a:schemeClr val="tx2"/>
            </a:solidFill>
            <a:prstDash val="solid"/>
          </a:ln>
        </p:spPr>
      </p:sp>
      <p:sp>
        <p:nvSpPr>
          <p:cNvPr id="34" name="node"/>
          <p:cNvSpPr/>
          <p:nvPr/>
        </p:nvSpPr>
        <p:spPr>
          <a:xfrm>
            <a:off x="9464040" y="3611880"/>
            <a:ext cx="164592" cy="164592"/>
          </a:xfrm>
          <a:prstGeom prst="ellipse">
            <a:avLst/>
          </a:prstGeom>
          <a:solidFill>
            <a:schemeClr val="accent5"/>
          </a:solidFill>
          <a:ln w="19050">
            <a:solidFill>
              <a:schemeClr val="tx2"/>
            </a:solidFill>
            <a:prstDash val="solid"/>
          </a:ln>
        </p:spPr>
      </p:sp>
      <p:sp>
        <p:nvSpPr>
          <p:cNvPr id="35" name="witness node"/>
          <p:cNvSpPr/>
          <p:nvPr/>
        </p:nvSpPr>
        <p:spPr>
          <a:xfrm>
            <a:off x="10476281" y="3929177"/>
            <a:ext cx="246888" cy="246888"/>
          </a:xfrm>
          <a:prstGeom prst="ellipse">
            <a:avLst/>
          </a:prstGeom>
          <a:solidFill>
            <a:schemeClr val="accent2"/>
          </a:solidFill>
          <a:ln w="19050">
            <a:solidFill>
              <a:schemeClr val="tx2"/>
            </a:solidFill>
            <a:prstDash val="solid"/>
          </a:ln>
        </p:spPr>
      </p:sp>
      <p:sp>
        <p:nvSpPr>
          <p:cNvPr id="36" name="node"/>
          <p:cNvSpPr/>
          <p:nvPr/>
        </p:nvSpPr>
        <p:spPr>
          <a:xfrm>
            <a:off x="9069019" y="5045659"/>
            <a:ext cx="164592" cy="164592"/>
          </a:xfrm>
          <a:prstGeom prst="ellipse">
            <a:avLst/>
          </a:prstGeom>
          <a:solidFill>
            <a:schemeClr val="accent5"/>
          </a:solidFill>
          <a:ln w="19050">
            <a:solidFill>
              <a:schemeClr val="tx2"/>
            </a:solidFill>
            <a:prstDash val="solid"/>
          </a:ln>
        </p:spPr>
      </p:sp>
      <p:sp>
        <p:nvSpPr>
          <p:cNvPr id="37" name="node"/>
          <p:cNvSpPr/>
          <p:nvPr/>
        </p:nvSpPr>
        <p:spPr>
          <a:xfrm>
            <a:off x="10122408" y="5180076"/>
            <a:ext cx="164592" cy="164592"/>
          </a:xfrm>
          <a:prstGeom prst="ellipse">
            <a:avLst/>
          </a:prstGeom>
          <a:solidFill>
            <a:schemeClr val="accent5"/>
          </a:solidFill>
          <a:ln w="19050">
            <a:solidFill>
              <a:schemeClr val="tx2"/>
            </a:solidFill>
            <a:prstDash val="solid"/>
          </a:ln>
        </p:spPr>
      </p:sp>
      <p:sp>
        <p:nvSpPr>
          <p:cNvPr id="38" name="witness node"/>
          <p:cNvSpPr/>
          <p:nvPr/>
        </p:nvSpPr>
        <p:spPr>
          <a:xfrm>
            <a:off x="11233404" y="4735678"/>
            <a:ext cx="246888" cy="246888"/>
          </a:xfrm>
          <a:prstGeom prst="ellipse">
            <a:avLst/>
          </a:prstGeom>
          <a:solidFill>
            <a:schemeClr val="accent2"/>
          </a:solidFill>
          <a:ln w="19050">
            <a:solidFill>
              <a:schemeClr val="tx2"/>
            </a:solidFill>
            <a:prstDash val="solid"/>
          </a:ln>
        </p:spPr>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C5B6"/>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GRAPH">
  <a:themeElements>
    <a:clrScheme name="GRAPH">
      <a:dk1>
        <a:srgbClr val="1A2421"/>
      </a:dk1>
      <a:lt1>
        <a:srgbClr val="FFFFFF"/>
      </a:lt1>
      <a:dk2>
        <a:srgbClr val="12332E"/>
      </a:dk2>
      <a:lt2>
        <a:srgbClr val="EDF3F1"/>
      </a:lt2>
      <a:accent1>
        <a:srgbClr val="1E7B6B"/>
      </a:accent1>
      <a:accent2>
        <a:srgbClr val="C77C02"/>
      </a:accent2>
      <a:accent3>
        <a:srgbClr val="3D5A80"/>
      </a:accent3>
      <a:accent4>
        <a:srgbClr val="A23B53"/>
      </a:accent4>
      <a:accent5>
        <a:srgbClr val="8FC5B6"/>
      </a:accent5>
      <a:accent6>
        <a:srgbClr val="56626A"/>
      </a:accent6>
      <a:hlink>
        <a:srgbClr val="1E7B6B"/>
      </a:hlink>
      <a:folHlink>
        <a:srgbClr val="3D5A80"/>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Virginia 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 Graph Runtime for Analysis, Provenance, Hypotheses</dc:title>
  <dc:subject>Key theory, development and results of the GRAPH library</dc:subject>
  <dc:creator>Hongliang Xin</dc:creator>
  <cp:lastModifiedBy>Hongliang Xin</cp:lastModifiedBy>
  <cp:revision>1</cp:revision>
  <dcterms:created xsi:type="dcterms:W3CDTF">2026-10-27T04:04:08Z</dcterms:created>
  <dcterms:modified xsi:type="dcterms:W3CDTF">2026-10-27T04:04:08Z</dcterms:modified>
</cp:coreProperties>
</file>