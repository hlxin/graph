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90722641-e2c4-f964-951a-71ce9182e187}">
          <p14:sldIdLst>
            <p14:sldId id="256"/>
            <p14:sldId id="257"/>
            <p14:sldId id="258"/>
          </p14:sldIdLst>
        </p14:section>
        <p14:section name="Architecture" id="{eefab595-71e8-29f6-20ac-1a765ca9406c}">
          <p14:sldIdLst>
            <p14:sldId id="259"/>
            <p14:sldId id="260"/>
            <p14:sldId id="261"/>
          </p14:sldIdLst>
        </p14:section>
        <p14:section name="Operations" id="{3cba5cd6-1761-6b41-578d-f9ece40c590d}">
          <p14:sldIdLst>
            <p14:sldId id="262"/>
            <p14:sldId id="263"/>
            <p14:sldId id="264"/>
            <p14:sldId id="265"/>
            <p14:sldId id="266"/>
            <p14:sldId id="267"/>
            <p14:sldId id="268"/>
            <p14:sldId id="269"/>
            <p14:sldId id="270"/>
            <p14:sldId id="271"/>
            <p14:sldId id="272"/>
            <p14:sldId id="273"/>
            <p14:sldId id="274"/>
            <p14:sldId id="275"/>
            <p14:sldId id="276"/>
            <p14:sldId id="277"/>
          </p14:sldIdLst>
        </p14:section>
        <p14:section name="Trust and results" id="{5a816b00-2b7e-dc7a-b1e9-7705635b5431}">
          <p14:sldIdLst>
            <p14:sldId id="278"/>
            <p14:sldId id="279"/>
            <p14:sldId id="280"/>
            <p14:sldId id="281"/>
            <p14:sldId id="282"/>
          </p14:sldIdLst>
        </p14:section>
        <p14:section name="Development" id="{d8e9ac52-778f-dc6a-212f-e35c0c62c1ac}">
          <p14:sldIdLst>
            <p14:sldId id="283"/>
          </p14:sldIdLst>
        </p14:section>
        <p14:section name="Roadmap" id="{12f971c6-8adb-0e17-68f2-6c7019cf0e87}">
          <p14:sldIdLst>
            <p14:sldId id="284"/>
            <p14:sldId id="285"/>
          </p14:sldIdLst>
        </p14:section>
        <p14:section name="Close" id="{47c389db-995e-fc0d-a1ae-2bfaec7cd966}">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Sheet1!$B$2:$B$16</c:f>
              <c:numCache>
                <c:formatCode>General</c:formatCode>
                <c:ptCount val="15"/>
                <c:pt idx="0">
                  <c:v>0.38</c:v>
                </c:pt>
                <c:pt idx="1">
                  <c:v>0.57</c:v>
                </c:pt>
                <c:pt idx="2">
                  <c:v>4.5</c:v>
                </c:pt>
                <c:pt idx="3">
                  <c:v>0.61</c:v>
                </c:pt>
                <c:pt idx="4">
                  <c:v>2.5</c:v>
                </c:pt>
                <c:pt idx="5">
                  <c:v>0.25</c:v>
                </c:pt>
                <c:pt idx="6">
                  <c:v>0.65</c:v>
                </c:pt>
                <c:pt idx="7">
                  <c:v>0.67</c:v>
                </c:pt>
                <c:pt idx="8">
                  <c:v>0.1</c:v>
                </c:pt>
                <c:pt idx="9">
                  <c:v>0.05</c:v>
                </c:pt>
                <c:pt idx="10">
                  <c:v>0.89</c:v>
                </c:pt>
                <c:pt idx="11">
                  <c:v>3.07</c:v>
                </c:pt>
                <c:pt idx="12">
                  <c:v>1.2</c:v>
                </c:pt>
                <c:pt idx="13">
                  <c:v>1.6</c:v>
                </c:pt>
                <c:pt idx="14">
                  <c:v>0.05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Sheet1!$C$2:$C$16</c:f>
              <c:numCache>
                <c:formatCode>General</c:formatCode>
                <c:ptCount val="15"/>
                <c:pt idx="0">
                  <c:v>0.34</c:v>
                </c:pt>
                <c:pt idx="1">
                  <c:v>0.36</c:v>
                </c:pt>
                <c:pt idx="2">
                  <c:v>6.4</c:v>
                </c:pt>
                <c:pt idx="3">
                  <c:v>4.25</c:v>
                </c:pt>
                <c:pt idx="4">
                  <c:v>2.1</c:v>
                </c:pt>
                <c:pt idx="5">
                  <c:v>0.81</c:v>
                </c:pt>
                <c:pt idx="6">
                  <c:v>0.93</c:v>
                </c:pt>
                <c:pt idx="7">
                  <c:v>0.26</c:v>
                </c:pt>
                <c:pt idx="8">
                  <c:v>0.13</c:v>
                </c:pt>
                <c:pt idx="9">
                  <c:v>0.54</c:v>
                </c:pt>
                <c:pt idx="10">
                  <c:v>0.92</c:v>
                </c:pt>
                <c:pt idx="11">
                  <c:v>0.3</c:v>
                </c:pt>
                <c:pt idx="12">
                  <c:v>1.6</c:v>
                </c:pt>
                <c:pt idx="13">
                  <c:v>0.46</c:v>
                </c:pt>
                <c:pt idx="14">
                  <c:v>0.76</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Sheet1!$A$2:$A$31</c:f>
              <c:multiLvlStrCache>
                <c:ptCount val="30"/>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 count</c:v>
                  </c:pt>
                  <c:pt idx="27">
                    <c:v>pairs</c:v>
                  </c:pt>
                  <c:pt idx="28">
                    <c:v>datalog</c:v>
                  </c:pt>
                  <c:pt idx="29">
                    <c:v>isomorph.</c:v>
                  </c:pt>
                </c:lvl>
              </c:multiLvlStrCache>
            </c:multiLvlStrRef>
          </c:cat>
          <c:val>
            <c:numRef>
              <c:f>Sheet1!$B$2:$B$31</c:f>
              <c:numCache>
                <c:formatCode>General</c:formatCode>
                <c:ptCount val="30"/>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195</c:v>
                </c:pt>
                <c:pt idx="27">
                  <c:v>199</c:v>
                </c:pt>
                <c:pt idx="28">
                  <c:v>204</c:v>
                </c:pt>
                <c:pt idx="29">
                  <c:v>209</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54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27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tests/test_k_paths_certificate.py; git log ae48035, f65497b, ffd474a, 8089024.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Certificate proves: Potentials bound every node's cost to a target; labels show no walk leaving the listed prefixes reaches one before the last path.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With certificate: true (git log 8089024) the ranking is proven: potentials, from a reverse search, bound every node's (cost, hops) to a target, and a node without one reaches none; every unlisted simple path leaves the tree of the listed paths' prefixes by a hop no listed path with that prefix takes, and for each prefix the walks leaving it are explored by A* while their potentials could still put them before the last path, each node labelled with its least (cost, hops, side), side breaking a tie by IDs. No label is a target, so nothing comes before the last path; the checker confirms each label by its hops, without searching, and revalidation checks the certificate against the new records. An independent oracle builds the strongest certificate for any claimed list: on 1,200 random cases the engine's is exactly that one, and false rankings (a path left out, the last skipped, a full list called exhausted) are refused even with it. The certificate costs about 1%: 5.94 s against 5.88 s on 20,000 nodes and 100,000 edges, k = 20, checked in 0.57 s. Its Codex adversarial review refused all 46,999 forged rankings and found the reversed scope rebuilt per node, quadratic with many relations (28 s at 16,000 nodes), now built once with a regression.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between pairs; §6; §7; src/graph_runtime/reachindex.py; tests/test_reachability_pairs.py; git log 61dff27; the increment's benchmark run on the owner's machine, other processes running.
reachability_pairs: Whether each source reaches its target. Theory: A 2-hop index (Cohen, Halperin, Kaplan and Zwick, 2003), for checks asked again and again of one projection: each node keeps the hubs it reaches and the hubs that reach it; a source reaches a target exactly when the two labels share a hub. Algorithm: Pruned landmark labelling (Akiba, Iwata and Yoshida; Yano et al., 2013), hubs by (in-degree + 1)(out-degree + 1); a pair reads the smaller of its two labels. Kept on the projection, yet every request pays its full cost: a kept index changes only the time. Proven by: A simple path per reachable pair: label pointers through the first common hub, loops cut, every hop charged. On request, each unreachable pair's source carries its closure, checked from the records. docs/API_CONTRACT.md §4, Reachability between pairs: many (source, target) questions at once, as provenance checks and dependency questions asked again and again of one projection; a node reaches itself by the empty walk. The index is a function of the projection and the scope: built once, kept on the projection (in memory, the last four scopes), and every request is charged its full cost, one expansion per node whose hops it reads and one per label entry, cold or warm, so a kept index changes nothing but the time: the same result_id, stats and status for every budget, and a budget smaller than the index is exhausted the same way both times. A deadline or cancellation that stops the building keeps nothing. Each pair then costs one expansion plus one per entry of the smaller label, and, for a witness, one per hop of the walk through the hub, charged before each hop is followed. An interruption keeps a prefix of the pairs, each decided. With certificate: true, each source of an unreachable pair gets its closure (every node it reaches: holds the source, not the target, and no hop in scope leaves it), which the verifier checks from the records. Revalidation (§7) needs both proofs: a closure proves only negatives, so a reachable pair asked for without its witness leaves the answer unknown (no_certificate). A Codex adversarial review (three passes; the third approved with no findings) found, each fixed with a regression: revalidation holding witness-free positives on a closure certificate; hop lists read before the first budget check; unbounded per-scope index caching; quadratic closure verification (twice); witness walks charged only after the fact. Tests (tests/test_reachability_pairs.py): 600 random graphs against networkx descendants, each answer verified; 12 larger graphs; a kept index gives the same result as a new one (150 cases); interrupted answers list decided pairs in order (300); forgeries refused; revalidation agrees with fresh runs (300); 4 hand-worked conformance cases on G24. Benchmarks (owner's machine, other processes running; git log 61dff27): a random graph of 100,000 nodes and 300,000 edges, 10,000 pairs, 1.2 s with the build, 0.33 s with the index kept, networkx has_path 1.6 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but networkx 0.1 s, since random pairs there are almost never reachable and reach sets are small. The index pays when it is reused, or when reach sets are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Datalog; §6; §7; src/graph_runtime/datalog.py; tests/test_datalog.py; the conformance case datalog-transitive-closure on G24, run on the runtime at 61cabb1; git log 61cabb1, its benchmark run on the owner's machine.
datalog: Recursive rules over the records, each fact proven. Theory: A positive, function-free, range-restricted program over the records: node(N), type(N, T) with the type hierarchy, edge(E, S, T, R) with every relation above R. Its meaning is the least model, the smallest set of facts closed under every rule (Abiteboul, Hull and Vianu, 1995). Algorithm: Semi-naive evaluation (Bancilhon, 1986), predicate components in dependency order: each round joins at least one fact the last round found. Joins run most-bound-first on indexes; facts and derivations do not depend on the hash seed. Certificate proves: Each fact keeps one derivation, its rule and premises, at a rank above theirs: a well-founded proof checked in its size. On request, the whole least model, which the verifier proves closed under every rule. docs/API_CONTRACT.md §4, Datalog: rules that derive facts from the records, recursively: provenance closures, lineage, "supported through a dataset", any question that is a fixpoint of joins. A program is a list of rules, head :- body, each atom a predicate over terms: a variable "?x", or a constant. It is positive (no negation), function-free and range-restricted (every variable of a head occurs in its body; a rule without a body states a ground fact), so its meaning is its least model (Abiteboul, Hull and Vianu, 1995). The inputs are the records: node(N) for every node; type(N, T) for every type a node has, its declared types' ancestors included; edge(E, S, T, R) for every edge E from S to T, for its relation and every relation above it. A rule may not define an input; every predicate has one arity, at most 32; rules are sorted by id, so their order in the request does not matter. Evaluation is semi-naive (Bancilhon, 1986), the derived predicates in the order of their dependencies (strongly connected components of the predicate graph, dependencies first); a round's facts join the model when it ends, in sorted order. A rule's atoms are joined in a fixed order: the new-fact atom first, then always the atom with the most arguments bound, its candidates looked up in an index on its bound arguments. Every fact read, every index built, every join order and every premise kept is charged to the expansion budget. Each derived fact keeps the first derivation found in that order: its rule and, for each body atom, the fact it matched; its rank is the round that found it, and every premise's rank is lower, so a checker confirms a derivation in the size of the proof. Answer: rows, the query's matches in ascending order (or answer count or exists), each naming its derivation in facts; with certificate: true, a complete answer lists the whole least model, and the verifier proves it closed under every rule, so the rows are all of the query's matches (a closure check that would read more than five million facts stops and reports the certificate not checked). An output_limit interruption keeps the exact total but not the certificate; any other interruption keeps the facts of the rounds completed, every row derived, but total and model null and absence unknown. Results do not depend on Python's hash seed, interrupted runs included. Revalidated by certificate (§7). The worked example beside the card is the conformance case datalog-transitive-closure on G24 (a to b to c to a, c to d, x to d, all R; e to x by S), run on the runtime: 13 facts in three rounds, reach(a, ?y) gives a, b, c and d, and reach(a, d)'s derivation is shown with its ranks. A Codex adversarial review (six passes, the sixth approving) found, each fixed with a regression: verifier joins materializing every substitution (twice); uncharged index builds, join plans, premise copies, ancestor walks and type decoding; a certificate left on an output-limited answer; rows naming facts when derivations were off; rounds committed in hash order when interrupted; unbounded predicate arity (now at most 32); an unbounded closure check. Tests (tests/test_datalog.py): 400 random programs against an independent naive fixpoint; transitive closure against networkx; the relation hierarchy; forged derivations and models refused; 300 interrupted runs claim only what they derived; the same result under any hash seed, interrupted runs included; revalidation agrees with fresh runs (300); results validate against the schema; 5 hand-worked conformance cases on G24 and G12. Benchmarks (owner's machine; git log 61cabb1): transitive closure on 2,000 nodes and 2,600 edges, 583,630 facts in 60 rounds, 1.6 s, 4.3 s with the certificate, 8.6 s to check it; networkx transitive_closure 0.46 s, a special-purpose routine that proves nothing and is not a rule language. A naive fixpoint (the test oracle) needs 34 s for the 14,528 facts of 300 nodes, where semi-naive evaluation takes 0.04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Canonical form and isomorphism; §6; §7 (its opening sentences, the trust model); src/graph_runtime/canon.py; tests/test_canonical.py; git log 32507b6; the worked example run on the runtime at 32507b6; the increment's benchmark run on the owner's machine.
canonical_form: One name for every copy. Theory: A node set's induced subgraph, with its types and relations, in canonical order; its digest names every copy. Algorithm: Color refinement (1-WL, never IDs), then individualization and refinement with orbit pruning (McKay and Piperno, 2014). Checked by: The encoding is the graph relabeled, so equal ids prove isomorphism. That it is the least is not certified. docs/API_CONTRACT.md §4, Canonical form and isomorphism: the graph of a node set is its induced subgraph: its nodes, each colored by its types with their ancestors (node_colors: none colors all alike), and the edges in scope (by relation, or one above it; the scope's directions do not matter) with both ends in the set, each with its own relation, directed from source to target or, with directed: false, as an undirected link; parallel edges and loops count with their multiplicity. Color refinement (one-dimensional Weisfeiler-Leman) gives a node, each round, the rank in sorted order of its old color with the sorted multisets of (neighbour's color, relation) over its out-edges and its in-edges (or its links when undirected); it stops when no class splits. Colors depend on structure alone, never on IDs. Individualization and refinement (McKay and Piperno, 2014): refine; take the smallest class of several nodes; give each of its nodes in turn (by ID) a color of its own and search on. Every leaf (every class one node) orders the nodes; its encoding is the nodes' colors in that order and the sorted edges [i, j, relation] between positions; the least encoding over the leaves is canonical, and the first leaf reaching it gives the order. Two leaves with the same encoding give an automorphism; a node in the orbit of one already searched, under the automorphisms found that fix the current prefix, is skipped. The least encoding is the same for every isomorphic copy; only which order achieving it is reported depends on IDs. Reading the set, each refinement round, each individualization, each leaf and each orbit computation are charged to the expansion budget before they are done; worst cases stay exponential, and the budget bounds them. Answer: order, encoding (nodes, edges, directed) and canonical_id, the digest of the encoding; all null when interrupted. A checker confirms the encoding is the set's graph relabeled by the order, so equal identities prove isomorphism; that it is the least encoding is the search's, not certified. The worked example beside the cards was run on the runtime at 32507b6: two six-rings of C nodes read as links (directed: false), a to f and u, x, v, z, w, y around the ring, give the orders a, b, f, c, e, d and u, x, y, v, w, z (the amber positions), one encoding (edges [0,1], [0,2], [1,3], [2,4], [3,5], [4,5]) and one canonical_id, sha256:2bd33e64…; isomorphism maps a to u, b to x, c to v, d to z, e to w and f to y.
isomorphism: The same structure, or not. Theory: Whether two node sets' graphs are equal up to renaming, colors and relations kept; the sets may overlap. Algorithm: Cheap negatives first: other counts, or color refinement of both graphs side by side. Else both canonical forms. Proven by: A match: node and edge bijections. A mismatch: counts or refinement histograms if they differ; else the search, uncertified. docs/API_CONTRACT.md §4: isomorphism decides two node sets (which may overlap) under one scope, direction and coloring. It first tries the easy proofs of a negative: other numbers of nodes or edges (certificate kind counts), or color refinement of the two graphs side by side, as one disjoint union, giving their sides other color histograms after some round (kind refinement, with the rounds); with certificate: true a negative so found carries it, and a checker recomputes it. Otherwise both canonical forms are computed: equal identities give the node mapping by position and the edge mapping by (positions, relation, edge ID), which prove the isomorphism; other identities answer false, proven by the exact search alone (certificate null). Interrupted: isomorphic null, nothing mapped. Revalidation (§7): an isomorphism's mappings prove it by themselves; a canonical form is refuted when its encoding is no longer the set's graph relabeled by its order, and otherwise unknown (no_certificate), since its minimality is not certified. A Codex adversarial review (three passes) found, each fixed with a regression: the induced subgraph read before any budget check; nonexistent nodes accepted by the verifier; duplicate mapping entries hiding invalid pairs; unverified canonical ids in isomorphism answers (removed: canonical_form gives a verified one); canonicality taken from a mere relabeling on revalidation (now refuted or unknown on another projection); float positions accepted. The third pass's remaining point, that a result holds unchecked on its own projection, was resolved by stating revalidation's trust model in the contract (§7), not by code. Tests (tests/test_canonical.py): 500 random cases agree with networkx's VF2 (node types and relation multisets matched), each answer verified; 300 relabeled or perturbed copies share a canonical identity exactly when networkx finds them isomorphic; symmetric graphs (K8, the Petersen graph, the 4-cube, a 5 × 5 grid, hexagons, the cube) are canonized within the budget; two 3-regular graphs that refinement cannot separate (Petersen and the pentagonal prism) are told apart by the search alone, without a certificate; forgeries refused; 200 interrupted runs claim nothing; revalidation agrees with fresh runs (300); 5 hand-worked conformance cases on G25, the canonical orders worked out by hand from the refinement rules. Benchmarks (the increment's run on the owner's machine; git log 32507b6): a random 3-regular graph on 500 nodes against a relabeled copy, 3.4 s (networkx VF2 114 s); a random graph of 1,000 nodes and 3,000 edges, 0.05 s (0.76 s); a graphene flake of 240 nodes, 0.016 s each; a 30 × 30 grid, 0.32 s (0.22 s); highly symmetric small graphs (the hypercube Q6, K12) take VF2 milliseconds and GRAPH 0.05 to 0.15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minimum-cost flows, reachability between pairs (61dff27) and Datalog (61cabb1, by its least-model certificate) are revalidated by their certificates, pairs needing both proofs: a closure proves only negatives, so a reachable pair without its witness is unknown, no_certificate; k shortest paths are not certified, so they are unknown, not_certified; an isomorphism (32507b6) holds by its node and edge mappings, and a canonical form is refuted when its encoding is no longer the set's graph relabeled by its order, otherwise unknown, no_certificate)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 Trust model (docs/API_CONTRACT.md §7): Revalidation trusts a result to be GRAPH's own answer for the projection it names, and checks only what an edit could change: on that same projection a result holds without a check, and verify_result is the check for a result from elsewhere. So a canonical form, whose minimality no certificate proves, holds on its own projection and on any other is refuted or unknown. This closed the last point of the isomorphism increment's third Codex review pass (32507b6) by documentation,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(689 pass), src/graph_runtime/conformance/cases.json (209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Datalog against an independent naive fixpoint on 400 random programs (tests/test_datalog.py); isomorphism against networkx's VF2 on 500 random cases, and the canonical identities of 300 relabeled or perturbed copies (tests/test_canonical.py).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path from outside the sources' region (critical path, 1d6dbbf);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 61dff27 (reachability between pairs, three passes, the third approving with no findings; each finding fixed with a regression: revalidation held witness-free positives on a closure certificate, which proves only negatives; hop lists were read before the first budget check; the index was cached per scope without bound, now the last four; closure verification was quadratic, twice; witness walks were charged only after the fact, now hop by hop before each is followed); 61cabb1 (positive Datalog, six passes, the sixth approving; each finding fixed with a regression: verifier joins materialized every substitution, twice; index builds, join plans, premise copies, ancestor walks and type decoding were not charged to the budget; a certificate was left on an output-limited answer; rows named facts when derivations were off; rounds were committed in hash order when interrupted; predicate arity was unbounded, now at most 32; the closure check was unbounded, now it stops after five million reads and says the certificate was not checked); 32507b6 (canonical forms and isomorphism, three passes; each finding fixed with a regression: the induced subgraph was read before any budget check; the verifier accepted nonexistent nodes; duplicate mapping entries hid invalid pairs; isomorphism answers carried unverified canonical ids, now removed, since canonical_form gives a verified one; revalidation took a mere relabeling for the canonical form, now refuted or unknown on another projection; float positions were accepted. The third pass's remaining point, that a result holds unchecked on its own projection, was resolved by stating revalidation's trust model in docs/API_CONTRACT.md §7, not by code); 8089024 (k shortest paths certificates: 46,999 forged rankings all refused; the potentials' check rebuilt the reversed scope for every node, 28 s on a 16,000-node chain with a relation per edge, now built once, with a regression); 4251e84 (a deep review of 04532ba..HEAD, 24 commits of both sessions, by gpt-6-astra at reasoning effort max: about 15,000 random cases against its own oracles and 18,000 revalidation checks found no wrong answer, false certificate or wrong revalidation; it found a fewest-hop witness search outside the budget (signed shortest paths), cycle extraction quadratic in the edges out of scope, k = 2 quadratic on a chain, a PageRank verifier that accepted the wrong top node (older than the range), summaries missing a negative cycle and a matching cost, and quadratic work in this session's flux modes, which 60d5cc6's replaces and which passes the same cases; the five fixed with regressions that fail on the old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Pair reachability (git log 61dff27; the increment's benchmark run on the owner's machine, other processes running; docs/API_CONTRACT.md §4 quotes an earlier run, 1.5 s and 0.4 s): a random graph of 100,000 nodes and 300,000 edges (one giant strong component, 390,000 label entries), 10,000 random pairs; charted is GRAPH's time with the index built in the request, 1.2 s, against networkx has_path per pair, 1.6 s; with the index kept on the projection GRAPH takes 0.33 s, with the same result_id and stats;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networkx 0.1 s, since random pairs there are almost never reachable and reach sets are small. The index pays when it is reused, or when reach sets are large. Transitive closure (git log 61cabb1; owner's machine): the datalog operation with two rules (reach from each edge of R, then reach extended by an edge of R) on 2,000 nodes and 2,600 edges, 583,630 facts in 60 rounds, GRAPH 1.6 s with every fact's derivation, 4.3 s with the least-model certificate (8.6 s to check it); networkx transitive_closure 0.46 s, faster, but a special-purpose routine, not a rule language, and it proves nothing. Against a naive fixpoint (the test oracle, every rule over every fact until a pass adds nothing): 34 s for the 14,528 facts of 300 nodes, where GRAPH's semi-naive evaluation takes 0.04 s. Isomorphism (git log 32507b6; the increment's benchmark run on the owner's machine): a random graph of 1,000 nodes and 3,000 edges against a relabeled copy, GRAPH 0.05 s, networkx is_isomorphic (VF2) 0.76 s, charted; not charted, since it would flatten every other bar: a random 3-regular graph on 500 nodes against a relabeled copy, GRAPH 3.4 s, networkx VF2 114 s (refinement cannot split a regular graph, so GRAPH's search individualizes, with orbit pruning). A graphene flake of 240 nodes, 0.016 s each; a 30 × 30 grid, GRAPH 0.32 s, networkx 0.22 s; highly symmetric small graphs (the hypercube Q6, the complete graph K12) take VF2 milliseconds and GRAPH 0.05 to 0.15 s. GRAPH's answer carries the node and edge bijections that prove it. Moved off the caption to make room for isomorphism: critical path's networkx routine (dag_longest_path_length) gives no order certificate; pair reachability with the index kept on the projection takes 0.33 s, and networkx wins where few pairs reach; the closure has 583,630 facts, each derived, and networkx transitive_closure is a special-purpose routine.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32507b6 (27 October, 13:10): 54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22:11 is negative costs, 97723bb, and the faster projection identity, 260d7b2 (hashed with each node ID, relation and type encoded once: 61 to 34 ms, the build 245 to 206 ms on 50,000 nodes and 150,000 edges, identity bytes unchanged on 400 random projections), with injective patterns at 22:38, b7e4f12, spanning forests at 22:55, 741c2dd, and cycle bases, the row's rings, at 23:11, a482dbf; 23:25 is weighted matching, 066dbab, with k shortest paths at 23:40, ffd474a, and minimum-cost flows at 23:59, 70ff8b4; on 27 October, 00:04 is a slide commit, 105393c, 10:28 is cyclic patterns counted without listing, b7bbe3a, followed by its slide commit at 10:35, 7778d84, 11:21 is reachability between pairs, 61dff27, followed by its slide commit at 11:32, 8c25714, 12:35 is positive Datalog, 61cabb1, followed by its slide commit at 12:47, f903709, and 13:10 is canonical forms and isomorphism, 32507b6). Conformance case counts are from the commit messages (34 at v0, then 49, 54, 62, 70, 74, 78, 91, 100, 112, 116, 121, 133, 143, 148, 153, 158, 165, 168, 173, 176, 180, 182, 183, 185, 188, 195, 199, 204) and cases.json now (209). Tests: 178 → 689.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Eleven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survey's certificate, a Lawler partition tree proving the ranking, is not built: each path is a checked witness and the ranking is tested against an oracle);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and the reachability index (61dff27, the reachability_pairs operation: pruned landmark 2-hop labels, Cohen, Halperin, Kaplan and Zwick 2003, Akiba, Iwata and Yoshida 2013, Yano et al. 2013, kept on the projection; as the survey advised, a positive expands hub pointers into ordinary hops, a simple path, and a negative is proven by a closed set, the source's closure; the survey's condensation of strong components before labelling is not done); and positive Datalog (61cabb1, the datalog operation: range-restricted and function-free over the records, evaluated semi-naively, Bancilhon 1986, to the least model, Abiteboul, Hull and Vianu 1995; as the survey advised, each fact's derivation has strictly increasing ranks and is checked in the proof's size, and the whole least model is a certificate checked closed under every rule; each fact keeps one derivation, the first found, so the survey's provenance semirings, Green, Karvounarakis and Tannen 2007, are not built); and canonical forms with isomorphism (32507b6, the canonical_form and isomorphism operations: color refinement, then individualization and refinement with automorphism orbit pruning, McKay and Piperno 2014; as the survey advised, a node and edge bijection proves an isomorphism; a non-isomorphism is proven by other counts or by color refinement histograms of the two graphs side by side when those separate them, otherwise by the exact search alone; the survey's independently checked individualization-refinement trace is not built, so a canonical form's minimality is not certified, and on another projection revalidation answers refuted or unknown). Survey notes for the remaining row: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slideLayout" Target="../slideLayouts/slideLayout3.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27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Twenty-seven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reachability_pairs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datalog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and recursive rules, schedules,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 · canonical_form · isomorphism</a:t>
            </a:r>
            <a:endParaRPr lang="en-US" sz="1200" dirty="0"/>
          </a:p>
        </p:txBody>
      </p:sp>
      <p:sp>
        <p:nvSpPr>
          <p:cNvPr id="21" name="Text 16"/>
          <p:cNvSpPr txBox="1"/>
          <p:nvPr/>
        </p:nvSpPr>
        <p:spPr>
          <a:xfrm>
            <a:off x="8328965"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injective substructures; one name for every copy.</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bound every node's cost to a target; labels show no walk leaving the listed prefixes reaches one before the last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many pairs, one kept index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index pays when it is reused or reach sets are large; every answer still carries its own proof.</a:t>
            </a:r>
            <a:endParaRPr lang="en-US" sz="1600" dirty="0"/>
          </a:p>
        </p:txBody>
      </p:sp>
      <p:sp>
        <p:nvSpPr>
          <p:cNvPr id="4" name="operation reachability_pairs"/>
          <p:cNvSpPr/>
          <p:nvPr/>
        </p:nvSpPr>
        <p:spPr>
          <a:xfrm>
            <a:off x="548640" y="1691640"/>
            <a:ext cx="6248095" cy="4526280"/>
          </a:xfrm>
          <a:prstGeom prst="roundRect">
            <a:avLst>
              <a:gd name="adj" fmla="val 2020"/>
            </a:avLst>
          </a:prstGeom>
          <a:solidFill>
            <a:schemeClr val="bg2"/>
          </a:solidFill>
          <a:ln/>
        </p:spPr>
      </p:sp>
      <p:sp>
        <p:nvSpPr>
          <p:cNvPr id="5" name="icon reachability_pairs"/>
          <p:cNvSpPr/>
          <p:nvPr/>
        </p:nvSpPr>
        <p:spPr>
          <a:xfrm>
            <a:off x="749808" y="1892808"/>
            <a:ext cx="512064" cy="512064"/>
          </a:xfrm>
          <a:prstGeom prst="ellipse">
            <a:avLst/>
          </a:prstGeom>
          <a:solidFill>
            <a:schemeClr val="accent1"/>
          </a:solidFill>
          <a:ln/>
        </p:spPr>
      </p:sp>
      <p:pic>
        <p:nvPicPr>
          <p:cNvPr id="6" name="Image 0" descr="reachability_pai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reachability_pairs</a:t>
            </a:r>
            <a:endParaRPr lang="en-US" sz="1500" dirty="0"/>
          </a:p>
          <a:p>
            <a:pPr indent="0" marL="0">
              <a:buNone/>
            </a:pPr>
            <a:r>
              <a:rPr lang="en-US" sz="1500" b="1" dirty="0">
                <a:solidFill>
                  <a:schemeClr val="tx1"/>
                </a:solidFill>
              </a:rPr>
              <a:t>Whether each source reaches its target</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2-hop index (Cohen, Halperin, Kaplan and Zwick, 2003), for checks asked again and again of one projection: each node keeps the hubs it reaches and the hubs that reach it; a source reaches a target exactly when the two labels share a hub.</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Pruned landmark labelling (Akiba, Iwata and Yoshida; Yano et al., 2013), hubs by (in-degree + 1)(out-degree + 1); a pair reads the smaller of its two labels. Kept on the projection, yet every request pays its full cost: a kept index changes only the time.</a:t>
            </a:r>
            <a:endParaRPr lang="en-US" sz="1500" dirty="0"/>
          </a:p>
        </p:txBody>
      </p:sp>
      <p:sp>
        <p:nvSpPr>
          <p:cNvPr id="9" name="proof reachability_pair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A simple path per reachable pair: label pointers through the first common hub, loops cut, every hop charged. On request, each unreachable pair's source carries its closure, checked from the records.</a:t>
            </a:r>
            <a:endParaRPr lang="en-US" sz="1500" dirty="0"/>
          </a:p>
        </p:txBody>
      </p:sp>
      <p:sp>
        <p:nvSpPr>
          <p:cNvPr id="13" name="2-hop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s reaches t: their labels share hub h</a:t>
            </a:r>
            <a:endParaRPr lang="en-US" sz="1100" dirty="0"/>
          </a:p>
        </p:txBody>
      </p:sp>
      <p:sp>
        <p:nvSpPr>
          <p:cNvPr id="15" name="Shape 11"/>
          <p:cNvSpPr/>
          <p:nvPr/>
        </p:nvSpPr>
        <p:spPr>
          <a:xfrm>
            <a:off x="7746603" y="3307361"/>
            <a:ext cx="529844" cy="258129"/>
          </a:xfrm>
          <a:prstGeom prst="line">
            <a:avLst/>
          </a:prstGeom>
          <a:noFill/>
          <a:ln w="19050">
            <a:solidFill>
              <a:schemeClr val="accent6"/>
            </a:solidFill>
            <a:prstDash val="solid"/>
            <a:tailEnd type="triangle"/>
          </a:ln>
        </p:spPr>
      </p:sp>
      <p:sp>
        <p:nvSpPr>
          <p:cNvPr id="16" name="Shape 12"/>
          <p:cNvSpPr/>
          <p:nvPr/>
        </p:nvSpPr>
        <p:spPr>
          <a:xfrm flipV="1">
            <a:off x="8638143" y="3315370"/>
            <a:ext cx="529844" cy="258129"/>
          </a:xfrm>
          <a:prstGeom prst="line">
            <a:avLst/>
          </a:prstGeom>
          <a:noFill/>
          <a:ln w="19050">
            <a:solidFill>
              <a:schemeClr val="accent6"/>
            </a:solidFill>
            <a:prstDash val="solid"/>
            <a:tailEnd type="triangle"/>
          </a:ln>
        </p:spPr>
      </p:sp>
      <p:sp>
        <p:nvSpPr>
          <p:cNvPr id="17" name="Shape 13"/>
          <p:cNvSpPr/>
          <p:nvPr/>
        </p:nvSpPr>
        <p:spPr>
          <a:xfrm>
            <a:off x="9529683" y="3307361"/>
            <a:ext cx="529844" cy="258129"/>
          </a:xfrm>
          <a:prstGeom prst="line">
            <a:avLst/>
          </a:prstGeom>
          <a:noFill/>
          <a:ln w="19050">
            <a:solidFill>
              <a:schemeClr val="accent6"/>
            </a:solidFill>
            <a:prstDash val="solid"/>
            <a:tailEnd type="triangle"/>
          </a:ln>
        </p:spPr>
      </p:sp>
      <p:sp>
        <p:nvSpPr>
          <p:cNvPr id="18" name="Shape 14"/>
          <p:cNvSpPr/>
          <p:nvPr/>
        </p:nvSpPr>
        <p:spPr>
          <a:xfrm flipV="1">
            <a:off x="7746603" y="2881030"/>
            <a:ext cx="529844" cy="258129"/>
          </a:xfrm>
          <a:prstGeom prst="line">
            <a:avLst/>
          </a:prstGeom>
          <a:noFill/>
          <a:ln w="31750">
            <a:solidFill>
              <a:schemeClr val="accent2"/>
            </a:solidFill>
            <a:prstDash val="solid"/>
            <a:tailEnd type="triangle"/>
          </a:ln>
        </p:spPr>
      </p:sp>
      <p:sp>
        <p:nvSpPr>
          <p:cNvPr id="19" name="Shape 15"/>
          <p:cNvSpPr/>
          <p:nvPr/>
        </p:nvSpPr>
        <p:spPr>
          <a:xfrm>
            <a:off x="8638143" y="2873021"/>
            <a:ext cx="529844" cy="258129"/>
          </a:xfrm>
          <a:prstGeom prst="line">
            <a:avLst/>
          </a:prstGeom>
          <a:noFill/>
          <a:ln w="31750">
            <a:solidFill>
              <a:schemeClr val="accent2"/>
            </a:solidFill>
            <a:prstDash val="solid"/>
            <a:tailEnd type="triangle"/>
          </a:ln>
        </p:spPr>
      </p:sp>
      <p:sp>
        <p:nvSpPr>
          <p:cNvPr id="20" name="Shape 16"/>
          <p:cNvSpPr/>
          <p:nvPr/>
        </p:nvSpPr>
        <p:spPr>
          <a:xfrm flipV="1">
            <a:off x="9529683" y="2881030"/>
            <a:ext cx="529844" cy="258129"/>
          </a:xfrm>
          <a:prstGeom prst="line">
            <a:avLst/>
          </a:prstGeom>
          <a:noFill/>
          <a:ln w="31750">
            <a:solidFill>
              <a:schemeClr val="accent2"/>
            </a:solidFill>
            <a:prstDash val="solid"/>
            <a:tailEnd type="triangle"/>
          </a:ln>
        </p:spPr>
      </p:sp>
      <p:sp>
        <p:nvSpPr>
          <p:cNvPr id="21" name="Shape 17"/>
          <p:cNvSpPr/>
          <p:nvPr/>
        </p:nvSpPr>
        <p:spPr>
          <a:xfrm>
            <a:off x="10421223" y="2873021"/>
            <a:ext cx="529844" cy="258129"/>
          </a:xfrm>
          <a:prstGeom prst="line">
            <a:avLst/>
          </a:prstGeom>
          <a:noFill/>
          <a:ln w="31750">
            <a:solidFill>
              <a:schemeClr val="accent2"/>
            </a:solidFill>
            <a:prstDash val="solid"/>
            <a:tailEnd type="triangle"/>
          </a:ln>
        </p:spPr>
      </p:sp>
      <p:sp>
        <p:nvSpPr>
          <p:cNvPr id="22" name="node s"/>
          <p:cNvSpPr/>
          <p:nvPr/>
        </p:nvSpPr>
        <p:spPr>
          <a:xfrm>
            <a:off x="738195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27349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c"/>
          <p:cNvSpPr/>
          <p:nvPr/>
        </p:nvSpPr>
        <p:spPr>
          <a:xfrm>
            <a:off x="827349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5" name="node h"/>
          <p:cNvSpPr/>
          <p:nvPr/>
        </p:nvSpPr>
        <p:spPr>
          <a:xfrm>
            <a:off x="9165031" y="303123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h</a:t>
            </a:r>
            <a:endParaRPr lang="en-US" sz="1400" dirty="0"/>
          </a:p>
        </p:txBody>
      </p:sp>
      <p:sp>
        <p:nvSpPr>
          <p:cNvPr id="26" name="node b"/>
          <p:cNvSpPr/>
          <p:nvPr/>
        </p:nvSpPr>
        <p:spPr>
          <a:xfrm>
            <a:off x="1005657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7" name="node d"/>
          <p:cNvSpPr/>
          <p:nvPr/>
        </p:nvSpPr>
        <p:spPr>
          <a:xfrm>
            <a:off x="1005657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8" name="node t"/>
          <p:cNvSpPr/>
          <p:nvPr/>
        </p:nvSpPr>
        <p:spPr>
          <a:xfrm>
            <a:off x="1094811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t</a:t>
            </a:r>
            <a:endParaRPr lang="en-US" sz="1400" dirty="0"/>
          </a:p>
        </p:txBody>
      </p:sp>
      <p:sp>
        <p:nvSpPr>
          <p:cNvPr id="29" name="Text 25"/>
          <p:cNvSpPr txBox="1"/>
          <p:nvPr/>
        </p:nvSpPr>
        <p:spPr>
          <a:xfrm>
            <a:off x="7345375" y="4005072"/>
            <a:ext cx="4023360" cy="5486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out(s) = {h, …}</a:t>
            </a:r>
            <a:pPr indent="0" marL="0">
              <a:buNone/>
            </a:pPr>
            <a:r>
              <a:rPr lang="en-US" sz="1400" dirty="0">
                <a:solidFill>
                  <a:schemeClr val="tx1"/>
                </a:solidFill>
              </a:rPr>
              <a:t>  the hubs s reaches</a:t>
            </a:r>
            <a:endParaRPr lang="en-US" sz="1400" dirty="0"/>
          </a:p>
          <a:p>
            <a:pPr indent="0" marL="0">
              <a:buNone/>
            </a:pPr>
            <a:r>
              <a:rPr lang="en-US" sz="1400" b="1" dirty="0">
                <a:solidFill>
                  <a:schemeClr val="accent1"/>
                </a:solidFill>
                <a:latin typeface="Courier New" pitchFamily="34" charset="0"/>
                <a:ea typeface="Courier New" pitchFamily="34" charset="-122"/>
                <a:cs typeface="Courier New" pitchFamily="34" charset="-120"/>
              </a:rPr>
              <a:t>in(t)  = {h, …}</a:t>
            </a:r>
            <a:pPr indent="0" marL="0">
              <a:buNone/>
            </a:pPr>
            <a:r>
              <a:rPr lang="en-US" sz="1400" dirty="0">
                <a:solidFill>
                  <a:schemeClr val="tx1"/>
                </a:solidFill>
              </a:rPr>
              <a:t>  the hubs that reach t</a:t>
            </a:r>
            <a:endParaRPr lang="en-US" sz="1400" dirty="0"/>
          </a:p>
        </p:txBody>
      </p:sp>
      <p:sp>
        <p:nvSpPr>
          <p:cNvPr id="30" name="time index built"/>
          <p:cNvSpPr/>
          <p:nvPr/>
        </p:nvSpPr>
        <p:spPr>
          <a:xfrm>
            <a:off x="7345375" y="4736592"/>
            <a:ext cx="1920240" cy="566928"/>
          </a:xfrm>
          <a:prstGeom prst="roundRect">
            <a:avLst>
              <a:gd name="adj" fmla="val 16129"/>
            </a:avLst>
          </a:prstGeom>
          <a:solidFill>
            <a:schemeClr val="bg2"/>
          </a:solidFill>
          <a:ln/>
        </p:spPr>
      </p:sp>
      <p:sp>
        <p:nvSpPr>
          <p:cNvPr id="31" name="Text 27"/>
          <p:cNvSpPr txBox="1"/>
          <p:nvPr/>
        </p:nvSpPr>
        <p:spPr>
          <a:xfrm>
            <a:off x="748253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1.2 s  </a:t>
            </a:r>
            <a:pPr indent="0" marL="0">
              <a:buNone/>
            </a:pPr>
            <a:r>
              <a:rPr lang="en-US" sz="1400" dirty="0">
                <a:solidFill>
                  <a:schemeClr val="tx1"/>
                </a:solidFill>
              </a:rPr>
              <a:t>index built</a:t>
            </a:r>
            <a:endParaRPr lang="en-US" sz="2200" dirty="0"/>
          </a:p>
        </p:txBody>
      </p:sp>
      <p:sp>
        <p:nvSpPr>
          <p:cNvPr id="32" name="time index kept"/>
          <p:cNvSpPr/>
          <p:nvPr/>
        </p:nvSpPr>
        <p:spPr>
          <a:xfrm>
            <a:off x="9448495" y="4736592"/>
            <a:ext cx="1920240" cy="566928"/>
          </a:xfrm>
          <a:prstGeom prst="roundRect">
            <a:avLst>
              <a:gd name="adj" fmla="val 16129"/>
            </a:avLst>
          </a:prstGeom>
          <a:solidFill>
            <a:schemeClr val="bg2"/>
          </a:solidFill>
          <a:ln/>
        </p:spPr>
      </p:sp>
      <p:sp>
        <p:nvSpPr>
          <p:cNvPr id="33" name="Text 29"/>
          <p:cNvSpPr txBox="1"/>
          <p:nvPr/>
        </p:nvSpPr>
        <p:spPr>
          <a:xfrm>
            <a:off x="958565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0.33 s  </a:t>
            </a:r>
            <a:pPr indent="0" marL="0">
              <a:buNone/>
            </a:pPr>
            <a:r>
              <a:rPr lang="en-US" sz="1400" dirty="0">
                <a:solidFill>
                  <a:schemeClr val="tx1"/>
                </a:solidFill>
              </a:rPr>
              <a:t>index kept</a:t>
            </a:r>
            <a:endParaRPr lang="en-US" sz="2200" dirty="0"/>
          </a:p>
        </p:txBody>
      </p:sp>
      <p:sp>
        <p:nvSpPr>
          <p:cNvPr id="34" name="Text 30"/>
          <p:cNvSpPr txBox="1"/>
          <p:nvPr/>
        </p:nvSpPr>
        <p:spPr>
          <a:xfrm>
            <a:off x="7345375" y="544068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same </a:t>
            </a:r>
            <a:pPr indent="0" marL="0">
              <a:buNone/>
            </a:pPr>
            <a:r>
              <a:rPr lang="en-US" sz="14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stats and status either way: each request is charged the index's full cost (10,000 pairs; 100k nodes, 300k edges).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Datalog over the records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Lineage, provenance closures, "supported through a dataset": any question that is a fixpoint of joins.</a:t>
            </a:r>
            <a:endParaRPr lang="en-US" sz="1600" dirty="0"/>
          </a:p>
        </p:txBody>
      </p:sp>
      <p:sp>
        <p:nvSpPr>
          <p:cNvPr id="4" name="operation datalog"/>
          <p:cNvSpPr/>
          <p:nvPr/>
        </p:nvSpPr>
        <p:spPr>
          <a:xfrm>
            <a:off x="548640" y="1691640"/>
            <a:ext cx="6248095" cy="4526280"/>
          </a:xfrm>
          <a:prstGeom prst="roundRect">
            <a:avLst>
              <a:gd name="adj" fmla="val 2020"/>
            </a:avLst>
          </a:prstGeom>
          <a:solidFill>
            <a:schemeClr val="bg2"/>
          </a:solidFill>
          <a:ln/>
        </p:spPr>
      </p:sp>
      <p:sp>
        <p:nvSpPr>
          <p:cNvPr id="5" name="icon datalog"/>
          <p:cNvSpPr/>
          <p:nvPr/>
        </p:nvSpPr>
        <p:spPr>
          <a:xfrm>
            <a:off x="749808" y="1892808"/>
            <a:ext cx="512064" cy="512064"/>
          </a:xfrm>
          <a:prstGeom prst="ellipse">
            <a:avLst/>
          </a:prstGeom>
          <a:solidFill>
            <a:schemeClr val="accent1"/>
          </a:solidFill>
          <a:ln/>
        </p:spPr>
      </p:sp>
      <p:pic>
        <p:nvPicPr>
          <p:cNvPr id="6" name="Image 0" descr="datalog">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datalog</a:t>
            </a:r>
            <a:endParaRPr lang="en-US" sz="1500" dirty="0"/>
          </a:p>
          <a:p>
            <a:pPr indent="0" marL="0">
              <a:buNone/>
            </a:pPr>
            <a:r>
              <a:rPr lang="en-US" sz="1500" b="1" dirty="0">
                <a:solidFill>
                  <a:schemeClr val="tx1"/>
                </a:solidFill>
              </a:rPr>
              <a:t>Recursive rules over the records, each fact proven</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positive, function-free, range-restricted program over the records: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node(N)</a:t>
            </a:r>
            <a:pPr indent="0" marL="0">
              <a:spcAft>
                <a:spcPts val="840"/>
              </a:spcAft>
              <a:buNone/>
            </a:pPr>
            <a:r>
              <a:rPr lang="en-US" sz="1400" dirty="0">
                <a:solidFill>
                  <a:schemeClr val="tx1"/>
                </a:solidFill>
              </a:rPr>
              <a: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type(N, T)</a:t>
            </a:r>
            <a:pPr indent="0" marL="0">
              <a:spcAft>
                <a:spcPts val="840"/>
              </a:spcAft>
              <a:buNone/>
            </a:pPr>
            <a:r>
              <a:rPr lang="en-US" sz="1400" dirty="0">
                <a:solidFill>
                  <a:schemeClr val="tx1"/>
                </a:solidFill>
              </a:rPr>
              <a:t> with the type hierarchy,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edge(E, S, T, R)</a:t>
            </a:r>
            <a:pPr indent="0" marL="0">
              <a:spcAft>
                <a:spcPts val="840"/>
              </a:spcAft>
              <a:buNone/>
            </a:pPr>
            <a:r>
              <a:rPr lang="en-US" sz="1400" dirty="0">
                <a:solidFill>
                  <a:schemeClr val="tx1"/>
                </a:solidFill>
              </a:rPr>
              <a:t> with every relation above R. Its meaning is the least model, the smallest set of facts closed under every rule (Abiteboul, Hull and Vianu, 1995).</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Semi-naive evaluation (Bancilhon, 1986), predicate components in dependency order: each round joins at least one fact the last round found. Joins run most-bound-first on indexes; facts and derivations do not depend on the hash seed.</a:t>
            </a:r>
            <a:endParaRPr lang="en-US" sz="1400" dirty="0"/>
          </a:p>
        </p:txBody>
      </p:sp>
      <p:sp>
        <p:nvSpPr>
          <p:cNvPr id="9" name="proof datalog"/>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Each fact keeps one derivation, its rule and premises, at a rank above theirs: a well-founded proof checked in its size. On request, the whole least model, which the verifier proves closed under every rule.</a:t>
            </a:r>
            <a:endParaRPr lang="en-US" sz="1400" dirty="0"/>
          </a:p>
        </p:txBody>
      </p:sp>
      <p:sp>
        <p:nvSpPr>
          <p:cNvPr id="13" name="datalog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Transitive closure in two rules</a:t>
            </a:r>
            <a:endParaRPr lang="en-US" sz="1100" dirty="0"/>
          </a:p>
        </p:txBody>
      </p:sp>
      <p:sp>
        <p:nvSpPr>
          <p:cNvPr id="15" name="datalog program"/>
          <p:cNvSpPr/>
          <p:nvPr/>
        </p:nvSpPr>
        <p:spPr>
          <a:xfrm>
            <a:off x="7345375" y="2560320"/>
            <a:ext cx="4023360" cy="841248"/>
          </a:xfrm>
          <a:prstGeom prst="roundRect">
            <a:avLst>
              <a:gd name="adj" fmla="val 10870"/>
            </a:avLst>
          </a:prstGeom>
          <a:solidFill>
            <a:schemeClr val="bg2"/>
          </a:solidFill>
          <a:ln/>
        </p:spPr>
      </p:sp>
      <p:sp>
        <p:nvSpPr>
          <p:cNvPr id="16" name="Text 12"/>
          <p:cNvSpPr txBox="1"/>
          <p:nvPr/>
        </p:nvSpPr>
        <p:spPr>
          <a:xfrm>
            <a:off x="7482535" y="2651760"/>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base</a:t>
            </a:r>
            <a:endParaRPr lang="en-US" sz="1300" dirty="0"/>
          </a:p>
        </p:txBody>
      </p:sp>
      <p:sp>
        <p:nvSpPr>
          <p:cNvPr id="17" name="Text 13"/>
          <p:cNvSpPr txBox="1"/>
          <p:nvPr/>
        </p:nvSpPr>
        <p:spPr>
          <a:xfrm>
            <a:off x="8031175" y="2651760"/>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reach(?x,?y) :- edge(?e,?x,?y,R)</a:t>
            </a:r>
            <a:endParaRPr lang="en-US" sz="1300" dirty="0"/>
          </a:p>
        </p:txBody>
      </p:sp>
      <p:sp>
        <p:nvSpPr>
          <p:cNvPr id="18" name="Text 14"/>
          <p:cNvSpPr txBox="1"/>
          <p:nvPr/>
        </p:nvSpPr>
        <p:spPr>
          <a:xfrm>
            <a:off x="7482535" y="2871216"/>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step</a:t>
            </a:r>
            <a:endParaRPr lang="en-US" sz="1300" dirty="0"/>
          </a:p>
        </p:txBody>
      </p:sp>
      <p:sp>
        <p:nvSpPr>
          <p:cNvPr id="19" name="Text 15"/>
          <p:cNvSpPr txBox="1"/>
          <p:nvPr/>
        </p:nvSpPr>
        <p:spPr>
          <a:xfrm>
            <a:off x="8031175" y="2871216"/>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reach(?x,?z) :- reach(?x,?y),</a:t>
            </a:r>
            <a:endParaRPr lang="en-US" sz="1300" dirty="0"/>
          </a:p>
        </p:txBody>
      </p:sp>
      <p:sp>
        <p:nvSpPr>
          <p:cNvPr id="20" name="Text 16"/>
          <p:cNvSpPr txBox="1"/>
          <p:nvPr/>
        </p:nvSpPr>
        <p:spPr>
          <a:xfrm>
            <a:off x="8031175" y="3090672"/>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                edge(?e,?y,?z,R)</a:t>
            </a:r>
            <a:endParaRPr lang="en-US" sz="1300" dirty="0"/>
          </a:p>
        </p:txBody>
      </p:sp>
      <p:sp>
        <p:nvSpPr>
          <p:cNvPr id="21" name="Text 17"/>
          <p:cNvSpPr txBox="1"/>
          <p:nvPr/>
        </p:nvSpPr>
        <p:spPr>
          <a:xfrm>
            <a:off x="7345375" y="3557016"/>
            <a:ext cx="4023360" cy="246888"/>
          </a:xfrm>
          <a:prstGeom prst="rect">
            <a:avLst/>
          </a:prstGeom>
          <a:noFill/>
          <a:ln/>
        </p:spPr>
        <p:txBody>
          <a:bodyPr wrap="square" lIns="0" tIns="0" rIns="0" bIns="0" rtlCol="0" anchor="ctr"/>
          <a:lstStyle/>
          <a:p>
            <a:pPr indent="0" marL="0">
              <a:buNone/>
            </a:pPr>
            <a:r>
              <a:rPr lang="en-US" sz="1100" b="1" spc="100" kern="0" dirty="0">
                <a:solidFill>
                  <a:schemeClr val="accent6"/>
                </a:solidFill>
              </a:rPr>
              <a:t>THE DERIVATION OF </a:t>
            </a:r>
            <a:pPr indent="0" marL="0">
              <a:buNone/>
            </a:pPr>
            <a:r>
              <a:rPr lang="en-US" sz="1200" b="1" dirty="0">
                <a:solidFill>
                  <a:schemeClr val="accent1"/>
                </a:solidFill>
                <a:latin typeface="Courier New" pitchFamily="34" charset="0"/>
                <a:ea typeface="Courier New" pitchFamily="34" charset="-122"/>
                <a:cs typeface="Courier New" pitchFamily="34" charset="-120"/>
              </a:rPr>
              <a:t>reach(a,d)</a:t>
            </a:r>
            <a:endParaRPr lang="en-US" sz="1100" dirty="0"/>
          </a:p>
        </p:txBody>
      </p:sp>
      <p:sp>
        <p:nvSpPr>
          <p:cNvPr id="22" name="Text 18"/>
          <p:cNvSpPr txBox="1"/>
          <p:nvPr/>
        </p:nvSpPr>
        <p:spPr>
          <a:xfrm>
            <a:off x="7345375" y="3877056"/>
            <a:ext cx="594360" cy="310896"/>
          </a:xfrm>
          <a:prstGeom prst="rect">
            <a:avLst/>
          </a:prstGeom>
          <a:noFill/>
          <a:ln/>
        </p:spPr>
        <p:txBody>
          <a:bodyPr wrap="square" lIns="0" tIns="0" rIns="0" bIns="0" rtlCol="0" anchor="ctr"/>
          <a:lstStyle/>
          <a:p>
            <a:pPr indent="0" marL="0">
              <a:buNone/>
            </a:pPr>
            <a:r>
              <a:rPr lang="en-US" sz="1400" b="1" dirty="0">
                <a:solidFill>
                  <a:schemeClr val="accent2"/>
                </a:solidFill>
              </a:rPr>
              <a:t>rank 3</a:t>
            </a:r>
            <a:endParaRPr lang="en-US" sz="1400" dirty="0"/>
          </a:p>
        </p:txBody>
      </p:sp>
      <p:sp>
        <p:nvSpPr>
          <p:cNvPr id="23" name="fact reach(a,d)"/>
          <p:cNvSpPr/>
          <p:nvPr/>
        </p:nvSpPr>
        <p:spPr>
          <a:xfrm>
            <a:off x="8031175" y="3877056"/>
            <a:ext cx="1188720" cy="310896"/>
          </a:xfrm>
          <a:prstGeom prst="roundRect">
            <a:avLst>
              <a:gd name="adj" fmla="val 23529"/>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reach(a,d)</a:t>
            </a:r>
            <a:endParaRPr lang="en-US" sz="1400" dirty="0"/>
          </a:p>
        </p:txBody>
      </p:sp>
      <p:sp>
        <p:nvSpPr>
          <p:cNvPr id="24" name="Text 20"/>
          <p:cNvSpPr txBox="1"/>
          <p:nvPr/>
        </p:nvSpPr>
        <p:spPr>
          <a:xfrm>
            <a:off x="9384487" y="3877056"/>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edge(e4,c,d,R)</a:t>
            </a:r>
            <a:endParaRPr lang="en-US" sz="1400" dirty="0"/>
          </a:p>
        </p:txBody>
      </p:sp>
      <p:sp>
        <p:nvSpPr>
          <p:cNvPr id="25" name="Text 21"/>
          <p:cNvSpPr txBox="1"/>
          <p:nvPr/>
        </p:nvSpPr>
        <p:spPr>
          <a:xfrm>
            <a:off x="7345375" y="4389120"/>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2</a:t>
            </a:r>
            <a:endParaRPr lang="en-US" sz="1400" dirty="0"/>
          </a:p>
        </p:txBody>
      </p:sp>
      <p:sp>
        <p:nvSpPr>
          <p:cNvPr id="26" name="fact reach(a,c)"/>
          <p:cNvSpPr/>
          <p:nvPr/>
        </p:nvSpPr>
        <p:spPr>
          <a:xfrm>
            <a:off x="8031175" y="4389120"/>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reach(a,c)</a:t>
            </a:r>
            <a:endParaRPr lang="en-US" sz="1400" dirty="0"/>
          </a:p>
        </p:txBody>
      </p:sp>
      <p:sp>
        <p:nvSpPr>
          <p:cNvPr id="27" name="Text 23"/>
          <p:cNvSpPr txBox="1"/>
          <p:nvPr/>
        </p:nvSpPr>
        <p:spPr>
          <a:xfrm>
            <a:off x="9384487" y="4389120"/>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edge(e2,b,c,R)</a:t>
            </a:r>
            <a:endParaRPr lang="en-US" sz="1400" dirty="0"/>
          </a:p>
        </p:txBody>
      </p:sp>
      <p:sp>
        <p:nvSpPr>
          <p:cNvPr id="28" name="Shape 24"/>
          <p:cNvSpPr/>
          <p:nvPr/>
        </p:nvSpPr>
        <p:spPr>
          <a:xfrm flipV="1">
            <a:off x="8625535" y="4215384"/>
            <a:ext cx="0" cy="155448"/>
          </a:xfrm>
          <a:prstGeom prst="line">
            <a:avLst/>
          </a:prstGeom>
          <a:noFill/>
          <a:ln w="19050">
            <a:solidFill>
              <a:schemeClr val="accent6"/>
            </a:solidFill>
            <a:prstDash val="solid"/>
            <a:tailEnd type="triangle"/>
          </a:ln>
        </p:spPr>
      </p:sp>
      <p:sp>
        <p:nvSpPr>
          <p:cNvPr id="29" name="Text 25"/>
          <p:cNvSpPr txBox="1"/>
          <p:nvPr/>
        </p:nvSpPr>
        <p:spPr>
          <a:xfrm>
            <a:off x="7345375" y="4901184"/>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1</a:t>
            </a:r>
            <a:endParaRPr lang="en-US" sz="1400" dirty="0"/>
          </a:p>
        </p:txBody>
      </p:sp>
      <p:sp>
        <p:nvSpPr>
          <p:cNvPr id="30" name="fact reach(a,b)"/>
          <p:cNvSpPr/>
          <p:nvPr/>
        </p:nvSpPr>
        <p:spPr>
          <a:xfrm>
            <a:off x="8031175" y="4901184"/>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reach(a,b)</a:t>
            </a:r>
            <a:endParaRPr lang="en-US" sz="1400" dirty="0"/>
          </a:p>
        </p:txBody>
      </p:sp>
      <p:sp>
        <p:nvSpPr>
          <p:cNvPr id="31" name="Text 27"/>
          <p:cNvSpPr txBox="1"/>
          <p:nvPr/>
        </p:nvSpPr>
        <p:spPr>
          <a:xfrm>
            <a:off x="9384487" y="4901184"/>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base  </a:t>
            </a:r>
            <a:pPr indent="0" marL="0">
              <a:buNone/>
            </a:pPr>
            <a:r>
              <a:rPr lang="en-US" sz="1300" dirty="0">
                <a:solidFill>
                  <a:schemeClr val="tx1"/>
                </a:solidFill>
                <a:latin typeface="Courier New" pitchFamily="34" charset="0"/>
                <a:ea typeface="Courier New" pitchFamily="34" charset="-122"/>
                <a:cs typeface="Courier New" pitchFamily="34" charset="-120"/>
              </a:rPr>
              <a:t>edge(e1,a,b,R)</a:t>
            </a:r>
            <a:endParaRPr lang="en-US" sz="1400" dirty="0"/>
          </a:p>
        </p:txBody>
      </p:sp>
      <p:sp>
        <p:nvSpPr>
          <p:cNvPr id="32" name="Shape 28"/>
          <p:cNvSpPr/>
          <p:nvPr/>
        </p:nvSpPr>
        <p:spPr>
          <a:xfrm flipV="1">
            <a:off x="8625535" y="4727448"/>
            <a:ext cx="0" cy="155448"/>
          </a:xfrm>
          <a:prstGeom prst="line">
            <a:avLst/>
          </a:prstGeom>
          <a:noFill/>
          <a:ln w="19050">
            <a:solidFill>
              <a:schemeClr val="accent6"/>
            </a:solidFill>
            <a:prstDash val="solid"/>
            <a:tailEnd type="triangle"/>
          </a:ln>
        </p:spPr>
      </p:sp>
      <p:sp>
        <p:nvSpPr>
          <p:cNvPr id="33" name="Text 29"/>
          <p:cNvSpPr txBox="1"/>
          <p:nvPr/>
        </p:nvSpPr>
        <p:spPr>
          <a:xfrm>
            <a:off x="7345375" y="5376672"/>
            <a:ext cx="4023360" cy="749808"/>
          </a:xfrm>
          <a:prstGeom prst="rect">
            <a:avLst/>
          </a:prstGeom>
          <a:noFill/>
          <a:ln/>
        </p:spPr>
        <p:txBody>
          <a:bodyPr wrap="square" lIns="0" tIns="0" rIns="0" bIns="0" rtlCol="0" anchor="t"/>
          <a:lstStyle/>
          <a:p>
            <a:pPr indent="0" marL="0">
              <a:buNone/>
            </a:pPr>
            <a:r>
              <a:rPr lang="en-US" sz="1400" dirty="0">
                <a:solidFill>
                  <a:schemeClr val="tx1"/>
                </a:solidFill>
              </a:rPr>
              <a:t>Each premise ranks lower: a well-founded proof. On the R edges a→b→c→a, c→d and x→d, the model has 13 facts; </a:t>
            </a:r>
            <a:pPr indent="0" marL="0">
              <a:buNone/>
            </a:pPr>
            <a:r>
              <a:rPr lang="en-US" sz="1300" dirty="0">
                <a:solidFill>
                  <a:schemeClr val="tx1"/>
                </a:solidFill>
                <a:latin typeface="Courier New" pitchFamily="34" charset="0"/>
                <a:ea typeface="Courier New" pitchFamily="34" charset="-122"/>
                <a:cs typeface="Courier New" pitchFamily="34" charset="-120"/>
              </a:rPr>
              <a:t>reach(a,?y)</a:t>
            </a:r>
            <a:pPr indent="0" marL="0">
              <a:buNone/>
            </a:pPr>
            <a:r>
              <a:rPr lang="en-US" sz="1400" dirty="0">
                <a:solidFill>
                  <a:schemeClr val="tx1"/>
                </a:solidFill>
              </a:rPr>
              <a:t> answers a, b, c and 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Isomorphism: one name for every copy</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Deduplicating molecules, motifs and provenance fragments: are two fragments one structure under other IDs?</a:t>
            </a:r>
            <a:endParaRPr lang="en-US" sz="1600" dirty="0"/>
          </a:p>
        </p:txBody>
      </p:sp>
      <p:sp>
        <p:nvSpPr>
          <p:cNvPr id="4" name="operation canonical_form"/>
          <p:cNvSpPr/>
          <p:nvPr/>
        </p:nvSpPr>
        <p:spPr>
          <a:xfrm>
            <a:off x="548640" y="1691640"/>
            <a:ext cx="3444088" cy="4526280"/>
          </a:xfrm>
          <a:prstGeom prst="roundRect">
            <a:avLst>
              <a:gd name="adj" fmla="val 2655"/>
            </a:avLst>
          </a:prstGeom>
          <a:solidFill>
            <a:schemeClr val="bg2"/>
          </a:solidFill>
          <a:ln/>
        </p:spPr>
      </p:sp>
      <p:sp>
        <p:nvSpPr>
          <p:cNvPr id="5" name="icon canonical_form"/>
          <p:cNvSpPr/>
          <p:nvPr/>
        </p:nvSpPr>
        <p:spPr>
          <a:xfrm>
            <a:off x="749808" y="1892808"/>
            <a:ext cx="512064" cy="512064"/>
          </a:xfrm>
          <a:prstGeom prst="ellipse">
            <a:avLst/>
          </a:prstGeom>
          <a:solidFill>
            <a:schemeClr val="accent1"/>
          </a:solidFill>
          <a:ln/>
        </p:spPr>
      </p:sp>
      <p:pic>
        <p:nvPicPr>
          <p:cNvPr id="6" name="Image 0" descr="canonical_form">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canonical_form</a:t>
            </a:r>
            <a:endParaRPr lang="en-US" sz="1500" dirty="0"/>
          </a:p>
          <a:p>
            <a:pPr indent="0" marL="0">
              <a:buNone/>
            </a:pPr>
            <a:r>
              <a:rPr lang="en-US" sz="1500" b="1" dirty="0">
                <a:solidFill>
                  <a:schemeClr val="tx1"/>
                </a:solidFill>
              </a:rPr>
              <a:t>One name for every copy</a:t>
            </a:r>
            <a:endParaRPr lang="en-US" sz="1500" dirty="0"/>
          </a:p>
        </p:txBody>
      </p:sp>
      <p:sp>
        <p:nvSpPr>
          <p:cNvPr id="8" name="Text 5"/>
          <p:cNvSpPr txBox="1"/>
          <p:nvPr/>
        </p:nvSpPr>
        <p:spPr>
          <a:xfrm>
            <a:off x="749808" y="2569464"/>
            <a:ext cx="304175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node set's induced subgraph, with its types and relations, in canonical order; its digest names every copy.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Color refinement (1-WL, never IDs), then individualization and refinement with orbit pruning (McKay and Piperno, 2014).</a:t>
            </a:r>
            <a:endParaRPr lang="en-US" sz="1400" dirty="0"/>
          </a:p>
        </p:txBody>
      </p:sp>
      <p:sp>
        <p:nvSpPr>
          <p:cNvPr id="9" name="proof canonical_form"/>
          <p:cNvSpPr/>
          <p:nvPr/>
        </p:nvSpPr>
        <p:spPr>
          <a:xfrm>
            <a:off x="694944" y="4853940"/>
            <a:ext cx="315148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237988"/>
            <a:ext cx="2932024" cy="705612"/>
          </a:xfrm>
          <a:prstGeom prst="rect">
            <a:avLst/>
          </a:prstGeom>
          <a:noFill/>
          <a:ln/>
        </p:spPr>
        <p:txBody>
          <a:bodyPr wrap="square" lIns="0" tIns="0" rIns="0" bIns="0" rtlCol="0" anchor="t"/>
          <a:lstStyle/>
          <a:p>
            <a:pPr indent="0" marL="0">
              <a:buNone/>
            </a:pPr>
            <a:r>
              <a:rPr lang="en-US" sz="1400" dirty="0">
                <a:solidFill>
                  <a:schemeClr val="tx1"/>
                </a:solidFill>
              </a:rPr>
              <a:t>The encoding is the graph relabeled, so equal ids prove isomorphism. That it is the least is not certified.</a:t>
            </a:r>
            <a:endParaRPr lang="en-US" sz="1400" dirty="0"/>
          </a:p>
        </p:txBody>
      </p:sp>
      <p:sp>
        <p:nvSpPr>
          <p:cNvPr id="13" name="operation isomorphism"/>
          <p:cNvSpPr/>
          <p:nvPr/>
        </p:nvSpPr>
        <p:spPr>
          <a:xfrm>
            <a:off x="4267048" y="1691640"/>
            <a:ext cx="3444088" cy="4526280"/>
          </a:xfrm>
          <a:prstGeom prst="roundRect">
            <a:avLst>
              <a:gd name="adj" fmla="val 2655"/>
            </a:avLst>
          </a:prstGeom>
          <a:solidFill>
            <a:schemeClr val="bg2"/>
          </a:solidFill>
          <a:ln/>
        </p:spPr>
      </p:sp>
      <p:sp>
        <p:nvSpPr>
          <p:cNvPr id="14" name="icon isomorphism"/>
          <p:cNvSpPr/>
          <p:nvPr/>
        </p:nvSpPr>
        <p:spPr>
          <a:xfrm>
            <a:off x="4468216" y="1892808"/>
            <a:ext cx="512064" cy="512064"/>
          </a:xfrm>
          <a:prstGeom prst="ellipse">
            <a:avLst/>
          </a:prstGeom>
          <a:solidFill>
            <a:schemeClr val="accent1"/>
          </a:solidFill>
          <a:ln/>
        </p:spPr>
      </p:sp>
      <p:pic>
        <p:nvPicPr>
          <p:cNvPr id="15" name="Image 2" descr="isomorphism">    </p:cNvPr>
          <p:cNvPicPr>
            <a:picLocks noChangeAspect="1"/>
          </p:cNvPicPr>
          <p:nvPr/>
        </p:nvPicPr>
        <p:blipFill>
          <a:blip r:embed="rId3"/>
          <a:stretch>
            <a:fillRect/>
          </a:stretch>
        </p:blipFill>
        <p:spPr>
          <a:xfrm>
            <a:off x="4580870" y="2005462"/>
            <a:ext cx="286756" cy="286756"/>
          </a:xfrm>
          <a:prstGeom prst="rect">
            <a:avLst/>
          </a:prstGeom>
        </p:spPr>
      </p:pic>
      <p:sp>
        <p:nvSpPr>
          <p:cNvPr id="16" name="Text 11"/>
          <p:cNvSpPr txBox="1"/>
          <p:nvPr/>
        </p:nvSpPr>
        <p:spPr>
          <a:xfrm>
            <a:off x="5126584"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isomorphism</a:t>
            </a:r>
            <a:endParaRPr lang="en-US" sz="1500" dirty="0"/>
          </a:p>
          <a:p>
            <a:pPr indent="0" marL="0">
              <a:buNone/>
            </a:pPr>
            <a:r>
              <a:rPr lang="en-US" sz="1500" b="1" dirty="0">
                <a:solidFill>
                  <a:schemeClr val="tx1"/>
                </a:solidFill>
              </a:rPr>
              <a:t>The same structure, or not</a:t>
            </a:r>
            <a:endParaRPr lang="en-US" sz="1500" dirty="0"/>
          </a:p>
        </p:txBody>
      </p:sp>
      <p:sp>
        <p:nvSpPr>
          <p:cNvPr id="17" name="Text 12"/>
          <p:cNvSpPr txBox="1"/>
          <p:nvPr/>
        </p:nvSpPr>
        <p:spPr>
          <a:xfrm>
            <a:off x="4468216" y="2569464"/>
            <a:ext cx="304175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Whether two node sets' graphs are equal up to renaming, colors and relations kept; the sets may overlap.</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Cheap negatives first: other counts, or color refinement of both graphs side by side. Else both canonical forms.</a:t>
            </a:r>
            <a:endParaRPr lang="en-US" sz="1400" dirty="0"/>
          </a:p>
        </p:txBody>
      </p:sp>
      <p:sp>
        <p:nvSpPr>
          <p:cNvPr id="18" name="proof isomorphism"/>
          <p:cNvSpPr/>
          <p:nvPr/>
        </p:nvSpPr>
        <p:spPr>
          <a:xfrm>
            <a:off x="4413352" y="4637024"/>
            <a:ext cx="315148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23080" y="4728464"/>
            <a:ext cx="246888" cy="246888"/>
          </a:xfrm>
          <a:prstGeom prst="rect">
            <a:avLst/>
          </a:prstGeom>
        </p:spPr>
      </p:pic>
      <p:sp>
        <p:nvSpPr>
          <p:cNvPr id="20" name="Text 14"/>
          <p:cNvSpPr txBox="1"/>
          <p:nvPr/>
        </p:nvSpPr>
        <p:spPr>
          <a:xfrm>
            <a:off x="4852264" y="4728464"/>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21" name="Text 15"/>
          <p:cNvSpPr txBox="1"/>
          <p:nvPr/>
        </p:nvSpPr>
        <p:spPr>
          <a:xfrm>
            <a:off x="4523080" y="5021072"/>
            <a:ext cx="2932024" cy="922528"/>
          </a:xfrm>
          <a:prstGeom prst="rect">
            <a:avLst/>
          </a:prstGeom>
          <a:noFill/>
          <a:ln/>
        </p:spPr>
        <p:txBody>
          <a:bodyPr wrap="square" lIns="0" tIns="0" rIns="0" bIns="0" rtlCol="0" anchor="t"/>
          <a:lstStyle/>
          <a:p>
            <a:pPr indent="0" marL="0">
              <a:buNone/>
            </a:pPr>
            <a:r>
              <a:rPr lang="en-US" sz="1400" dirty="0">
                <a:solidFill>
                  <a:schemeClr val="tx1"/>
                </a:solidFill>
              </a:rPr>
              <a:t>A match: node and edge bijections. A mismatch: counts or refinement histograms if they differ; else the search, uncertified.</a:t>
            </a:r>
            <a:endParaRPr lang="en-US" sz="1400" dirty="0"/>
          </a:p>
        </p:txBody>
      </p:sp>
      <p:sp>
        <p:nvSpPr>
          <p:cNvPr id="22" name="canonical example"/>
          <p:cNvSpPr/>
          <p:nvPr/>
        </p:nvSpPr>
        <p:spPr>
          <a:xfrm>
            <a:off x="7985455" y="1691640"/>
            <a:ext cx="3657600" cy="4526280"/>
          </a:xfrm>
          <a:prstGeom prst="roundRect">
            <a:avLst>
              <a:gd name="adj" fmla="val 2500"/>
            </a:avLst>
          </a:prstGeom>
          <a:solidFill>
            <a:schemeClr val="bg1"/>
          </a:solidFill>
          <a:ln w="19050">
            <a:solidFill>
              <a:schemeClr val="bg2"/>
            </a:solidFill>
            <a:prstDash val="solid"/>
          </a:ln>
        </p:spPr>
      </p:sp>
      <p:sp>
        <p:nvSpPr>
          <p:cNvPr id="23" name="Text 17"/>
          <p:cNvSpPr txBox="1"/>
          <p:nvPr/>
        </p:nvSpPr>
        <p:spPr>
          <a:xfrm>
            <a:off x="8259775" y="1920240"/>
            <a:ext cx="31089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One ring, two sets of IDs</a:t>
            </a:r>
            <a:endParaRPr lang="en-US" sz="1100" dirty="0"/>
          </a:p>
        </p:txBody>
      </p:sp>
      <p:sp>
        <p:nvSpPr>
          <p:cNvPr id="24" name="Shape 18"/>
          <p:cNvSpPr/>
          <p:nvPr/>
        </p:nvSpPr>
        <p:spPr>
          <a:xfrm>
            <a:off x="9171637" y="3122676"/>
            <a:ext cx="142541" cy="82296"/>
          </a:xfrm>
          <a:prstGeom prst="line">
            <a:avLst/>
          </a:prstGeom>
          <a:noFill/>
          <a:ln w="19050">
            <a:solidFill>
              <a:schemeClr val="accent6"/>
            </a:solidFill>
            <a:prstDash val="solid"/>
          </a:ln>
        </p:spPr>
      </p:sp>
      <p:sp>
        <p:nvSpPr>
          <p:cNvPr id="25" name="Shape 19"/>
          <p:cNvSpPr/>
          <p:nvPr/>
        </p:nvSpPr>
        <p:spPr>
          <a:xfrm>
            <a:off x="9448800" y="3438144"/>
            <a:ext cx="0" cy="164592"/>
          </a:xfrm>
          <a:prstGeom prst="line">
            <a:avLst/>
          </a:prstGeom>
          <a:noFill/>
          <a:ln w="19050">
            <a:solidFill>
              <a:schemeClr val="accent6"/>
            </a:solidFill>
            <a:prstDash val="solid"/>
          </a:ln>
        </p:spPr>
      </p:sp>
      <p:sp>
        <p:nvSpPr>
          <p:cNvPr id="26" name="Shape 20"/>
          <p:cNvSpPr/>
          <p:nvPr/>
        </p:nvSpPr>
        <p:spPr>
          <a:xfrm flipH="1">
            <a:off x="9171637" y="3835908"/>
            <a:ext cx="142541" cy="82296"/>
          </a:xfrm>
          <a:prstGeom prst="line">
            <a:avLst/>
          </a:prstGeom>
          <a:noFill/>
          <a:ln w="19050">
            <a:solidFill>
              <a:schemeClr val="accent6"/>
            </a:solidFill>
            <a:prstDash val="solid"/>
          </a:ln>
        </p:spPr>
      </p:sp>
      <p:sp>
        <p:nvSpPr>
          <p:cNvPr id="27" name="Shape 21"/>
          <p:cNvSpPr/>
          <p:nvPr/>
        </p:nvSpPr>
        <p:spPr>
          <a:xfrm flipH="1" flipV="1">
            <a:off x="8759852" y="3835908"/>
            <a:ext cx="142541" cy="82296"/>
          </a:xfrm>
          <a:prstGeom prst="line">
            <a:avLst/>
          </a:prstGeom>
          <a:noFill/>
          <a:ln w="19050">
            <a:solidFill>
              <a:schemeClr val="accent6"/>
            </a:solidFill>
            <a:prstDash val="solid"/>
          </a:ln>
        </p:spPr>
      </p:sp>
      <p:sp>
        <p:nvSpPr>
          <p:cNvPr id="28" name="Shape 22"/>
          <p:cNvSpPr/>
          <p:nvPr/>
        </p:nvSpPr>
        <p:spPr>
          <a:xfrm flipV="1">
            <a:off x="8625231" y="3438144"/>
            <a:ext cx="0" cy="164592"/>
          </a:xfrm>
          <a:prstGeom prst="line">
            <a:avLst/>
          </a:prstGeom>
          <a:noFill/>
          <a:ln w="19050">
            <a:solidFill>
              <a:schemeClr val="accent6"/>
            </a:solidFill>
            <a:prstDash val="solid"/>
          </a:ln>
        </p:spPr>
      </p:sp>
      <p:sp>
        <p:nvSpPr>
          <p:cNvPr id="29" name="Shape 23"/>
          <p:cNvSpPr/>
          <p:nvPr/>
        </p:nvSpPr>
        <p:spPr>
          <a:xfrm flipV="1">
            <a:off x="8759852" y="3122676"/>
            <a:ext cx="142541" cy="82296"/>
          </a:xfrm>
          <a:prstGeom prst="line">
            <a:avLst/>
          </a:prstGeom>
          <a:noFill/>
          <a:ln w="19050">
            <a:solidFill>
              <a:schemeClr val="accent6"/>
            </a:solidFill>
            <a:prstDash val="solid"/>
          </a:ln>
        </p:spPr>
      </p:sp>
      <p:sp>
        <p:nvSpPr>
          <p:cNvPr id="30" name="node a"/>
          <p:cNvSpPr/>
          <p:nvPr/>
        </p:nvSpPr>
        <p:spPr>
          <a:xfrm>
            <a:off x="888156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31" name="Text 25"/>
          <p:cNvSpPr txBox="1"/>
          <p:nvPr/>
        </p:nvSpPr>
        <p:spPr>
          <a:xfrm>
            <a:off x="892728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32" name="node b"/>
          <p:cNvSpPr/>
          <p:nvPr/>
        </p:nvSpPr>
        <p:spPr>
          <a:xfrm>
            <a:off x="929335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33" name="Text 27"/>
          <p:cNvSpPr txBox="1"/>
          <p:nvPr/>
        </p:nvSpPr>
        <p:spPr>
          <a:xfrm>
            <a:off x="954496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34" name="node c"/>
          <p:cNvSpPr/>
          <p:nvPr/>
        </p:nvSpPr>
        <p:spPr>
          <a:xfrm>
            <a:off x="929335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t>
            </a:r>
            <a:endParaRPr lang="en-US" sz="1300" dirty="0"/>
          </a:p>
        </p:txBody>
      </p:sp>
      <p:sp>
        <p:nvSpPr>
          <p:cNvPr id="35" name="Text 29"/>
          <p:cNvSpPr txBox="1"/>
          <p:nvPr/>
        </p:nvSpPr>
        <p:spPr>
          <a:xfrm>
            <a:off x="954496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36" name="node d"/>
          <p:cNvSpPr/>
          <p:nvPr/>
        </p:nvSpPr>
        <p:spPr>
          <a:xfrm>
            <a:off x="888156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a:t>
            </a:r>
            <a:endParaRPr lang="en-US" sz="1300" dirty="0"/>
          </a:p>
        </p:txBody>
      </p:sp>
      <p:sp>
        <p:nvSpPr>
          <p:cNvPr id="37" name="Text 31"/>
          <p:cNvSpPr txBox="1"/>
          <p:nvPr/>
        </p:nvSpPr>
        <p:spPr>
          <a:xfrm>
            <a:off x="892728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38" name="node e"/>
          <p:cNvSpPr/>
          <p:nvPr/>
        </p:nvSpPr>
        <p:spPr>
          <a:xfrm>
            <a:off x="846978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a:t>
            </a:r>
            <a:endParaRPr lang="en-US" sz="1300" dirty="0"/>
          </a:p>
        </p:txBody>
      </p:sp>
      <p:sp>
        <p:nvSpPr>
          <p:cNvPr id="39" name="Text 33"/>
          <p:cNvSpPr txBox="1"/>
          <p:nvPr/>
        </p:nvSpPr>
        <p:spPr>
          <a:xfrm>
            <a:off x="830961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40" name="node f"/>
          <p:cNvSpPr/>
          <p:nvPr/>
        </p:nvSpPr>
        <p:spPr>
          <a:xfrm>
            <a:off x="846978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f</a:t>
            </a:r>
            <a:endParaRPr lang="en-US" sz="1300" dirty="0"/>
          </a:p>
        </p:txBody>
      </p:sp>
      <p:sp>
        <p:nvSpPr>
          <p:cNvPr id="41" name="Text 35"/>
          <p:cNvSpPr txBox="1"/>
          <p:nvPr/>
        </p:nvSpPr>
        <p:spPr>
          <a:xfrm>
            <a:off x="830961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42" name="Shape 36"/>
          <p:cNvSpPr/>
          <p:nvPr/>
        </p:nvSpPr>
        <p:spPr>
          <a:xfrm>
            <a:off x="10726117" y="3122676"/>
            <a:ext cx="142541" cy="82296"/>
          </a:xfrm>
          <a:prstGeom prst="line">
            <a:avLst/>
          </a:prstGeom>
          <a:noFill/>
          <a:ln w="19050">
            <a:solidFill>
              <a:schemeClr val="accent6"/>
            </a:solidFill>
            <a:prstDash val="solid"/>
          </a:ln>
        </p:spPr>
      </p:sp>
      <p:sp>
        <p:nvSpPr>
          <p:cNvPr id="43" name="Shape 37"/>
          <p:cNvSpPr/>
          <p:nvPr/>
        </p:nvSpPr>
        <p:spPr>
          <a:xfrm>
            <a:off x="11003280" y="3438144"/>
            <a:ext cx="0" cy="164592"/>
          </a:xfrm>
          <a:prstGeom prst="line">
            <a:avLst/>
          </a:prstGeom>
          <a:noFill/>
          <a:ln w="19050">
            <a:solidFill>
              <a:schemeClr val="accent6"/>
            </a:solidFill>
            <a:prstDash val="solid"/>
          </a:ln>
        </p:spPr>
      </p:sp>
      <p:sp>
        <p:nvSpPr>
          <p:cNvPr id="44" name="Shape 38"/>
          <p:cNvSpPr/>
          <p:nvPr/>
        </p:nvSpPr>
        <p:spPr>
          <a:xfrm flipH="1">
            <a:off x="10726117" y="3835908"/>
            <a:ext cx="142541" cy="82296"/>
          </a:xfrm>
          <a:prstGeom prst="line">
            <a:avLst/>
          </a:prstGeom>
          <a:noFill/>
          <a:ln w="19050">
            <a:solidFill>
              <a:schemeClr val="accent6"/>
            </a:solidFill>
            <a:prstDash val="solid"/>
          </a:ln>
        </p:spPr>
      </p:sp>
      <p:sp>
        <p:nvSpPr>
          <p:cNvPr id="45" name="Shape 39"/>
          <p:cNvSpPr/>
          <p:nvPr/>
        </p:nvSpPr>
        <p:spPr>
          <a:xfrm flipH="1" flipV="1">
            <a:off x="10314332" y="3835908"/>
            <a:ext cx="142541" cy="82296"/>
          </a:xfrm>
          <a:prstGeom prst="line">
            <a:avLst/>
          </a:prstGeom>
          <a:noFill/>
          <a:ln w="19050">
            <a:solidFill>
              <a:schemeClr val="accent6"/>
            </a:solidFill>
            <a:prstDash val="solid"/>
          </a:ln>
        </p:spPr>
      </p:sp>
      <p:sp>
        <p:nvSpPr>
          <p:cNvPr id="46" name="Shape 40"/>
          <p:cNvSpPr/>
          <p:nvPr/>
        </p:nvSpPr>
        <p:spPr>
          <a:xfrm flipV="1">
            <a:off x="10179711" y="3438144"/>
            <a:ext cx="0" cy="164592"/>
          </a:xfrm>
          <a:prstGeom prst="line">
            <a:avLst/>
          </a:prstGeom>
          <a:noFill/>
          <a:ln w="19050">
            <a:solidFill>
              <a:schemeClr val="accent6"/>
            </a:solidFill>
            <a:prstDash val="solid"/>
          </a:ln>
        </p:spPr>
      </p:sp>
      <p:sp>
        <p:nvSpPr>
          <p:cNvPr id="47" name="Shape 41"/>
          <p:cNvSpPr/>
          <p:nvPr/>
        </p:nvSpPr>
        <p:spPr>
          <a:xfrm flipV="1">
            <a:off x="10314332" y="3122676"/>
            <a:ext cx="142541" cy="82296"/>
          </a:xfrm>
          <a:prstGeom prst="line">
            <a:avLst/>
          </a:prstGeom>
          <a:noFill/>
          <a:ln w="19050">
            <a:solidFill>
              <a:schemeClr val="accent6"/>
            </a:solidFill>
            <a:prstDash val="solid"/>
          </a:ln>
        </p:spPr>
      </p:sp>
      <p:sp>
        <p:nvSpPr>
          <p:cNvPr id="48" name="node u"/>
          <p:cNvSpPr/>
          <p:nvPr/>
        </p:nvSpPr>
        <p:spPr>
          <a:xfrm>
            <a:off x="1043604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a:t>
            </a:r>
            <a:endParaRPr lang="en-US" sz="1300" dirty="0"/>
          </a:p>
        </p:txBody>
      </p:sp>
      <p:sp>
        <p:nvSpPr>
          <p:cNvPr id="49" name="Text 43"/>
          <p:cNvSpPr txBox="1"/>
          <p:nvPr/>
        </p:nvSpPr>
        <p:spPr>
          <a:xfrm>
            <a:off x="1048176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50" name="node x"/>
          <p:cNvSpPr/>
          <p:nvPr/>
        </p:nvSpPr>
        <p:spPr>
          <a:xfrm>
            <a:off x="1084783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x</a:t>
            </a:r>
            <a:endParaRPr lang="en-US" sz="1300" dirty="0"/>
          </a:p>
        </p:txBody>
      </p:sp>
      <p:sp>
        <p:nvSpPr>
          <p:cNvPr id="51" name="Text 45"/>
          <p:cNvSpPr txBox="1"/>
          <p:nvPr/>
        </p:nvSpPr>
        <p:spPr>
          <a:xfrm>
            <a:off x="1109944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52" name="node v"/>
          <p:cNvSpPr/>
          <p:nvPr/>
        </p:nvSpPr>
        <p:spPr>
          <a:xfrm>
            <a:off x="1084783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v</a:t>
            </a:r>
            <a:endParaRPr lang="en-US" sz="1300" dirty="0"/>
          </a:p>
        </p:txBody>
      </p:sp>
      <p:sp>
        <p:nvSpPr>
          <p:cNvPr id="53" name="Text 47"/>
          <p:cNvSpPr txBox="1"/>
          <p:nvPr/>
        </p:nvSpPr>
        <p:spPr>
          <a:xfrm>
            <a:off x="1109944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54" name="node z"/>
          <p:cNvSpPr/>
          <p:nvPr/>
        </p:nvSpPr>
        <p:spPr>
          <a:xfrm>
            <a:off x="1043604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z</a:t>
            </a:r>
            <a:endParaRPr lang="en-US" sz="1300" dirty="0"/>
          </a:p>
        </p:txBody>
      </p:sp>
      <p:sp>
        <p:nvSpPr>
          <p:cNvPr id="55" name="Text 49"/>
          <p:cNvSpPr txBox="1"/>
          <p:nvPr/>
        </p:nvSpPr>
        <p:spPr>
          <a:xfrm>
            <a:off x="1048176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56" name="node w"/>
          <p:cNvSpPr/>
          <p:nvPr/>
        </p:nvSpPr>
        <p:spPr>
          <a:xfrm>
            <a:off x="1002426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a:t>
            </a:r>
            <a:endParaRPr lang="en-US" sz="1300" dirty="0"/>
          </a:p>
        </p:txBody>
      </p:sp>
      <p:sp>
        <p:nvSpPr>
          <p:cNvPr id="57" name="Text 51"/>
          <p:cNvSpPr txBox="1"/>
          <p:nvPr/>
        </p:nvSpPr>
        <p:spPr>
          <a:xfrm>
            <a:off x="986409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58" name="node y"/>
          <p:cNvSpPr/>
          <p:nvPr/>
        </p:nvSpPr>
        <p:spPr>
          <a:xfrm>
            <a:off x="1002426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y</a:t>
            </a:r>
            <a:endParaRPr lang="en-US" sz="1300" dirty="0"/>
          </a:p>
        </p:txBody>
      </p:sp>
      <p:sp>
        <p:nvSpPr>
          <p:cNvPr id="59" name="Text 53"/>
          <p:cNvSpPr txBox="1"/>
          <p:nvPr/>
        </p:nvSpPr>
        <p:spPr>
          <a:xfrm>
            <a:off x="986409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60" name="Shape 54"/>
          <p:cNvSpPr/>
          <p:nvPr/>
        </p:nvSpPr>
        <p:spPr>
          <a:xfrm>
            <a:off x="9037015" y="4379976"/>
            <a:ext cx="93269" cy="283464"/>
          </a:xfrm>
          <a:prstGeom prst="line">
            <a:avLst/>
          </a:prstGeom>
          <a:noFill/>
          <a:ln w="19050">
            <a:solidFill>
              <a:schemeClr val="accent6"/>
            </a:solidFill>
            <a:prstDash val="solid"/>
            <a:tailEnd type="triangle"/>
          </a:ln>
        </p:spPr>
      </p:sp>
      <p:sp>
        <p:nvSpPr>
          <p:cNvPr id="61" name="Shape 55"/>
          <p:cNvSpPr/>
          <p:nvPr/>
        </p:nvSpPr>
        <p:spPr>
          <a:xfrm flipH="1">
            <a:off x="10498226" y="4379976"/>
            <a:ext cx="93269" cy="283464"/>
          </a:xfrm>
          <a:prstGeom prst="line">
            <a:avLst/>
          </a:prstGeom>
          <a:noFill/>
          <a:ln w="19050">
            <a:solidFill>
              <a:schemeClr val="accent6"/>
            </a:solidFill>
            <a:prstDash val="solid"/>
            <a:tailEnd type="triangle"/>
          </a:ln>
        </p:spPr>
      </p:sp>
      <p:sp>
        <p:nvSpPr>
          <p:cNvPr id="62" name="canonical_id"/>
          <p:cNvSpPr/>
          <p:nvPr/>
        </p:nvSpPr>
        <p:spPr>
          <a:xfrm>
            <a:off x="8259775" y="4690872"/>
            <a:ext cx="3108960" cy="365760"/>
          </a:xfrm>
          <a:prstGeom prst="roundRect">
            <a:avLst>
              <a:gd name="adj" fmla="val 20000"/>
            </a:avLst>
          </a:prstGeom>
          <a:solidFill>
            <a:schemeClr val="accent2"/>
          </a:solidFill>
          <a:ln/>
        </p:spPr>
        <p:txBody>
          <a:bodyPr wrap="square" lIns="0" tIns="0" rIns="0" bIns="0"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canonical_id  </a:t>
            </a:r>
            <a:pPr algn="ctr" indent="0" marL="0">
              <a:buNone/>
            </a:pPr>
            <a:r>
              <a:rPr lang="en-US" sz="1300" b="1" dirty="0">
                <a:solidFill>
                  <a:schemeClr val="bg1"/>
                </a:solidFill>
                <a:latin typeface="Courier New" pitchFamily="34" charset="0"/>
                <a:ea typeface="Courier New" pitchFamily="34" charset="-122"/>
                <a:cs typeface="Courier New" pitchFamily="34" charset="-120"/>
              </a:rPr>
              <a:t>sha256:2bd33e…</a:t>
            </a:r>
            <a:endParaRPr lang="en-US" sz="1300" dirty="0"/>
          </a:p>
        </p:txBody>
      </p:sp>
      <p:sp>
        <p:nvSpPr>
          <p:cNvPr id="63" name="Text 57"/>
          <p:cNvSpPr txBox="1"/>
          <p:nvPr/>
        </p:nvSpPr>
        <p:spPr>
          <a:xfrm>
            <a:off x="8259775" y="5239512"/>
            <a:ext cx="3108960" cy="886968"/>
          </a:xfrm>
          <a:prstGeom prst="rect">
            <a:avLst/>
          </a:prstGeom>
          <a:noFill/>
          <a:ln/>
        </p:spPr>
        <p:txBody>
          <a:bodyPr wrap="square" lIns="0" tIns="0" rIns="0" bIns="0" rtlCol="0" anchor="t"/>
          <a:lstStyle/>
          <a:p>
            <a:pPr indent="0" marL="0">
              <a:buNone/>
            </a:pPr>
            <a:r>
              <a:rPr lang="en-US" sz="1400" dirty="0">
                <a:solidFill>
                  <a:schemeClr val="tx1"/>
                </a:solidFill>
              </a:rPr>
              <a:t>Amber: the canonical order. Renumbered by it, both rings have edges 0–1, 0–2, 1–3, 2–4, 3–5 and 4–5: one encoding, one id.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689</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209</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(max flow); an unchecked relation (min-cost flow); quadratic checks (dominators, support) and memory (k shortest paths); cubic planning and uncharged work (cyclic counts); a positive held on a closure, walks charged late (reachability pairs); joins listing every substitution (Datalog); floats that let a false rank or potentials verify (incidence, weighted matching); a whole certificate read for any edit (negative costs); the recursion limit (injective patterns); frozen answers left unchecked (forests); a repeated witness link (cycle bases); a relabeling taken as canonical (isomorphism).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matching 50k + 50k; dominators, forest, pairs 300k edges; critical path 400k (networkx: no certificate). Negative costs 20k nodes; weighted 300 + 300; 1,300 atoms; 20 paths in 20k nodes (networkx searches both ways); 10,000 pairs, index built. Closure: 2,000 nodes (networkx: no proof). Isomorphism: 1,000 nodes; 3-regular, 500 nodes: 3.4 s, networkx 114 s; VF2 wins on small symmetric graphs.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8"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Fifty-four commits on 25–27 October 2026: from four operations to twenty-seven.</a:t>
            </a:r>
            <a:endParaRPr lang="en-US" sz="1600" dirty="0"/>
          </a:p>
        </p:txBody>
      </p:sp>
      <p:sp>
        <p:nvSpPr>
          <p:cNvPr id="4" name="Shape 2"/>
          <p:cNvSpPr/>
          <p:nvPr/>
        </p:nvSpPr>
        <p:spPr>
          <a:xfrm>
            <a:off x="1508760" y="1810753"/>
            <a:ext cx="0" cy="4288055"/>
          </a:xfrm>
          <a:prstGeom prst="line">
            <a:avLst/>
          </a:prstGeom>
          <a:noFill/>
          <a:ln w="25400">
            <a:solidFill>
              <a:schemeClr val="accent5"/>
            </a:solidFill>
            <a:prstDash val="solid"/>
          </a:ln>
        </p:spPr>
      </p:sp>
      <p:sp>
        <p:nvSpPr>
          <p:cNvPr id="5" name="Text 3"/>
          <p:cNvSpPr txBox="1"/>
          <p:nvPr/>
        </p:nvSpPr>
        <p:spPr>
          <a:xfrm>
            <a:off x="1783080" y="1691640"/>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7582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2986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29865"/>
            <a:ext cx="4434840" cy="238225"/>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14051"/>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68091"/>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68091"/>
            <a:ext cx="4434840" cy="238225"/>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52276"/>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0631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06316"/>
            <a:ext cx="4434840" cy="238225"/>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44541"/>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2928727"/>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88276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882766"/>
            <a:ext cx="4434840" cy="238225"/>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166952"/>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12099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120992"/>
            <a:ext cx="4434840" cy="238225"/>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405177"/>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35921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35921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643403"/>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59744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597442"/>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388162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83566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83566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119853"/>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07389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073893"/>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358079"/>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31211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312118"/>
            <a:ext cx="4434840" cy="238225"/>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596304"/>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55034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550343"/>
            <a:ext cx="4434840" cy="238225"/>
          </a:xfrm>
          <a:prstGeom prst="rect">
            <a:avLst/>
          </a:prstGeom>
          <a:noFill/>
          <a:ln/>
        </p:spPr>
        <p:txBody>
          <a:bodyPr wrap="square" lIns="0" tIns="0" rIns="0" bIns="0" rtlCol="0" anchor="ctr"/>
          <a:lstStyle/>
          <a:p>
            <a:pPr indent="0" marL="0">
              <a:buNone/>
            </a:pPr>
            <a:r>
              <a:rPr lang="en-US" sz="1400" dirty="0">
                <a:solidFill>
                  <a:schemeClr val="tx1"/>
                </a:solidFill>
              </a:rPr>
              <a:t>Negative costs · injective patterns · forests · rings</a:t>
            </a:r>
            <a:endParaRPr lang="en-US" sz="1400" dirty="0"/>
          </a:p>
        </p:txBody>
      </p:sp>
      <p:sp>
        <p:nvSpPr>
          <p:cNvPr id="40" name="milestone 23:25"/>
          <p:cNvSpPr/>
          <p:nvPr/>
        </p:nvSpPr>
        <p:spPr>
          <a:xfrm>
            <a:off x="1435608" y="4834529"/>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78856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2" name="Text 40"/>
          <p:cNvSpPr txBox="1"/>
          <p:nvPr/>
        </p:nvSpPr>
        <p:spPr>
          <a:xfrm>
            <a:off x="1783080" y="4788568"/>
            <a:ext cx="4434840" cy="238225"/>
          </a:xfrm>
          <a:prstGeom prst="rect">
            <a:avLst/>
          </a:prstGeom>
          <a:noFill/>
          <a:ln/>
        </p:spPr>
        <p:txBody>
          <a:bodyPr wrap="square" lIns="0" tIns="0" rIns="0" bIns="0" rtlCol="0" anchor="ctr"/>
          <a:lstStyle/>
          <a:p>
            <a:pPr indent="0" marL="0">
              <a:buNone/>
            </a:pPr>
            <a:r>
              <a:rPr lang="en-US" sz="1400" dirty="0">
                <a:solidFill>
                  <a:schemeClr val="tx1"/>
                </a:solidFill>
              </a:rPr>
              <a:t>Min-cost matching and flow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3" name="Text 41"/>
          <p:cNvSpPr txBox="1"/>
          <p:nvPr/>
        </p:nvSpPr>
        <p:spPr>
          <a:xfrm>
            <a:off x="1783080" y="5026794"/>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44" name="milestone 10:28"/>
          <p:cNvSpPr/>
          <p:nvPr/>
        </p:nvSpPr>
        <p:spPr>
          <a:xfrm>
            <a:off x="1435608" y="5310980"/>
            <a:ext cx="146304" cy="146304"/>
          </a:xfrm>
          <a:prstGeom prst="ellipse">
            <a:avLst/>
          </a:prstGeom>
          <a:solidFill>
            <a:schemeClr val="accent1"/>
          </a:solidFill>
          <a:ln w="19050">
            <a:solidFill>
              <a:schemeClr val="bg1"/>
            </a:solidFill>
            <a:prstDash val="solid"/>
          </a:ln>
        </p:spPr>
      </p:sp>
      <p:sp>
        <p:nvSpPr>
          <p:cNvPr id="45" name="Text 43"/>
          <p:cNvSpPr txBox="1"/>
          <p:nvPr/>
        </p:nvSpPr>
        <p:spPr>
          <a:xfrm>
            <a:off x="548640" y="526501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46" name="Text 44"/>
          <p:cNvSpPr txBox="1"/>
          <p:nvPr/>
        </p:nvSpPr>
        <p:spPr>
          <a:xfrm>
            <a:off x="1783080" y="5265019"/>
            <a:ext cx="4434840" cy="238225"/>
          </a:xfrm>
          <a:prstGeom prst="rect">
            <a:avLst/>
          </a:prstGeom>
          <a:noFill/>
          <a:ln/>
        </p:spPr>
        <p:txBody>
          <a:bodyPr wrap="square" lIns="0" tIns="0" rIns="0" bIns="0" rtlCol="0" anchor="ctr"/>
          <a:lstStyle/>
          <a:p>
            <a:pPr indent="0" marL="0">
              <a:buNone/>
            </a:pPr>
            <a:r>
              <a:rPr lang="en-US" sz="1400" dirty="0">
                <a:solidFill>
                  <a:schemeClr val="tx1"/>
                </a:solidFill>
              </a:rPr>
              <a:t>Cyclic patterns counted by variable elimination</a:t>
            </a:r>
            <a:endParaRPr lang="en-US" sz="1400" dirty="0"/>
          </a:p>
        </p:txBody>
      </p:sp>
      <p:sp>
        <p:nvSpPr>
          <p:cNvPr id="47" name="milestone 11:21"/>
          <p:cNvSpPr/>
          <p:nvPr/>
        </p:nvSpPr>
        <p:spPr>
          <a:xfrm>
            <a:off x="1435608" y="5549205"/>
            <a:ext cx="146304" cy="146304"/>
          </a:xfrm>
          <a:prstGeom prst="ellipse">
            <a:avLst/>
          </a:prstGeom>
          <a:solidFill>
            <a:schemeClr val="accent1"/>
          </a:solidFill>
          <a:ln w="19050">
            <a:solidFill>
              <a:schemeClr val="bg1"/>
            </a:solidFill>
            <a:prstDash val="solid"/>
          </a:ln>
        </p:spPr>
      </p:sp>
      <p:sp>
        <p:nvSpPr>
          <p:cNvPr id="48" name="Text 46"/>
          <p:cNvSpPr txBox="1"/>
          <p:nvPr/>
        </p:nvSpPr>
        <p:spPr>
          <a:xfrm>
            <a:off x="548640" y="550324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11:21</a:t>
            </a:r>
            <a:endParaRPr lang="en-US" sz="1300" dirty="0"/>
          </a:p>
        </p:txBody>
      </p:sp>
      <p:sp>
        <p:nvSpPr>
          <p:cNvPr id="49" name="Text 47"/>
          <p:cNvSpPr txBox="1"/>
          <p:nvPr/>
        </p:nvSpPr>
        <p:spPr>
          <a:xfrm>
            <a:off x="1783080" y="5503244"/>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reachability_pairs</a:t>
            </a:r>
            <a:pPr indent="0" marL="0">
              <a:buNone/>
            </a:pPr>
            <a:r>
              <a:rPr lang="en-US" sz="1400" dirty="0">
                <a:solidFill>
                  <a:schemeClr val="tx1"/>
                </a:solidFill>
              </a:rPr>
              <a:t> from a kept 2-hop index</a:t>
            </a:r>
            <a:endParaRPr lang="en-US" sz="1300" dirty="0"/>
          </a:p>
        </p:txBody>
      </p:sp>
      <p:sp>
        <p:nvSpPr>
          <p:cNvPr id="50" name="milestone 12:35"/>
          <p:cNvSpPr/>
          <p:nvPr/>
        </p:nvSpPr>
        <p:spPr>
          <a:xfrm>
            <a:off x="1435608" y="5787430"/>
            <a:ext cx="146304" cy="146304"/>
          </a:xfrm>
          <a:prstGeom prst="ellipse">
            <a:avLst/>
          </a:prstGeom>
          <a:solidFill>
            <a:schemeClr val="accent1"/>
          </a:solidFill>
          <a:ln w="19050">
            <a:solidFill>
              <a:schemeClr val="bg1"/>
            </a:solidFill>
            <a:prstDash val="solid"/>
          </a:ln>
        </p:spPr>
      </p:sp>
      <p:sp>
        <p:nvSpPr>
          <p:cNvPr id="51" name="Text 49"/>
          <p:cNvSpPr txBox="1"/>
          <p:nvPr/>
        </p:nvSpPr>
        <p:spPr>
          <a:xfrm>
            <a:off x="548640" y="574146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12:35</a:t>
            </a:r>
            <a:endParaRPr lang="en-US" sz="1300" dirty="0"/>
          </a:p>
        </p:txBody>
      </p:sp>
      <p:sp>
        <p:nvSpPr>
          <p:cNvPr id="52" name="Text 50"/>
          <p:cNvSpPr txBox="1"/>
          <p:nvPr/>
        </p:nvSpPr>
        <p:spPr>
          <a:xfrm>
            <a:off x="1783080" y="5741469"/>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datalog</a:t>
            </a:r>
            <a:pPr indent="0" marL="0">
              <a:buNone/>
            </a:pPr>
            <a:r>
              <a:rPr lang="en-US" sz="1400" dirty="0">
                <a:solidFill>
                  <a:schemeClr val="tx1"/>
                </a:solidFill>
              </a:rPr>
              <a:t>: rules to their least model, each fact proven</a:t>
            </a:r>
            <a:endParaRPr lang="en-US" sz="1300" dirty="0"/>
          </a:p>
        </p:txBody>
      </p:sp>
      <p:sp>
        <p:nvSpPr>
          <p:cNvPr id="53" name="milestone 13:10"/>
          <p:cNvSpPr/>
          <p:nvPr/>
        </p:nvSpPr>
        <p:spPr>
          <a:xfrm>
            <a:off x="1417320" y="6007367"/>
            <a:ext cx="182880" cy="182880"/>
          </a:xfrm>
          <a:prstGeom prst="ellipse">
            <a:avLst/>
          </a:prstGeom>
          <a:solidFill>
            <a:schemeClr val="accent2"/>
          </a:solidFill>
          <a:ln w="19050">
            <a:solidFill>
              <a:schemeClr val="bg1"/>
            </a:solidFill>
            <a:prstDash val="solid"/>
          </a:ln>
        </p:spPr>
      </p:sp>
      <p:sp>
        <p:nvSpPr>
          <p:cNvPr id="54" name="Text 52"/>
          <p:cNvSpPr txBox="1"/>
          <p:nvPr/>
        </p:nvSpPr>
        <p:spPr>
          <a:xfrm>
            <a:off x="548640" y="597969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13:10</a:t>
            </a:r>
            <a:endParaRPr lang="en-US" sz="1300" dirty="0"/>
          </a:p>
        </p:txBody>
      </p:sp>
      <p:sp>
        <p:nvSpPr>
          <p:cNvPr id="55" name="Text 53"/>
          <p:cNvSpPr txBox="1"/>
          <p:nvPr/>
        </p:nvSpPr>
        <p:spPr>
          <a:xfrm>
            <a:off x="1783080" y="5979695"/>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canonical_form</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isomorphism</a:t>
            </a:r>
            <a:pPr indent="0" marL="0">
              <a:buNone/>
            </a:pPr>
            <a:r>
              <a:rPr lang="en-US" sz="1400" dirty="0">
                <a:solidFill>
                  <a:schemeClr val="tx1"/>
                </a:solidFill>
              </a:rPr>
              <a:t>: one name per copy</a:t>
            </a:r>
            <a:endParaRPr lang="en-US" sz="1300" dirty="0"/>
          </a:p>
        </p:txBody>
      </p:sp>
      <p:sp>
        <p:nvSpPr>
          <p:cNvPr id="56" name="growth operations"/>
          <p:cNvSpPr/>
          <p:nvPr/>
        </p:nvSpPr>
        <p:spPr>
          <a:xfrm>
            <a:off x="6537960" y="1691640"/>
            <a:ext cx="2438248" cy="1005840"/>
          </a:xfrm>
          <a:prstGeom prst="roundRect">
            <a:avLst>
              <a:gd name="adj" fmla="val 9091"/>
            </a:avLst>
          </a:prstGeom>
          <a:solidFill>
            <a:schemeClr val="tx2"/>
          </a:solidFill>
          <a:ln/>
        </p:spPr>
      </p:sp>
      <p:sp>
        <p:nvSpPr>
          <p:cNvPr id="57" name="Text 55"/>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27</a:t>
            </a:r>
            <a:endParaRPr lang="en-US" sz="2800" dirty="0"/>
          </a:p>
          <a:p>
            <a:pPr indent="0" marL="0">
              <a:buNone/>
            </a:pPr>
            <a:r>
              <a:rPr lang="en-US" sz="1300" dirty="0">
                <a:solidFill>
                  <a:schemeClr val="accent5"/>
                </a:solidFill>
              </a:rPr>
              <a:t>operations</a:t>
            </a:r>
            <a:endParaRPr lang="en-US" sz="2800" dirty="0"/>
          </a:p>
        </p:txBody>
      </p:sp>
      <p:sp>
        <p:nvSpPr>
          <p:cNvPr id="58" name="growth runtime tests"/>
          <p:cNvSpPr/>
          <p:nvPr/>
        </p:nvSpPr>
        <p:spPr>
          <a:xfrm>
            <a:off x="9204808" y="1691640"/>
            <a:ext cx="2438248" cy="1005840"/>
          </a:xfrm>
          <a:prstGeom prst="roundRect">
            <a:avLst>
              <a:gd name="adj" fmla="val 9091"/>
            </a:avLst>
          </a:prstGeom>
          <a:solidFill>
            <a:schemeClr val="tx2"/>
          </a:solidFill>
          <a:ln/>
        </p:spPr>
      </p:sp>
      <p:sp>
        <p:nvSpPr>
          <p:cNvPr id="59" name="Text 57"/>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689</a:t>
            </a:r>
            <a:endParaRPr lang="en-US" sz="2800" dirty="0"/>
          </a:p>
          <a:p>
            <a:pPr indent="0" marL="0">
              <a:buNone/>
            </a:pPr>
            <a:r>
              <a:rPr lang="en-US" sz="1300" dirty="0">
                <a:solidFill>
                  <a:schemeClr val="accent5"/>
                </a:solidFill>
              </a:rPr>
              <a:t>runtime tests</a:t>
            </a:r>
            <a:endParaRPr lang="en-US" sz="2800" dirty="0"/>
          </a:p>
        </p:txBody>
      </p:sp>
      <p:graphicFrame>
        <p:nvGraphicFramePr>
          <p:cNvPr id="60"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eleven done, one to go</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of 26 October 2026: what is left, and what has shipped.</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Elementary flux modes"/>
          <p:cNvSpPr/>
          <p:nvPr/>
        </p:nvSpPr>
        <p:spPr>
          <a:xfrm>
            <a:off x="548640" y="1911096"/>
            <a:ext cx="11094415" cy="1188720"/>
          </a:xfrm>
          <a:prstGeom prst="roundRect">
            <a:avLst>
              <a:gd name="adj" fmla="val 7692"/>
            </a:avLst>
          </a:prstGeom>
          <a:solidFill>
            <a:schemeClr val="bg2"/>
          </a:solidFill>
          <a:ln/>
        </p:spPr>
      </p:sp>
      <p:sp>
        <p:nvSpPr>
          <p:cNvPr id="9" name="icon Elementary flux modes"/>
          <p:cNvSpPr/>
          <p:nvPr/>
        </p:nvSpPr>
        <p:spPr>
          <a:xfrm>
            <a:off x="713232" y="2286000"/>
            <a:ext cx="438912" cy="438912"/>
          </a:xfrm>
          <a:prstGeom prst="ellipse">
            <a:avLst/>
          </a:prstGeom>
          <a:solidFill>
            <a:schemeClr val="accent1"/>
          </a:solidFill>
          <a:ln/>
        </p:spPr>
      </p:sp>
      <p:pic>
        <p:nvPicPr>
          <p:cNvPr id="10" name="Image 0" descr="Elementary flux modes">    </p:cNvPr>
          <p:cNvPicPr>
            <a:picLocks noChangeAspect="1"/>
          </p:cNvPicPr>
          <p:nvPr/>
        </p:nvPicPr>
        <p:blipFill>
          <a:blip r:embed="rId1"/>
          <a:stretch>
            <a:fillRect/>
          </a:stretch>
        </p:blipFill>
        <p:spPr>
          <a:xfrm>
            <a:off x="809793" y="2382561"/>
            <a:ext cx="245791" cy="245791"/>
          </a:xfrm>
          <a:prstGeom prst="rect">
            <a:avLst/>
          </a:prstGeom>
        </p:spPr>
      </p:pic>
      <p:sp>
        <p:nvSpPr>
          <p:cNvPr id="11" name="Text 8"/>
          <p:cNvSpPr txBox="1"/>
          <p:nvPr/>
        </p:nvSpPr>
        <p:spPr>
          <a:xfrm>
            <a:off x="1325880" y="1911096"/>
            <a:ext cx="1828800" cy="1188720"/>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12" name="Text 9"/>
          <p:cNvSpPr txBox="1"/>
          <p:nvPr/>
        </p:nvSpPr>
        <p:spPr>
          <a:xfrm>
            <a:off x="3383280" y="1911096"/>
            <a:ext cx="3017520" cy="1188720"/>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13" name="Text 10"/>
          <p:cNvSpPr txBox="1"/>
          <p:nvPr/>
        </p:nvSpPr>
        <p:spPr>
          <a:xfrm>
            <a:off x="6629400" y="1911096"/>
            <a:ext cx="3017520" cy="1188720"/>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14" name="Text 11"/>
          <p:cNvSpPr txBox="1"/>
          <p:nvPr/>
        </p:nvSpPr>
        <p:spPr>
          <a:xfrm>
            <a:off x="9875520" y="1911096"/>
            <a:ext cx="1676095" cy="1188720"/>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15" name="Text 12"/>
          <p:cNvSpPr txBox="1"/>
          <p:nvPr/>
        </p:nvSpPr>
        <p:spPr>
          <a:xfrm>
            <a:off x="713232" y="3374136"/>
            <a:ext cx="10765231"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DONE FROM THE SURVEY (11)</a:t>
            </a:r>
            <a:endParaRPr lang="en-US" sz="1100" dirty="0"/>
          </a:p>
        </p:txBody>
      </p:sp>
      <p:sp>
        <p:nvSpPr>
          <p:cNvPr id="16" name="done Negative costs"/>
          <p:cNvSpPr/>
          <p:nvPr/>
        </p:nvSpPr>
        <p:spPr>
          <a:xfrm>
            <a:off x="548640" y="3675888"/>
            <a:ext cx="3576218" cy="566928"/>
          </a:xfrm>
          <a:prstGeom prst="roundRect">
            <a:avLst>
              <a:gd name="adj" fmla="val 16129"/>
            </a:avLst>
          </a:prstGeom>
          <a:solidFill>
            <a:schemeClr val="bg1"/>
          </a:solidFill>
          <a:ln w="19050">
            <a:solidFill>
              <a:schemeClr val="bg2"/>
            </a:solidFill>
            <a:prstDash val="solid"/>
          </a:ln>
        </p:spPr>
      </p:sp>
      <p:sp>
        <p:nvSpPr>
          <p:cNvPr id="17" name="icon done Negative costs"/>
          <p:cNvSpPr/>
          <p:nvPr/>
        </p:nvSpPr>
        <p:spPr>
          <a:xfrm>
            <a:off x="713232" y="3794760"/>
            <a:ext cx="329184" cy="329184"/>
          </a:xfrm>
          <a:prstGeom prst="ellipse">
            <a:avLst/>
          </a:prstGeom>
          <a:solidFill>
            <a:schemeClr val="accent1"/>
          </a:solidFill>
          <a:ln/>
        </p:spPr>
      </p:sp>
      <p:pic>
        <p:nvPicPr>
          <p:cNvPr id="18" name="Image 1" descr="done Negative costs">    </p:cNvPr>
          <p:cNvPicPr>
            <a:picLocks noChangeAspect="1"/>
          </p:cNvPicPr>
          <p:nvPr/>
        </p:nvPicPr>
        <p:blipFill>
          <a:blip r:embed="rId2"/>
          <a:stretch>
            <a:fillRect/>
          </a:stretch>
        </p:blipFill>
        <p:spPr>
          <a:xfrm>
            <a:off x="785652" y="3867180"/>
            <a:ext cx="184343" cy="184343"/>
          </a:xfrm>
          <a:prstGeom prst="rect">
            <a:avLst/>
          </a:prstGeom>
        </p:spPr>
      </p:pic>
      <p:sp>
        <p:nvSpPr>
          <p:cNvPr id="19" name="Text 15"/>
          <p:cNvSpPr txBox="1"/>
          <p:nvPr/>
        </p:nvSpPr>
        <p:spPr>
          <a:xfrm>
            <a:off x="1207008"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Negative costs</a:t>
            </a:r>
            <a:endParaRPr lang="en-US" sz="1400" dirty="0"/>
          </a:p>
          <a:p>
            <a:pPr indent="0" marL="0">
              <a:buNone/>
            </a:pPr>
            <a:r>
              <a:rPr lang="en-US" sz="1200" i="1" dirty="0">
                <a:solidFill>
                  <a:schemeClr val="accent6"/>
                </a:solidFill>
              </a:rPr>
              <a:t>a negative cycle proven by three walks</a:t>
            </a:r>
            <a:endParaRPr lang="en-US" sz="1400" dirty="0"/>
          </a:p>
        </p:txBody>
      </p:sp>
      <p:sp>
        <p:nvSpPr>
          <p:cNvPr id="20" name="done Injective patterns"/>
          <p:cNvSpPr/>
          <p:nvPr/>
        </p:nvSpPr>
        <p:spPr>
          <a:xfrm>
            <a:off x="4307738" y="3675888"/>
            <a:ext cx="3576218" cy="566928"/>
          </a:xfrm>
          <a:prstGeom prst="roundRect">
            <a:avLst>
              <a:gd name="adj" fmla="val 16129"/>
            </a:avLst>
          </a:prstGeom>
          <a:solidFill>
            <a:schemeClr val="bg1"/>
          </a:solidFill>
          <a:ln w="19050">
            <a:solidFill>
              <a:schemeClr val="bg2"/>
            </a:solidFill>
            <a:prstDash val="solid"/>
          </a:ln>
        </p:spPr>
      </p:sp>
      <p:sp>
        <p:nvSpPr>
          <p:cNvPr id="21" name="icon done Injective patterns"/>
          <p:cNvSpPr/>
          <p:nvPr/>
        </p:nvSpPr>
        <p:spPr>
          <a:xfrm>
            <a:off x="4472330" y="3794760"/>
            <a:ext cx="329184" cy="329184"/>
          </a:xfrm>
          <a:prstGeom prst="ellipse">
            <a:avLst/>
          </a:prstGeom>
          <a:solidFill>
            <a:schemeClr val="accent1"/>
          </a:solidFill>
          <a:ln/>
        </p:spPr>
      </p:sp>
      <p:pic>
        <p:nvPicPr>
          <p:cNvPr id="22" name="Image 2" descr="done Injective patterns">    </p:cNvPr>
          <p:cNvPicPr>
            <a:picLocks noChangeAspect="1"/>
          </p:cNvPicPr>
          <p:nvPr/>
        </p:nvPicPr>
        <p:blipFill>
          <a:blip r:embed="rId3"/>
          <a:stretch>
            <a:fillRect/>
          </a:stretch>
        </p:blipFill>
        <p:spPr>
          <a:xfrm>
            <a:off x="4544751" y="3867180"/>
            <a:ext cx="184343" cy="184343"/>
          </a:xfrm>
          <a:prstGeom prst="rect">
            <a:avLst/>
          </a:prstGeom>
        </p:spPr>
      </p:pic>
      <p:sp>
        <p:nvSpPr>
          <p:cNvPr id="23" name="Text 18"/>
          <p:cNvSpPr txBox="1"/>
          <p:nvPr/>
        </p:nvSpPr>
        <p:spPr>
          <a:xfrm>
            <a:off x="4966106"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Injective patterns</a:t>
            </a:r>
            <a:endParaRPr lang="en-US" sz="1400" dirty="0"/>
          </a:p>
          <a:p>
            <a:pPr indent="0" marL="0">
              <a:buNone/>
            </a:pPr>
            <a:r>
              <a:rPr lang="en-US" sz="1200" i="1" dirty="0">
                <a:solidFill>
                  <a:schemeClr val="accent6"/>
                </a:solidFill>
              </a:rPr>
              <a:t>substructure search, budget-bounded</a:t>
            </a:r>
            <a:endParaRPr lang="en-US" sz="1400" dirty="0"/>
          </a:p>
        </p:txBody>
      </p:sp>
      <p:sp>
        <p:nvSpPr>
          <p:cNvPr id="24" name="done Spanning forests"/>
          <p:cNvSpPr/>
          <p:nvPr/>
        </p:nvSpPr>
        <p:spPr>
          <a:xfrm>
            <a:off x="8066837" y="3675888"/>
            <a:ext cx="3576218" cy="566928"/>
          </a:xfrm>
          <a:prstGeom prst="roundRect">
            <a:avLst>
              <a:gd name="adj" fmla="val 16129"/>
            </a:avLst>
          </a:prstGeom>
          <a:solidFill>
            <a:schemeClr val="bg1"/>
          </a:solidFill>
          <a:ln w="19050">
            <a:solidFill>
              <a:schemeClr val="bg2"/>
            </a:solidFill>
            <a:prstDash val="solid"/>
          </a:ln>
        </p:spPr>
      </p:sp>
      <p:sp>
        <p:nvSpPr>
          <p:cNvPr id="25" name="icon done Spanning forests"/>
          <p:cNvSpPr/>
          <p:nvPr/>
        </p:nvSpPr>
        <p:spPr>
          <a:xfrm>
            <a:off x="8231429" y="3794760"/>
            <a:ext cx="329184" cy="329184"/>
          </a:xfrm>
          <a:prstGeom prst="ellipse">
            <a:avLst/>
          </a:prstGeom>
          <a:solidFill>
            <a:schemeClr val="accent1"/>
          </a:solidFill>
          <a:ln/>
        </p:spPr>
      </p:sp>
      <p:pic>
        <p:nvPicPr>
          <p:cNvPr id="26" name="Image 3" descr="done Spanning forests">    </p:cNvPr>
          <p:cNvPicPr>
            <a:picLocks noChangeAspect="1"/>
          </p:cNvPicPr>
          <p:nvPr/>
        </p:nvPicPr>
        <p:blipFill>
          <a:blip r:embed="rId4"/>
          <a:stretch>
            <a:fillRect/>
          </a:stretch>
        </p:blipFill>
        <p:spPr>
          <a:xfrm>
            <a:off x="8303849" y="3867180"/>
            <a:ext cx="184343" cy="184343"/>
          </a:xfrm>
          <a:prstGeom prst="rect">
            <a:avLst/>
          </a:prstGeom>
        </p:spPr>
      </p:pic>
      <p:sp>
        <p:nvSpPr>
          <p:cNvPr id="27" name="Text 21"/>
          <p:cNvSpPr txBox="1"/>
          <p:nvPr/>
        </p:nvSpPr>
        <p:spPr>
          <a:xfrm>
            <a:off x="8725205"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Spanning forests</a:t>
            </a:r>
            <a:endParaRPr lang="en-US" sz="1400" dirty="0"/>
          </a:p>
          <a:p>
            <a:pPr indent="0" marL="0">
              <a:buNone/>
            </a:pPr>
            <a:r>
              <a:rPr lang="en-US" sz="1200" i="1" dirty="0">
                <a:solidFill>
                  <a:schemeClr val="accent6"/>
                </a:solidFill>
              </a:rPr>
              <a:t>proven by the cycle property</a:t>
            </a:r>
            <a:endParaRPr lang="en-US" sz="1400" dirty="0"/>
          </a:p>
        </p:txBody>
      </p:sp>
      <p:sp>
        <p:nvSpPr>
          <p:cNvPr id="28" name="done Cycle bases"/>
          <p:cNvSpPr/>
          <p:nvPr/>
        </p:nvSpPr>
        <p:spPr>
          <a:xfrm>
            <a:off x="548640" y="4334256"/>
            <a:ext cx="3576218" cy="566928"/>
          </a:xfrm>
          <a:prstGeom prst="roundRect">
            <a:avLst>
              <a:gd name="adj" fmla="val 16129"/>
            </a:avLst>
          </a:prstGeom>
          <a:solidFill>
            <a:schemeClr val="bg1"/>
          </a:solidFill>
          <a:ln w="19050">
            <a:solidFill>
              <a:schemeClr val="bg2"/>
            </a:solidFill>
            <a:prstDash val="solid"/>
          </a:ln>
        </p:spPr>
      </p:sp>
      <p:sp>
        <p:nvSpPr>
          <p:cNvPr id="29" name="icon done Cycle bases"/>
          <p:cNvSpPr/>
          <p:nvPr/>
        </p:nvSpPr>
        <p:spPr>
          <a:xfrm>
            <a:off x="713232" y="4453128"/>
            <a:ext cx="329184" cy="329184"/>
          </a:xfrm>
          <a:prstGeom prst="ellipse">
            <a:avLst/>
          </a:prstGeom>
          <a:solidFill>
            <a:schemeClr val="accent1"/>
          </a:solidFill>
          <a:ln/>
        </p:spPr>
      </p:sp>
      <p:pic>
        <p:nvPicPr>
          <p:cNvPr id="30" name="Image 4" descr="done Cycle bases">    </p:cNvPr>
          <p:cNvPicPr>
            <a:picLocks noChangeAspect="1"/>
          </p:cNvPicPr>
          <p:nvPr/>
        </p:nvPicPr>
        <p:blipFill>
          <a:blip r:embed="rId5"/>
          <a:stretch>
            <a:fillRect/>
          </a:stretch>
        </p:blipFill>
        <p:spPr>
          <a:xfrm>
            <a:off x="785652" y="4525548"/>
            <a:ext cx="184343" cy="184343"/>
          </a:xfrm>
          <a:prstGeom prst="rect">
            <a:avLst/>
          </a:prstGeom>
        </p:spPr>
      </p:pic>
      <p:sp>
        <p:nvSpPr>
          <p:cNvPr id="31" name="Text 24"/>
          <p:cNvSpPr txBox="1"/>
          <p:nvPr/>
        </p:nvSpPr>
        <p:spPr>
          <a:xfrm>
            <a:off x="1207008"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Cycle bases</a:t>
            </a:r>
            <a:endParaRPr lang="en-US" sz="1400" dirty="0"/>
          </a:p>
          <a:p>
            <a:pPr indent="0" marL="0">
              <a:buNone/>
            </a:pPr>
            <a:r>
              <a:rPr lang="en-US" sz="1200" i="1" dirty="0">
                <a:solidFill>
                  <a:schemeClr val="accent6"/>
                </a:solidFill>
              </a:rPr>
              <a:t>minimum, by de Pina's witnesses</a:t>
            </a:r>
            <a:endParaRPr lang="en-US" sz="1400" dirty="0"/>
          </a:p>
        </p:txBody>
      </p:sp>
      <p:sp>
        <p:nvSpPr>
          <p:cNvPr id="32" name="done Weighted matching"/>
          <p:cNvSpPr/>
          <p:nvPr/>
        </p:nvSpPr>
        <p:spPr>
          <a:xfrm>
            <a:off x="4307738" y="4334256"/>
            <a:ext cx="3576218" cy="566928"/>
          </a:xfrm>
          <a:prstGeom prst="roundRect">
            <a:avLst>
              <a:gd name="adj" fmla="val 16129"/>
            </a:avLst>
          </a:prstGeom>
          <a:solidFill>
            <a:schemeClr val="bg1"/>
          </a:solidFill>
          <a:ln w="19050">
            <a:solidFill>
              <a:schemeClr val="bg2"/>
            </a:solidFill>
            <a:prstDash val="solid"/>
          </a:ln>
        </p:spPr>
      </p:sp>
      <p:sp>
        <p:nvSpPr>
          <p:cNvPr id="33" name="icon done Weighted matching"/>
          <p:cNvSpPr/>
          <p:nvPr/>
        </p:nvSpPr>
        <p:spPr>
          <a:xfrm>
            <a:off x="4472330" y="4453128"/>
            <a:ext cx="329184" cy="329184"/>
          </a:xfrm>
          <a:prstGeom prst="ellipse">
            <a:avLst/>
          </a:prstGeom>
          <a:solidFill>
            <a:schemeClr val="accent1"/>
          </a:solidFill>
          <a:ln/>
        </p:spPr>
      </p:sp>
      <p:pic>
        <p:nvPicPr>
          <p:cNvPr id="34" name="Image 5" descr="done Weighted matching">    </p:cNvPr>
          <p:cNvPicPr>
            <a:picLocks noChangeAspect="1"/>
          </p:cNvPicPr>
          <p:nvPr/>
        </p:nvPicPr>
        <p:blipFill>
          <a:blip r:embed="rId6"/>
          <a:stretch>
            <a:fillRect/>
          </a:stretch>
        </p:blipFill>
        <p:spPr>
          <a:xfrm>
            <a:off x="4544751" y="4525548"/>
            <a:ext cx="184343" cy="184343"/>
          </a:xfrm>
          <a:prstGeom prst="rect">
            <a:avLst/>
          </a:prstGeom>
        </p:spPr>
      </p:pic>
      <p:sp>
        <p:nvSpPr>
          <p:cNvPr id="35" name="Text 27"/>
          <p:cNvSpPr txBox="1"/>
          <p:nvPr/>
        </p:nvSpPr>
        <p:spPr>
          <a:xfrm>
            <a:off x="4966106"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Weighted matching</a:t>
            </a:r>
            <a:endParaRPr lang="en-US" sz="1400" dirty="0"/>
          </a:p>
          <a:p>
            <a:pPr indent="0" marL="0">
              <a:buNone/>
            </a:pPr>
            <a:r>
              <a:rPr lang="en-US" sz="1200" i="1" dirty="0">
                <a:solidFill>
                  <a:schemeClr val="accent6"/>
                </a:solidFill>
              </a:rPr>
              <a:t>proven by a cover and potentials</a:t>
            </a:r>
            <a:endParaRPr lang="en-US" sz="1400" dirty="0"/>
          </a:p>
        </p:txBody>
      </p:sp>
      <p:sp>
        <p:nvSpPr>
          <p:cNvPr id="36" name="done k shortest paths"/>
          <p:cNvSpPr/>
          <p:nvPr/>
        </p:nvSpPr>
        <p:spPr>
          <a:xfrm>
            <a:off x="8066837" y="4334256"/>
            <a:ext cx="3576218" cy="566928"/>
          </a:xfrm>
          <a:prstGeom prst="roundRect">
            <a:avLst>
              <a:gd name="adj" fmla="val 16129"/>
            </a:avLst>
          </a:prstGeom>
          <a:solidFill>
            <a:schemeClr val="bg1"/>
          </a:solidFill>
          <a:ln w="19050">
            <a:solidFill>
              <a:schemeClr val="bg2"/>
            </a:solidFill>
            <a:prstDash val="solid"/>
          </a:ln>
        </p:spPr>
      </p:sp>
      <p:sp>
        <p:nvSpPr>
          <p:cNvPr id="37" name="icon done k shortest paths"/>
          <p:cNvSpPr/>
          <p:nvPr/>
        </p:nvSpPr>
        <p:spPr>
          <a:xfrm>
            <a:off x="8231429" y="4453128"/>
            <a:ext cx="329184" cy="329184"/>
          </a:xfrm>
          <a:prstGeom prst="ellipse">
            <a:avLst/>
          </a:prstGeom>
          <a:solidFill>
            <a:schemeClr val="accent1"/>
          </a:solidFill>
          <a:ln/>
        </p:spPr>
      </p:sp>
      <p:pic>
        <p:nvPicPr>
          <p:cNvPr id="38" name="Image 6" descr="done k shortest paths">    </p:cNvPr>
          <p:cNvPicPr>
            <a:picLocks noChangeAspect="1"/>
          </p:cNvPicPr>
          <p:nvPr/>
        </p:nvPicPr>
        <p:blipFill>
          <a:blip r:embed="rId7"/>
          <a:stretch>
            <a:fillRect/>
          </a:stretch>
        </p:blipFill>
        <p:spPr>
          <a:xfrm>
            <a:off x="8303849" y="4525548"/>
            <a:ext cx="184343" cy="184343"/>
          </a:xfrm>
          <a:prstGeom prst="rect">
            <a:avLst/>
          </a:prstGeom>
        </p:spPr>
      </p:pic>
      <p:sp>
        <p:nvSpPr>
          <p:cNvPr id="39" name="Text 30"/>
          <p:cNvSpPr txBox="1"/>
          <p:nvPr/>
        </p:nvSpPr>
        <p:spPr>
          <a:xfrm>
            <a:off x="8725205"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k shortest paths</a:t>
            </a:r>
            <a:endParaRPr lang="en-US" sz="1400" dirty="0"/>
          </a:p>
          <a:p>
            <a:pPr indent="0" marL="0">
              <a:buNone/>
            </a:pPr>
            <a:r>
              <a:rPr lang="en-US" sz="1200" i="1" dirty="0">
                <a:solidFill>
                  <a:schemeClr val="accent6"/>
                </a:solidFill>
              </a:rPr>
              <a:t>the ranking certified, revalidated</a:t>
            </a:r>
            <a:endParaRPr lang="en-US" sz="1400" dirty="0"/>
          </a:p>
        </p:txBody>
      </p:sp>
      <p:sp>
        <p:nvSpPr>
          <p:cNvPr id="40" name="done Min-cost flow"/>
          <p:cNvSpPr/>
          <p:nvPr/>
        </p:nvSpPr>
        <p:spPr>
          <a:xfrm>
            <a:off x="548640" y="4992624"/>
            <a:ext cx="3576218" cy="566928"/>
          </a:xfrm>
          <a:prstGeom prst="roundRect">
            <a:avLst>
              <a:gd name="adj" fmla="val 16129"/>
            </a:avLst>
          </a:prstGeom>
          <a:solidFill>
            <a:schemeClr val="bg1"/>
          </a:solidFill>
          <a:ln w="19050">
            <a:solidFill>
              <a:schemeClr val="bg2"/>
            </a:solidFill>
            <a:prstDash val="solid"/>
          </a:ln>
        </p:spPr>
      </p:sp>
      <p:sp>
        <p:nvSpPr>
          <p:cNvPr id="41" name="icon done Min-cost flow"/>
          <p:cNvSpPr/>
          <p:nvPr/>
        </p:nvSpPr>
        <p:spPr>
          <a:xfrm>
            <a:off x="713232" y="5111496"/>
            <a:ext cx="329184" cy="329184"/>
          </a:xfrm>
          <a:prstGeom prst="ellipse">
            <a:avLst/>
          </a:prstGeom>
          <a:solidFill>
            <a:schemeClr val="accent1"/>
          </a:solidFill>
          <a:ln/>
        </p:spPr>
      </p:sp>
      <p:pic>
        <p:nvPicPr>
          <p:cNvPr id="42" name="Image 7" descr="done Min-cost flow">    </p:cNvPr>
          <p:cNvPicPr>
            <a:picLocks noChangeAspect="1"/>
          </p:cNvPicPr>
          <p:nvPr/>
        </p:nvPicPr>
        <p:blipFill>
          <a:blip r:embed="rId8"/>
          <a:stretch>
            <a:fillRect/>
          </a:stretch>
        </p:blipFill>
        <p:spPr>
          <a:xfrm>
            <a:off x="785652" y="5183916"/>
            <a:ext cx="184343" cy="184343"/>
          </a:xfrm>
          <a:prstGeom prst="rect">
            <a:avLst/>
          </a:prstGeom>
        </p:spPr>
      </p:pic>
      <p:sp>
        <p:nvSpPr>
          <p:cNvPr id="43" name="Text 33"/>
          <p:cNvSpPr txBox="1"/>
          <p:nvPr/>
        </p:nvSpPr>
        <p:spPr>
          <a:xfrm>
            <a:off x="1207008"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Min-cost flow</a:t>
            </a:r>
            <a:endParaRPr lang="en-US" sz="1400" dirty="0"/>
          </a:p>
          <a:p>
            <a:pPr indent="0" marL="0">
              <a:buNone/>
            </a:pPr>
            <a:r>
              <a:rPr lang="en-US" sz="1200" i="1" dirty="0">
                <a:solidFill>
                  <a:schemeClr val="accent6"/>
                </a:solidFill>
              </a:rPr>
              <a:t>proven by potentials and a cut</a:t>
            </a:r>
            <a:endParaRPr lang="en-US" sz="1400" dirty="0"/>
          </a:p>
        </p:txBody>
      </p:sp>
      <p:sp>
        <p:nvSpPr>
          <p:cNvPr id="44" name="done Cyclic pattern counts"/>
          <p:cNvSpPr/>
          <p:nvPr/>
        </p:nvSpPr>
        <p:spPr>
          <a:xfrm>
            <a:off x="4307738" y="4992624"/>
            <a:ext cx="3576218" cy="566928"/>
          </a:xfrm>
          <a:prstGeom prst="roundRect">
            <a:avLst>
              <a:gd name="adj" fmla="val 16129"/>
            </a:avLst>
          </a:prstGeom>
          <a:solidFill>
            <a:schemeClr val="bg1"/>
          </a:solidFill>
          <a:ln w="19050">
            <a:solidFill>
              <a:schemeClr val="bg2"/>
            </a:solidFill>
            <a:prstDash val="solid"/>
          </a:ln>
        </p:spPr>
      </p:sp>
      <p:sp>
        <p:nvSpPr>
          <p:cNvPr id="45" name="icon done Cyclic pattern counts"/>
          <p:cNvSpPr/>
          <p:nvPr/>
        </p:nvSpPr>
        <p:spPr>
          <a:xfrm>
            <a:off x="4472330" y="5111496"/>
            <a:ext cx="329184" cy="329184"/>
          </a:xfrm>
          <a:prstGeom prst="ellipse">
            <a:avLst/>
          </a:prstGeom>
          <a:solidFill>
            <a:schemeClr val="accent1"/>
          </a:solidFill>
          <a:ln/>
        </p:spPr>
      </p:sp>
      <p:pic>
        <p:nvPicPr>
          <p:cNvPr id="46" name="Image 8" descr="done Cyclic pattern counts">    </p:cNvPr>
          <p:cNvPicPr>
            <a:picLocks noChangeAspect="1"/>
          </p:cNvPicPr>
          <p:nvPr/>
        </p:nvPicPr>
        <p:blipFill>
          <a:blip r:embed="rId9"/>
          <a:stretch>
            <a:fillRect/>
          </a:stretch>
        </p:blipFill>
        <p:spPr>
          <a:xfrm>
            <a:off x="4544751" y="5183916"/>
            <a:ext cx="184343" cy="184343"/>
          </a:xfrm>
          <a:prstGeom prst="rect">
            <a:avLst/>
          </a:prstGeom>
        </p:spPr>
      </p:pic>
      <p:sp>
        <p:nvSpPr>
          <p:cNvPr id="47" name="Text 36"/>
          <p:cNvSpPr txBox="1"/>
          <p:nvPr/>
        </p:nvSpPr>
        <p:spPr>
          <a:xfrm>
            <a:off x="4966106"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Cyclic pattern counts</a:t>
            </a:r>
            <a:endParaRPr lang="en-US" sz="1400" dirty="0"/>
          </a:p>
          <a:p>
            <a:pPr indent="0" marL="0">
              <a:buNone/>
            </a:pPr>
            <a:r>
              <a:rPr lang="en-US" sz="1200" i="1" dirty="0">
                <a:solidFill>
                  <a:schemeClr val="accent6"/>
                </a:solidFill>
              </a:rPr>
              <a:t>totals checked by oracles, not certified</a:t>
            </a:r>
            <a:endParaRPr lang="en-US" sz="1400" dirty="0"/>
          </a:p>
        </p:txBody>
      </p:sp>
      <p:sp>
        <p:nvSpPr>
          <p:cNvPr id="48" name="done 2-hop reachability index"/>
          <p:cNvSpPr/>
          <p:nvPr/>
        </p:nvSpPr>
        <p:spPr>
          <a:xfrm>
            <a:off x="8066837" y="4992624"/>
            <a:ext cx="3576218" cy="566928"/>
          </a:xfrm>
          <a:prstGeom prst="roundRect">
            <a:avLst>
              <a:gd name="adj" fmla="val 16129"/>
            </a:avLst>
          </a:prstGeom>
          <a:solidFill>
            <a:schemeClr val="bg1"/>
          </a:solidFill>
          <a:ln w="19050">
            <a:solidFill>
              <a:schemeClr val="bg2"/>
            </a:solidFill>
            <a:prstDash val="solid"/>
          </a:ln>
        </p:spPr>
      </p:sp>
      <p:sp>
        <p:nvSpPr>
          <p:cNvPr id="49" name="icon done 2-hop reachability index"/>
          <p:cNvSpPr/>
          <p:nvPr/>
        </p:nvSpPr>
        <p:spPr>
          <a:xfrm>
            <a:off x="8231429" y="5111496"/>
            <a:ext cx="329184" cy="329184"/>
          </a:xfrm>
          <a:prstGeom prst="ellipse">
            <a:avLst/>
          </a:prstGeom>
          <a:solidFill>
            <a:schemeClr val="accent1"/>
          </a:solidFill>
          <a:ln/>
        </p:spPr>
      </p:sp>
      <p:pic>
        <p:nvPicPr>
          <p:cNvPr id="50" name="Image 9" descr="done 2-hop reachability index">    </p:cNvPr>
          <p:cNvPicPr>
            <a:picLocks noChangeAspect="1"/>
          </p:cNvPicPr>
          <p:nvPr/>
        </p:nvPicPr>
        <p:blipFill>
          <a:blip r:embed="rId10"/>
          <a:stretch>
            <a:fillRect/>
          </a:stretch>
        </p:blipFill>
        <p:spPr>
          <a:xfrm>
            <a:off x="8303849" y="5183916"/>
            <a:ext cx="184343" cy="184343"/>
          </a:xfrm>
          <a:prstGeom prst="rect">
            <a:avLst/>
          </a:prstGeom>
        </p:spPr>
      </p:pic>
      <p:sp>
        <p:nvSpPr>
          <p:cNvPr id="51" name="Text 39"/>
          <p:cNvSpPr txBox="1"/>
          <p:nvPr/>
        </p:nvSpPr>
        <p:spPr>
          <a:xfrm>
            <a:off x="8725205"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2-hop reachability index</a:t>
            </a:r>
            <a:endParaRPr lang="en-US" sz="1400" dirty="0"/>
          </a:p>
          <a:p>
            <a:pPr indent="0" marL="0">
              <a:buNone/>
            </a:pPr>
            <a:r>
              <a:rPr lang="en-US" sz="1200" i="1" dirty="0">
                <a:solidFill>
                  <a:schemeClr val="accent6"/>
                </a:solidFill>
              </a:rPr>
              <a:t>witnessed and certified</a:t>
            </a:r>
            <a:endParaRPr lang="en-US" sz="1400" dirty="0"/>
          </a:p>
        </p:txBody>
      </p:sp>
      <p:sp>
        <p:nvSpPr>
          <p:cNvPr id="52" name="done Positive Datalog"/>
          <p:cNvSpPr/>
          <p:nvPr/>
        </p:nvSpPr>
        <p:spPr>
          <a:xfrm>
            <a:off x="548640" y="5650992"/>
            <a:ext cx="3576218" cy="566928"/>
          </a:xfrm>
          <a:prstGeom prst="roundRect">
            <a:avLst>
              <a:gd name="adj" fmla="val 16129"/>
            </a:avLst>
          </a:prstGeom>
          <a:solidFill>
            <a:schemeClr val="bg1"/>
          </a:solidFill>
          <a:ln w="19050">
            <a:solidFill>
              <a:schemeClr val="bg2"/>
            </a:solidFill>
            <a:prstDash val="solid"/>
          </a:ln>
        </p:spPr>
      </p:sp>
      <p:sp>
        <p:nvSpPr>
          <p:cNvPr id="53" name="icon done Positive Datalog"/>
          <p:cNvSpPr/>
          <p:nvPr/>
        </p:nvSpPr>
        <p:spPr>
          <a:xfrm>
            <a:off x="713232" y="5769864"/>
            <a:ext cx="329184" cy="329184"/>
          </a:xfrm>
          <a:prstGeom prst="ellipse">
            <a:avLst/>
          </a:prstGeom>
          <a:solidFill>
            <a:schemeClr val="accent1"/>
          </a:solidFill>
          <a:ln/>
        </p:spPr>
      </p:sp>
      <p:pic>
        <p:nvPicPr>
          <p:cNvPr id="54" name="Image 10" descr="done Positive Datalog">    </p:cNvPr>
          <p:cNvPicPr>
            <a:picLocks noChangeAspect="1"/>
          </p:cNvPicPr>
          <p:nvPr/>
        </p:nvPicPr>
        <p:blipFill>
          <a:blip r:embed="rId11"/>
          <a:stretch>
            <a:fillRect/>
          </a:stretch>
        </p:blipFill>
        <p:spPr>
          <a:xfrm>
            <a:off x="785652" y="5842284"/>
            <a:ext cx="184343" cy="184343"/>
          </a:xfrm>
          <a:prstGeom prst="rect">
            <a:avLst/>
          </a:prstGeom>
        </p:spPr>
      </p:pic>
      <p:sp>
        <p:nvSpPr>
          <p:cNvPr id="55" name="Text 42"/>
          <p:cNvSpPr txBox="1"/>
          <p:nvPr/>
        </p:nvSpPr>
        <p:spPr>
          <a:xfrm>
            <a:off x="1207008" y="5650992"/>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Positive Datalog</a:t>
            </a:r>
            <a:endParaRPr lang="en-US" sz="1400" dirty="0"/>
          </a:p>
          <a:p>
            <a:pPr indent="0" marL="0">
              <a:buNone/>
            </a:pPr>
            <a:r>
              <a:rPr lang="en-US" sz="1200" i="1" dirty="0">
                <a:solidFill>
                  <a:schemeClr val="accent6"/>
                </a:solidFill>
              </a:rPr>
              <a:t>each fact with its derivation</a:t>
            </a:r>
            <a:endParaRPr lang="en-US" sz="1400" dirty="0"/>
          </a:p>
        </p:txBody>
      </p:sp>
      <p:sp>
        <p:nvSpPr>
          <p:cNvPr id="56" name="done Isomorphism, canonical forms"/>
          <p:cNvSpPr/>
          <p:nvPr/>
        </p:nvSpPr>
        <p:spPr>
          <a:xfrm>
            <a:off x="4307738" y="5650992"/>
            <a:ext cx="3576218" cy="566928"/>
          </a:xfrm>
          <a:prstGeom prst="roundRect">
            <a:avLst>
              <a:gd name="adj" fmla="val 16129"/>
            </a:avLst>
          </a:prstGeom>
          <a:solidFill>
            <a:schemeClr val="bg1"/>
          </a:solidFill>
          <a:ln w="19050">
            <a:solidFill>
              <a:schemeClr val="bg2"/>
            </a:solidFill>
            <a:prstDash val="solid"/>
          </a:ln>
        </p:spPr>
      </p:sp>
      <p:sp>
        <p:nvSpPr>
          <p:cNvPr id="57" name="icon done Isomorphism, canonical forms"/>
          <p:cNvSpPr/>
          <p:nvPr/>
        </p:nvSpPr>
        <p:spPr>
          <a:xfrm>
            <a:off x="4472330" y="5769864"/>
            <a:ext cx="329184" cy="329184"/>
          </a:xfrm>
          <a:prstGeom prst="ellipse">
            <a:avLst/>
          </a:prstGeom>
          <a:solidFill>
            <a:schemeClr val="accent1"/>
          </a:solidFill>
          <a:ln/>
        </p:spPr>
      </p:sp>
      <p:pic>
        <p:nvPicPr>
          <p:cNvPr id="58" name="Image 11" descr="done Isomorphism, canonical forms">    </p:cNvPr>
          <p:cNvPicPr>
            <a:picLocks noChangeAspect="1"/>
          </p:cNvPicPr>
          <p:nvPr/>
        </p:nvPicPr>
        <p:blipFill>
          <a:blip r:embed="rId12"/>
          <a:stretch>
            <a:fillRect/>
          </a:stretch>
        </p:blipFill>
        <p:spPr>
          <a:xfrm>
            <a:off x="4544751" y="5842284"/>
            <a:ext cx="184343" cy="184343"/>
          </a:xfrm>
          <a:prstGeom prst="rect">
            <a:avLst/>
          </a:prstGeom>
        </p:spPr>
      </p:pic>
      <p:sp>
        <p:nvSpPr>
          <p:cNvPr id="59" name="Text 45"/>
          <p:cNvSpPr txBox="1"/>
          <p:nvPr/>
        </p:nvSpPr>
        <p:spPr>
          <a:xfrm>
            <a:off x="4966106" y="5650992"/>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Isomorphism, canonical forms</a:t>
            </a:r>
            <a:endParaRPr lang="en-US" sz="1400" dirty="0"/>
          </a:p>
          <a:p>
            <a:pPr indent="0" marL="0">
              <a:buNone/>
            </a:pPr>
            <a:r>
              <a:rPr lang="en-US" sz="1200" i="1" dirty="0">
                <a:solidFill>
                  <a:schemeClr val="accent6"/>
                </a:solidFill>
              </a:rPr>
              <a:t>minimality not certified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Twenty-seven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2026-10-27T18:03:21Z</dcterms:created>
  <dcterms:modified xsi:type="dcterms:W3CDTF">2026-10-27T18:03:21Z</dcterms:modified>
</cp:coreProperties>
</file>